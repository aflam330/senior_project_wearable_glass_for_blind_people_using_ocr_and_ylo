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xlsx" ContentType="application/vnd.openxmlformats-officedocument.spreadsheetml.sheet"/>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charts/chart2.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3.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FC954AE-349F-3D80-D528-C0352293A624}">
          <p14:sldIdLst>
            <p14:sldId id="256"/>
            <p14:sldId id="257"/>
            <p14:sldId id="258"/>
            <p14:sldId id="259"/>
          </p14:sldIdLst>
        </p14:section>
        <p14:section name="Background" id="{4A39EC87-7139-C54F-E17A-960D2225F838}">
          <p14:sldIdLst>
            <p14:sldId id="260"/>
          </p14:sldIdLst>
        </p14:section>
        <p14:section name="System" id="{5BC1DDE3-0E85-5426-F04D-14C6F9C68806}">
          <p14:sldIdLst>
            <p14:sldId id="261"/>
            <p14:sldId id="262"/>
          </p14:sldIdLst>
        </p14:section>
        <p14:section name="Results" id="{DE8EFAEF-775C-8597-F0B5-7CD033DD9845}">
          <p14:sldIdLst>
            <p14:sldId id="263"/>
            <p14:sldId id="264"/>
            <p14:sldId id="265"/>
            <p14:sldId id="266"/>
            <p14:sldId id="267"/>
            <p14:sldId id="268"/>
            <p14:sldId id="269"/>
            <p14:sldId id="270"/>
          </p14:sldIdLst>
        </p14:section>
        <p14:section name="Testing" id="{C5CF0855-93FA-FC8E-4E59-830EA8E4E690}">
          <p14:sldIdLst>
            <p14:sldId id="271"/>
          </p14:sldIdLst>
        </p14:section>
        <p14:section name="Conclusion" id="{3D6B8AE4-6A56-59F8-E380-60A915C3990A}">
          <p14:sldIdLst>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8" d="100"/>
          <a:sy n="88" d="100"/>
        </p:scale>
        <p:origin x="437"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1"/>
  <c:style val="2"/>
  <c:chart>
    <c:title>
      <c:tx>
        <c:rich>
          <a:bodyPr/>
          <a:lstStyle/>
          <a:p>
            <a:pPr>
              <a:defRPr sz="1400" b="0" i="0" u="none" strike="noStrike">
                <a:solidFill>
                  <a:srgbClr val="1B1F23"/>
                </a:solidFill>
                <a:latin typeface="+mn-lt"/>
              </a:defRPr>
            </a:pPr>
            <a:r>
              <a:rPr lang="en-US" sz="1400" b="0" i="0" u="none" strike="noStrike">
                <a:solidFill>
                  <a:srgbClr val="1B1F23"/>
                </a:solidFill>
                <a:latin typeface="+mn-lt"/>
              </a:rPr>
              <a:t>Test accuracy (%) by number of views, mean of 3 seeds</a:t>
            </a:r>
          </a:p>
        </c:rich>
      </c:tx>
      <c:layout/>
      <c:overlay val="0"/>
    </c:title>
    <c:autoTitleDeleted val="0"/>
    <c:plotArea>
      <c:layout/>
      <c:lineChart>
        <c:grouping val="standard"/>
        <c:varyColors val="0"/>
        <c:ser>
          <c:idx val="0"/>
          <c:order val="0"/>
          <c:tx>
            <c:strRef>
              <c:f>Sheet1!$B$1</c:f>
              <c:strCache>
                <c:ptCount val="1"/>
                <c:pt idx="0">
                  <c:v>Fixed six-view training</c:v>
                </c:pt>
              </c:strCache>
            </c:strRef>
          </c:tx>
          <c:spPr>
            <a:ln w="38100" cap="flat">
              <a:solidFill>
                <a:srgbClr val="E4572E"/>
              </a:solidFill>
              <a:prstDash val="solid"/>
              <a:round/>
            </a:ln>
            <a:effectLst/>
          </c:spPr>
          <c:marker>
            <c:symbol val="circle"/>
            <c:size val="9"/>
            <c:spPr>
              <a:solidFill>
                <a:srgbClr val="E4572E"/>
              </a:solidFill>
              <a:ln w="9525" cap="flat">
                <a:solidFill>
                  <a:srgbClr val="E4572E"/>
                </a:solidFill>
                <a:prstDash val="solid"/>
                <a:round/>
              </a:ln>
              <a:effectLst/>
            </c:spPr>
          </c:marker>
          <c:cat>
            <c:strRef>
              <c:f>Sheet1!$A$2:$A$7</c:f>
              <c:strCache>
                <c:ptCount val="6"/>
                <c:pt idx="0">
                  <c:v>1</c:v>
                </c:pt>
                <c:pt idx="1">
                  <c:v>2</c:v>
                </c:pt>
                <c:pt idx="2">
                  <c:v>3</c:v>
                </c:pt>
                <c:pt idx="3">
                  <c:v>4</c:v>
                </c:pt>
                <c:pt idx="4">
                  <c:v>5</c:v>
                </c:pt>
                <c:pt idx="5">
                  <c:v>6</c:v>
                </c:pt>
              </c:strCache>
            </c:strRef>
          </c:cat>
          <c:val>
            <c:numRef>
              <c:f>Sheet1!$B$2:$B$7</c:f>
              <c:numCache>
                <c:formatCode>General</c:formatCode>
                <c:ptCount val="6"/>
                <c:pt idx="0">
                  <c:v>71.2</c:v>
                </c:pt>
                <c:pt idx="1">
                  <c:v>73.099999999999994</c:v>
                </c:pt>
                <c:pt idx="2">
                  <c:v>85.7</c:v>
                </c:pt>
                <c:pt idx="3">
                  <c:v>90.5</c:v>
                </c:pt>
                <c:pt idx="4">
                  <c:v>90.5</c:v>
                </c:pt>
                <c:pt idx="5">
                  <c:v>98.1</c:v>
                </c:pt>
              </c:numCache>
            </c:numRef>
          </c:val>
          <c:smooth val="0"/>
        </c:ser>
        <c:ser>
          <c:idx val="1"/>
          <c:order val="1"/>
          <c:tx>
            <c:strRef>
              <c:f>Sheet1!$C$1</c:f>
              <c:strCache>
                <c:ptCount val="1"/>
                <c:pt idx="0">
                  <c:v>Prefix training (ours)</c:v>
                </c:pt>
              </c:strCache>
            </c:strRef>
          </c:tx>
          <c:spPr>
            <a:ln w="38100" cap="flat">
              <a:solidFill>
                <a:srgbClr val="0B6E4F"/>
              </a:solidFill>
              <a:prstDash val="solid"/>
              <a:round/>
            </a:ln>
            <a:effectLst/>
          </c:spPr>
          <c:marker>
            <c:symbol val="circle"/>
            <c:size val="9"/>
            <c:spPr>
              <a:solidFill>
                <a:srgbClr val="0B6E4F"/>
              </a:solidFill>
              <a:ln w="9525" cap="flat">
                <a:solidFill>
                  <a:srgbClr val="0B6E4F"/>
                </a:solidFill>
                <a:prstDash val="solid"/>
                <a:round/>
              </a:ln>
              <a:effectLst/>
            </c:spPr>
          </c:marker>
          <c:cat>
            <c:strRef>
              <c:f>Sheet1!$A$2:$A$7</c:f>
              <c:strCache>
                <c:ptCount val="6"/>
                <c:pt idx="0">
                  <c:v>1</c:v>
                </c:pt>
                <c:pt idx="1">
                  <c:v>2</c:v>
                </c:pt>
                <c:pt idx="2">
                  <c:v>3</c:v>
                </c:pt>
                <c:pt idx="3">
                  <c:v>4</c:v>
                </c:pt>
                <c:pt idx="4">
                  <c:v>5</c:v>
                </c:pt>
                <c:pt idx="5">
                  <c:v>6</c:v>
                </c:pt>
              </c:strCache>
            </c:strRef>
          </c:cat>
          <c:val>
            <c:numRef>
              <c:f>Sheet1!$C$2:$C$7</c:f>
              <c:numCache>
                <c:formatCode>General</c:formatCode>
                <c:ptCount val="6"/>
                <c:pt idx="0">
                  <c:v>98.2</c:v>
                </c:pt>
                <c:pt idx="1">
                  <c:v>98.4</c:v>
                </c:pt>
                <c:pt idx="2">
                  <c:v>98.6</c:v>
                </c:pt>
                <c:pt idx="3">
                  <c:v>98.6</c:v>
                </c:pt>
                <c:pt idx="4">
                  <c:v>98.7</c:v>
                </c:pt>
                <c:pt idx="5">
                  <c:v>98.7</c:v>
                </c:pt>
              </c:numCache>
            </c:numRef>
          </c:val>
          <c:smooth val="0"/>
        </c:ser>
        <c:dLbls>
          <c:showLegendKey val="0"/>
          <c:showVal val="0"/>
          <c:showCatName val="0"/>
          <c:showSerName val="0"/>
          <c:showPercent val="0"/>
          <c:showBubbleSize val="0"/>
        </c:dLbls>
        <c:marker val="1"/>
        <c:smooth val="0"/>
        <c:axId val="1279959312"/>
        <c:axId val="1279945168"/>
      </c:lineChart>
      <c:catAx>
        <c:axId val="1279959312"/>
        <c:scaling>
          <c:orientation val="minMax"/>
        </c:scaling>
        <c:delete val="0"/>
        <c:axPos val="b"/>
        <c:title>
          <c:tx>
            <c:rich>
              <a:bodyPr/>
              <a:lstStyle/>
              <a:p>
                <a:pPr>
                  <a:defRPr sz="1200" b="0" i="0" u="none" strike="noStrike">
                    <a:solidFill>
                      <a:srgbClr val="6B7B76"/>
                    </a:solidFill>
                    <a:latin typeface="Arial"/>
                  </a:defRPr>
                </a:pPr>
                <a:r>
                  <a:rPr lang="en-US" sz="1200" b="0" i="0" u="none" strike="noStrike">
                    <a:solidFill>
                      <a:srgbClr val="6B7B76"/>
                    </a:solidFill>
                    <a:latin typeface="Arial"/>
                  </a:rPr>
                  <a:t>Views captured</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B76"/>
                </a:solidFill>
                <a:latin typeface="+mn-lt"/>
              </a:defRPr>
            </a:pPr>
            <a:endParaRPr lang="en-US"/>
          </a:p>
        </c:txPr>
        <c:crossAx val="1279945168"/>
        <c:crosses val="autoZero"/>
        <c:auto val="1"/>
        <c:lblAlgn val="ctr"/>
        <c:lblOffset val="100"/>
        <c:noMultiLvlLbl val="1"/>
      </c:catAx>
      <c:valAx>
        <c:axId val="1279945168"/>
        <c:scaling>
          <c:orientation val="minMax"/>
          <c:max val="100"/>
          <c:min val="60"/>
        </c:scaling>
        <c:delete val="0"/>
        <c:axPos val="l"/>
        <c:majorGridlines>
          <c:spPr>
            <a:ln w="6350" cap="flat">
              <a:solidFill>
                <a:srgbClr val="DDE5E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B76"/>
                </a:solidFill>
                <a:latin typeface="+mn-lt"/>
              </a:defRPr>
            </a:pPr>
            <a:endParaRPr lang="en-US"/>
          </a:p>
        </c:txPr>
        <c:crossAx val="1279959312"/>
        <c:crosses val="autoZero"/>
        <c:crossBetween val="between"/>
      </c:valAx>
      <c:spPr>
        <a:noFill/>
        <a:ln>
          <a:noFill/>
        </a:ln>
        <a:effectLst/>
      </c:spPr>
    </c:plotArea>
    <c:legend>
      <c:legendPos val="b"/>
      <c:layout/>
      <c:overlay val="0"/>
      <c:txPr>
        <a:bodyPr/>
        <a:lstStyle/>
        <a:p>
          <a:pPr>
            <a:defRPr sz="1300">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1"/>
  <c:style val="2"/>
  <c:chart>
    <c:title>
      <c:tx>
        <c:rich>
          <a:bodyPr/>
          <a:lstStyle/>
          <a:p>
            <a:pPr>
              <a:defRPr sz="1400" b="0" i="0" u="none" strike="noStrike">
                <a:solidFill>
                  <a:srgbClr val="1B1F23"/>
                </a:solidFill>
                <a:latin typeface="+mn-lt"/>
              </a:defRPr>
            </a:pPr>
            <a:r>
              <a:rPr lang="en-US" sz="1400" b="0" i="0" u="none" strike="noStrike">
                <a:solidFill>
                  <a:srgbClr val="1B1F23"/>
                </a:solidFill>
                <a:latin typeface="+mn-lt"/>
              </a:rPr>
              <a:t>Accuracy on unseen prints, 6 views (%), mean of 3 seeds</a:t>
            </a:r>
          </a:p>
        </c:rich>
      </c:tx>
      <c:layout/>
      <c:overlay val="0"/>
    </c:title>
    <c:autoTitleDeleted val="0"/>
    <c:plotArea>
      <c:layout/>
      <c:barChart>
        <c:barDir val="bar"/>
        <c:grouping val="clustered"/>
        <c:varyColors val="0"/>
        <c:ser>
          <c:idx val="0"/>
          <c:order val="0"/>
          <c:tx>
            <c:strRef>
              <c:f>Sheet1!$B$1</c:f>
              <c:strCache>
                <c:ptCount val="1"/>
                <c:pt idx="0">
                  <c:v>Accuracy at 6 views (%)</c:v>
                </c:pt>
              </c:strCache>
            </c:strRef>
          </c:tx>
          <c:spPr>
            <a:solidFill>
              <a:srgbClr val="6B7B76"/>
            </a:solidFill>
            <a:effectLst/>
          </c:spPr>
          <c:invertIfNegative val="0"/>
          <c:dPt>
            <c:idx val="0"/>
            <c:invertIfNegative val="0"/>
            <c:bubble3D val="0"/>
            <c:spPr>
              <a:solidFill>
                <a:srgbClr val="6B7B76"/>
              </a:solidFill>
              <a:effectLst/>
            </c:spPr>
          </c:dPt>
          <c:dPt>
            <c:idx val="1"/>
            <c:invertIfNegative val="0"/>
            <c:bubble3D val="0"/>
            <c:spPr>
              <a:solidFill>
                <a:srgbClr val="3D8B7D"/>
              </a:solidFill>
              <a:effectLst/>
            </c:spPr>
          </c:dPt>
          <c:dPt>
            <c:idx val="2"/>
            <c:invertIfNegative val="0"/>
            <c:bubble3D val="0"/>
            <c:spPr>
              <a:solidFill>
                <a:srgbClr val="1C7293"/>
              </a:solidFill>
              <a:effectLst/>
            </c:spPr>
          </c:dPt>
          <c:dPt>
            <c:idx val="3"/>
            <c:invertIfNegative val="0"/>
            <c:bubble3D val="0"/>
            <c:spPr>
              <a:solidFill>
                <a:srgbClr val="0B6E4F"/>
              </a:solidFill>
              <a:effectLst/>
            </c:spPr>
          </c:dPt>
          <c:dLbls>
            <c:numFmt formatCode="0.0" sourceLinked="0"/>
            <c:spPr>
              <a:noFill/>
              <a:ln>
                <a:noFill/>
              </a:ln>
              <a:effectLst/>
            </c:spPr>
            <c:txPr>
              <a:bodyPr/>
              <a:lstStyle/>
              <a:p>
                <a:pPr>
                  <a:defRPr sz="1300" b="0" i="0" u="none" strike="noStrike">
                    <a:solidFill>
                      <a:srgbClr val="1B1F2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Sheet1!$A$2:$A$5</c:f>
              <c:strCache>
                <c:ptCount val="4"/>
                <c:pt idx="0">
                  <c:v>Frozen ResNet-50</c:v>
                </c:pt>
                <c:pt idx="1">
                  <c:v>Prefix network</c:v>
                </c:pt>
                <c:pt idx="2">
                  <c:v>Fine-tuned ResNet-50</c:v>
                </c:pt>
                <c:pt idx="3">
                  <c:v>Prefix + watermark</c:v>
                </c:pt>
              </c:strCache>
            </c:strRef>
          </c:cat>
          <c:val>
            <c:numRef>
              <c:f>Sheet1!$B$2:$B$5</c:f>
              <c:numCache>
                <c:formatCode>General</c:formatCode>
                <c:ptCount val="4"/>
                <c:pt idx="0">
                  <c:v>83.8</c:v>
                </c:pt>
                <c:pt idx="1">
                  <c:v>89.3</c:v>
                </c:pt>
                <c:pt idx="2">
                  <c:v>94.4</c:v>
                </c:pt>
                <c:pt idx="3">
                  <c:v>95</c:v>
                </c:pt>
              </c:numCache>
            </c:numRef>
          </c:val>
        </c:ser>
        <c:dLbls>
          <c:showLegendKey val="0"/>
          <c:showVal val="1"/>
          <c:showCatName val="0"/>
          <c:showSerName val="0"/>
          <c:showPercent val="0"/>
          <c:showBubbleSize val="0"/>
        </c:dLbls>
        <c:gapWidth val="150"/>
        <c:axId val="1279956048"/>
        <c:axId val="1279950064"/>
      </c:barChart>
      <c:catAx>
        <c:axId val="1279956048"/>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B1F23"/>
                </a:solidFill>
                <a:latin typeface="+mn-lt"/>
              </a:defRPr>
            </a:pPr>
            <a:endParaRPr lang="en-US"/>
          </a:p>
        </c:txPr>
        <c:crossAx val="1279950064"/>
        <c:crosses val="autoZero"/>
        <c:auto val="1"/>
        <c:lblAlgn val="ctr"/>
        <c:lblOffset val="100"/>
        <c:noMultiLvlLbl val="1"/>
      </c:catAx>
      <c:valAx>
        <c:axId val="1279950064"/>
        <c:scaling>
          <c:orientation val="minMax"/>
          <c:max val="100"/>
          <c:min val="70"/>
        </c:scaling>
        <c:delete val="1"/>
        <c:axPos val="b"/>
        <c:numFmt formatCode="General" sourceLinked="0"/>
        <c:majorTickMark val="out"/>
        <c:minorTickMark val="none"/>
        <c:tickLblPos val="low"/>
        <c:crossAx val="1279956048"/>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1"/>
  <c:style val="2"/>
  <c:chart>
    <c:title>
      <c:tx>
        <c:rich>
          <a:bodyPr/>
          <a:lstStyle/>
          <a:p>
            <a:pPr>
              <a:defRPr sz="1400" b="0" i="0" u="none" strike="noStrike">
                <a:solidFill>
                  <a:srgbClr val="1B1F23"/>
                </a:solidFill>
                <a:latin typeface="+mn-lt"/>
              </a:defRPr>
            </a:pPr>
            <a:r>
              <a:rPr lang="en-US" sz="1400" b="0" i="0" u="none" strike="noStrike">
                <a:solidFill>
                  <a:srgbClr val="1B1F23"/>
                </a:solidFill>
                <a:latin typeface="+mn-lt"/>
              </a:rPr>
              <a:t>Character error rate (%) on the held-out test set</a:t>
            </a:r>
          </a:p>
        </c:rich>
      </c:tx>
      <c:layout/>
      <c:overlay val="0"/>
    </c:title>
    <c:autoTitleDeleted val="0"/>
    <c:plotArea>
      <c:layout/>
      <c:barChart>
        <c:barDir val="col"/>
        <c:grouping val="clustered"/>
        <c:varyColors val="0"/>
        <c:ser>
          <c:idx val="0"/>
          <c:order val="0"/>
          <c:tx>
            <c:strRef>
              <c:f>Sheet1!$B$1</c:f>
              <c:strCache>
                <c:ptCount val="1"/>
                <c:pt idx="0">
                  <c:v>Before</c:v>
                </c:pt>
              </c:strCache>
            </c:strRef>
          </c:tx>
          <c:spPr>
            <a:solidFill>
              <a:srgbClr val="6B7B76"/>
            </a:solidFill>
            <a:effectLst/>
          </c:spPr>
          <c:invertIfNegative val="0"/>
          <c:dLbls>
            <c:numFmt formatCode="0.0" sourceLinked="0"/>
            <c:spPr>
              <a:noFill/>
              <a:ln>
                <a:noFill/>
              </a:ln>
              <a:effectLst/>
            </c:spPr>
            <c:txPr>
              <a:bodyPr/>
              <a:lstStyle/>
              <a:p>
                <a:pPr>
                  <a:defRPr sz="1200" b="0" i="0" u="none" strike="noStrike">
                    <a:solidFill>
                      <a:srgbClr val="1B1F2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Sheet1!$A$2:$A$5</c:f>
              <c:strCache>
                <c:ptCount val="4"/>
                <c:pt idx="0">
                  <c:v>Overall</c:v>
                </c:pt>
                <c:pt idx="1">
                  <c:v>Bangla</c:v>
                </c:pt>
                <c:pt idx="2">
                  <c:v>English</c:v>
                </c:pt>
                <c:pt idx="3">
                  <c:v>Signs in photos</c:v>
                </c:pt>
              </c:strCache>
            </c:strRef>
          </c:cat>
          <c:val>
            <c:numRef>
              <c:f>Sheet1!$B$2:$B$5</c:f>
              <c:numCache>
                <c:formatCode>General</c:formatCode>
                <c:ptCount val="4"/>
                <c:pt idx="0">
                  <c:v>9.3000000000000007</c:v>
                </c:pt>
                <c:pt idx="1">
                  <c:v>11.9</c:v>
                </c:pt>
                <c:pt idx="2">
                  <c:v>6.6</c:v>
                </c:pt>
                <c:pt idx="3">
                  <c:v>10.7</c:v>
                </c:pt>
              </c:numCache>
            </c:numRef>
          </c:val>
        </c:ser>
        <c:ser>
          <c:idx val="1"/>
          <c:order val="1"/>
          <c:tx>
            <c:strRef>
              <c:f>Sheet1!$C$1</c:f>
              <c:strCache>
                <c:ptCount val="1"/>
                <c:pt idx="0">
                  <c:v>Pipeline v2</c:v>
                </c:pt>
              </c:strCache>
            </c:strRef>
          </c:tx>
          <c:spPr>
            <a:solidFill>
              <a:srgbClr val="0B6E4F"/>
            </a:solidFill>
            <a:effectLst/>
          </c:spPr>
          <c:invertIfNegative val="0"/>
          <c:dLbls>
            <c:numFmt formatCode="0.0" sourceLinked="0"/>
            <c:spPr>
              <a:noFill/>
              <a:ln>
                <a:noFill/>
              </a:ln>
              <a:effectLst/>
            </c:spPr>
            <c:txPr>
              <a:bodyPr/>
              <a:lstStyle/>
              <a:p>
                <a:pPr>
                  <a:defRPr sz="1200" b="0" i="0" u="none" strike="noStrike">
                    <a:solidFill>
                      <a:srgbClr val="1B1F2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Sheet1!$A$2:$A$5</c:f>
              <c:strCache>
                <c:ptCount val="4"/>
                <c:pt idx="0">
                  <c:v>Overall</c:v>
                </c:pt>
                <c:pt idx="1">
                  <c:v>Bangla</c:v>
                </c:pt>
                <c:pt idx="2">
                  <c:v>English</c:v>
                </c:pt>
                <c:pt idx="3">
                  <c:v>Signs in photos</c:v>
                </c:pt>
              </c:strCache>
            </c:strRef>
          </c:cat>
          <c:val>
            <c:numRef>
              <c:f>Sheet1!$C$2:$C$5</c:f>
              <c:numCache>
                <c:formatCode>General</c:formatCode>
                <c:ptCount val="4"/>
                <c:pt idx="0">
                  <c:v>2.4</c:v>
                </c:pt>
                <c:pt idx="1">
                  <c:v>3.2</c:v>
                </c:pt>
                <c:pt idx="2">
                  <c:v>1.6</c:v>
                </c:pt>
                <c:pt idx="3">
                  <c:v>2.2000000000000002</c:v>
                </c:pt>
              </c:numCache>
            </c:numRef>
          </c:val>
        </c:ser>
        <c:dLbls>
          <c:showLegendKey val="0"/>
          <c:showVal val="1"/>
          <c:showCatName val="0"/>
          <c:showSerName val="0"/>
          <c:showPercent val="0"/>
          <c:showBubbleSize val="0"/>
        </c:dLbls>
        <c:gapWidth val="150"/>
        <c:axId val="1279958768"/>
        <c:axId val="1279945712"/>
      </c:barChart>
      <c:catAx>
        <c:axId val="1279958768"/>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B1F23"/>
                </a:solidFill>
                <a:latin typeface="+mn-lt"/>
              </a:defRPr>
            </a:pPr>
            <a:endParaRPr lang="en-US"/>
          </a:p>
        </c:txPr>
        <c:crossAx val="1279945712"/>
        <c:crosses val="autoZero"/>
        <c:auto val="1"/>
        <c:lblAlgn val="ctr"/>
        <c:lblOffset val="100"/>
        <c:noMultiLvlLbl val="1"/>
      </c:catAx>
      <c:valAx>
        <c:axId val="1279945712"/>
        <c:scaling>
          <c:orientation val="minMax"/>
        </c:scaling>
        <c:delete val="1"/>
        <c:axPos val="l"/>
        <c:numFmt formatCode="General" sourceLinked="0"/>
        <c:majorTickMark val="out"/>
        <c:minorTickMark val="none"/>
        <c:tickLblPos val="nextTo"/>
        <c:crossAx val="1279958768"/>
        <c:crosses val="autoZero"/>
        <c:crossBetween val="between"/>
      </c:valAx>
      <c:spPr>
        <a:noFill/>
        <a:ln>
          <a:noFill/>
        </a:ln>
        <a:effectLst/>
      </c:spPr>
    </c:plotArea>
    <c:legend>
      <c:legendPos val="b"/>
      <c:layout/>
      <c:overlay val="0"/>
      <c:txPr>
        <a:bodyPr/>
        <a:lstStyle/>
        <a:p>
          <a:pPr>
            <a:defRPr sz="1300">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26166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presenting SARA, a smart glass for blind and low-vision people in Bangladesh. It reads Bangla and English text, names objects, recognises Taka notes and gives careful advice about counterfeit notes, and it does this on the device without the internet. The photo shows our first prototype being worn.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in one sentence: there is no affordable wearable device that reads Bangla, recognises Taka and gives trustworthy advice about counterfeit notes without a phone or the internet. Three things make it hard: language, connectivity and cost, and trust, because a blind user cannot check what the device says.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solution. A camera sits above the bridge of a 3D-printed frame and a Raspberry Pi 5 runs everything. The user cycles five modes with one button and presses ACTION to capture. Only the online mode needs the internet; the other four run on the device.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questions organise the rest of the talk: the system on the Pi, synthetic training data for currency, the number of views, unseen counterfeit prints, a safe spoken verdict, and Bangla OCR.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Commercial glasses such as OrCam work offline but not in Bangla and not with Taka. Glass-based research systems send pictures to a server. Raspberry Pi reading aids are cheap but mostly English and use online speech. The second gap is in evaluation, which we come back to in the counterfeit part.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camera frame and the button presses go to a mode manager on the Raspberry Pi. The active mode runs its model, and the result is spoken in Bangla or English, with a vibration for a detected note. The heavy work runs only when the user presses ACTION, except the object scan.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prototype. It was the quickest way to get a working device on a person's head. It also shows why the design calls for a separate pocket enclosure: the board on one temple makes it heavy on one side.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Taka images are clean close-ups, so a model trained on them fails on a live camera. We pasted the notes onto real photographs and let the program write the labels. The detector scores 0.995 mAP on held-out composites and names 91.5 percent of independent photographs correctly.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the detector runs live on a laptop webcam with our own notes, including worn and folded ones. These are illustrations, not a measurement: we did not count an error rate in these sessions.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model trained only with all six views of a note collapses when it sees one view: 71 percent. Training on random prefixes of the views keeps it at about 98 percent from one to six views. The controlled experiment shows prefix sampling alone is responsible.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found that most counterfeit notes in JaalTaka are copies of a few prints, so the usual test measures recognition of known reprints. On truly unseen prints our network drops from about 98 to about 89 percent. Adding the banknote watermark, located by a small learned model, brings it to 95 percent, the same as a properly fine-tuned ResNet-50.</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new watermark method, the denomination-matched watermark residual. A back-lit photo is the lamp times the paper's transmittance, so dividing by a blurred copy removes the lamp. We build a genuine portrait of each note value from genuine training notes only, subtract it, and classify what is left with two very small networks and four summary numbers. With under fifty thousand parameters it reaches 91.5 percent on counterfeit prints it has never seen, statistically level with a MobileNetV2 that is 46 times larger. In the counterfeit example, the printed portrait stands out in the residual.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a blind user cannot verify the answer, the glass never says a note is counterfeit. It says likely genuine only above a threshold set from validation data, otherwise it asks for a check by hand. No test counterfeit passed. When the glass is not sure, it asks for a check by hand.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a test set with correctly shaped Bangla and separate phrases and fonts for validation and test. The biggest gain came from reading only the main block of text and ignoring background text. Overall error fell from 9.3 to 2.4 percent, Bangla from 11.9 to 3.2.</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Measured on a Raspberry Pi 5 with 8 GB. The currency check takes about a third of a second, and with the spoken answer under three seconds. It ran 30 minutes with no thermal throttling. Text reading takes about 19 seconds, which is our clearest speed problem.</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laboratory numbers do not yet describe the worn glass. In the first field test with the glass camera, currency recognition was unreliable and Bangla text was not read. We suspect the low-resolution fixed-focus camera, because the same software works with a laptop webcam. User trials have started and we will add the survey results.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steps: tune the glass camera, complete the user study that has already started, collect more counterfeit prints, make page reading faster, and build a lighter frame with a pocket enclosure.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we built an assistive glass that speaks Bangla, that runs on a Raspberry Pi 5, tested every part on held-out data, and added a new, very small watermark checker. Thank you. We are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371600"/>
            <a:ext cx="6766560" cy="1280160"/>
          </a:xfrm>
          <a:prstGeom prst="rect">
            <a:avLst/>
          </a:prstGeom>
          <a:noFill/>
          <a:ln/>
        </p:spPr>
        <p:txBody>
          <a:bodyPr wrap="square" rtlCol="0"/>
          <a:lstStyle>
            <a:lvl1pPr marL="0" indent="0" algn="l">
              <a:buNone/>
              <a:defRPr lang="en-US" sz="5400" b="1" dirty="0">
                <a:solidFill>
                  <a:schemeClr val="bg1"/>
                </a:solidFill>
              </a:defRPr>
            </a:lvl1pPr>
          </a:lstStyle>
          <a:p>
            <a:pPr marL="0" indent="0" algn="l">
              <a:buNone/>
            </a:pPr>
            <a:endParaRPr lang="en-US" sz="5400" dirty="0"/>
          </a:p>
        </p:txBody>
      </p:sp>
      <p:sp>
        <p:nvSpPr>
          <p:cNvPr id="3" name="Text 0"/>
          <p:cNvSpPr>
            <a:spLocks noGrp="1"/>
          </p:cNvSpPr>
          <p:nvPr>
            <p:ph type="body" idx="101" hasCustomPrompt="1"/>
          </p:nvPr>
        </p:nvSpPr>
        <p:spPr>
          <a:xfrm>
            <a:off x="640080" y="2788920"/>
            <a:ext cx="6766560" cy="1554480"/>
          </a:xfrm>
          <a:prstGeom prst="rect">
            <a:avLst/>
          </a:prstGeom>
          <a:noFill/>
          <a:ln/>
        </p:spPr>
        <p:txBody>
          <a:bodyPr wrap="square" rtlCol="0"/>
          <a:lstStyle>
            <a:lvl1pPr marL="0" indent="0" algn="l">
              <a:buNone/>
              <a:defRPr lang="en-US" sz="2200" dirty="0">
                <a:solidFill>
                  <a:srgbClr val="A8D5BA"/>
                </a:solidFill>
              </a:defRPr>
            </a:lvl1pPr>
          </a:lstStyle>
          <a:p>
            <a:pPr marL="0" indent="0" algn="l">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rtlCol="0"/>
          <a:lstStyle>
            <a:lvl1pPr marL="0" indent="0" algn="l">
              <a:buNone/>
              <a:defRPr lang="en-US" sz="3200" b="1" dirty="0">
                <a:solidFill>
                  <a:schemeClr val="tx2"/>
                </a:solidFill>
              </a:defRPr>
            </a:lvl1pPr>
          </a:lstStyle>
          <a:p>
            <a:pPr marL="0" indent="0" algn="l">
              <a:buNone/>
            </a:pPr>
            <a:endParaRPr lang="en-US" sz="32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chemeClr val="accent5"/>
                </a:solidFill>
              </a:rPr>
              <a:t>SARA  |  IUB CSE Senior Project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jp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16.jpg"/><Relationship Id="rId4" Type="http://schemas.openxmlformats.org/officeDocument/2006/relationships/image" Target="../media/image15.jpg"/></Relationships>
</file>

<file path=ppt/slides/_rels/slide8.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8" Type="http://schemas.openxmlformats.org/officeDocument/2006/relationships/image" Target="../media/image23.jpg"/><Relationship Id="rId3" Type="http://schemas.openxmlformats.org/officeDocument/2006/relationships/image" Target="../media/image18.jpg"/><Relationship Id="rId7" Type="http://schemas.openxmlformats.org/officeDocument/2006/relationships/image" Target="../media/image22.jp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21.jpg"/><Relationship Id="rId5" Type="http://schemas.openxmlformats.org/officeDocument/2006/relationships/image" Target="../media/image20.jpg"/><Relationship Id="rId4" Type="http://schemas.openxmlformats.org/officeDocument/2006/relationships/image" Target="../media/image19.jpg"/></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8.png"/><Relationship Id="rId7"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7.png"/><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1.jp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371600"/>
            <a:ext cx="6766560" cy="1280160"/>
          </a:xfrm>
          <a:prstGeom prst="rect">
            <a:avLst/>
          </a:prstGeom>
          <a:noFill/>
          <a:ln/>
        </p:spPr>
        <p:txBody>
          <a:bodyPr wrap="square" lIns="0" tIns="0" rIns="0" bIns="0" rtlCol="0" anchor="b"/>
          <a:lstStyle/>
          <a:p>
            <a:pPr marL="0" indent="0" algn="l">
              <a:buNone/>
            </a:pPr>
            <a:r>
              <a:rPr lang="en-US" sz="5400" b="1" dirty="0">
                <a:solidFill>
                  <a:schemeClr val="bg1"/>
                </a:solidFill>
              </a:rPr>
              <a:t>SARA</a:t>
            </a:r>
            <a:endParaRPr lang="en-US" sz="5400" dirty="0"/>
          </a:p>
        </p:txBody>
      </p:sp>
      <p:sp>
        <p:nvSpPr>
          <p:cNvPr id="3" name="Text 0"/>
          <p:cNvSpPr>
            <a:spLocks noGrp="1"/>
          </p:cNvSpPr>
          <p:nvPr>
            <p:ph type="body" idx="101" hasCustomPrompt="1"/>
          </p:nvPr>
        </p:nvSpPr>
        <p:spPr>
          <a:xfrm>
            <a:off x="640080" y="2788920"/>
            <a:ext cx="6766560" cy="1554480"/>
          </a:xfrm>
          <a:prstGeom prst="rect">
            <a:avLst/>
          </a:prstGeom>
          <a:noFill/>
          <a:ln/>
        </p:spPr>
        <p:txBody>
          <a:bodyPr wrap="square" lIns="0" tIns="0" rIns="0" bIns="0" rtlCol="0" anchor="t"/>
          <a:lstStyle/>
          <a:p>
            <a:pPr marL="0" indent="0" algn="l">
              <a:buNone/>
            </a:pPr>
            <a:r>
              <a:rPr lang="en-US" sz="2200" dirty="0">
                <a:solidFill>
                  <a:srgbClr val="A8D5BA"/>
                </a:solidFill>
              </a:rPr>
              <a:t>Smart Assistive Reading Aid: An Offline Smart Glass for Visually Impaired People that Reads Bangla and English Text, Detects Objects, and Recognises and Checks Bangladeshi Taka Notes</a:t>
            </a:r>
            <a:endParaRPr lang="en-US" sz="2200" dirty="0"/>
          </a:p>
        </p:txBody>
      </p:sp>
      <p:sp>
        <p:nvSpPr>
          <p:cNvPr id="4" name="Text 2"/>
          <p:cNvSpPr txBox="1"/>
          <p:nvPr/>
        </p:nvSpPr>
        <p:spPr>
          <a:xfrm>
            <a:off x="640080" y="4572000"/>
            <a:ext cx="6766560" cy="1280160"/>
          </a:xfrm>
          <a:prstGeom prst="rect">
            <a:avLst/>
          </a:prstGeom>
          <a:noFill/>
          <a:ln/>
        </p:spPr>
        <p:txBody>
          <a:bodyPr wrap="square" lIns="0" tIns="0" rIns="0" bIns="0" rtlCol="0" anchor="ctr"/>
          <a:lstStyle/>
          <a:p>
            <a:pPr marL="0" indent="0">
              <a:spcAft>
                <a:spcPts val="600"/>
              </a:spcAft>
              <a:buNone/>
            </a:pPr>
            <a:r>
              <a:rPr lang="en-US" sz="1400" dirty="0">
                <a:solidFill>
                  <a:schemeClr val="bg1"/>
                </a:solidFill>
              </a:rPr>
              <a:t>MD Abdun Fattah Lam (2220014)  ·  Mukut Protim Memo (2020086)  ·  Tanjila Hossain Tapti (2130561)</a:t>
            </a:r>
            <a:endParaRPr lang="en-US" sz="1400" dirty="0"/>
          </a:p>
          <a:p>
            <a:pPr marL="0" indent="0">
              <a:spcAft>
                <a:spcPts val="600"/>
              </a:spcAft>
              <a:buNone/>
            </a:pPr>
            <a:r>
              <a:rPr lang="en-US" sz="1400" dirty="0">
                <a:solidFill>
                  <a:schemeClr val="bg1"/>
                </a:solidFill>
              </a:rPr>
              <a:t>Supervisor: Mohammad Shidujaman, PhD, Assistant Professor</a:t>
            </a:r>
            <a:endParaRPr lang="en-US" sz="1400" dirty="0"/>
          </a:p>
          <a:p>
            <a:pPr marL="0" indent="0">
              <a:spcAft>
                <a:spcPts val="600"/>
              </a:spcAft>
              <a:buNone/>
            </a:pPr>
            <a:r>
              <a:rPr lang="en-US" sz="1400" dirty="0">
                <a:solidFill>
                  <a:schemeClr val="bg1"/>
                </a:solidFill>
              </a:rPr>
              <a:t>Department of Computer Science and Engineering, Independent University, Bangladesh  ·  Spring 2026</a:t>
            </a:r>
            <a:endParaRPr lang="en-US" sz="1400" dirty="0"/>
          </a:p>
        </p:txBody>
      </p:sp>
      <p:pic>
        <p:nvPicPr>
          <p:cNvPr id="5" name="Prototype worn" descr="E:/Final SP/Thesis Report and paper/thesis report/My report/DIagram fig tab/worn_front.jpg"/>
          <p:cNvPicPr>
            <a:picLocks noChangeAspect="1"/>
          </p:cNvPicPr>
          <p:nvPr/>
        </p:nvPicPr>
        <p:blipFill>
          <a:blip r:embed="rId3"/>
          <a:srcRect/>
          <a:stretch/>
        </p:blipFill>
        <p:spPr>
          <a:xfrm>
            <a:off x="8001000" y="640080"/>
            <a:ext cx="3657600" cy="557784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2"/>
                </a:solidFill>
              </a:rPr>
              <a:t>Reading, recognising and paying still need a helper</a:t>
            </a:r>
            <a:endParaRPr lang="en-US" sz="3200" dirty="0"/>
          </a:p>
        </p:txBody>
      </p:sp>
      <p:sp>
        <p:nvSpPr>
          <p:cNvPr id="3" name="Text 1"/>
          <p:cNvSpPr txBox="1"/>
          <p:nvPr/>
        </p:nvSpPr>
        <p:spPr>
          <a:xfrm>
            <a:off x="548640" y="1371600"/>
            <a:ext cx="4754880" cy="2011680"/>
          </a:xfrm>
          <a:prstGeom prst="rect">
            <a:avLst/>
          </a:prstGeom>
          <a:noFill/>
          <a:ln/>
        </p:spPr>
        <p:txBody>
          <a:bodyPr wrap="square" lIns="0" tIns="0" rIns="0" bIns="0" rtlCol="0" anchor="t"/>
          <a:lstStyle/>
          <a:p>
            <a:pPr marL="0" indent="0">
              <a:buNone/>
            </a:pPr>
            <a:r>
              <a:rPr lang="en-US" sz="1800" dirty="0">
                <a:solidFill>
                  <a:schemeClr val="tx1"/>
                </a:solidFill>
              </a:rPr>
              <a:t>A blind person buys medicine and receives change. To know what the label says, which note came back and whether it is real, they must ask someone, and they cannot check the answer.</a:t>
            </a:r>
            <a:endParaRPr lang="en-US" sz="1800" dirty="0"/>
          </a:p>
        </p:txBody>
      </p:sp>
      <p:sp>
        <p:nvSpPr>
          <p:cNvPr id="4" name="Text 2"/>
          <p:cNvSpPr txBox="1"/>
          <p:nvPr/>
        </p:nvSpPr>
        <p:spPr>
          <a:xfrm>
            <a:off x="548640" y="3749040"/>
            <a:ext cx="4754880" cy="914400"/>
          </a:xfrm>
          <a:prstGeom prst="rect">
            <a:avLst/>
          </a:prstGeom>
          <a:noFill/>
          <a:ln/>
        </p:spPr>
        <p:txBody>
          <a:bodyPr wrap="square" lIns="0" tIns="0" rIns="0" bIns="0" rtlCol="0" anchor="ctr"/>
          <a:lstStyle/>
          <a:p>
            <a:pPr marL="0" indent="0">
              <a:buNone/>
            </a:pPr>
            <a:r>
              <a:rPr lang="en-US" sz="6000" b="1" dirty="0">
                <a:solidFill>
                  <a:schemeClr val="accent1"/>
                </a:solidFill>
                <a:latin typeface="Cambria" pitchFamily="34" charset="0"/>
                <a:ea typeface="Cambria" pitchFamily="34" charset="-122"/>
                <a:cs typeface="Cambria" pitchFamily="34" charset="-120"/>
              </a:rPr>
              <a:t>2.2 billion</a:t>
            </a:r>
            <a:endParaRPr lang="en-US" sz="6000" dirty="0"/>
          </a:p>
        </p:txBody>
      </p:sp>
      <p:sp>
        <p:nvSpPr>
          <p:cNvPr id="5" name="Text 3"/>
          <p:cNvSpPr txBox="1"/>
          <p:nvPr/>
        </p:nvSpPr>
        <p:spPr>
          <a:xfrm>
            <a:off x="548640" y="4709160"/>
            <a:ext cx="4754880" cy="548640"/>
          </a:xfrm>
          <a:prstGeom prst="rect">
            <a:avLst/>
          </a:prstGeom>
          <a:noFill/>
          <a:ln/>
        </p:spPr>
        <p:txBody>
          <a:bodyPr wrap="square" lIns="0" tIns="0" rIns="0" bIns="0" rtlCol="0" anchor="t"/>
          <a:lstStyle/>
          <a:p>
            <a:pPr marL="0" indent="0">
              <a:buNone/>
            </a:pPr>
            <a:r>
              <a:rPr lang="en-US" sz="1600" dirty="0">
                <a:solidFill>
                  <a:schemeClr val="accent5"/>
                </a:solidFill>
              </a:rPr>
              <a:t>people live with some form of vision impairment (WHO)</a:t>
            </a:r>
            <a:endParaRPr lang="en-US" sz="1600" dirty="0"/>
          </a:p>
        </p:txBody>
      </p:sp>
      <p:sp>
        <p:nvSpPr>
          <p:cNvPr id="6" name="problem card 1"/>
          <p:cNvSpPr/>
          <p:nvPr/>
        </p:nvSpPr>
        <p:spPr>
          <a:xfrm>
            <a:off x="5852160" y="1371600"/>
            <a:ext cx="5760720" cy="1371600"/>
          </a:xfrm>
          <a:prstGeom prst="roundRect">
            <a:avLst>
              <a:gd name="adj" fmla="val 5333"/>
            </a:avLst>
          </a:prstGeom>
          <a:solidFill>
            <a:schemeClr val="bg2"/>
          </a:solidFill>
          <a:ln w="12700">
            <a:solidFill>
              <a:schemeClr val="bg2"/>
            </a:solidFill>
            <a:prstDash val="solid"/>
          </a:ln>
        </p:spPr>
      </p:sp>
      <p:sp>
        <p:nvSpPr>
          <p:cNvPr id="7" name="problem 1 circle"/>
          <p:cNvSpPr/>
          <p:nvPr/>
        </p:nvSpPr>
        <p:spPr>
          <a:xfrm>
            <a:off x="6080760" y="1645920"/>
            <a:ext cx="822960" cy="822960"/>
          </a:xfrm>
          <a:prstGeom prst="ellipse">
            <a:avLst/>
          </a:prstGeom>
          <a:solidFill>
            <a:srgbClr val="0B6E4F"/>
          </a:solidFill>
          <a:ln w="12700">
            <a:solidFill>
              <a:srgbClr val="0B6E4F"/>
            </a:solidFill>
            <a:prstDash val="solid"/>
          </a:ln>
        </p:spPr>
      </p:sp>
      <p:pic>
        <p:nvPicPr>
          <p:cNvPr id="8" name="problem 1 icon" descr="preencoded.png"/>
          <p:cNvPicPr>
            <a:picLocks noChangeAspect="1"/>
          </p:cNvPicPr>
          <p:nvPr/>
        </p:nvPicPr>
        <p:blipFill>
          <a:blip r:embed="rId3"/>
          <a:stretch>
            <a:fillRect/>
          </a:stretch>
        </p:blipFill>
        <p:spPr>
          <a:xfrm>
            <a:off x="6261811" y="1826971"/>
            <a:ext cx="460858" cy="460858"/>
          </a:xfrm>
          <a:prstGeom prst="rect">
            <a:avLst/>
          </a:prstGeom>
        </p:spPr>
      </p:pic>
      <p:sp>
        <p:nvSpPr>
          <p:cNvPr id="9" name="Text 6"/>
          <p:cNvSpPr txBox="1"/>
          <p:nvPr/>
        </p:nvSpPr>
        <p:spPr>
          <a:xfrm>
            <a:off x="7132320" y="1572768"/>
            <a:ext cx="4297680" cy="411480"/>
          </a:xfrm>
          <a:prstGeom prst="rect">
            <a:avLst/>
          </a:prstGeom>
          <a:noFill/>
          <a:ln/>
        </p:spPr>
        <p:txBody>
          <a:bodyPr wrap="square" lIns="0" tIns="0" rIns="0" bIns="0" rtlCol="0" anchor="t"/>
          <a:lstStyle/>
          <a:p>
            <a:pPr marL="0" indent="0">
              <a:buNone/>
            </a:pPr>
            <a:r>
              <a:rPr lang="en-US" sz="2000" b="1" dirty="0">
                <a:solidFill>
                  <a:schemeClr val="tx2"/>
                </a:solidFill>
              </a:rPr>
              <a:t>Built for English</a:t>
            </a:r>
            <a:endParaRPr lang="en-US" sz="2000" dirty="0"/>
          </a:p>
        </p:txBody>
      </p:sp>
      <p:sp>
        <p:nvSpPr>
          <p:cNvPr id="10" name="Text 7"/>
          <p:cNvSpPr txBox="1"/>
          <p:nvPr/>
        </p:nvSpPr>
        <p:spPr>
          <a:xfrm>
            <a:off x="7132320" y="2011680"/>
            <a:ext cx="4297680" cy="640080"/>
          </a:xfrm>
          <a:prstGeom prst="rect">
            <a:avLst/>
          </a:prstGeom>
          <a:noFill/>
          <a:ln/>
        </p:spPr>
        <p:txBody>
          <a:bodyPr wrap="square" lIns="0" tIns="0" rIns="0" bIns="0" rtlCol="0" anchor="t"/>
          <a:lstStyle/>
          <a:p>
            <a:pPr marL="0" indent="0">
              <a:buNone/>
            </a:pPr>
            <a:r>
              <a:rPr lang="en-US" sz="1500" dirty="0">
                <a:solidFill>
                  <a:schemeClr val="tx1"/>
                </a:solidFill>
              </a:rPr>
              <a:t>Existing devices do not read Bangla or know Taka notes.</a:t>
            </a:r>
            <a:endParaRPr lang="en-US" sz="1500" dirty="0"/>
          </a:p>
        </p:txBody>
      </p:sp>
      <p:sp>
        <p:nvSpPr>
          <p:cNvPr id="11" name="problem card 2"/>
          <p:cNvSpPr/>
          <p:nvPr/>
        </p:nvSpPr>
        <p:spPr>
          <a:xfrm>
            <a:off x="5852160" y="2971800"/>
            <a:ext cx="5760720" cy="1371600"/>
          </a:xfrm>
          <a:prstGeom prst="roundRect">
            <a:avLst>
              <a:gd name="adj" fmla="val 5333"/>
            </a:avLst>
          </a:prstGeom>
          <a:solidFill>
            <a:schemeClr val="bg2"/>
          </a:solidFill>
          <a:ln w="12700">
            <a:solidFill>
              <a:schemeClr val="bg2"/>
            </a:solidFill>
            <a:prstDash val="solid"/>
          </a:ln>
        </p:spPr>
      </p:sp>
      <p:sp>
        <p:nvSpPr>
          <p:cNvPr id="12" name="problem 2 circle"/>
          <p:cNvSpPr/>
          <p:nvPr/>
        </p:nvSpPr>
        <p:spPr>
          <a:xfrm>
            <a:off x="6080760" y="3246120"/>
            <a:ext cx="822960" cy="822960"/>
          </a:xfrm>
          <a:prstGeom prst="ellipse">
            <a:avLst/>
          </a:prstGeom>
          <a:solidFill>
            <a:srgbClr val="0B6E4F"/>
          </a:solidFill>
          <a:ln w="12700">
            <a:solidFill>
              <a:srgbClr val="0B6E4F"/>
            </a:solidFill>
            <a:prstDash val="solid"/>
          </a:ln>
        </p:spPr>
      </p:sp>
      <p:pic>
        <p:nvPicPr>
          <p:cNvPr id="13" name="problem 2 icon" descr="preencoded.png"/>
          <p:cNvPicPr>
            <a:picLocks noChangeAspect="1"/>
          </p:cNvPicPr>
          <p:nvPr/>
        </p:nvPicPr>
        <p:blipFill>
          <a:blip r:embed="rId4"/>
          <a:stretch>
            <a:fillRect/>
          </a:stretch>
        </p:blipFill>
        <p:spPr>
          <a:xfrm>
            <a:off x="6261811" y="3427171"/>
            <a:ext cx="460858" cy="460858"/>
          </a:xfrm>
          <a:prstGeom prst="rect">
            <a:avLst/>
          </a:prstGeom>
        </p:spPr>
      </p:pic>
      <p:sp>
        <p:nvSpPr>
          <p:cNvPr id="14" name="Text 10"/>
          <p:cNvSpPr txBox="1"/>
          <p:nvPr/>
        </p:nvSpPr>
        <p:spPr>
          <a:xfrm>
            <a:off x="7132320" y="3172968"/>
            <a:ext cx="4297680" cy="411480"/>
          </a:xfrm>
          <a:prstGeom prst="rect">
            <a:avLst/>
          </a:prstGeom>
          <a:noFill/>
          <a:ln/>
        </p:spPr>
        <p:txBody>
          <a:bodyPr wrap="square" lIns="0" tIns="0" rIns="0" bIns="0" rtlCol="0" anchor="t"/>
          <a:lstStyle/>
          <a:p>
            <a:pPr marL="0" indent="0">
              <a:buNone/>
            </a:pPr>
            <a:r>
              <a:rPr lang="en-US" sz="2000" b="1" dirty="0">
                <a:solidFill>
                  <a:schemeClr val="tx2"/>
                </a:solidFill>
              </a:rPr>
              <a:t>Need internet or money</a:t>
            </a:r>
            <a:endParaRPr lang="en-US" sz="2000" dirty="0"/>
          </a:p>
        </p:txBody>
      </p:sp>
      <p:sp>
        <p:nvSpPr>
          <p:cNvPr id="15" name="Text 11"/>
          <p:cNvSpPr txBox="1"/>
          <p:nvPr/>
        </p:nvSpPr>
        <p:spPr>
          <a:xfrm>
            <a:off x="7132320" y="3611880"/>
            <a:ext cx="4297680" cy="640080"/>
          </a:xfrm>
          <a:prstGeom prst="rect">
            <a:avLst/>
          </a:prstGeom>
          <a:noFill/>
          <a:ln/>
        </p:spPr>
        <p:txBody>
          <a:bodyPr wrap="square" lIns="0" tIns="0" rIns="0" bIns="0" rtlCol="0" anchor="t"/>
          <a:lstStyle/>
          <a:p>
            <a:pPr marL="0" indent="0">
              <a:buNone/>
            </a:pPr>
            <a:r>
              <a:rPr lang="en-US" sz="1500" dirty="0">
                <a:solidFill>
                  <a:schemeClr val="tx1"/>
                </a:solidFill>
              </a:rPr>
              <a:t>Many send pictures to a server or need a phone and a paid service.</a:t>
            </a:r>
            <a:endParaRPr lang="en-US" sz="1500" dirty="0"/>
          </a:p>
        </p:txBody>
      </p:sp>
      <p:sp>
        <p:nvSpPr>
          <p:cNvPr id="16" name="problem card 3"/>
          <p:cNvSpPr/>
          <p:nvPr/>
        </p:nvSpPr>
        <p:spPr>
          <a:xfrm>
            <a:off x="5852160" y="4572000"/>
            <a:ext cx="5760720" cy="1371600"/>
          </a:xfrm>
          <a:prstGeom prst="roundRect">
            <a:avLst>
              <a:gd name="adj" fmla="val 5333"/>
            </a:avLst>
          </a:prstGeom>
          <a:solidFill>
            <a:schemeClr val="bg2"/>
          </a:solidFill>
          <a:ln w="12700">
            <a:solidFill>
              <a:schemeClr val="bg2"/>
            </a:solidFill>
            <a:prstDash val="solid"/>
          </a:ln>
        </p:spPr>
      </p:sp>
      <p:sp>
        <p:nvSpPr>
          <p:cNvPr id="17" name="problem 3 circle"/>
          <p:cNvSpPr/>
          <p:nvPr/>
        </p:nvSpPr>
        <p:spPr>
          <a:xfrm>
            <a:off x="6080760" y="4846320"/>
            <a:ext cx="822960" cy="822960"/>
          </a:xfrm>
          <a:prstGeom prst="ellipse">
            <a:avLst/>
          </a:prstGeom>
          <a:solidFill>
            <a:srgbClr val="E4572E"/>
          </a:solidFill>
          <a:ln w="12700">
            <a:solidFill>
              <a:srgbClr val="E4572E"/>
            </a:solidFill>
            <a:prstDash val="solid"/>
          </a:ln>
        </p:spPr>
      </p:sp>
      <p:pic>
        <p:nvPicPr>
          <p:cNvPr id="18" name="problem 3 icon" descr="preencoded.png"/>
          <p:cNvPicPr>
            <a:picLocks noChangeAspect="1"/>
          </p:cNvPicPr>
          <p:nvPr/>
        </p:nvPicPr>
        <p:blipFill>
          <a:blip r:embed="rId5"/>
          <a:stretch>
            <a:fillRect/>
          </a:stretch>
        </p:blipFill>
        <p:spPr>
          <a:xfrm>
            <a:off x="6261811" y="5027371"/>
            <a:ext cx="460858" cy="460858"/>
          </a:xfrm>
          <a:prstGeom prst="rect">
            <a:avLst/>
          </a:prstGeom>
        </p:spPr>
      </p:pic>
      <p:sp>
        <p:nvSpPr>
          <p:cNvPr id="19" name="Text 14"/>
          <p:cNvSpPr txBox="1"/>
          <p:nvPr/>
        </p:nvSpPr>
        <p:spPr>
          <a:xfrm>
            <a:off x="7132320" y="4773168"/>
            <a:ext cx="4297680" cy="411480"/>
          </a:xfrm>
          <a:prstGeom prst="rect">
            <a:avLst/>
          </a:prstGeom>
          <a:noFill/>
          <a:ln/>
        </p:spPr>
        <p:txBody>
          <a:bodyPr wrap="square" lIns="0" tIns="0" rIns="0" bIns="0" rtlCol="0" anchor="t"/>
          <a:lstStyle/>
          <a:p>
            <a:pPr marL="0" indent="0">
              <a:buNone/>
            </a:pPr>
            <a:r>
              <a:rPr lang="en-US" sz="2000" b="1" dirty="0">
                <a:solidFill>
                  <a:schemeClr val="tx2"/>
                </a:solidFill>
              </a:rPr>
              <a:t>Answers cannot be checked</a:t>
            </a:r>
            <a:endParaRPr lang="en-US" sz="2000" dirty="0"/>
          </a:p>
        </p:txBody>
      </p:sp>
      <p:sp>
        <p:nvSpPr>
          <p:cNvPr id="20" name="Text 15"/>
          <p:cNvSpPr txBox="1"/>
          <p:nvPr/>
        </p:nvSpPr>
        <p:spPr>
          <a:xfrm>
            <a:off x="7132320" y="5212080"/>
            <a:ext cx="4297680" cy="640080"/>
          </a:xfrm>
          <a:prstGeom prst="rect">
            <a:avLst/>
          </a:prstGeom>
          <a:noFill/>
          <a:ln/>
        </p:spPr>
        <p:txBody>
          <a:bodyPr wrap="square" lIns="0" tIns="0" rIns="0" bIns="0" rtlCol="0" anchor="t"/>
          <a:lstStyle/>
          <a:p>
            <a:pPr marL="0" indent="0">
              <a:buNone/>
            </a:pPr>
            <a:r>
              <a:rPr lang="en-US" sz="1500" dirty="0">
                <a:solidFill>
                  <a:schemeClr val="tx1"/>
                </a:solidFill>
              </a:rPr>
              <a:t>A wrong note or a false "counterfeit" costs money or causes an accusation.</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spTree>
  </p:cSld>
  <p:clrMapOvr>
    <a:masterClrMapping/>
  </p:clrMapOvr>
  <p:transition spd="slow">
    <p:push dir="u"/>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2"/>
                </a:solidFill>
              </a:rPr>
              <a:t>SARA: </a:t>
            </a:r>
            <a:r>
              <a:rPr lang="en-US" sz="3200" b="1" dirty="0" smtClean="0">
                <a:solidFill>
                  <a:schemeClr val="tx2"/>
                </a:solidFill>
              </a:rPr>
              <a:t>Five mode buttons</a:t>
            </a:r>
            <a:endParaRPr lang="en-US" sz="3200" dirty="0"/>
          </a:p>
        </p:txBody>
      </p:sp>
      <p:pic>
        <p:nvPicPr>
          <p:cNvPr id="3" name="Prototype photo" descr="E:/Final SP/Thesis Report and paper/thesis report/My report/DIagram fig tab/proto_front.jpg"/>
          <p:cNvPicPr>
            <a:picLocks noChangeAspect="1"/>
          </p:cNvPicPr>
          <p:nvPr/>
        </p:nvPicPr>
        <p:blipFill>
          <a:blip r:embed="rId3"/>
          <a:srcRect/>
          <a:stretch/>
        </p:blipFill>
        <p:spPr>
          <a:xfrm>
            <a:off x="548640" y="1325880"/>
            <a:ext cx="3566160" cy="4754880"/>
          </a:xfrm>
          <a:prstGeom prst="rect">
            <a:avLst/>
          </a:prstGeom>
        </p:spPr>
      </p:pic>
      <p:sp>
        <p:nvSpPr>
          <p:cNvPr id="4" name="mode card 1"/>
          <p:cNvSpPr/>
          <p:nvPr/>
        </p:nvSpPr>
        <p:spPr>
          <a:xfrm>
            <a:off x="4480560" y="1325880"/>
            <a:ext cx="3429000" cy="1417320"/>
          </a:xfrm>
          <a:prstGeom prst="roundRect">
            <a:avLst>
              <a:gd name="adj" fmla="val 5161"/>
            </a:avLst>
          </a:prstGeom>
          <a:solidFill>
            <a:schemeClr val="bg2"/>
          </a:solidFill>
          <a:ln w="12700">
            <a:solidFill>
              <a:schemeClr val="bg2"/>
            </a:solidFill>
            <a:prstDash val="solid"/>
          </a:ln>
        </p:spPr>
      </p:sp>
      <p:sp>
        <p:nvSpPr>
          <p:cNvPr id="5" name="mode 1 circle"/>
          <p:cNvSpPr/>
          <p:nvPr/>
        </p:nvSpPr>
        <p:spPr>
          <a:xfrm>
            <a:off x="4663440" y="1600200"/>
            <a:ext cx="731520" cy="731520"/>
          </a:xfrm>
          <a:prstGeom prst="ellipse">
            <a:avLst/>
          </a:prstGeom>
          <a:solidFill>
            <a:srgbClr val="0B6E4F"/>
          </a:solidFill>
          <a:ln w="12700">
            <a:solidFill>
              <a:srgbClr val="0B6E4F"/>
            </a:solidFill>
            <a:prstDash val="solid"/>
          </a:ln>
        </p:spPr>
      </p:sp>
      <p:pic>
        <p:nvPicPr>
          <p:cNvPr id="6" name="mode 1 icon" descr="preencoded.png"/>
          <p:cNvPicPr>
            <a:picLocks noChangeAspect="1"/>
          </p:cNvPicPr>
          <p:nvPr/>
        </p:nvPicPr>
        <p:blipFill>
          <a:blip r:embed="rId4"/>
          <a:stretch>
            <a:fillRect/>
          </a:stretch>
        </p:blipFill>
        <p:spPr>
          <a:xfrm>
            <a:off x="4824374" y="1761134"/>
            <a:ext cx="409651" cy="409651"/>
          </a:xfrm>
          <a:prstGeom prst="rect">
            <a:avLst/>
          </a:prstGeom>
        </p:spPr>
      </p:pic>
      <p:sp>
        <p:nvSpPr>
          <p:cNvPr id="7" name="Text 3"/>
          <p:cNvSpPr txBox="1"/>
          <p:nvPr/>
        </p:nvSpPr>
        <p:spPr>
          <a:xfrm>
            <a:off x="5532120" y="1508760"/>
            <a:ext cx="2240280" cy="411480"/>
          </a:xfrm>
          <a:prstGeom prst="rect">
            <a:avLst/>
          </a:prstGeom>
          <a:noFill/>
          <a:ln/>
        </p:spPr>
        <p:txBody>
          <a:bodyPr wrap="square" lIns="0" tIns="0" rIns="0" bIns="0" rtlCol="0" anchor="t"/>
          <a:lstStyle/>
          <a:p>
            <a:pPr marL="0" indent="0">
              <a:buNone/>
            </a:pPr>
            <a:r>
              <a:rPr lang="en-US" sz="1800" b="1" dirty="0">
                <a:solidFill>
                  <a:schemeClr val="tx2"/>
                </a:solidFill>
              </a:rPr>
              <a:t>Text reading</a:t>
            </a:r>
            <a:endParaRPr lang="en-US" sz="1800" dirty="0"/>
          </a:p>
        </p:txBody>
      </p:sp>
      <p:sp>
        <p:nvSpPr>
          <p:cNvPr id="8" name="Text 4"/>
          <p:cNvSpPr txBox="1"/>
          <p:nvPr/>
        </p:nvSpPr>
        <p:spPr>
          <a:xfrm>
            <a:off x="5532120" y="1920240"/>
            <a:ext cx="2240280" cy="731520"/>
          </a:xfrm>
          <a:prstGeom prst="rect">
            <a:avLst/>
          </a:prstGeom>
          <a:noFill/>
          <a:ln/>
        </p:spPr>
        <p:txBody>
          <a:bodyPr wrap="square" lIns="0" tIns="0" rIns="0" bIns="0" rtlCol="0" anchor="t"/>
          <a:lstStyle/>
          <a:p>
            <a:pPr marL="0" indent="0">
              <a:buNone/>
            </a:pPr>
            <a:r>
              <a:rPr lang="en-US" sz="1400" dirty="0">
                <a:solidFill>
                  <a:schemeClr val="tx1"/>
                </a:solidFill>
              </a:rPr>
              <a:t>Bangla and English OCR, spoken right after capture</a:t>
            </a:r>
            <a:endParaRPr lang="en-US" sz="1400" dirty="0"/>
          </a:p>
        </p:txBody>
      </p:sp>
      <p:sp>
        <p:nvSpPr>
          <p:cNvPr id="9" name="mode card 2"/>
          <p:cNvSpPr/>
          <p:nvPr/>
        </p:nvSpPr>
        <p:spPr>
          <a:xfrm>
            <a:off x="8092440" y="1325880"/>
            <a:ext cx="3429000" cy="1417320"/>
          </a:xfrm>
          <a:prstGeom prst="roundRect">
            <a:avLst>
              <a:gd name="adj" fmla="val 5161"/>
            </a:avLst>
          </a:prstGeom>
          <a:solidFill>
            <a:schemeClr val="bg2"/>
          </a:solidFill>
          <a:ln w="12700">
            <a:solidFill>
              <a:schemeClr val="bg2"/>
            </a:solidFill>
            <a:prstDash val="solid"/>
          </a:ln>
        </p:spPr>
      </p:sp>
      <p:sp>
        <p:nvSpPr>
          <p:cNvPr id="10" name="mode 2 circle"/>
          <p:cNvSpPr/>
          <p:nvPr/>
        </p:nvSpPr>
        <p:spPr>
          <a:xfrm>
            <a:off x="8275320" y="1600200"/>
            <a:ext cx="731520" cy="731520"/>
          </a:xfrm>
          <a:prstGeom prst="ellipse">
            <a:avLst/>
          </a:prstGeom>
          <a:solidFill>
            <a:srgbClr val="0B6E4F"/>
          </a:solidFill>
          <a:ln w="12700">
            <a:solidFill>
              <a:srgbClr val="0B6E4F"/>
            </a:solidFill>
            <a:prstDash val="solid"/>
          </a:ln>
        </p:spPr>
      </p:sp>
      <p:pic>
        <p:nvPicPr>
          <p:cNvPr id="11" name="mode 2 icon" descr="preencoded.png"/>
          <p:cNvPicPr>
            <a:picLocks noChangeAspect="1"/>
          </p:cNvPicPr>
          <p:nvPr/>
        </p:nvPicPr>
        <p:blipFill>
          <a:blip r:embed="rId5"/>
          <a:stretch>
            <a:fillRect/>
          </a:stretch>
        </p:blipFill>
        <p:spPr>
          <a:xfrm>
            <a:off x="8436254" y="1761134"/>
            <a:ext cx="409651" cy="409651"/>
          </a:xfrm>
          <a:prstGeom prst="rect">
            <a:avLst/>
          </a:prstGeom>
        </p:spPr>
      </p:pic>
      <p:sp>
        <p:nvSpPr>
          <p:cNvPr id="12" name="Text 7"/>
          <p:cNvSpPr txBox="1"/>
          <p:nvPr/>
        </p:nvSpPr>
        <p:spPr>
          <a:xfrm>
            <a:off x="9144000" y="1508760"/>
            <a:ext cx="2240280" cy="411480"/>
          </a:xfrm>
          <a:prstGeom prst="rect">
            <a:avLst/>
          </a:prstGeom>
          <a:noFill/>
          <a:ln/>
        </p:spPr>
        <p:txBody>
          <a:bodyPr wrap="square" lIns="0" tIns="0" rIns="0" bIns="0" rtlCol="0" anchor="t"/>
          <a:lstStyle/>
          <a:p>
            <a:pPr marL="0" indent="0">
              <a:buNone/>
            </a:pPr>
            <a:r>
              <a:rPr lang="en-US" sz="1800" b="1" dirty="0">
                <a:solidFill>
                  <a:schemeClr val="tx2"/>
                </a:solidFill>
              </a:rPr>
              <a:t>Objects</a:t>
            </a:r>
            <a:endParaRPr lang="en-US" sz="1800" dirty="0"/>
          </a:p>
        </p:txBody>
      </p:sp>
      <p:sp>
        <p:nvSpPr>
          <p:cNvPr id="13" name="Text 8"/>
          <p:cNvSpPr txBox="1"/>
          <p:nvPr/>
        </p:nvSpPr>
        <p:spPr>
          <a:xfrm>
            <a:off x="9144000" y="1920240"/>
            <a:ext cx="2240280" cy="731520"/>
          </a:xfrm>
          <a:prstGeom prst="rect">
            <a:avLst/>
          </a:prstGeom>
          <a:noFill/>
          <a:ln/>
        </p:spPr>
        <p:txBody>
          <a:bodyPr wrap="square" lIns="0" tIns="0" rIns="0" bIns="0" rtlCol="0" anchor="t"/>
          <a:lstStyle/>
          <a:p>
            <a:pPr marL="0" indent="0">
              <a:buNone/>
            </a:pPr>
            <a:r>
              <a:rPr lang="en-US" sz="1400" dirty="0">
                <a:solidFill>
                  <a:schemeClr val="tx1"/>
                </a:solidFill>
              </a:rPr>
              <a:t>Names objects in front of the user every 1.5 s</a:t>
            </a:r>
            <a:endParaRPr lang="en-US" sz="1400" dirty="0"/>
          </a:p>
        </p:txBody>
      </p:sp>
      <p:sp>
        <p:nvSpPr>
          <p:cNvPr id="14" name="mode card 3"/>
          <p:cNvSpPr/>
          <p:nvPr/>
        </p:nvSpPr>
        <p:spPr>
          <a:xfrm>
            <a:off x="4480560" y="2926080"/>
            <a:ext cx="3429000" cy="1417320"/>
          </a:xfrm>
          <a:prstGeom prst="roundRect">
            <a:avLst>
              <a:gd name="adj" fmla="val 5161"/>
            </a:avLst>
          </a:prstGeom>
          <a:solidFill>
            <a:schemeClr val="bg2"/>
          </a:solidFill>
          <a:ln w="12700">
            <a:solidFill>
              <a:schemeClr val="bg2"/>
            </a:solidFill>
            <a:prstDash val="solid"/>
          </a:ln>
        </p:spPr>
      </p:sp>
      <p:sp>
        <p:nvSpPr>
          <p:cNvPr id="15" name="mode 3 circle"/>
          <p:cNvSpPr/>
          <p:nvPr/>
        </p:nvSpPr>
        <p:spPr>
          <a:xfrm>
            <a:off x="4663440" y="3200400"/>
            <a:ext cx="731520" cy="731520"/>
          </a:xfrm>
          <a:prstGeom prst="ellipse">
            <a:avLst/>
          </a:prstGeom>
          <a:solidFill>
            <a:srgbClr val="0B6E4F"/>
          </a:solidFill>
          <a:ln w="12700">
            <a:solidFill>
              <a:srgbClr val="0B6E4F"/>
            </a:solidFill>
            <a:prstDash val="solid"/>
          </a:ln>
        </p:spPr>
      </p:sp>
      <p:pic>
        <p:nvPicPr>
          <p:cNvPr id="16" name="mode 3 icon" descr="preencoded.png"/>
          <p:cNvPicPr>
            <a:picLocks noChangeAspect="1"/>
          </p:cNvPicPr>
          <p:nvPr/>
        </p:nvPicPr>
        <p:blipFill>
          <a:blip r:embed="rId6"/>
          <a:stretch>
            <a:fillRect/>
          </a:stretch>
        </p:blipFill>
        <p:spPr>
          <a:xfrm>
            <a:off x="4824374" y="3361334"/>
            <a:ext cx="409651" cy="409651"/>
          </a:xfrm>
          <a:prstGeom prst="rect">
            <a:avLst/>
          </a:prstGeom>
        </p:spPr>
      </p:pic>
      <p:sp>
        <p:nvSpPr>
          <p:cNvPr id="17" name="Text 11"/>
          <p:cNvSpPr txBox="1"/>
          <p:nvPr/>
        </p:nvSpPr>
        <p:spPr>
          <a:xfrm>
            <a:off x="5532120" y="3108960"/>
            <a:ext cx="2240280" cy="411480"/>
          </a:xfrm>
          <a:prstGeom prst="rect">
            <a:avLst/>
          </a:prstGeom>
          <a:noFill/>
          <a:ln/>
        </p:spPr>
        <p:txBody>
          <a:bodyPr wrap="square" lIns="0" tIns="0" rIns="0" bIns="0" rtlCol="0" anchor="t"/>
          <a:lstStyle/>
          <a:p>
            <a:pPr marL="0" indent="0">
              <a:buNone/>
            </a:pPr>
            <a:r>
              <a:rPr lang="en-US" sz="1800" b="1" dirty="0">
                <a:solidFill>
                  <a:schemeClr val="tx2"/>
                </a:solidFill>
              </a:rPr>
              <a:t>Currency</a:t>
            </a:r>
            <a:endParaRPr lang="en-US" sz="1800" dirty="0"/>
          </a:p>
        </p:txBody>
      </p:sp>
      <p:sp>
        <p:nvSpPr>
          <p:cNvPr id="18" name="Text 12"/>
          <p:cNvSpPr txBox="1"/>
          <p:nvPr/>
        </p:nvSpPr>
        <p:spPr>
          <a:xfrm>
            <a:off x="5532120" y="3520440"/>
            <a:ext cx="2240280" cy="731520"/>
          </a:xfrm>
          <a:prstGeom prst="rect">
            <a:avLst/>
          </a:prstGeom>
          <a:noFill/>
          <a:ln/>
        </p:spPr>
        <p:txBody>
          <a:bodyPr wrap="square" lIns="0" tIns="0" rIns="0" bIns="0" rtlCol="0" anchor="t"/>
          <a:lstStyle/>
          <a:p>
            <a:pPr marL="0" indent="0">
              <a:buNone/>
            </a:pPr>
            <a:r>
              <a:rPr lang="en-US" sz="1400" dirty="0">
                <a:solidFill>
                  <a:schemeClr val="tx1"/>
                </a:solidFill>
              </a:rPr>
              <a:t>All nine Taka notes, with a cautious counterfeit check</a:t>
            </a:r>
            <a:endParaRPr lang="en-US" sz="1400" dirty="0"/>
          </a:p>
        </p:txBody>
      </p:sp>
      <p:sp>
        <p:nvSpPr>
          <p:cNvPr id="19" name="mode card 4"/>
          <p:cNvSpPr/>
          <p:nvPr/>
        </p:nvSpPr>
        <p:spPr>
          <a:xfrm>
            <a:off x="8092440" y="2926080"/>
            <a:ext cx="3429000" cy="1417320"/>
          </a:xfrm>
          <a:prstGeom prst="roundRect">
            <a:avLst>
              <a:gd name="adj" fmla="val 5161"/>
            </a:avLst>
          </a:prstGeom>
          <a:solidFill>
            <a:schemeClr val="bg2"/>
          </a:solidFill>
          <a:ln w="12700">
            <a:solidFill>
              <a:schemeClr val="bg2"/>
            </a:solidFill>
            <a:prstDash val="solid"/>
          </a:ln>
        </p:spPr>
      </p:sp>
      <p:sp>
        <p:nvSpPr>
          <p:cNvPr id="20" name="mode 4 circle"/>
          <p:cNvSpPr/>
          <p:nvPr/>
        </p:nvSpPr>
        <p:spPr>
          <a:xfrm>
            <a:off x="8275320" y="3200400"/>
            <a:ext cx="731520" cy="731520"/>
          </a:xfrm>
          <a:prstGeom prst="ellipse">
            <a:avLst/>
          </a:prstGeom>
          <a:solidFill>
            <a:srgbClr val="0B6E4F"/>
          </a:solidFill>
          <a:ln w="12700">
            <a:solidFill>
              <a:srgbClr val="0B6E4F"/>
            </a:solidFill>
            <a:prstDash val="solid"/>
          </a:ln>
        </p:spPr>
      </p:sp>
      <p:pic>
        <p:nvPicPr>
          <p:cNvPr id="21" name="mode 4 icon" descr="preencoded.png"/>
          <p:cNvPicPr>
            <a:picLocks noChangeAspect="1"/>
          </p:cNvPicPr>
          <p:nvPr/>
        </p:nvPicPr>
        <p:blipFill>
          <a:blip r:embed="rId7"/>
          <a:stretch>
            <a:fillRect/>
          </a:stretch>
        </p:blipFill>
        <p:spPr>
          <a:xfrm>
            <a:off x="8436254" y="3361334"/>
            <a:ext cx="409651" cy="409651"/>
          </a:xfrm>
          <a:prstGeom prst="rect">
            <a:avLst/>
          </a:prstGeom>
        </p:spPr>
      </p:pic>
      <p:sp>
        <p:nvSpPr>
          <p:cNvPr id="22" name="Text 15"/>
          <p:cNvSpPr txBox="1"/>
          <p:nvPr/>
        </p:nvSpPr>
        <p:spPr>
          <a:xfrm>
            <a:off x="9144000" y="3108960"/>
            <a:ext cx="2240280" cy="411480"/>
          </a:xfrm>
          <a:prstGeom prst="rect">
            <a:avLst/>
          </a:prstGeom>
          <a:noFill/>
          <a:ln/>
        </p:spPr>
        <p:txBody>
          <a:bodyPr wrap="square" lIns="0" tIns="0" rIns="0" bIns="0" rtlCol="0" anchor="t"/>
          <a:lstStyle/>
          <a:p>
            <a:pPr marL="0" indent="0">
              <a:buNone/>
            </a:pPr>
            <a:r>
              <a:rPr lang="en-US" sz="1800" b="1" dirty="0">
                <a:solidFill>
                  <a:schemeClr val="tx2"/>
                </a:solidFill>
              </a:rPr>
              <a:t>Emotion</a:t>
            </a:r>
            <a:endParaRPr lang="en-US" sz="1800" dirty="0"/>
          </a:p>
        </p:txBody>
      </p:sp>
      <p:sp>
        <p:nvSpPr>
          <p:cNvPr id="23" name="Text 16"/>
          <p:cNvSpPr txBox="1"/>
          <p:nvPr/>
        </p:nvSpPr>
        <p:spPr>
          <a:xfrm>
            <a:off x="9144000" y="3520440"/>
            <a:ext cx="2240280" cy="731520"/>
          </a:xfrm>
          <a:prstGeom prst="rect">
            <a:avLst/>
          </a:prstGeom>
          <a:noFill/>
          <a:ln/>
        </p:spPr>
        <p:txBody>
          <a:bodyPr wrap="square" lIns="0" tIns="0" rIns="0" bIns="0" rtlCol="0" anchor="t"/>
          <a:lstStyle/>
          <a:p>
            <a:pPr marL="0" indent="0">
              <a:buNone/>
            </a:pPr>
            <a:r>
              <a:rPr lang="en-US" sz="1400" dirty="0">
                <a:solidFill>
                  <a:schemeClr val="tx1"/>
                </a:solidFill>
              </a:rPr>
              <a:t>Facial expression of the person in front</a:t>
            </a:r>
            <a:endParaRPr lang="en-US" sz="1400" dirty="0"/>
          </a:p>
        </p:txBody>
      </p:sp>
      <p:sp>
        <p:nvSpPr>
          <p:cNvPr id="24" name="mode card 5"/>
          <p:cNvSpPr/>
          <p:nvPr/>
        </p:nvSpPr>
        <p:spPr>
          <a:xfrm>
            <a:off x="4480560" y="4526280"/>
            <a:ext cx="3429000" cy="1417320"/>
          </a:xfrm>
          <a:prstGeom prst="roundRect">
            <a:avLst>
              <a:gd name="adj" fmla="val 5161"/>
            </a:avLst>
          </a:prstGeom>
          <a:solidFill>
            <a:schemeClr val="bg2"/>
          </a:solidFill>
          <a:ln w="12700">
            <a:solidFill>
              <a:schemeClr val="bg2"/>
            </a:solidFill>
            <a:prstDash val="solid"/>
          </a:ln>
        </p:spPr>
      </p:sp>
      <p:sp>
        <p:nvSpPr>
          <p:cNvPr id="25" name="mode 5 circle"/>
          <p:cNvSpPr/>
          <p:nvPr/>
        </p:nvSpPr>
        <p:spPr>
          <a:xfrm>
            <a:off x="4663440" y="4800600"/>
            <a:ext cx="731520" cy="731520"/>
          </a:xfrm>
          <a:prstGeom prst="ellipse">
            <a:avLst/>
          </a:prstGeom>
          <a:solidFill>
            <a:srgbClr val="6B7B76"/>
          </a:solidFill>
          <a:ln w="12700">
            <a:solidFill>
              <a:srgbClr val="6B7B76"/>
            </a:solidFill>
            <a:prstDash val="solid"/>
          </a:ln>
        </p:spPr>
      </p:sp>
      <p:pic>
        <p:nvPicPr>
          <p:cNvPr id="26" name="mode 5 icon" descr="preencoded.png"/>
          <p:cNvPicPr>
            <a:picLocks noChangeAspect="1"/>
          </p:cNvPicPr>
          <p:nvPr/>
        </p:nvPicPr>
        <p:blipFill>
          <a:blip r:embed="rId8"/>
          <a:stretch>
            <a:fillRect/>
          </a:stretch>
        </p:blipFill>
        <p:spPr>
          <a:xfrm>
            <a:off x="4824374" y="4961534"/>
            <a:ext cx="409651" cy="409651"/>
          </a:xfrm>
          <a:prstGeom prst="rect">
            <a:avLst/>
          </a:prstGeom>
        </p:spPr>
      </p:pic>
      <p:sp>
        <p:nvSpPr>
          <p:cNvPr id="27" name="Text 19"/>
          <p:cNvSpPr txBox="1"/>
          <p:nvPr/>
        </p:nvSpPr>
        <p:spPr>
          <a:xfrm>
            <a:off x="5532120" y="4709160"/>
            <a:ext cx="2240280" cy="411480"/>
          </a:xfrm>
          <a:prstGeom prst="rect">
            <a:avLst/>
          </a:prstGeom>
          <a:noFill/>
          <a:ln/>
        </p:spPr>
        <p:txBody>
          <a:bodyPr wrap="square" lIns="0" tIns="0" rIns="0" bIns="0" rtlCol="0" anchor="t"/>
          <a:lstStyle/>
          <a:p>
            <a:pPr marL="0" indent="0">
              <a:buNone/>
            </a:pPr>
            <a:r>
              <a:rPr lang="en-US" sz="1800" b="1" dirty="0">
                <a:solidFill>
                  <a:schemeClr val="tx2"/>
                </a:solidFill>
              </a:rPr>
              <a:t>Online description</a:t>
            </a:r>
            <a:endParaRPr lang="en-US" sz="1800" dirty="0"/>
          </a:p>
        </p:txBody>
      </p:sp>
      <p:sp>
        <p:nvSpPr>
          <p:cNvPr id="28" name="Text 20"/>
          <p:cNvSpPr txBox="1"/>
          <p:nvPr/>
        </p:nvSpPr>
        <p:spPr>
          <a:xfrm>
            <a:off x="5532120" y="5120640"/>
            <a:ext cx="2240280" cy="731520"/>
          </a:xfrm>
          <a:prstGeom prst="rect">
            <a:avLst/>
          </a:prstGeom>
          <a:noFill/>
          <a:ln/>
        </p:spPr>
        <p:txBody>
          <a:bodyPr wrap="square" lIns="0" tIns="0" rIns="0" bIns="0" rtlCol="0" anchor="t"/>
          <a:lstStyle/>
          <a:p>
            <a:pPr marL="0" indent="0">
              <a:buNone/>
            </a:pPr>
            <a:r>
              <a:rPr lang="en-US" sz="1400" dirty="0">
                <a:solidFill>
                  <a:schemeClr val="tx1"/>
                </a:solidFill>
              </a:rPr>
              <a:t>Optional; the only mode that needs the internet</a:t>
            </a:r>
            <a:endParaRPr lang="en-US" sz="1400" dirty="0"/>
          </a:p>
        </p:txBody>
      </p:sp>
      <p:sp>
        <p:nvSpPr>
          <p:cNvPr id="29" name="Text 21"/>
          <p:cNvSpPr txBox="1"/>
          <p:nvPr/>
        </p:nvSpPr>
        <p:spPr>
          <a:xfrm>
            <a:off x="8092440" y="4572000"/>
            <a:ext cx="3520440" cy="1280160"/>
          </a:xfrm>
          <a:prstGeom prst="rect">
            <a:avLst/>
          </a:prstGeom>
          <a:noFill/>
          <a:ln/>
        </p:spPr>
        <p:txBody>
          <a:bodyPr wrap="square" lIns="0" tIns="0" rIns="0" bIns="0" rtlCol="0" anchor="t"/>
          <a:lstStyle/>
          <a:p>
            <a:pPr marL="0" indent="0">
              <a:buNone/>
            </a:pPr>
            <a:r>
              <a:rPr lang="en-US" sz="1500" i="1" dirty="0">
                <a:solidFill>
                  <a:schemeClr val="accent1"/>
                </a:solidFill>
              </a:rPr>
              <a:t>Controlled by MODE, ACTION, READ and two volume buttons. Every change is spoken.</a:t>
            </a:r>
            <a:endParaRPr lang="en-US" sz="1500" dirty="0"/>
          </a:p>
        </p:txBody>
      </p:sp>
      <p:sp>
        <p:nvSpPr>
          <p:cNvPr id="30"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2"/>
                </a:solidFill>
              </a:rPr>
              <a:t>Six research questions</a:t>
            </a:r>
            <a:endParaRPr lang="en-US" sz="3200" dirty="0"/>
          </a:p>
        </p:txBody>
      </p:sp>
      <p:sp>
        <p:nvSpPr>
          <p:cNvPr id="3" name="number 1"/>
          <p:cNvSpPr/>
          <p:nvPr/>
        </p:nvSpPr>
        <p:spPr>
          <a:xfrm>
            <a:off x="548640" y="1463040"/>
            <a:ext cx="640080" cy="640080"/>
          </a:xfrm>
          <a:prstGeom prst="ellipse">
            <a:avLst/>
          </a:prstGeom>
          <a:solidFill>
            <a:srgbClr val="0B6E4F"/>
          </a:solidFill>
          <a:ln w="12700">
            <a:solidFill>
              <a:srgbClr val="0B6E4F"/>
            </a:solidFill>
            <a:prstDash val="solid"/>
          </a:ln>
        </p:spPr>
      </p:sp>
      <p:sp>
        <p:nvSpPr>
          <p:cNvPr id="4" name="Text 2"/>
          <p:cNvSpPr txBox="1"/>
          <p:nvPr/>
        </p:nvSpPr>
        <p:spPr>
          <a:xfrm>
            <a:off x="548640" y="1463040"/>
            <a:ext cx="640080" cy="64008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5" name="Text 3"/>
          <p:cNvSpPr txBox="1"/>
          <p:nvPr/>
        </p:nvSpPr>
        <p:spPr>
          <a:xfrm>
            <a:off x="1417320" y="1417320"/>
            <a:ext cx="4572000" cy="411480"/>
          </a:xfrm>
          <a:prstGeom prst="rect">
            <a:avLst/>
          </a:prstGeom>
          <a:noFill/>
          <a:ln/>
        </p:spPr>
        <p:txBody>
          <a:bodyPr wrap="square" lIns="0" tIns="0" rIns="0" bIns="0" rtlCol="0" anchor="t"/>
          <a:lstStyle/>
          <a:p>
            <a:pPr marL="0" indent="0">
              <a:buNone/>
            </a:pPr>
            <a:r>
              <a:rPr lang="en-US" sz="2000" b="1" dirty="0">
                <a:solidFill>
                  <a:schemeClr val="tx2"/>
                </a:solidFill>
              </a:rPr>
              <a:t>System</a:t>
            </a:r>
            <a:endParaRPr lang="en-US" sz="2000" dirty="0"/>
          </a:p>
        </p:txBody>
      </p:sp>
      <p:sp>
        <p:nvSpPr>
          <p:cNvPr id="6" name="Text 4"/>
          <p:cNvSpPr txBox="1"/>
          <p:nvPr/>
        </p:nvSpPr>
        <p:spPr>
          <a:xfrm>
            <a:off x="1417320" y="1874520"/>
            <a:ext cx="4572000" cy="822960"/>
          </a:xfrm>
          <a:prstGeom prst="rect">
            <a:avLst/>
          </a:prstGeom>
          <a:noFill/>
          <a:ln/>
        </p:spPr>
        <p:txBody>
          <a:bodyPr wrap="square" lIns="0" tIns="0" rIns="0" bIns="0" rtlCol="0" anchor="t"/>
          <a:lstStyle/>
          <a:p>
            <a:pPr marL="0" indent="0">
              <a:buNone/>
            </a:pPr>
            <a:r>
              <a:rPr lang="en-US" sz="1600" dirty="0">
                <a:solidFill>
                  <a:schemeClr val="tx1"/>
                </a:solidFill>
              </a:rPr>
              <a:t>Can a multi-function Bangla glass run on a Raspberry Pi 5, and how fast?</a:t>
            </a:r>
            <a:endParaRPr lang="en-US" sz="1600" dirty="0"/>
          </a:p>
        </p:txBody>
      </p:sp>
      <p:sp>
        <p:nvSpPr>
          <p:cNvPr id="7" name="number 2"/>
          <p:cNvSpPr/>
          <p:nvPr/>
        </p:nvSpPr>
        <p:spPr>
          <a:xfrm>
            <a:off x="6217920" y="1463040"/>
            <a:ext cx="640080" cy="640080"/>
          </a:xfrm>
          <a:prstGeom prst="ellipse">
            <a:avLst/>
          </a:prstGeom>
          <a:solidFill>
            <a:srgbClr val="0B6E4F"/>
          </a:solidFill>
          <a:ln w="12700">
            <a:solidFill>
              <a:srgbClr val="0B6E4F"/>
            </a:solidFill>
            <a:prstDash val="solid"/>
          </a:ln>
        </p:spPr>
      </p:sp>
      <p:sp>
        <p:nvSpPr>
          <p:cNvPr id="8" name="Text 6"/>
          <p:cNvSpPr txBox="1"/>
          <p:nvPr/>
        </p:nvSpPr>
        <p:spPr>
          <a:xfrm>
            <a:off x="6217920" y="1463040"/>
            <a:ext cx="640080" cy="64008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9" name="Text 7"/>
          <p:cNvSpPr txBox="1"/>
          <p:nvPr/>
        </p:nvSpPr>
        <p:spPr>
          <a:xfrm>
            <a:off x="7086600" y="1417320"/>
            <a:ext cx="4572000" cy="411480"/>
          </a:xfrm>
          <a:prstGeom prst="rect">
            <a:avLst/>
          </a:prstGeom>
          <a:noFill/>
          <a:ln/>
        </p:spPr>
        <p:txBody>
          <a:bodyPr wrap="square" lIns="0" tIns="0" rIns="0" bIns="0" rtlCol="0" anchor="t"/>
          <a:lstStyle/>
          <a:p>
            <a:pPr marL="0" indent="0">
              <a:buNone/>
            </a:pPr>
            <a:r>
              <a:rPr lang="en-US" sz="2000" b="1" dirty="0">
                <a:solidFill>
                  <a:schemeClr val="tx2"/>
                </a:solidFill>
              </a:rPr>
              <a:t>Synthetic data</a:t>
            </a:r>
            <a:endParaRPr lang="en-US" sz="2000" dirty="0"/>
          </a:p>
        </p:txBody>
      </p:sp>
      <p:sp>
        <p:nvSpPr>
          <p:cNvPr id="10" name="Text 8"/>
          <p:cNvSpPr txBox="1"/>
          <p:nvPr/>
        </p:nvSpPr>
        <p:spPr>
          <a:xfrm>
            <a:off x="7086600" y="1874520"/>
            <a:ext cx="4572000" cy="822960"/>
          </a:xfrm>
          <a:prstGeom prst="rect">
            <a:avLst/>
          </a:prstGeom>
          <a:noFill/>
          <a:ln/>
        </p:spPr>
        <p:txBody>
          <a:bodyPr wrap="square" lIns="0" tIns="0" rIns="0" bIns="0" rtlCol="0" anchor="t"/>
          <a:lstStyle/>
          <a:p>
            <a:pPr marL="0" indent="0">
              <a:buNone/>
            </a:pPr>
            <a:r>
              <a:rPr lang="en-US" sz="1600" dirty="0">
                <a:solidFill>
                  <a:schemeClr val="tx1"/>
                </a:solidFill>
              </a:rPr>
              <a:t>Can a Taka detector trained without hand labels work on real photographs?</a:t>
            </a:r>
            <a:endParaRPr lang="en-US" sz="1600" dirty="0"/>
          </a:p>
        </p:txBody>
      </p:sp>
      <p:sp>
        <p:nvSpPr>
          <p:cNvPr id="11" name="number 3"/>
          <p:cNvSpPr/>
          <p:nvPr/>
        </p:nvSpPr>
        <p:spPr>
          <a:xfrm>
            <a:off x="548640" y="3017520"/>
            <a:ext cx="640080" cy="640080"/>
          </a:xfrm>
          <a:prstGeom prst="ellipse">
            <a:avLst/>
          </a:prstGeom>
          <a:solidFill>
            <a:srgbClr val="0B6E4F"/>
          </a:solidFill>
          <a:ln w="12700">
            <a:solidFill>
              <a:srgbClr val="0B6E4F"/>
            </a:solidFill>
            <a:prstDash val="solid"/>
          </a:ln>
        </p:spPr>
      </p:sp>
      <p:sp>
        <p:nvSpPr>
          <p:cNvPr id="12" name="Text 10"/>
          <p:cNvSpPr txBox="1"/>
          <p:nvPr/>
        </p:nvSpPr>
        <p:spPr>
          <a:xfrm>
            <a:off x="548640" y="3017520"/>
            <a:ext cx="640080" cy="64008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3" name="Text 11"/>
          <p:cNvSpPr txBox="1"/>
          <p:nvPr/>
        </p:nvSpPr>
        <p:spPr>
          <a:xfrm>
            <a:off x="1417320" y="2971800"/>
            <a:ext cx="4572000" cy="411480"/>
          </a:xfrm>
          <a:prstGeom prst="rect">
            <a:avLst/>
          </a:prstGeom>
          <a:noFill/>
          <a:ln/>
        </p:spPr>
        <p:txBody>
          <a:bodyPr wrap="square" lIns="0" tIns="0" rIns="0" bIns="0" rtlCol="0" anchor="t"/>
          <a:lstStyle/>
          <a:p>
            <a:pPr marL="0" indent="0">
              <a:buNone/>
            </a:pPr>
            <a:r>
              <a:rPr lang="en-US" sz="2000" b="1" dirty="0">
                <a:solidFill>
                  <a:schemeClr val="tx2"/>
                </a:solidFill>
              </a:rPr>
              <a:t>Number of views</a:t>
            </a:r>
            <a:endParaRPr lang="en-US" sz="2000" dirty="0"/>
          </a:p>
        </p:txBody>
      </p:sp>
      <p:sp>
        <p:nvSpPr>
          <p:cNvPr id="14" name="Text 12"/>
          <p:cNvSpPr txBox="1"/>
          <p:nvPr/>
        </p:nvSpPr>
        <p:spPr>
          <a:xfrm>
            <a:off x="1417320" y="3429000"/>
            <a:ext cx="4572000" cy="822960"/>
          </a:xfrm>
          <a:prstGeom prst="rect">
            <a:avLst/>
          </a:prstGeom>
          <a:noFill/>
          <a:ln/>
        </p:spPr>
        <p:txBody>
          <a:bodyPr wrap="square" lIns="0" tIns="0" rIns="0" bIns="0" rtlCol="0" anchor="t"/>
          <a:lstStyle/>
          <a:p>
            <a:pPr marL="0" indent="0">
              <a:buNone/>
            </a:pPr>
            <a:r>
              <a:rPr lang="en-US" sz="1600" dirty="0">
                <a:solidFill>
                  <a:schemeClr val="tx1"/>
                </a:solidFill>
              </a:rPr>
              <a:t>Why do multi-view counterfeit models fail with fewer views, and can training fix it?</a:t>
            </a:r>
            <a:endParaRPr lang="en-US" sz="1600" dirty="0"/>
          </a:p>
        </p:txBody>
      </p:sp>
      <p:sp>
        <p:nvSpPr>
          <p:cNvPr id="15" name="number 4"/>
          <p:cNvSpPr/>
          <p:nvPr/>
        </p:nvSpPr>
        <p:spPr>
          <a:xfrm>
            <a:off x="6217920" y="3017520"/>
            <a:ext cx="640080" cy="640080"/>
          </a:xfrm>
          <a:prstGeom prst="ellipse">
            <a:avLst/>
          </a:prstGeom>
          <a:solidFill>
            <a:srgbClr val="0B6E4F"/>
          </a:solidFill>
          <a:ln w="12700">
            <a:solidFill>
              <a:srgbClr val="0B6E4F"/>
            </a:solidFill>
            <a:prstDash val="solid"/>
          </a:ln>
        </p:spPr>
      </p:sp>
      <p:sp>
        <p:nvSpPr>
          <p:cNvPr id="16" name="Text 14"/>
          <p:cNvSpPr txBox="1"/>
          <p:nvPr/>
        </p:nvSpPr>
        <p:spPr>
          <a:xfrm>
            <a:off x="6217920" y="3017520"/>
            <a:ext cx="640080" cy="640080"/>
          </a:xfrm>
          <a:prstGeom prst="rect">
            <a:avLst/>
          </a:prstGeom>
          <a:no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17" name="Text 15"/>
          <p:cNvSpPr txBox="1"/>
          <p:nvPr/>
        </p:nvSpPr>
        <p:spPr>
          <a:xfrm>
            <a:off x="7086600" y="2971800"/>
            <a:ext cx="4572000" cy="411480"/>
          </a:xfrm>
          <a:prstGeom prst="rect">
            <a:avLst/>
          </a:prstGeom>
          <a:noFill/>
          <a:ln/>
        </p:spPr>
        <p:txBody>
          <a:bodyPr wrap="square" lIns="0" tIns="0" rIns="0" bIns="0" rtlCol="0" anchor="t"/>
          <a:lstStyle/>
          <a:p>
            <a:pPr marL="0" indent="0">
              <a:buNone/>
            </a:pPr>
            <a:r>
              <a:rPr lang="en-US" sz="2000" b="1" dirty="0">
                <a:solidFill>
                  <a:schemeClr val="tx2"/>
                </a:solidFill>
              </a:rPr>
              <a:t>Unseen prints</a:t>
            </a:r>
            <a:endParaRPr lang="en-US" sz="2000" dirty="0"/>
          </a:p>
        </p:txBody>
      </p:sp>
      <p:sp>
        <p:nvSpPr>
          <p:cNvPr id="18" name="Text 16"/>
          <p:cNvSpPr txBox="1"/>
          <p:nvPr/>
        </p:nvSpPr>
        <p:spPr>
          <a:xfrm>
            <a:off x="7086600" y="3429000"/>
            <a:ext cx="4572000" cy="822960"/>
          </a:xfrm>
          <a:prstGeom prst="rect">
            <a:avLst/>
          </a:prstGeom>
          <a:noFill/>
          <a:ln/>
        </p:spPr>
        <p:txBody>
          <a:bodyPr wrap="square" lIns="0" tIns="0" rIns="0" bIns="0" rtlCol="0" anchor="t"/>
          <a:lstStyle/>
          <a:p>
            <a:pPr marL="0" indent="0">
              <a:buNone/>
            </a:pPr>
            <a:r>
              <a:rPr lang="en-US" sz="1600" dirty="0">
                <a:solidFill>
                  <a:schemeClr val="tx1"/>
                </a:solidFill>
              </a:rPr>
              <a:t>How much does accuracy drop on counterfeit prints never seen in training?</a:t>
            </a:r>
            <a:endParaRPr lang="en-US" sz="1600" dirty="0"/>
          </a:p>
        </p:txBody>
      </p:sp>
      <p:sp>
        <p:nvSpPr>
          <p:cNvPr id="19" name="number 5"/>
          <p:cNvSpPr/>
          <p:nvPr/>
        </p:nvSpPr>
        <p:spPr>
          <a:xfrm>
            <a:off x="548640" y="4572000"/>
            <a:ext cx="640080" cy="640080"/>
          </a:xfrm>
          <a:prstGeom prst="ellipse">
            <a:avLst/>
          </a:prstGeom>
          <a:solidFill>
            <a:srgbClr val="0B6E4F"/>
          </a:solidFill>
          <a:ln w="12700">
            <a:solidFill>
              <a:srgbClr val="0B6E4F"/>
            </a:solidFill>
            <a:prstDash val="solid"/>
          </a:ln>
        </p:spPr>
      </p:sp>
      <p:sp>
        <p:nvSpPr>
          <p:cNvPr id="20" name="Text 18"/>
          <p:cNvSpPr txBox="1"/>
          <p:nvPr/>
        </p:nvSpPr>
        <p:spPr>
          <a:xfrm>
            <a:off x="548640" y="4572000"/>
            <a:ext cx="640080" cy="640080"/>
          </a:xfrm>
          <a:prstGeom prst="rect">
            <a:avLst/>
          </a:prstGeom>
          <a:noFill/>
          <a:ln/>
        </p:spPr>
        <p:txBody>
          <a:bodyPr wrap="square" lIns="0" tIns="0" rIns="0" bIns="0" rtlCol="0" anchor="ctr"/>
          <a:lstStyle/>
          <a:p>
            <a:pPr marL="0" indent="0" algn="ctr">
              <a:buNone/>
            </a:pPr>
            <a:r>
              <a:rPr lang="en-US" sz="1800" b="1" dirty="0">
                <a:solidFill>
                  <a:schemeClr val="bg1"/>
                </a:solidFill>
              </a:rPr>
              <a:t>5</a:t>
            </a:r>
            <a:endParaRPr lang="en-US" sz="1800" dirty="0"/>
          </a:p>
        </p:txBody>
      </p:sp>
      <p:sp>
        <p:nvSpPr>
          <p:cNvPr id="21" name="Text 19"/>
          <p:cNvSpPr txBox="1"/>
          <p:nvPr/>
        </p:nvSpPr>
        <p:spPr>
          <a:xfrm>
            <a:off x="1417320" y="4526280"/>
            <a:ext cx="4572000" cy="411480"/>
          </a:xfrm>
          <a:prstGeom prst="rect">
            <a:avLst/>
          </a:prstGeom>
          <a:noFill/>
          <a:ln/>
        </p:spPr>
        <p:txBody>
          <a:bodyPr wrap="square" lIns="0" tIns="0" rIns="0" bIns="0" rtlCol="0" anchor="t"/>
          <a:lstStyle/>
          <a:p>
            <a:pPr marL="0" indent="0">
              <a:buNone/>
            </a:pPr>
            <a:r>
              <a:rPr lang="en-US" sz="2000" b="1" dirty="0">
                <a:solidFill>
                  <a:schemeClr val="tx2"/>
                </a:solidFill>
              </a:rPr>
              <a:t>Safety</a:t>
            </a:r>
            <a:endParaRPr lang="en-US" sz="2000" dirty="0"/>
          </a:p>
        </p:txBody>
      </p:sp>
      <p:sp>
        <p:nvSpPr>
          <p:cNvPr id="22" name="Text 20"/>
          <p:cNvSpPr txBox="1"/>
          <p:nvPr/>
        </p:nvSpPr>
        <p:spPr>
          <a:xfrm>
            <a:off x="1417320" y="4983480"/>
            <a:ext cx="4572000" cy="822960"/>
          </a:xfrm>
          <a:prstGeom prst="rect">
            <a:avLst/>
          </a:prstGeom>
          <a:noFill/>
          <a:ln/>
        </p:spPr>
        <p:txBody>
          <a:bodyPr wrap="square" lIns="0" tIns="0" rIns="0" bIns="0" rtlCol="0" anchor="t"/>
          <a:lstStyle/>
          <a:p>
            <a:pPr marL="0" indent="0">
              <a:buNone/>
            </a:pPr>
            <a:r>
              <a:rPr lang="en-US" sz="1600" dirty="0">
                <a:solidFill>
                  <a:schemeClr val="tx1"/>
                </a:solidFill>
              </a:rPr>
              <a:t>Can the glass give counterfeit advice that never accuses a genuine note?</a:t>
            </a:r>
            <a:endParaRPr lang="en-US" sz="1600" dirty="0"/>
          </a:p>
        </p:txBody>
      </p:sp>
      <p:sp>
        <p:nvSpPr>
          <p:cNvPr id="23" name="number 6"/>
          <p:cNvSpPr/>
          <p:nvPr/>
        </p:nvSpPr>
        <p:spPr>
          <a:xfrm>
            <a:off x="6217920" y="4572000"/>
            <a:ext cx="640080" cy="640080"/>
          </a:xfrm>
          <a:prstGeom prst="ellipse">
            <a:avLst/>
          </a:prstGeom>
          <a:solidFill>
            <a:srgbClr val="0B6E4F"/>
          </a:solidFill>
          <a:ln w="12700">
            <a:solidFill>
              <a:srgbClr val="0B6E4F"/>
            </a:solidFill>
            <a:prstDash val="solid"/>
          </a:ln>
        </p:spPr>
      </p:sp>
      <p:sp>
        <p:nvSpPr>
          <p:cNvPr id="24" name="Text 22"/>
          <p:cNvSpPr txBox="1"/>
          <p:nvPr/>
        </p:nvSpPr>
        <p:spPr>
          <a:xfrm>
            <a:off x="6217920" y="4572000"/>
            <a:ext cx="640080" cy="640080"/>
          </a:xfrm>
          <a:prstGeom prst="rect">
            <a:avLst/>
          </a:prstGeom>
          <a:noFill/>
          <a:ln/>
        </p:spPr>
        <p:txBody>
          <a:bodyPr wrap="square" lIns="0" tIns="0" rIns="0" bIns="0" rtlCol="0" anchor="ctr"/>
          <a:lstStyle/>
          <a:p>
            <a:pPr marL="0" indent="0" algn="ctr">
              <a:buNone/>
            </a:pPr>
            <a:r>
              <a:rPr lang="en-US" sz="1800" b="1" dirty="0">
                <a:solidFill>
                  <a:schemeClr val="bg1"/>
                </a:solidFill>
              </a:rPr>
              <a:t>6</a:t>
            </a:r>
            <a:endParaRPr lang="en-US" sz="1800" dirty="0"/>
          </a:p>
        </p:txBody>
      </p:sp>
      <p:sp>
        <p:nvSpPr>
          <p:cNvPr id="25" name="Text 23"/>
          <p:cNvSpPr txBox="1"/>
          <p:nvPr/>
        </p:nvSpPr>
        <p:spPr>
          <a:xfrm>
            <a:off x="7086600" y="4526280"/>
            <a:ext cx="4572000" cy="411480"/>
          </a:xfrm>
          <a:prstGeom prst="rect">
            <a:avLst/>
          </a:prstGeom>
          <a:noFill/>
          <a:ln/>
        </p:spPr>
        <p:txBody>
          <a:bodyPr wrap="square" lIns="0" tIns="0" rIns="0" bIns="0" rtlCol="0" anchor="t"/>
          <a:lstStyle/>
          <a:p>
            <a:pPr marL="0" indent="0">
              <a:buNone/>
            </a:pPr>
            <a:r>
              <a:rPr lang="en-US" sz="2000" b="1" dirty="0">
                <a:solidFill>
                  <a:schemeClr val="tx2"/>
                </a:solidFill>
              </a:rPr>
              <a:t>Bangla OCR</a:t>
            </a:r>
            <a:endParaRPr lang="en-US" sz="2000" dirty="0"/>
          </a:p>
        </p:txBody>
      </p:sp>
      <p:sp>
        <p:nvSpPr>
          <p:cNvPr id="26" name="Text 24"/>
          <p:cNvSpPr txBox="1"/>
          <p:nvPr/>
        </p:nvSpPr>
        <p:spPr>
          <a:xfrm>
            <a:off x="7086600" y="4983480"/>
            <a:ext cx="4572000" cy="822960"/>
          </a:xfrm>
          <a:prstGeom prst="rect">
            <a:avLst/>
          </a:prstGeom>
          <a:noFill/>
          <a:ln/>
        </p:spPr>
        <p:txBody>
          <a:bodyPr wrap="square" lIns="0" tIns="0" rIns="0" bIns="0" rtlCol="0" anchor="t"/>
          <a:lstStyle/>
          <a:p>
            <a:pPr marL="0" indent="0">
              <a:buNone/>
            </a:pPr>
            <a:r>
              <a:rPr lang="en-US" sz="1600" dirty="0">
                <a:solidFill>
                  <a:schemeClr val="tx1"/>
                </a:solidFill>
              </a:rPr>
              <a:t>Which part of a Bangla OCR pipeline matters most for a wearable camera?</a:t>
            </a:r>
            <a:endParaRPr lang="en-US" sz="1600" dirty="0"/>
          </a:p>
        </p:txBody>
      </p:sp>
      <p:sp>
        <p:nvSpPr>
          <p:cNvPr id="27"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spTree>
  </p:cSld>
  <p:clrMapOvr>
    <a:masterClrMapping/>
  </p:clrMapOvr>
  <p:transition spd="slow">
    <p:randomBar dir="vert"/>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2"/>
                </a:solidFill>
              </a:rPr>
              <a:t>What existing devices miss</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7498080" cy="3413760"/>
        </p:xfrm>
        <a:graphic>
          <a:graphicData uri="http://schemas.openxmlformats.org/drawingml/2006/table">
            <a:tbl>
              <a:tblPr/>
              <a:tblGrid>
                <a:gridCol w="2743200"/>
                <a:gridCol w="1188720"/>
                <a:gridCol w="1188720"/>
                <a:gridCol w="1188720"/>
                <a:gridCol w="1188720"/>
              </a:tblGrid>
              <a:tr h="566928">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System</a:t>
                      </a:r>
                      <a:endParaRPr lang="en-US" sz="1600" dirty="0">
                        <a:latin typeface="Calibri" charset="0"/>
                        <a:ea typeface="Calibri" charset="0"/>
                        <a:cs typeface="Calibri" charset="0"/>
                      </a:endParaRPr>
                    </a:p>
                  </a:txBody>
                  <a:tcPr anchor="ctr">
                    <a:lnL w="9525" cap="flat" cmpd="sng" algn="ctr">
                      <a:solidFill>
                        <a:srgbClr val="C9D6D0"/>
                      </a:solidFill>
                      <a:prstDash val="solid"/>
                      <a:round/>
                      <a:headEnd type="none" w="med" len="med"/>
                      <a:tailEnd type="none" w="med" len="med"/>
                    </a:lnL>
                    <a:lnR w="9525" cap="flat" cmpd="sng" algn="ctr">
                      <a:solidFill>
                        <a:srgbClr val="C9D6D0"/>
                      </a:solidFill>
                      <a:prstDash val="solid"/>
                      <a:round/>
                      <a:headEnd type="none" w="med" len="med"/>
                      <a:tailEnd type="none" w="med" len="med"/>
                    </a:lnR>
                    <a:lnT w="9525" cap="flat" cmpd="sng" algn="ctr">
                      <a:solidFill>
                        <a:srgbClr val="C9D6D0"/>
                      </a:solidFill>
                      <a:prstDash val="solid"/>
                      <a:round/>
                      <a:headEnd type="none" w="med" len="med"/>
                      <a:tailEnd type="none" w="med" len="med"/>
                    </a:lnT>
                    <a:lnB w="9525" cap="flat" cmpd="sng" algn="ctr">
                      <a:solidFill>
                        <a:srgbClr val="C9D6D0"/>
                      </a:solidFill>
                      <a:prstDash val="solid"/>
                      <a:round/>
                      <a:headEnd type="none" w="med" len="med"/>
                      <a:tailEnd type="none" w="med" len="med"/>
                    </a:lnB>
                    <a:solidFill>
                      <a:srgbClr val="0B3D2E"/>
                    </a:solidFill>
                  </a:tcPr>
                </a:tc>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Reads Bangla</a:t>
                      </a:r>
                      <a:endParaRPr lang="en-US" sz="1600" dirty="0">
                        <a:latin typeface="Calibri" charset="0"/>
                        <a:ea typeface="Calibri" charset="0"/>
                        <a:cs typeface="Calibri" charset="0"/>
                      </a:endParaRPr>
                    </a:p>
                  </a:txBody>
                  <a:tcPr anchor="ctr">
                    <a:lnL w="9525" cap="flat" cmpd="sng" algn="ctr">
                      <a:solidFill>
                        <a:srgbClr val="C9D6D0"/>
                      </a:solidFill>
                      <a:prstDash val="solid"/>
                      <a:round/>
                      <a:headEnd type="none" w="med" len="med"/>
                      <a:tailEnd type="none" w="med" len="med"/>
                    </a:lnL>
                    <a:lnR w="9525" cap="flat" cmpd="sng" algn="ctr">
                      <a:solidFill>
                        <a:srgbClr val="C9D6D0"/>
                      </a:solidFill>
                      <a:prstDash val="solid"/>
                      <a:round/>
                      <a:headEnd type="none" w="med" len="med"/>
                      <a:tailEnd type="none" w="med" len="med"/>
                    </a:lnR>
                    <a:lnT w="9525" cap="flat" cmpd="sng" algn="ctr">
                      <a:solidFill>
                        <a:srgbClr val="C9D6D0"/>
                      </a:solidFill>
                      <a:prstDash val="solid"/>
                      <a:round/>
                      <a:headEnd type="none" w="med" len="med"/>
                      <a:tailEnd type="none" w="med" len="med"/>
                    </a:lnT>
                    <a:lnB w="9525" cap="flat" cmpd="sng" algn="ctr">
                      <a:solidFill>
                        <a:srgbClr val="C9D6D0"/>
                      </a:solidFill>
                      <a:prstDash val="solid"/>
                      <a:round/>
                      <a:headEnd type="none" w="med" len="med"/>
                      <a:tailEnd type="none" w="med" len="med"/>
                    </a:lnB>
                    <a:solidFill>
                      <a:srgbClr val="0B3D2E"/>
                    </a:solidFill>
                  </a:tcPr>
                </a:tc>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Knows Taka</a:t>
                      </a:r>
                      <a:endParaRPr lang="en-US" sz="1600" dirty="0">
                        <a:latin typeface="Calibri" charset="0"/>
                        <a:ea typeface="Calibri" charset="0"/>
                        <a:cs typeface="Calibri" charset="0"/>
                      </a:endParaRPr>
                    </a:p>
                  </a:txBody>
                  <a:tcPr anchor="ctr">
                    <a:lnL w="9525" cap="flat" cmpd="sng" algn="ctr">
                      <a:solidFill>
                        <a:srgbClr val="C9D6D0"/>
                      </a:solidFill>
                      <a:prstDash val="solid"/>
                      <a:round/>
                      <a:headEnd type="none" w="med" len="med"/>
                      <a:tailEnd type="none" w="med" len="med"/>
                    </a:lnL>
                    <a:lnR w="9525" cap="flat" cmpd="sng" algn="ctr">
                      <a:solidFill>
                        <a:srgbClr val="C9D6D0"/>
                      </a:solidFill>
                      <a:prstDash val="solid"/>
                      <a:round/>
                      <a:headEnd type="none" w="med" len="med"/>
                      <a:tailEnd type="none" w="med" len="med"/>
                    </a:lnR>
                    <a:lnT w="9525" cap="flat" cmpd="sng" algn="ctr">
                      <a:solidFill>
                        <a:srgbClr val="C9D6D0"/>
                      </a:solidFill>
                      <a:prstDash val="solid"/>
                      <a:round/>
                      <a:headEnd type="none" w="med" len="med"/>
                      <a:tailEnd type="none" w="med" len="med"/>
                    </a:lnT>
                    <a:lnB w="9525" cap="flat" cmpd="sng" algn="ctr">
                      <a:solidFill>
                        <a:srgbClr val="C9D6D0"/>
                      </a:solidFill>
                      <a:prstDash val="solid"/>
                      <a:round/>
                      <a:headEnd type="none" w="med" len="med"/>
                      <a:tailEnd type="none" w="med" len="med"/>
                    </a:lnB>
                    <a:solidFill>
                      <a:srgbClr val="0B3D2E"/>
                    </a:solidFill>
                  </a:tcPr>
                </a:tc>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Works offline</a:t>
                      </a:r>
                      <a:endParaRPr lang="en-US" sz="1600" dirty="0">
                        <a:latin typeface="Calibri" charset="0"/>
                        <a:ea typeface="Calibri" charset="0"/>
                        <a:cs typeface="Calibri" charset="0"/>
                      </a:endParaRPr>
                    </a:p>
                  </a:txBody>
                  <a:tcPr anchor="ctr">
                    <a:lnL w="9525" cap="flat" cmpd="sng" algn="ctr">
                      <a:solidFill>
                        <a:srgbClr val="C9D6D0"/>
                      </a:solidFill>
                      <a:prstDash val="solid"/>
                      <a:round/>
                      <a:headEnd type="none" w="med" len="med"/>
                      <a:tailEnd type="none" w="med" len="med"/>
                    </a:lnL>
                    <a:lnR w="9525" cap="flat" cmpd="sng" algn="ctr">
                      <a:solidFill>
                        <a:srgbClr val="C9D6D0"/>
                      </a:solidFill>
                      <a:prstDash val="solid"/>
                      <a:round/>
                      <a:headEnd type="none" w="med" len="med"/>
                      <a:tailEnd type="none" w="med" len="med"/>
                    </a:lnR>
                    <a:lnT w="9525" cap="flat" cmpd="sng" algn="ctr">
                      <a:solidFill>
                        <a:srgbClr val="C9D6D0"/>
                      </a:solidFill>
                      <a:prstDash val="solid"/>
                      <a:round/>
                      <a:headEnd type="none" w="med" len="med"/>
                      <a:tailEnd type="none" w="med" len="med"/>
                    </a:lnT>
                    <a:lnB w="9525" cap="flat" cmpd="sng" algn="ctr">
                      <a:solidFill>
                        <a:srgbClr val="C9D6D0"/>
                      </a:solidFill>
                      <a:prstDash val="solid"/>
                      <a:round/>
                      <a:headEnd type="none" w="med" len="med"/>
                      <a:tailEnd type="none" w="med" len="med"/>
                    </a:lnB>
                    <a:solidFill>
                      <a:srgbClr val="0B3D2E"/>
                    </a:solidFill>
                  </a:tcPr>
                </a:tc>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Wearable</a:t>
                      </a:r>
                      <a:endParaRPr lang="en-US" sz="1600" dirty="0">
                        <a:latin typeface="Calibri" charset="0"/>
                        <a:ea typeface="Calibri" charset="0"/>
                        <a:cs typeface="Calibri" charset="0"/>
                      </a:endParaRPr>
                    </a:p>
                  </a:txBody>
                  <a:tcPr anchor="ctr">
                    <a:lnL w="9525" cap="flat" cmpd="sng" algn="ctr">
                      <a:solidFill>
                        <a:srgbClr val="C9D6D0"/>
                      </a:solidFill>
                      <a:prstDash val="solid"/>
                      <a:round/>
                      <a:headEnd type="none" w="med" len="med"/>
                      <a:tailEnd type="none" w="med" len="med"/>
                    </a:lnL>
                    <a:lnR w="9525" cap="flat" cmpd="sng" algn="ctr">
                      <a:solidFill>
                        <a:srgbClr val="C9D6D0"/>
                      </a:solidFill>
                      <a:prstDash val="solid"/>
                      <a:round/>
                      <a:headEnd type="none" w="med" len="med"/>
                      <a:tailEnd type="none" w="med" len="med"/>
                    </a:lnR>
                    <a:lnT w="9525" cap="flat" cmpd="sng" algn="ctr">
                      <a:solidFill>
                        <a:srgbClr val="C9D6D0"/>
                      </a:solidFill>
                      <a:prstDash val="solid"/>
                      <a:round/>
                      <a:headEnd type="none" w="med" len="med"/>
                      <a:tailEnd type="none" w="med" len="med"/>
                    </a:lnT>
                    <a:lnB w="9525" cap="flat" cmpd="sng" algn="ctr">
                      <a:solidFill>
                        <a:srgbClr val="C9D6D0"/>
                      </a:solidFill>
                      <a:prstDash val="solid"/>
                      <a:round/>
                      <a:headEnd type="none" w="med" len="med"/>
                      <a:tailEnd type="none" w="med" len="med"/>
                    </a:lnB>
                    <a:solidFill>
                      <a:srgbClr val="0B3D2E"/>
                    </a:solidFill>
                  </a:tcPr>
                </a:tc>
              </a:tr>
              <a:tr h="566928">
                <a:tc>
                  <a:txBody>
                    <a:bodyPr/>
                    <a:lstStyle/>
                    <a:p>
                      <a:pPr marL="0" indent="0">
                        <a:buNone/>
                      </a:pPr>
                      <a:r>
                        <a:rPr lang="en-US" sz="1500" dirty="0">
                          <a:solidFill>
                            <a:srgbClr val="000000"/>
                          </a:solidFill>
                          <a:latin typeface="Calibri" pitchFamily="34" charset="0"/>
                          <a:ea typeface="Calibri" pitchFamily="34" charset="-122"/>
                          <a:cs typeface="Calibri" pitchFamily="34" charset="-120"/>
                        </a:rPr>
                        <a:t>OrCam MyEye</a:t>
                      </a:r>
                      <a:endParaRPr lang="en-US" sz="1500" dirty="0">
                        <a:latin typeface="Calibri" charset="0"/>
                        <a:ea typeface="Calibri" charset="0"/>
                        <a:cs typeface="Calibri" charset="0"/>
                      </a:endParaRPr>
                    </a:p>
                  </a:txBody>
                  <a:tcPr>
                    <a:lnL w="9525" cap="flat" cmpd="sng" algn="ctr">
                      <a:solidFill>
                        <a:srgbClr val="C9D6D0"/>
                      </a:solidFill>
                      <a:prstDash val="solid"/>
                      <a:round/>
                      <a:headEnd type="none" w="med" len="med"/>
                      <a:tailEnd type="none" w="med" len="med"/>
                    </a:lnL>
                    <a:lnR w="9525" cap="flat" cmpd="sng" algn="ctr">
                      <a:solidFill>
                        <a:srgbClr val="C9D6D0"/>
                      </a:solidFill>
                      <a:prstDash val="solid"/>
                      <a:round/>
                      <a:headEnd type="none" w="med" len="med"/>
                      <a:tailEnd type="none" w="med" len="med"/>
                    </a:lnR>
                    <a:lnT w="9525" cap="flat" cmpd="sng" algn="ctr">
                      <a:solidFill>
                        <a:srgbClr val="C9D6D0"/>
                      </a:solidFill>
                      <a:prstDash val="solid"/>
                      <a:round/>
                      <a:headEnd type="none" w="med" len="med"/>
                      <a:tailEnd type="none" w="med" len="med"/>
                    </a:lnT>
                    <a:lnB w="9525" cap="flat" cmpd="sng" algn="ctr">
                      <a:solidFill>
                        <a:srgbClr val="C9D6D0"/>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E4572E"/>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anchor="ctr">
                    <a:lnL w="9525" cap="flat" cmpd="sng" algn="ctr">
                      <a:solidFill>
                        <a:srgbClr val="C9D6D0"/>
                      </a:solidFill>
                      <a:prstDash val="solid"/>
                      <a:round/>
                      <a:headEnd type="none" w="med" len="med"/>
                      <a:tailEnd type="none" w="med" len="med"/>
                    </a:lnL>
                    <a:lnR w="9525" cap="flat" cmpd="sng" algn="ctr">
                      <a:solidFill>
                        <a:srgbClr val="C9D6D0"/>
                      </a:solidFill>
                      <a:prstDash val="solid"/>
                      <a:round/>
                      <a:headEnd type="none" w="med" len="med"/>
                      <a:tailEnd type="none" w="med" len="med"/>
                    </a:lnR>
                    <a:lnT w="9525" cap="flat" cmpd="sng" algn="ctr">
                      <a:solidFill>
                        <a:srgbClr val="C9D6D0"/>
                      </a:solidFill>
                      <a:prstDash val="solid"/>
                      <a:round/>
                      <a:headEnd type="none" w="med" len="med"/>
                      <a:tailEnd type="none" w="med" len="med"/>
                    </a:lnT>
                    <a:lnB w="9525" cap="flat" cmpd="sng" algn="ctr">
                      <a:solidFill>
                        <a:srgbClr val="C9D6D0"/>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E4572E"/>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anchor="ctr">
                    <a:lnL w="9525" cap="flat" cmpd="sng" algn="ctr">
                      <a:solidFill>
                        <a:srgbClr val="C9D6D0"/>
                      </a:solidFill>
                      <a:prstDash val="solid"/>
                      <a:round/>
                      <a:headEnd type="none" w="med" len="med"/>
                      <a:tailEnd type="none" w="med" len="med"/>
                    </a:lnL>
                    <a:lnR w="9525" cap="flat" cmpd="sng" algn="ctr">
                      <a:solidFill>
                        <a:srgbClr val="C9D6D0"/>
                      </a:solidFill>
                      <a:prstDash val="solid"/>
                      <a:round/>
                      <a:headEnd type="none" w="med" len="med"/>
                      <a:tailEnd type="none" w="med" len="med"/>
                    </a:lnR>
                    <a:lnT w="9525" cap="flat" cmpd="sng" algn="ctr">
                      <a:solidFill>
                        <a:srgbClr val="C9D6D0"/>
                      </a:solidFill>
                      <a:prstDash val="solid"/>
                      <a:round/>
                      <a:headEnd type="none" w="med" len="med"/>
                      <a:tailEnd type="none" w="med" len="med"/>
                    </a:lnT>
                    <a:lnB w="9525" cap="flat" cmpd="sng" algn="ctr">
                      <a:solidFill>
                        <a:srgbClr val="C9D6D0"/>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B1F23"/>
                          </a:solidFill>
                          <a:latin typeface="Calibri" pitchFamily="34" charset="0"/>
                          <a:ea typeface="Calibri" pitchFamily="34" charset="-122"/>
                          <a:cs typeface="Calibri" pitchFamily="34" charset="-120"/>
                        </a:rPr>
                        <a:t>Yes</a:t>
                      </a:r>
                      <a:endParaRPr lang="en-US" sz="1500" dirty="0">
                        <a:latin typeface="Calibri" charset="0"/>
                        <a:ea typeface="Calibri" charset="0"/>
                        <a:cs typeface="Calibri" charset="0"/>
                      </a:endParaRPr>
                    </a:p>
                  </a:txBody>
                  <a:tcPr anchor="ctr">
                    <a:lnL w="9525" cap="flat" cmpd="sng" algn="ctr">
                      <a:solidFill>
                        <a:srgbClr val="C9D6D0"/>
                      </a:solidFill>
                      <a:prstDash val="solid"/>
                      <a:round/>
                      <a:headEnd type="none" w="med" len="med"/>
                      <a:tailEnd type="none" w="med" len="med"/>
                    </a:lnL>
                    <a:lnR w="9525" cap="flat" cmpd="sng" algn="ctr">
                      <a:solidFill>
                        <a:srgbClr val="C9D6D0"/>
                      </a:solidFill>
                      <a:prstDash val="solid"/>
                      <a:round/>
                      <a:headEnd type="none" w="med" len="med"/>
                      <a:tailEnd type="none" w="med" len="med"/>
                    </a:lnR>
                    <a:lnT w="9525" cap="flat" cmpd="sng" algn="ctr">
                      <a:solidFill>
                        <a:srgbClr val="C9D6D0"/>
                      </a:solidFill>
                      <a:prstDash val="solid"/>
                      <a:round/>
                      <a:headEnd type="none" w="med" len="med"/>
                      <a:tailEnd type="none" w="med" len="med"/>
                    </a:lnT>
                    <a:lnB w="9525" cap="flat" cmpd="sng" algn="ctr">
                      <a:solidFill>
                        <a:srgbClr val="C9D6D0"/>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B1F23"/>
                          </a:solidFill>
                          <a:latin typeface="Calibri" pitchFamily="34" charset="0"/>
                          <a:ea typeface="Calibri" pitchFamily="34" charset="-122"/>
                          <a:cs typeface="Calibri" pitchFamily="34" charset="-120"/>
                        </a:rPr>
                        <a:t>Yes</a:t>
                      </a:r>
                      <a:endParaRPr lang="en-US" sz="1500" dirty="0">
                        <a:latin typeface="Calibri" charset="0"/>
                        <a:ea typeface="Calibri" charset="0"/>
                        <a:cs typeface="Calibri" charset="0"/>
                      </a:endParaRPr>
                    </a:p>
                  </a:txBody>
                  <a:tcPr anchor="ctr">
                    <a:lnL w="9525" cap="flat" cmpd="sng" algn="ctr">
                      <a:solidFill>
                        <a:srgbClr val="C9D6D0"/>
                      </a:solidFill>
                      <a:prstDash val="solid"/>
                      <a:round/>
                      <a:headEnd type="none" w="med" len="med"/>
                      <a:tailEnd type="none" w="med" len="med"/>
                    </a:lnL>
                    <a:lnR w="9525" cap="flat" cmpd="sng" algn="ctr">
                      <a:solidFill>
                        <a:srgbClr val="C9D6D0"/>
                      </a:solidFill>
                      <a:prstDash val="solid"/>
                      <a:round/>
                      <a:headEnd type="none" w="med" len="med"/>
                      <a:tailEnd type="none" w="med" len="med"/>
                    </a:lnR>
                    <a:lnT w="9525" cap="flat" cmpd="sng" algn="ctr">
                      <a:solidFill>
                        <a:srgbClr val="C9D6D0"/>
                      </a:solidFill>
                      <a:prstDash val="solid"/>
                      <a:round/>
                      <a:headEnd type="none" w="med" len="med"/>
                      <a:tailEnd type="none" w="med" len="med"/>
                    </a:lnT>
                    <a:lnB w="9525" cap="flat" cmpd="sng" algn="ctr">
                      <a:solidFill>
                        <a:srgbClr val="C9D6D0"/>
                      </a:solidFill>
                      <a:prstDash val="solid"/>
                      <a:round/>
                      <a:headEnd type="none" w="med" len="med"/>
                      <a:tailEnd type="none" w="med" len="med"/>
                    </a:lnB>
                    <a:solidFill>
                      <a:srgbClr val="FFFFFF"/>
                    </a:solidFill>
                  </a:tcPr>
                </a:tc>
              </a:tr>
              <a:tr h="566928">
                <a:tc>
                  <a:txBody>
                    <a:bodyPr/>
                    <a:lstStyle/>
                    <a:p>
                      <a:pPr marL="0" indent="0">
                        <a:buNone/>
                      </a:pPr>
                      <a:r>
                        <a:rPr lang="en-US" sz="1500" dirty="0">
                          <a:solidFill>
                            <a:srgbClr val="000000"/>
                          </a:solidFill>
                          <a:latin typeface="Calibri" pitchFamily="34" charset="0"/>
                          <a:ea typeface="Calibri" pitchFamily="34" charset="-122"/>
                          <a:cs typeface="Calibri" pitchFamily="34" charset="-120"/>
                        </a:rPr>
                        <a:t>Google Glass scene analysis</a:t>
                      </a:r>
                      <a:endParaRPr lang="en-US" sz="1500" dirty="0">
                        <a:latin typeface="Calibri" charset="0"/>
                        <a:ea typeface="Calibri" charset="0"/>
                        <a:cs typeface="Calibri" charset="0"/>
                      </a:endParaRPr>
                    </a:p>
                  </a:txBody>
                  <a:tcPr>
                    <a:lnL w="9525" cap="flat" cmpd="sng" algn="ctr">
                      <a:solidFill>
                        <a:srgbClr val="C9D6D0"/>
                      </a:solidFill>
                      <a:prstDash val="solid"/>
                      <a:round/>
                      <a:headEnd type="none" w="med" len="med"/>
                      <a:tailEnd type="none" w="med" len="med"/>
                    </a:lnL>
                    <a:lnR w="9525" cap="flat" cmpd="sng" algn="ctr">
                      <a:solidFill>
                        <a:srgbClr val="C9D6D0"/>
                      </a:solidFill>
                      <a:prstDash val="solid"/>
                      <a:round/>
                      <a:headEnd type="none" w="med" len="med"/>
                      <a:tailEnd type="none" w="med" len="med"/>
                    </a:lnR>
                    <a:lnT w="9525" cap="flat" cmpd="sng" algn="ctr">
                      <a:solidFill>
                        <a:srgbClr val="C9D6D0"/>
                      </a:solidFill>
                      <a:prstDash val="solid"/>
                      <a:round/>
                      <a:headEnd type="none" w="med" len="med"/>
                      <a:tailEnd type="none" w="med" len="med"/>
                    </a:lnT>
                    <a:lnB w="9525" cap="flat" cmpd="sng" algn="ctr">
                      <a:solidFill>
                        <a:srgbClr val="C9D6D0"/>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E4572E"/>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anchor="ctr">
                    <a:lnL w="9525" cap="flat" cmpd="sng" algn="ctr">
                      <a:solidFill>
                        <a:srgbClr val="C9D6D0"/>
                      </a:solidFill>
                      <a:prstDash val="solid"/>
                      <a:round/>
                      <a:headEnd type="none" w="med" len="med"/>
                      <a:tailEnd type="none" w="med" len="med"/>
                    </a:lnL>
                    <a:lnR w="9525" cap="flat" cmpd="sng" algn="ctr">
                      <a:solidFill>
                        <a:srgbClr val="C9D6D0"/>
                      </a:solidFill>
                      <a:prstDash val="solid"/>
                      <a:round/>
                      <a:headEnd type="none" w="med" len="med"/>
                      <a:tailEnd type="none" w="med" len="med"/>
                    </a:lnR>
                    <a:lnT w="9525" cap="flat" cmpd="sng" algn="ctr">
                      <a:solidFill>
                        <a:srgbClr val="C9D6D0"/>
                      </a:solidFill>
                      <a:prstDash val="solid"/>
                      <a:round/>
                      <a:headEnd type="none" w="med" len="med"/>
                      <a:tailEnd type="none" w="med" len="med"/>
                    </a:lnT>
                    <a:lnB w="9525" cap="flat" cmpd="sng" algn="ctr">
                      <a:solidFill>
                        <a:srgbClr val="C9D6D0"/>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E4572E"/>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anchor="ctr">
                    <a:lnL w="9525" cap="flat" cmpd="sng" algn="ctr">
                      <a:solidFill>
                        <a:srgbClr val="C9D6D0"/>
                      </a:solidFill>
                      <a:prstDash val="solid"/>
                      <a:round/>
                      <a:headEnd type="none" w="med" len="med"/>
                      <a:tailEnd type="none" w="med" len="med"/>
                    </a:lnL>
                    <a:lnR w="9525" cap="flat" cmpd="sng" algn="ctr">
                      <a:solidFill>
                        <a:srgbClr val="C9D6D0"/>
                      </a:solidFill>
                      <a:prstDash val="solid"/>
                      <a:round/>
                      <a:headEnd type="none" w="med" len="med"/>
                      <a:tailEnd type="none" w="med" len="med"/>
                    </a:lnR>
                    <a:lnT w="9525" cap="flat" cmpd="sng" algn="ctr">
                      <a:solidFill>
                        <a:srgbClr val="C9D6D0"/>
                      </a:solidFill>
                      <a:prstDash val="solid"/>
                      <a:round/>
                      <a:headEnd type="none" w="med" len="med"/>
                      <a:tailEnd type="none" w="med" len="med"/>
                    </a:lnT>
                    <a:lnB w="9525" cap="flat" cmpd="sng" algn="ctr">
                      <a:solidFill>
                        <a:srgbClr val="C9D6D0"/>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E4572E"/>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anchor="ctr">
                    <a:lnL w="9525" cap="flat" cmpd="sng" algn="ctr">
                      <a:solidFill>
                        <a:srgbClr val="C9D6D0"/>
                      </a:solidFill>
                      <a:prstDash val="solid"/>
                      <a:round/>
                      <a:headEnd type="none" w="med" len="med"/>
                      <a:tailEnd type="none" w="med" len="med"/>
                    </a:lnL>
                    <a:lnR w="9525" cap="flat" cmpd="sng" algn="ctr">
                      <a:solidFill>
                        <a:srgbClr val="C9D6D0"/>
                      </a:solidFill>
                      <a:prstDash val="solid"/>
                      <a:round/>
                      <a:headEnd type="none" w="med" len="med"/>
                      <a:tailEnd type="none" w="med" len="med"/>
                    </a:lnR>
                    <a:lnT w="9525" cap="flat" cmpd="sng" algn="ctr">
                      <a:solidFill>
                        <a:srgbClr val="C9D6D0"/>
                      </a:solidFill>
                      <a:prstDash val="solid"/>
                      <a:round/>
                      <a:headEnd type="none" w="med" len="med"/>
                      <a:tailEnd type="none" w="med" len="med"/>
                    </a:lnT>
                    <a:lnB w="9525" cap="flat" cmpd="sng" algn="ctr">
                      <a:solidFill>
                        <a:srgbClr val="C9D6D0"/>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B1F23"/>
                          </a:solidFill>
                          <a:latin typeface="Calibri" pitchFamily="34" charset="0"/>
                          <a:ea typeface="Calibri" pitchFamily="34" charset="-122"/>
                          <a:cs typeface="Calibri" pitchFamily="34" charset="-120"/>
                        </a:rPr>
                        <a:t>Yes</a:t>
                      </a:r>
                      <a:endParaRPr lang="en-US" sz="1500" dirty="0">
                        <a:latin typeface="Calibri" charset="0"/>
                        <a:ea typeface="Calibri" charset="0"/>
                        <a:cs typeface="Calibri" charset="0"/>
                      </a:endParaRPr>
                    </a:p>
                  </a:txBody>
                  <a:tcPr anchor="ctr">
                    <a:lnL w="9525" cap="flat" cmpd="sng" algn="ctr">
                      <a:solidFill>
                        <a:srgbClr val="C9D6D0"/>
                      </a:solidFill>
                      <a:prstDash val="solid"/>
                      <a:round/>
                      <a:headEnd type="none" w="med" len="med"/>
                      <a:tailEnd type="none" w="med" len="med"/>
                    </a:lnL>
                    <a:lnR w="9525" cap="flat" cmpd="sng" algn="ctr">
                      <a:solidFill>
                        <a:srgbClr val="C9D6D0"/>
                      </a:solidFill>
                      <a:prstDash val="solid"/>
                      <a:round/>
                      <a:headEnd type="none" w="med" len="med"/>
                      <a:tailEnd type="none" w="med" len="med"/>
                    </a:lnR>
                    <a:lnT w="9525" cap="flat" cmpd="sng" algn="ctr">
                      <a:solidFill>
                        <a:srgbClr val="C9D6D0"/>
                      </a:solidFill>
                      <a:prstDash val="solid"/>
                      <a:round/>
                      <a:headEnd type="none" w="med" len="med"/>
                      <a:tailEnd type="none" w="med" len="med"/>
                    </a:lnT>
                    <a:lnB w="9525" cap="flat" cmpd="sng" algn="ctr">
                      <a:solidFill>
                        <a:srgbClr val="C9D6D0"/>
                      </a:solidFill>
                      <a:prstDash val="solid"/>
                      <a:round/>
                      <a:headEnd type="none" w="med" len="med"/>
                      <a:tailEnd type="none" w="med" len="med"/>
                    </a:lnB>
                    <a:solidFill>
                      <a:srgbClr val="FFFFFF"/>
                    </a:solidFill>
                  </a:tcPr>
                </a:tc>
              </a:tr>
              <a:tr h="566928">
                <a:tc>
                  <a:txBody>
                    <a:bodyPr/>
                    <a:lstStyle/>
                    <a:p>
                      <a:pPr marL="0" indent="0">
                        <a:buNone/>
                      </a:pPr>
                      <a:r>
                        <a:rPr lang="en-US" sz="1500" dirty="0">
                          <a:solidFill>
                            <a:srgbClr val="000000"/>
                          </a:solidFill>
                          <a:latin typeface="Calibri" pitchFamily="34" charset="0"/>
                          <a:ea typeface="Calibri" pitchFamily="34" charset="-122"/>
                          <a:cs typeface="Calibri" pitchFamily="34" charset="-120"/>
                        </a:rPr>
                        <a:t>AIris (2024)</a:t>
                      </a:r>
                      <a:endParaRPr lang="en-US" sz="1500" dirty="0">
                        <a:latin typeface="Calibri" charset="0"/>
                        <a:ea typeface="Calibri" charset="0"/>
                        <a:cs typeface="Calibri" charset="0"/>
                      </a:endParaRPr>
                    </a:p>
                  </a:txBody>
                  <a:tcPr>
                    <a:lnL w="9525" cap="flat" cmpd="sng" algn="ctr">
                      <a:solidFill>
                        <a:srgbClr val="C9D6D0"/>
                      </a:solidFill>
                      <a:prstDash val="solid"/>
                      <a:round/>
                      <a:headEnd type="none" w="med" len="med"/>
                      <a:tailEnd type="none" w="med" len="med"/>
                    </a:lnL>
                    <a:lnR w="9525" cap="flat" cmpd="sng" algn="ctr">
                      <a:solidFill>
                        <a:srgbClr val="C9D6D0"/>
                      </a:solidFill>
                      <a:prstDash val="solid"/>
                      <a:round/>
                      <a:headEnd type="none" w="med" len="med"/>
                      <a:tailEnd type="none" w="med" len="med"/>
                    </a:lnR>
                    <a:lnT w="9525" cap="flat" cmpd="sng" algn="ctr">
                      <a:solidFill>
                        <a:srgbClr val="C9D6D0"/>
                      </a:solidFill>
                      <a:prstDash val="solid"/>
                      <a:round/>
                      <a:headEnd type="none" w="med" len="med"/>
                      <a:tailEnd type="none" w="med" len="med"/>
                    </a:lnT>
                    <a:lnB w="9525" cap="flat" cmpd="sng" algn="ctr">
                      <a:solidFill>
                        <a:srgbClr val="C9D6D0"/>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E4572E"/>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anchor="ctr">
                    <a:lnL w="9525" cap="flat" cmpd="sng" algn="ctr">
                      <a:solidFill>
                        <a:srgbClr val="C9D6D0"/>
                      </a:solidFill>
                      <a:prstDash val="solid"/>
                      <a:round/>
                      <a:headEnd type="none" w="med" len="med"/>
                      <a:tailEnd type="none" w="med" len="med"/>
                    </a:lnL>
                    <a:lnR w="9525" cap="flat" cmpd="sng" algn="ctr">
                      <a:solidFill>
                        <a:srgbClr val="C9D6D0"/>
                      </a:solidFill>
                      <a:prstDash val="solid"/>
                      <a:round/>
                      <a:headEnd type="none" w="med" len="med"/>
                      <a:tailEnd type="none" w="med" len="med"/>
                    </a:lnR>
                    <a:lnT w="9525" cap="flat" cmpd="sng" algn="ctr">
                      <a:solidFill>
                        <a:srgbClr val="C9D6D0"/>
                      </a:solidFill>
                      <a:prstDash val="solid"/>
                      <a:round/>
                      <a:headEnd type="none" w="med" len="med"/>
                      <a:tailEnd type="none" w="med" len="med"/>
                    </a:lnT>
                    <a:lnB w="9525" cap="flat" cmpd="sng" algn="ctr">
                      <a:solidFill>
                        <a:srgbClr val="C9D6D0"/>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E4572E"/>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anchor="ctr">
                    <a:lnL w="9525" cap="flat" cmpd="sng" algn="ctr">
                      <a:solidFill>
                        <a:srgbClr val="C9D6D0"/>
                      </a:solidFill>
                      <a:prstDash val="solid"/>
                      <a:round/>
                      <a:headEnd type="none" w="med" len="med"/>
                      <a:tailEnd type="none" w="med" len="med"/>
                    </a:lnL>
                    <a:lnR w="9525" cap="flat" cmpd="sng" algn="ctr">
                      <a:solidFill>
                        <a:srgbClr val="C9D6D0"/>
                      </a:solidFill>
                      <a:prstDash val="solid"/>
                      <a:round/>
                      <a:headEnd type="none" w="med" len="med"/>
                      <a:tailEnd type="none" w="med" len="med"/>
                    </a:lnR>
                    <a:lnT w="9525" cap="flat" cmpd="sng" algn="ctr">
                      <a:solidFill>
                        <a:srgbClr val="C9D6D0"/>
                      </a:solidFill>
                      <a:prstDash val="solid"/>
                      <a:round/>
                      <a:headEnd type="none" w="med" len="med"/>
                      <a:tailEnd type="none" w="med" len="med"/>
                    </a:lnT>
                    <a:lnB w="9525" cap="flat" cmpd="sng" algn="ctr">
                      <a:solidFill>
                        <a:srgbClr val="C9D6D0"/>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E4572E"/>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anchor="ctr">
                    <a:lnL w="9525" cap="flat" cmpd="sng" algn="ctr">
                      <a:solidFill>
                        <a:srgbClr val="C9D6D0"/>
                      </a:solidFill>
                      <a:prstDash val="solid"/>
                      <a:round/>
                      <a:headEnd type="none" w="med" len="med"/>
                      <a:tailEnd type="none" w="med" len="med"/>
                    </a:lnL>
                    <a:lnR w="9525" cap="flat" cmpd="sng" algn="ctr">
                      <a:solidFill>
                        <a:srgbClr val="C9D6D0"/>
                      </a:solidFill>
                      <a:prstDash val="solid"/>
                      <a:round/>
                      <a:headEnd type="none" w="med" len="med"/>
                      <a:tailEnd type="none" w="med" len="med"/>
                    </a:lnR>
                    <a:lnT w="9525" cap="flat" cmpd="sng" algn="ctr">
                      <a:solidFill>
                        <a:srgbClr val="C9D6D0"/>
                      </a:solidFill>
                      <a:prstDash val="solid"/>
                      <a:round/>
                      <a:headEnd type="none" w="med" len="med"/>
                      <a:tailEnd type="none" w="med" len="med"/>
                    </a:lnT>
                    <a:lnB w="9525" cap="flat" cmpd="sng" algn="ctr">
                      <a:solidFill>
                        <a:srgbClr val="C9D6D0"/>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B1F23"/>
                          </a:solidFill>
                          <a:latin typeface="Calibri" pitchFamily="34" charset="0"/>
                          <a:ea typeface="Calibri" pitchFamily="34" charset="-122"/>
                          <a:cs typeface="Calibri" pitchFamily="34" charset="-120"/>
                        </a:rPr>
                        <a:t>Yes</a:t>
                      </a:r>
                      <a:endParaRPr lang="en-US" sz="1500" dirty="0">
                        <a:latin typeface="Calibri" charset="0"/>
                        <a:ea typeface="Calibri" charset="0"/>
                        <a:cs typeface="Calibri" charset="0"/>
                      </a:endParaRPr>
                    </a:p>
                  </a:txBody>
                  <a:tcPr anchor="ctr">
                    <a:lnL w="9525" cap="flat" cmpd="sng" algn="ctr">
                      <a:solidFill>
                        <a:srgbClr val="C9D6D0"/>
                      </a:solidFill>
                      <a:prstDash val="solid"/>
                      <a:round/>
                      <a:headEnd type="none" w="med" len="med"/>
                      <a:tailEnd type="none" w="med" len="med"/>
                    </a:lnL>
                    <a:lnR w="9525" cap="flat" cmpd="sng" algn="ctr">
                      <a:solidFill>
                        <a:srgbClr val="C9D6D0"/>
                      </a:solidFill>
                      <a:prstDash val="solid"/>
                      <a:round/>
                      <a:headEnd type="none" w="med" len="med"/>
                      <a:tailEnd type="none" w="med" len="med"/>
                    </a:lnR>
                    <a:lnT w="9525" cap="flat" cmpd="sng" algn="ctr">
                      <a:solidFill>
                        <a:srgbClr val="C9D6D0"/>
                      </a:solidFill>
                      <a:prstDash val="solid"/>
                      <a:round/>
                      <a:headEnd type="none" w="med" len="med"/>
                      <a:tailEnd type="none" w="med" len="med"/>
                    </a:lnT>
                    <a:lnB w="9525" cap="flat" cmpd="sng" algn="ctr">
                      <a:solidFill>
                        <a:srgbClr val="C9D6D0"/>
                      </a:solidFill>
                      <a:prstDash val="solid"/>
                      <a:round/>
                      <a:headEnd type="none" w="med" len="med"/>
                      <a:tailEnd type="none" w="med" len="med"/>
                    </a:lnB>
                    <a:solidFill>
                      <a:srgbClr val="FFFFFF"/>
                    </a:solidFill>
                  </a:tcPr>
                </a:tc>
              </a:tr>
              <a:tr h="566928">
                <a:tc>
                  <a:txBody>
                    <a:bodyPr/>
                    <a:lstStyle/>
                    <a:p>
                      <a:pPr marL="0" indent="0">
                        <a:buNone/>
                      </a:pPr>
                      <a:r>
                        <a:rPr lang="en-US" sz="1500" dirty="0">
                          <a:solidFill>
                            <a:srgbClr val="000000"/>
                          </a:solidFill>
                          <a:latin typeface="Calibri" pitchFamily="34" charset="0"/>
                          <a:ea typeface="Calibri" pitchFamily="34" charset="-122"/>
                          <a:cs typeface="Calibri" pitchFamily="34" charset="-120"/>
                        </a:rPr>
                        <a:t>Raspberry Pi reading aids</a:t>
                      </a:r>
                      <a:endParaRPr lang="en-US" sz="1500" dirty="0">
                        <a:latin typeface="Calibri" charset="0"/>
                        <a:ea typeface="Calibri" charset="0"/>
                        <a:cs typeface="Calibri" charset="0"/>
                      </a:endParaRPr>
                    </a:p>
                  </a:txBody>
                  <a:tcPr>
                    <a:lnL w="9525" cap="flat" cmpd="sng" algn="ctr">
                      <a:solidFill>
                        <a:srgbClr val="C9D6D0"/>
                      </a:solidFill>
                      <a:prstDash val="solid"/>
                      <a:round/>
                      <a:headEnd type="none" w="med" len="med"/>
                      <a:tailEnd type="none" w="med" len="med"/>
                    </a:lnL>
                    <a:lnR w="9525" cap="flat" cmpd="sng" algn="ctr">
                      <a:solidFill>
                        <a:srgbClr val="C9D6D0"/>
                      </a:solidFill>
                      <a:prstDash val="solid"/>
                      <a:round/>
                      <a:headEnd type="none" w="med" len="med"/>
                      <a:tailEnd type="none" w="med" len="med"/>
                    </a:lnR>
                    <a:lnT w="9525" cap="flat" cmpd="sng" algn="ctr">
                      <a:solidFill>
                        <a:srgbClr val="C9D6D0"/>
                      </a:solidFill>
                      <a:prstDash val="solid"/>
                      <a:round/>
                      <a:headEnd type="none" w="med" len="med"/>
                      <a:tailEnd type="none" w="med" len="med"/>
                    </a:lnT>
                    <a:lnB w="9525" cap="flat" cmpd="sng" algn="ctr">
                      <a:solidFill>
                        <a:srgbClr val="C9D6D0"/>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E4572E"/>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anchor="ctr">
                    <a:lnL w="9525" cap="flat" cmpd="sng" algn="ctr">
                      <a:solidFill>
                        <a:srgbClr val="C9D6D0"/>
                      </a:solidFill>
                      <a:prstDash val="solid"/>
                      <a:round/>
                      <a:headEnd type="none" w="med" len="med"/>
                      <a:tailEnd type="none" w="med" len="med"/>
                    </a:lnL>
                    <a:lnR w="9525" cap="flat" cmpd="sng" algn="ctr">
                      <a:solidFill>
                        <a:srgbClr val="C9D6D0"/>
                      </a:solidFill>
                      <a:prstDash val="solid"/>
                      <a:round/>
                      <a:headEnd type="none" w="med" len="med"/>
                      <a:tailEnd type="none" w="med" len="med"/>
                    </a:lnR>
                    <a:lnT w="9525" cap="flat" cmpd="sng" algn="ctr">
                      <a:solidFill>
                        <a:srgbClr val="C9D6D0"/>
                      </a:solidFill>
                      <a:prstDash val="solid"/>
                      <a:round/>
                      <a:headEnd type="none" w="med" len="med"/>
                      <a:tailEnd type="none" w="med" len="med"/>
                    </a:lnT>
                    <a:lnB w="9525" cap="flat" cmpd="sng" algn="ctr">
                      <a:solidFill>
                        <a:srgbClr val="C9D6D0"/>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E4572E"/>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anchor="ctr">
                    <a:lnL w="9525" cap="flat" cmpd="sng" algn="ctr">
                      <a:solidFill>
                        <a:srgbClr val="C9D6D0"/>
                      </a:solidFill>
                      <a:prstDash val="solid"/>
                      <a:round/>
                      <a:headEnd type="none" w="med" len="med"/>
                      <a:tailEnd type="none" w="med" len="med"/>
                    </a:lnL>
                    <a:lnR w="9525" cap="flat" cmpd="sng" algn="ctr">
                      <a:solidFill>
                        <a:srgbClr val="C9D6D0"/>
                      </a:solidFill>
                      <a:prstDash val="solid"/>
                      <a:round/>
                      <a:headEnd type="none" w="med" len="med"/>
                      <a:tailEnd type="none" w="med" len="med"/>
                    </a:lnR>
                    <a:lnT w="9525" cap="flat" cmpd="sng" algn="ctr">
                      <a:solidFill>
                        <a:srgbClr val="C9D6D0"/>
                      </a:solidFill>
                      <a:prstDash val="solid"/>
                      <a:round/>
                      <a:headEnd type="none" w="med" len="med"/>
                      <a:tailEnd type="none" w="med" len="med"/>
                    </a:lnT>
                    <a:lnB w="9525" cap="flat" cmpd="sng" algn="ctr">
                      <a:solidFill>
                        <a:srgbClr val="C9D6D0"/>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B1F23"/>
                          </a:solidFill>
                          <a:latin typeface="Calibri" pitchFamily="34" charset="0"/>
                          <a:ea typeface="Calibri" pitchFamily="34" charset="-122"/>
                          <a:cs typeface="Calibri" pitchFamily="34" charset="-120"/>
                        </a:rPr>
                        <a:t>Partly</a:t>
                      </a:r>
                      <a:endParaRPr lang="en-US" sz="1500" dirty="0">
                        <a:latin typeface="Calibri" charset="0"/>
                        <a:ea typeface="Calibri" charset="0"/>
                        <a:cs typeface="Calibri" charset="0"/>
                      </a:endParaRPr>
                    </a:p>
                  </a:txBody>
                  <a:tcPr anchor="ctr">
                    <a:lnL w="9525" cap="flat" cmpd="sng" algn="ctr">
                      <a:solidFill>
                        <a:srgbClr val="C9D6D0"/>
                      </a:solidFill>
                      <a:prstDash val="solid"/>
                      <a:round/>
                      <a:headEnd type="none" w="med" len="med"/>
                      <a:tailEnd type="none" w="med" len="med"/>
                    </a:lnL>
                    <a:lnR w="9525" cap="flat" cmpd="sng" algn="ctr">
                      <a:solidFill>
                        <a:srgbClr val="C9D6D0"/>
                      </a:solidFill>
                      <a:prstDash val="solid"/>
                      <a:round/>
                      <a:headEnd type="none" w="med" len="med"/>
                      <a:tailEnd type="none" w="med" len="med"/>
                    </a:lnR>
                    <a:lnT w="9525" cap="flat" cmpd="sng" algn="ctr">
                      <a:solidFill>
                        <a:srgbClr val="C9D6D0"/>
                      </a:solidFill>
                      <a:prstDash val="solid"/>
                      <a:round/>
                      <a:headEnd type="none" w="med" len="med"/>
                      <a:tailEnd type="none" w="med" len="med"/>
                    </a:lnT>
                    <a:lnB w="9525" cap="flat" cmpd="sng" algn="ctr">
                      <a:solidFill>
                        <a:srgbClr val="C9D6D0"/>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B1F23"/>
                          </a:solidFill>
                          <a:latin typeface="Calibri" pitchFamily="34" charset="0"/>
                          <a:ea typeface="Calibri" pitchFamily="34" charset="-122"/>
                          <a:cs typeface="Calibri" pitchFamily="34" charset="-120"/>
                        </a:rPr>
                        <a:t>Partly</a:t>
                      </a:r>
                      <a:endParaRPr lang="en-US" sz="1500" dirty="0">
                        <a:latin typeface="Calibri" charset="0"/>
                        <a:ea typeface="Calibri" charset="0"/>
                        <a:cs typeface="Calibri" charset="0"/>
                      </a:endParaRPr>
                    </a:p>
                  </a:txBody>
                  <a:tcPr anchor="ctr">
                    <a:lnL w="9525" cap="flat" cmpd="sng" algn="ctr">
                      <a:solidFill>
                        <a:srgbClr val="C9D6D0"/>
                      </a:solidFill>
                      <a:prstDash val="solid"/>
                      <a:round/>
                      <a:headEnd type="none" w="med" len="med"/>
                      <a:tailEnd type="none" w="med" len="med"/>
                    </a:lnL>
                    <a:lnR w="9525" cap="flat" cmpd="sng" algn="ctr">
                      <a:solidFill>
                        <a:srgbClr val="C9D6D0"/>
                      </a:solidFill>
                      <a:prstDash val="solid"/>
                      <a:round/>
                      <a:headEnd type="none" w="med" len="med"/>
                      <a:tailEnd type="none" w="med" len="med"/>
                    </a:lnR>
                    <a:lnT w="9525" cap="flat" cmpd="sng" algn="ctr">
                      <a:solidFill>
                        <a:srgbClr val="C9D6D0"/>
                      </a:solidFill>
                      <a:prstDash val="solid"/>
                      <a:round/>
                      <a:headEnd type="none" w="med" len="med"/>
                      <a:tailEnd type="none" w="med" len="med"/>
                    </a:lnT>
                    <a:lnB w="9525" cap="flat" cmpd="sng" algn="ctr">
                      <a:solidFill>
                        <a:srgbClr val="C9D6D0"/>
                      </a:solidFill>
                      <a:prstDash val="solid"/>
                      <a:round/>
                      <a:headEnd type="none" w="med" len="med"/>
                      <a:tailEnd type="none" w="med" len="med"/>
                    </a:lnB>
                    <a:solidFill>
                      <a:srgbClr val="FFFFFF"/>
                    </a:solidFill>
                  </a:tcPr>
                </a:tc>
              </a:tr>
              <a:tr h="566928">
                <a:tc>
                  <a:txBody>
                    <a:bodyPr/>
                    <a:lstStyle/>
                    <a:p>
                      <a:pPr marL="0" indent="0">
                        <a:buNone/>
                      </a:pPr>
                      <a:r>
                        <a:rPr lang="en-US" sz="1500" b="1" dirty="0">
                          <a:solidFill>
                            <a:srgbClr val="0B3D2E"/>
                          </a:solidFill>
                          <a:latin typeface="Calibri" pitchFamily="34" charset="0"/>
                          <a:ea typeface="Calibri" pitchFamily="34" charset="-122"/>
                          <a:cs typeface="Calibri" pitchFamily="34" charset="-120"/>
                        </a:rPr>
                        <a:t>SARA (ours)</a:t>
                      </a:r>
                      <a:endParaRPr lang="en-US" sz="1500" dirty="0">
                        <a:latin typeface="Calibri" charset="0"/>
                        <a:ea typeface="Calibri" charset="0"/>
                        <a:cs typeface="Calibri" charset="0"/>
                      </a:endParaRPr>
                    </a:p>
                  </a:txBody>
                  <a:tcPr>
                    <a:lnL w="9525" cap="flat" cmpd="sng" algn="ctr">
                      <a:solidFill>
                        <a:srgbClr val="C9D6D0"/>
                      </a:solidFill>
                      <a:prstDash val="solid"/>
                      <a:round/>
                      <a:headEnd type="none" w="med" len="med"/>
                      <a:tailEnd type="none" w="med" len="med"/>
                    </a:lnL>
                    <a:lnR w="9525" cap="flat" cmpd="sng" algn="ctr">
                      <a:solidFill>
                        <a:srgbClr val="C9D6D0"/>
                      </a:solidFill>
                      <a:prstDash val="solid"/>
                      <a:round/>
                      <a:headEnd type="none" w="med" len="med"/>
                      <a:tailEnd type="none" w="med" len="med"/>
                    </a:lnR>
                    <a:lnT w="9525" cap="flat" cmpd="sng" algn="ctr">
                      <a:solidFill>
                        <a:srgbClr val="C9D6D0"/>
                      </a:solidFill>
                      <a:prstDash val="solid"/>
                      <a:round/>
                      <a:headEnd type="none" w="med" len="med"/>
                      <a:tailEnd type="none" w="med" len="med"/>
                    </a:lnT>
                    <a:lnB w="9525" cap="flat" cmpd="sng" algn="ctr">
                      <a:solidFill>
                        <a:srgbClr val="C9D6D0"/>
                      </a:solidFill>
                      <a:prstDash val="solid"/>
                      <a:round/>
                      <a:headEnd type="none" w="med" len="med"/>
                      <a:tailEnd type="none" w="med" len="med"/>
                    </a:lnB>
                    <a:solidFill>
                      <a:srgbClr val="FFFFFF"/>
                    </a:solidFill>
                  </a:tcPr>
                </a:tc>
                <a:tc>
                  <a:txBody>
                    <a:bodyPr/>
                    <a:lstStyle/>
                    <a:p>
                      <a:pPr marL="0" indent="0" algn="ctr">
                        <a:buNone/>
                      </a:pPr>
                      <a:r>
                        <a:rPr lang="en-US" sz="1500" b="1" dirty="0">
                          <a:solidFill>
                            <a:srgbClr val="0B6E4F"/>
                          </a:solidFill>
                          <a:latin typeface="Calibri" pitchFamily="34" charset="0"/>
                          <a:ea typeface="Calibri" pitchFamily="34" charset="-122"/>
                          <a:cs typeface="Calibri" pitchFamily="34" charset="-120"/>
                        </a:rPr>
                        <a:t>Yes</a:t>
                      </a:r>
                      <a:endParaRPr lang="en-US" sz="1500" dirty="0">
                        <a:latin typeface="Calibri" charset="0"/>
                        <a:ea typeface="Calibri" charset="0"/>
                        <a:cs typeface="Calibri" charset="0"/>
                      </a:endParaRPr>
                    </a:p>
                  </a:txBody>
                  <a:tcPr anchor="ctr">
                    <a:lnL w="9525" cap="flat" cmpd="sng" algn="ctr">
                      <a:solidFill>
                        <a:srgbClr val="C9D6D0"/>
                      </a:solidFill>
                      <a:prstDash val="solid"/>
                      <a:round/>
                      <a:headEnd type="none" w="med" len="med"/>
                      <a:tailEnd type="none" w="med" len="med"/>
                    </a:lnL>
                    <a:lnR w="9525" cap="flat" cmpd="sng" algn="ctr">
                      <a:solidFill>
                        <a:srgbClr val="C9D6D0"/>
                      </a:solidFill>
                      <a:prstDash val="solid"/>
                      <a:round/>
                      <a:headEnd type="none" w="med" len="med"/>
                      <a:tailEnd type="none" w="med" len="med"/>
                    </a:lnR>
                    <a:lnT w="9525" cap="flat" cmpd="sng" algn="ctr">
                      <a:solidFill>
                        <a:srgbClr val="C9D6D0"/>
                      </a:solidFill>
                      <a:prstDash val="solid"/>
                      <a:round/>
                      <a:headEnd type="none" w="med" len="med"/>
                      <a:tailEnd type="none" w="med" len="med"/>
                    </a:lnT>
                    <a:lnB w="9525" cap="flat" cmpd="sng" algn="ctr">
                      <a:solidFill>
                        <a:srgbClr val="C9D6D0"/>
                      </a:solidFill>
                      <a:prstDash val="solid"/>
                      <a:round/>
                      <a:headEnd type="none" w="med" len="med"/>
                      <a:tailEnd type="none" w="med" len="med"/>
                    </a:lnB>
                    <a:solidFill>
                      <a:srgbClr val="FFFFFF"/>
                    </a:solidFill>
                  </a:tcPr>
                </a:tc>
                <a:tc>
                  <a:txBody>
                    <a:bodyPr/>
                    <a:lstStyle/>
                    <a:p>
                      <a:pPr marL="0" indent="0" algn="ctr">
                        <a:buNone/>
                      </a:pPr>
                      <a:r>
                        <a:rPr lang="en-US" sz="1500" b="1" dirty="0">
                          <a:solidFill>
                            <a:srgbClr val="0B6E4F"/>
                          </a:solidFill>
                          <a:latin typeface="Calibri" pitchFamily="34" charset="0"/>
                          <a:ea typeface="Calibri" pitchFamily="34" charset="-122"/>
                          <a:cs typeface="Calibri" pitchFamily="34" charset="-120"/>
                        </a:rPr>
                        <a:t>Yes</a:t>
                      </a:r>
                      <a:endParaRPr lang="en-US" sz="1500" dirty="0">
                        <a:latin typeface="Calibri" charset="0"/>
                        <a:ea typeface="Calibri" charset="0"/>
                        <a:cs typeface="Calibri" charset="0"/>
                      </a:endParaRPr>
                    </a:p>
                  </a:txBody>
                  <a:tcPr anchor="ctr">
                    <a:lnL w="9525" cap="flat" cmpd="sng" algn="ctr">
                      <a:solidFill>
                        <a:srgbClr val="C9D6D0"/>
                      </a:solidFill>
                      <a:prstDash val="solid"/>
                      <a:round/>
                      <a:headEnd type="none" w="med" len="med"/>
                      <a:tailEnd type="none" w="med" len="med"/>
                    </a:lnL>
                    <a:lnR w="9525" cap="flat" cmpd="sng" algn="ctr">
                      <a:solidFill>
                        <a:srgbClr val="C9D6D0"/>
                      </a:solidFill>
                      <a:prstDash val="solid"/>
                      <a:round/>
                      <a:headEnd type="none" w="med" len="med"/>
                      <a:tailEnd type="none" w="med" len="med"/>
                    </a:lnR>
                    <a:lnT w="9525" cap="flat" cmpd="sng" algn="ctr">
                      <a:solidFill>
                        <a:srgbClr val="C9D6D0"/>
                      </a:solidFill>
                      <a:prstDash val="solid"/>
                      <a:round/>
                      <a:headEnd type="none" w="med" len="med"/>
                      <a:tailEnd type="none" w="med" len="med"/>
                    </a:lnT>
                    <a:lnB w="9525" cap="flat" cmpd="sng" algn="ctr">
                      <a:solidFill>
                        <a:srgbClr val="C9D6D0"/>
                      </a:solidFill>
                      <a:prstDash val="solid"/>
                      <a:round/>
                      <a:headEnd type="none" w="med" len="med"/>
                      <a:tailEnd type="none" w="med" len="med"/>
                    </a:lnB>
                    <a:solidFill>
                      <a:srgbClr val="FFFFFF"/>
                    </a:solidFill>
                  </a:tcPr>
                </a:tc>
                <a:tc>
                  <a:txBody>
                    <a:bodyPr/>
                    <a:lstStyle/>
                    <a:p>
                      <a:pPr marL="0" indent="0" algn="ctr">
                        <a:buNone/>
                      </a:pPr>
                      <a:r>
                        <a:rPr lang="en-US" sz="1500" b="1" dirty="0">
                          <a:solidFill>
                            <a:srgbClr val="0B6E4F"/>
                          </a:solidFill>
                          <a:latin typeface="Calibri" pitchFamily="34" charset="0"/>
                          <a:ea typeface="Calibri" pitchFamily="34" charset="-122"/>
                          <a:cs typeface="Calibri" pitchFamily="34" charset="-120"/>
                        </a:rPr>
                        <a:t>Yes</a:t>
                      </a:r>
                      <a:endParaRPr lang="en-US" sz="1500" dirty="0">
                        <a:latin typeface="Calibri" charset="0"/>
                        <a:ea typeface="Calibri" charset="0"/>
                        <a:cs typeface="Calibri" charset="0"/>
                      </a:endParaRPr>
                    </a:p>
                  </a:txBody>
                  <a:tcPr anchor="ctr">
                    <a:lnL w="9525" cap="flat" cmpd="sng" algn="ctr">
                      <a:solidFill>
                        <a:srgbClr val="C9D6D0"/>
                      </a:solidFill>
                      <a:prstDash val="solid"/>
                      <a:round/>
                      <a:headEnd type="none" w="med" len="med"/>
                      <a:tailEnd type="none" w="med" len="med"/>
                    </a:lnL>
                    <a:lnR w="9525" cap="flat" cmpd="sng" algn="ctr">
                      <a:solidFill>
                        <a:srgbClr val="C9D6D0"/>
                      </a:solidFill>
                      <a:prstDash val="solid"/>
                      <a:round/>
                      <a:headEnd type="none" w="med" len="med"/>
                      <a:tailEnd type="none" w="med" len="med"/>
                    </a:lnR>
                    <a:lnT w="9525" cap="flat" cmpd="sng" algn="ctr">
                      <a:solidFill>
                        <a:srgbClr val="C9D6D0"/>
                      </a:solidFill>
                      <a:prstDash val="solid"/>
                      <a:round/>
                      <a:headEnd type="none" w="med" len="med"/>
                      <a:tailEnd type="none" w="med" len="med"/>
                    </a:lnT>
                    <a:lnB w="9525" cap="flat" cmpd="sng" algn="ctr">
                      <a:solidFill>
                        <a:srgbClr val="C9D6D0"/>
                      </a:solidFill>
                      <a:prstDash val="solid"/>
                      <a:round/>
                      <a:headEnd type="none" w="med" len="med"/>
                      <a:tailEnd type="none" w="med" len="med"/>
                    </a:lnB>
                    <a:solidFill>
                      <a:srgbClr val="FFFFFF"/>
                    </a:solidFill>
                  </a:tcPr>
                </a:tc>
                <a:tc>
                  <a:txBody>
                    <a:bodyPr/>
                    <a:lstStyle/>
                    <a:p>
                      <a:pPr marL="0" indent="0" algn="ctr">
                        <a:buNone/>
                      </a:pPr>
                      <a:r>
                        <a:rPr lang="en-US" sz="1500" b="1" dirty="0">
                          <a:solidFill>
                            <a:srgbClr val="0B6E4F"/>
                          </a:solidFill>
                          <a:latin typeface="Calibri" pitchFamily="34" charset="0"/>
                          <a:ea typeface="Calibri" pitchFamily="34" charset="-122"/>
                          <a:cs typeface="Calibri" pitchFamily="34" charset="-120"/>
                        </a:rPr>
                        <a:t>Yes</a:t>
                      </a:r>
                      <a:endParaRPr lang="en-US" sz="1500" dirty="0">
                        <a:latin typeface="Calibri" charset="0"/>
                        <a:ea typeface="Calibri" charset="0"/>
                        <a:cs typeface="Calibri" charset="0"/>
                      </a:endParaRPr>
                    </a:p>
                  </a:txBody>
                  <a:tcPr anchor="ctr">
                    <a:lnL w="9525" cap="flat" cmpd="sng" algn="ctr">
                      <a:solidFill>
                        <a:srgbClr val="C9D6D0"/>
                      </a:solidFill>
                      <a:prstDash val="solid"/>
                      <a:round/>
                      <a:headEnd type="none" w="med" len="med"/>
                      <a:tailEnd type="none" w="med" len="med"/>
                    </a:lnL>
                    <a:lnR w="9525" cap="flat" cmpd="sng" algn="ctr">
                      <a:solidFill>
                        <a:srgbClr val="C9D6D0"/>
                      </a:solidFill>
                      <a:prstDash val="solid"/>
                      <a:round/>
                      <a:headEnd type="none" w="med" len="med"/>
                      <a:tailEnd type="none" w="med" len="med"/>
                    </a:lnR>
                    <a:lnT w="9525" cap="flat" cmpd="sng" algn="ctr">
                      <a:solidFill>
                        <a:srgbClr val="C9D6D0"/>
                      </a:solidFill>
                      <a:prstDash val="solid"/>
                      <a:round/>
                      <a:headEnd type="none" w="med" len="med"/>
                      <a:tailEnd type="none" w="med" len="med"/>
                    </a:lnT>
                    <a:lnB w="9525" cap="flat" cmpd="sng" algn="ctr">
                      <a:solidFill>
                        <a:srgbClr val="C9D6D0"/>
                      </a:solidFill>
                      <a:prstDash val="solid"/>
                      <a:round/>
                      <a:headEnd type="none" w="med" len="med"/>
                      <a:tailEnd type="none" w="med" len="med"/>
                    </a:lnB>
                    <a:solidFill>
                      <a:srgbClr val="FFFFFF"/>
                    </a:solidFill>
                  </a:tcPr>
                </a:tc>
              </a:tr>
            </a:tbl>
          </a:graphicData>
        </a:graphic>
      </p:graphicFrame>
      <p:sp>
        <p:nvSpPr>
          <p:cNvPr id="4" name="gap card"/>
          <p:cNvSpPr/>
          <p:nvPr/>
        </p:nvSpPr>
        <p:spPr>
          <a:xfrm>
            <a:off x="8412480" y="1371600"/>
            <a:ext cx="3200400" cy="3401568"/>
          </a:xfrm>
          <a:prstGeom prst="roundRect">
            <a:avLst>
              <a:gd name="adj" fmla="val 2286"/>
            </a:avLst>
          </a:prstGeom>
          <a:solidFill>
            <a:schemeClr val="bg2"/>
          </a:solidFill>
          <a:ln w="12700">
            <a:solidFill>
              <a:schemeClr val="bg2"/>
            </a:solidFill>
            <a:prstDash val="solid"/>
          </a:ln>
        </p:spPr>
      </p:sp>
      <p:sp>
        <p:nvSpPr>
          <p:cNvPr id="5" name="Text 2"/>
          <p:cNvSpPr txBox="1"/>
          <p:nvPr/>
        </p:nvSpPr>
        <p:spPr>
          <a:xfrm>
            <a:off x="8641080" y="1554480"/>
            <a:ext cx="2743200" cy="457200"/>
          </a:xfrm>
          <a:prstGeom prst="rect">
            <a:avLst/>
          </a:prstGeom>
          <a:noFill/>
          <a:ln/>
        </p:spPr>
        <p:txBody>
          <a:bodyPr wrap="square" lIns="0" tIns="0" rIns="0" bIns="0" rtlCol="0" anchor="t"/>
          <a:lstStyle/>
          <a:p>
            <a:pPr marL="0" indent="0">
              <a:buNone/>
            </a:pPr>
            <a:r>
              <a:rPr lang="en-US" sz="2000" b="1" dirty="0">
                <a:solidFill>
                  <a:schemeClr val="tx2"/>
                </a:solidFill>
              </a:rPr>
              <a:t>The gap</a:t>
            </a:r>
            <a:endParaRPr lang="en-US" sz="2000" dirty="0"/>
          </a:p>
        </p:txBody>
      </p:sp>
      <p:sp>
        <p:nvSpPr>
          <p:cNvPr id="3" name="Text 3"/>
          <p:cNvSpPr txBox="1"/>
          <p:nvPr/>
        </p:nvSpPr>
        <p:spPr>
          <a:xfrm>
            <a:off x="8641080" y="2057400"/>
            <a:ext cx="2743200" cy="2560320"/>
          </a:xfrm>
          <a:prstGeom prst="rect">
            <a:avLst/>
          </a:prstGeom>
          <a:noFill/>
          <a:ln/>
        </p:spPr>
        <p:txBody>
          <a:bodyPr wrap="square" lIns="0" tIns="0" rIns="0" bIns="0" rtlCol="0" anchor="t"/>
          <a:lstStyle/>
          <a:p>
            <a:pPr marL="0" indent="0">
              <a:buNone/>
            </a:pPr>
            <a:r>
              <a:rPr lang="en-US" sz="1600" dirty="0">
                <a:solidFill>
                  <a:schemeClr val="tx1"/>
                </a:solidFill>
              </a:rPr>
              <a:t>No device combines Bangla, Taka and offline use. Counterfeit studies never check whether test notes are copies of prints seen in training.</a:t>
            </a:r>
            <a:endParaRPr lang="en-US" sz="1600" dirty="0"/>
          </a:p>
        </p:txBody>
      </p:sp>
      <p:sp>
        <p:nvSpPr>
          <p:cNvPr id="7" name="Text 4"/>
          <p:cNvSpPr txBox="1"/>
          <p:nvPr/>
        </p:nvSpPr>
        <p:spPr>
          <a:xfrm>
            <a:off x="548640" y="5074920"/>
            <a:ext cx="7498080" cy="457200"/>
          </a:xfrm>
          <a:prstGeom prst="rect">
            <a:avLst/>
          </a:prstGeom>
          <a:noFill/>
          <a:ln/>
        </p:spPr>
        <p:txBody>
          <a:bodyPr wrap="square" lIns="0" tIns="0" rIns="0" bIns="0" rtlCol="0" anchor="t"/>
          <a:lstStyle/>
          <a:p>
            <a:pPr marL="0" indent="0">
              <a:buNone/>
            </a:pPr>
            <a:r>
              <a:rPr lang="en-US" sz="1200" dirty="0">
                <a:solidFill>
                  <a:schemeClr val="accent5"/>
                </a:solidFill>
              </a:rPr>
              <a:t>Online: the online description mode needs the internet; the other four modes do not.</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spTree>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2"/>
                </a:solidFill>
              </a:rPr>
              <a:t>How the glass works</a:t>
            </a:r>
            <a:endParaRPr lang="en-US" sz="3200" dirty="0"/>
          </a:p>
        </p:txBody>
      </p:sp>
      <p:sp>
        <p:nvSpPr>
          <p:cNvPr id="3" name="camera circle"/>
          <p:cNvSpPr/>
          <p:nvPr/>
        </p:nvSpPr>
        <p:spPr>
          <a:xfrm>
            <a:off x="685800" y="1600200"/>
            <a:ext cx="777240" cy="777240"/>
          </a:xfrm>
          <a:prstGeom prst="ellipse">
            <a:avLst/>
          </a:prstGeom>
          <a:solidFill>
            <a:srgbClr val="3D8B7D"/>
          </a:solidFill>
          <a:ln w="12700">
            <a:solidFill>
              <a:srgbClr val="3D8B7D"/>
            </a:solidFill>
            <a:prstDash val="solid"/>
          </a:ln>
        </p:spPr>
      </p:sp>
      <p:pic>
        <p:nvPicPr>
          <p:cNvPr id="4" name="camera icon" descr="preencoded.png"/>
          <p:cNvPicPr>
            <a:picLocks noChangeAspect="1"/>
          </p:cNvPicPr>
          <p:nvPr/>
        </p:nvPicPr>
        <p:blipFill>
          <a:blip r:embed="rId3"/>
          <a:stretch>
            <a:fillRect/>
          </a:stretch>
        </p:blipFill>
        <p:spPr>
          <a:xfrm>
            <a:off x="856793" y="1771193"/>
            <a:ext cx="435254" cy="435254"/>
          </a:xfrm>
          <a:prstGeom prst="rect">
            <a:avLst/>
          </a:prstGeom>
        </p:spPr>
      </p:pic>
      <p:sp>
        <p:nvSpPr>
          <p:cNvPr id="5" name="Text 2"/>
          <p:cNvSpPr txBox="1"/>
          <p:nvPr/>
        </p:nvSpPr>
        <p:spPr>
          <a:xfrm>
            <a:off x="365760" y="2450592"/>
            <a:ext cx="1463040" cy="640080"/>
          </a:xfrm>
          <a:prstGeom prst="rect">
            <a:avLst/>
          </a:prstGeom>
          <a:noFill/>
          <a:ln/>
        </p:spPr>
        <p:txBody>
          <a:bodyPr wrap="square" lIns="0" tIns="0" rIns="0" bIns="0" rtlCol="0" anchor="t"/>
          <a:lstStyle/>
          <a:p>
            <a:pPr marL="0" indent="0" algn="ctr">
              <a:buNone/>
            </a:pPr>
            <a:r>
              <a:rPr lang="en-US" sz="1400" dirty="0">
                <a:solidFill>
                  <a:schemeClr val="tx1"/>
                </a:solidFill>
              </a:rPr>
              <a:t>Camera</a:t>
            </a:r>
            <a:endParaRPr lang="en-US" sz="1400" dirty="0"/>
          </a:p>
          <a:p>
            <a:pPr marL="0" indent="0" algn="ctr">
              <a:buNone/>
            </a:pPr>
            <a:r>
              <a:rPr lang="en-US" sz="1400" dirty="0">
                <a:solidFill>
                  <a:schemeClr val="tx1"/>
                </a:solidFill>
              </a:rPr>
              <a:t>640×480</a:t>
            </a:r>
            <a:endParaRPr lang="en-US" sz="1400" dirty="0"/>
          </a:p>
        </p:txBody>
      </p:sp>
      <p:sp>
        <p:nvSpPr>
          <p:cNvPr id="6" name="buttons circle"/>
          <p:cNvSpPr/>
          <p:nvPr/>
        </p:nvSpPr>
        <p:spPr>
          <a:xfrm>
            <a:off x="685800" y="3886200"/>
            <a:ext cx="777240" cy="777240"/>
          </a:xfrm>
          <a:prstGeom prst="ellipse">
            <a:avLst/>
          </a:prstGeom>
          <a:solidFill>
            <a:srgbClr val="3D8B7D"/>
          </a:solidFill>
          <a:ln w="12700">
            <a:solidFill>
              <a:srgbClr val="3D8B7D"/>
            </a:solidFill>
            <a:prstDash val="solid"/>
          </a:ln>
        </p:spPr>
      </p:sp>
      <p:pic>
        <p:nvPicPr>
          <p:cNvPr id="7" name="buttons icon" descr="preencoded.png"/>
          <p:cNvPicPr>
            <a:picLocks noChangeAspect="1"/>
          </p:cNvPicPr>
          <p:nvPr/>
        </p:nvPicPr>
        <p:blipFill>
          <a:blip r:embed="rId4"/>
          <a:stretch>
            <a:fillRect/>
          </a:stretch>
        </p:blipFill>
        <p:spPr>
          <a:xfrm>
            <a:off x="856793" y="4057193"/>
            <a:ext cx="435254" cy="435254"/>
          </a:xfrm>
          <a:prstGeom prst="rect">
            <a:avLst/>
          </a:prstGeom>
        </p:spPr>
      </p:pic>
      <p:sp>
        <p:nvSpPr>
          <p:cNvPr id="8" name="Text 4"/>
          <p:cNvSpPr txBox="1"/>
          <p:nvPr/>
        </p:nvSpPr>
        <p:spPr>
          <a:xfrm>
            <a:off x="365760" y="4736592"/>
            <a:ext cx="1463040" cy="365760"/>
          </a:xfrm>
          <a:prstGeom prst="rect">
            <a:avLst/>
          </a:prstGeom>
          <a:noFill/>
          <a:ln/>
        </p:spPr>
        <p:txBody>
          <a:bodyPr wrap="square" lIns="0" tIns="0" rIns="0" bIns="0" rtlCol="0" anchor="t"/>
          <a:lstStyle/>
          <a:p>
            <a:pPr marL="0" indent="0" algn="ctr">
              <a:buNone/>
            </a:pPr>
            <a:r>
              <a:rPr lang="en-US" sz="1400" dirty="0">
                <a:solidFill>
                  <a:schemeClr val="tx1"/>
                </a:solidFill>
              </a:rPr>
              <a:t>5 buttons</a:t>
            </a:r>
            <a:endParaRPr lang="en-US" sz="1400" dirty="0"/>
          </a:p>
        </p:txBody>
      </p:sp>
      <p:sp>
        <p:nvSpPr>
          <p:cNvPr id="9" name="pi box"/>
          <p:cNvSpPr/>
          <p:nvPr/>
        </p:nvSpPr>
        <p:spPr>
          <a:xfrm>
            <a:off x="2286000" y="2194560"/>
            <a:ext cx="2194560" cy="1828800"/>
          </a:xfrm>
          <a:prstGeom prst="roundRect">
            <a:avLst>
              <a:gd name="adj" fmla="val 4000"/>
            </a:avLst>
          </a:prstGeom>
          <a:solidFill>
            <a:srgbClr val="0B3D2E"/>
          </a:solidFill>
          <a:ln w="12700">
            <a:solidFill>
              <a:srgbClr val="0B3D2E"/>
            </a:solidFill>
            <a:prstDash val="solid"/>
          </a:ln>
        </p:spPr>
      </p:sp>
      <p:sp>
        <p:nvSpPr>
          <p:cNvPr id="10" name="Text 6"/>
          <p:cNvSpPr txBox="1"/>
          <p:nvPr/>
        </p:nvSpPr>
        <p:spPr>
          <a:xfrm>
            <a:off x="2286000" y="2194560"/>
            <a:ext cx="2194560" cy="1828800"/>
          </a:xfrm>
          <a:prstGeom prst="rect">
            <a:avLst/>
          </a:prstGeom>
          <a:noFill/>
          <a:ln/>
        </p:spPr>
        <p:txBody>
          <a:bodyPr wrap="square" lIns="50800" tIns="50800" rIns="50800" bIns="50800" rtlCol="0" anchor="ctr"/>
          <a:lstStyle/>
          <a:p>
            <a:pPr marL="0" indent="0" algn="ctr">
              <a:buNone/>
            </a:pPr>
            <a:r>
              <a:rPr lang="en-US" sz="1500" b="1" dirty="0">
                <a:solidFill>
                  <a:srgbClr val="FFFFFF"/>
                </a:solidFill>
              </a:rPr>
              <a:t>Raspberry Pi 5</a:t>
            </a:r>
            <a:endParaRPr lang="en-US" sz="1500" dirty="0"/>
          </a:p>
          <a:p>
            <a:pPr marL="0" indent="0" algn="ctr">
              <a:buNone/>
            </a:pPr>
            <a:r>
              <a:rPr lang="en-US" sz="1500" b="1" dirty="0">
                <a:solidFill>
                  <a:srgbClr val="FFFFFF"/>
                </a:solidFill>
              </a:rPr>
              <a:t>mode manager</a:t>
            </a:r>
            <a:endParaRPr lang="en-US" sz="1500" dirty="0"/>
          </a:p>
        </p:txBody>
      </p:sp>
      <p:sp>
        <p:nvSpPr>
          <p:cNvPr id="11" name="arrow camera"/>
          <p:cNvSpPr/>
          <p:nvPr/>
        </p:nvSpPr>
        <p:spPr>
          <a:xfrm>
            <a:off x="1645920" y="2011680"/>
            <a:ext cx="640080" cy="731520"/>
          </a:xfrm>
          <a:prstGeom prst="line">
            <a:avLst/>
          </a:prstGeom>
          <a:noFill/>
          <a:ln w="25400">
            <a:solidFill>
              <a:srgbClr val="6B7B76"/>
            </a:solidFill>
            <a:prstDash val="solid"/>
            <a:tailEnd type="triangle"/>
          </a:ln>
        </p:spPr>
      </p:sp>
      <p:sp>
        <p:nvSpPr>
          <p:cNvPr id="12" name="arrow buttons"/>
          <p:cNvSpPr/>
          <p:nvPr/>
        </p:nvSpPr>
        <p:spPr>
          <a:xfrm flipV="1">
            <a:off x="1645920" y="3474720"/>
            <a:ext cx="640080" cy="822960"/>
          </a:xfrm>
          <a:prstGeom prst="line">
            <a:avLst/>
          </a:prstGeom>
          <a:noFill/>
          <a:ln w="25400">
            <a:solidFill>
              <a:srgbClr val="6B7B76"/>
            </a:solidFill>
            <a:prstDash val="solid"/>
            <a:tailEnd type="triangle"/>
          </a:ln>
        </p:spPr>
      </p:sp>
      <p:sp>
        <p:nvSpPr>
          <p:cNvPr id="13" name="mode box 1"/>
          <p:cNvSpPr/>
          <p:nvPr/>
        </p:nvSpPr>
        <p:spPr>
          <a:xfrm>
            <a:off x="5120640" y="1325880"/>
            <a:ext cx="3566160" cy="685800"/>
          </a:xfrm>
          <a:prstGeom prst="roundRect">
            <a:avLst>
              <a:gd name="adj" fmla="val 10667"/>
            </a:avLst>
          </a:prstGeom>
          <a:solidFill>
            <a:srgbClr val="EAF4EF"/>
          </a:solidFill>
          <a:ln w="12700">
            <a:solidFill>
              <a:srgbClr val="EAF4EF"/>
            </a:solidFill>
            <a:prstDash val="solid"/>
          </a:ln>
        </p:spPr>
      </p:sp>
      <p:sp>
        <p:nvSpPr>
          <p:cNvPr id="14" name="Text 10"/>
          <p:cNvSpPr txBox="1"/>
          <p:nvPr/>
        </p:nvSpPr>
        <p:spPr>
          <a:xfrm>
            <a:off x="5120640" y="1325880"/>
            <a:ext cx="3566160" cy="685800"/>
          </a:xfrm>
          <a:prstGeom prst="rect">
            <a:avLst/>
          </a:prstGeom>
          <a:noFill/>
          <a:ln/>
        </p:spPr>
        <p:txBody>
          <a:bodyPr wrap="square" lIns="50800" tIns="50800" rIns="50800" bIns="50800" rtlCol="0" anchor="ctr"/>
          <a:lstStyle/>
          <a:p>
            <a:pPr marL="0" indent="0" algn="ctr">
              <a:buNone/>
            </a:pPr>
            <a:r>
              <a:rPr lang="en-US" sz="1500" b="1" dirty="0">
                <a:solidFill>
                  <a:srgbClr val="0B3D2E"/>
                </a:solidFill>
              </a:rPr>
              <a:t>Text: EasyOCR + main-block rule</a:t>
            </a:r>
            <a:endParaRPr lang="en-US" sz="1500" dirty="0"/>
          </a:p>
        </p:txBody>
      </p:sp>
      <p:sp>
        <p:nvSpPr>
          <p:cNvPr id="15" name="arrow mode 1"/>
          <p:cNvSpPr/>
          <p:nvPr/>
        </p:nvSpPr>
        <p:spPr>
          <a:xfrm flipV="1">
            <a:off x="4480560" y="1664208"/>
            <a:ext cx="640080" cy="1444752"/>
          </a:xfrm>
          <a:prstGeom prst="line">
            <a:avLst/>
          </a:prstGeom>
          <a:noFill/>
          <a:ln w="25400">
            <a:solidFill>
              <a:srgbClr val="6B7B76"/>
            </a:solidFill>
            <a:prstDash val="solid"/>
            <a:tailEnd type="triangle"/>
          </a:ln>
        </p:spPr>
      </p:sp>
      <p:sp>
        <p:nvSpPr>
          <p:cNvPr id="16" name="arrow out 1"/>
          <p:cNvSpPr/>
          <p:nvPr/>
        </p:nvSpPr>
        <p:spPr>
          <a:xfrm>
            <a:off x="8686800" y="1664208"/>
            <a:ext cx="685800" cy="1444752"/>
          </a:xfrm>
          <a:prstGeom prst="line">
            <a:avLst/>
          </a:prstGeom>
          <a:noFill/>
          <a:ln w="25400">
            <a:solidFill>
              <a:srgbClr val="6B7B76"/>
            </a:solidFill>
            <a:prstDash val="solid"/>
            <a:tailEnd type="triangle"/>
          </a:ln>
        </p:spPr>
      </p:sp>
      <p:sp>
        <p:nvSpPr>
          <p:cNvPr id="17" name="mode box 2"/>
          <p:cNvSpPr/>
          <p:nvPr/>
        </p:nvSpPr>
        <p:spPr>
          <a:xfrm>
            <a:off x="5120640" y="2194560"/>
            <a:ext cx="3566160" cy="685800"/>
          </a:xfrm>
          <a:prstGeom prst="roundRect">
            <a:avLst>
              <a:gd name="adj" fmla="val 10667"/>
            </a:avLst>
          </a:prstGeom>
          <a:solidFill>
            <a:srgbClr val="EAF4EF"/>
          </a:solidFill>
          <a:ln w="12700">
            <a:solidFill>
              <a:srgbClr val="EAF4EF"/>
            </a:solidFill>
            <a:prstDash val="solid"/>
          </a:ln>
        </p:spPr>
      </p:sp>
      <p:sp>
        <p:nvSpPr>
          <p:cNvPr id="18" name="Text 14"/>
          <p:cNvSpPr txBox="1"/>
          <p:nvPr/>
        </p:nvSpPr>
        <p:spPr>
          <a:xfrm>
            <a:off x="5120640" y="2194560"/>
            <a:ext cx="3566160" cy="685800"/>
          </a:xfrm>
          <a:prstGeom prst="rect">
            <a:avLst/>
          </a:prstGeom>
          <a:noFill/>
          <a:ln/>
        </p:spPr>
        <p:txBody>
          <a:bodyPr wrap="square" lIns="50800" tIns="50800" rIns="50800" bIns="50800" rtlCol="0" anchor="ctr"/>
          <a:lstStyle/>
          <a:p>
            <a:pPr marL="0" indent="0" algn="ctr">
              <a:buNone/>
            </a:pPr>
            <a:r>
              <a:rPr lang="en-US" sz="1500" b="1" dirty="0">
                <a:solidFill>
                  <a:srgbClr val="0B3D2E"/>
                </a:solidFill>
              </a:rPr>
              <a:t>Objects: YOLOv8</a:t>
            </a:r>
            <a:endParaRPr lang="en-US" sz="1500" dirty="0"/>
          </a:p>
        </p:txBody>
      </p:sp>
      <p:sp>
        <p:nvSpPr>
          <p:cNvPr id="19" name="arrow mode 2"/>
          <p:cNvSpPr/>
          <p:nvPr/>
        </p:nvSpPr>
        <p:spPr>
          <a:xfrm flipV="1">
            <a:off x="4480560" y="2532888"/>
            <a:ext cx="640080" cy="576072"/>
          </a:xfrm>
          <a:prstGeom prst="line">
            <a:avLst/>
          </a:prstGeom>
          <a:noFill/>
          <a:ln w="25400">
            <a:solidFill>
              <a:srgbClr val="6B7B76"/>
            </a:solidFill>
            <a:prstDash val="solid"/>
            <a:tailEnd type="triangle"/>
          </a:ln>
        </p:spPr>
      </p:sp>
      <p:sp>
        <p:nvSpPr>
          <p:cNvPr id="20" name="arrow out 2"/>
          <p:cNvSpPr/>
          <p:nvPr/>
        </p:nvSpPr>
        <p:spPr>
          <a:xfrm>
            <a:off x="8686800" y="2532888"/>
            <a:ext cx="685800" cy="576072"/>
          </a:xfrm>
          <a:prstGeom prst="line">
            <a:avLst/>
          </a:prstGeom>
          <a:noFill/>
          <a:ln w="25400">
            <a:solidFill>
              <a:srgbClr val="6B7B76"/>
            </a:solidFill>
            <a:prstDash val="solid"/>
            <a:tailEnd type="triangle"/>
          </a:ln>
        </p:spPr>
      </p:sp>
      <p:sp>
        <p:nvSpPr>
          <p:cNvPr id="21" name="mode box 3"/>
          <p:cNvSpPr/>
          <p:nvPr/>
        </p:nvSpPr>
        <p:spPr>
          <a:xfrm>
            <a:off x="5120640" y="3063240"/>
            <a:ext cx="3566160" cy="685800"/>
          </a:xfrm>
          <a:prstGeom prst="roundRect">
            <a:avLst>
              <a:gd name="adj" fmla="val 10667"/>
            </a:avLst>
          </a:prstGeom>
          <a:solidFill>
            <a:srgbClr val="EAF4EF"/>
          </a:solidFill>
          <a:ln w="12700">
            <a:solidFill>
              <a:srgbClr val="EAF4EF"/>
            </a:solidFill>
            <a:prstDash val="solid"/>
          </a:ln>
        </p:spPr>
      </p:sp>
      <p:sp>
        <p:nvSpPr>
          <p:cNvPr id="22" name="Text 18"/>
          <p:cNvSpPr txBox="1"/>
          <p:nvPr/>
        </p:nvSpPr>
        <p:spPr>
          <a:xfrm>
            <a:off x="5120640" y="3063240"/>
            <a:ext cx="3566160" cy="685800"/>
          </a:xfrm>
          <a:prstGeom prst="rect">
            <a:avLst/>
          </a:prstGeom>
          <a:noFill/>
          <a:ln/>
        </p:spPr>
        <p:txBody>
          <a:bodyPr wrap="square" lIns="50800" tIns="50800" rIns="50800" bIns="50800" rtlCol="0" anchor="ctr"/>
          <a:lstStyle/>
          <a:p>
            <a:pPr marL="0" indent="0" algn="ctr">
              <a:buNone/>
            </a:pPr>
            <a:r>
              <a:rPr lang="en-US" sz="1500" b="1" dirty="0">
                <a:solidFill>
                  <a:srgbClr val="0B3D2E"/>
                </a:solidFill>
              </a:rPr>
              <a:t>Currency: YOLOv8s + safe check</a:t>
            </a:r>
            <a:endParaRPr lang="en-US" sz="1500" dirty="0"/>
          </a:p>
        </p:txBody>
      </p:sp>
      <p:sp>
        <p:nvSpPr>
          <p:cNvPr id="23" name="arrow mode 3"/>
          <p:cNvSpPr/>
          <p:nvPr/>
        </p:nvSpPr>
        <p:spPr>
          <a:xfrm>
            <a:off x="4480560" y="3108960"/>
            <a:ext cx="640080" cy="292608"/>
          </a:xfrm>
          <a:prstGeom prst="line">
            <a:avLst/>
          </a:prstGeom>
          <a:noFill/>
          <a:ln w="25400">
            <a:solidFill>
              <a:srgbClr val="6B7B76"/>
            </a:solidFill>
            <a:prstDash val="solid"/>
            <a:tailEnd type="triangle"/>
          </a:ln>
        </p:spPr>
      </p:sp>
      <p:sp>
        <p:nvSpPr>
          <p:cNvPr id="24" name="arrow out 3"/>
          <p:cNvSpPr/>
          <p:nvPr/>
        </p:nvSpPr>
        <p:spPr>
          <a:xfrm flipV="1">
            <a:off x="8686800" y="3108960"/>
            <a:ext cx="685800" cy="292608"/>
          </a:xfrm>
          <a:prstGeom prst="line">
            <a:avLst/>
          </a:prstGeom>
          <a:noFill/>
          <a:ln w="25400">
            <a:solidFill>
              <a:srgbClr val="6B7B76"/>
            </a:solidFill>
            <a:prstDash val="solid"/>
            <a:tailEnd type="triangle"/>
          </a:ln>
        </p:spPr>
      </p:sp>
      <p:sp>
        <p:nvSpPr>
          <p:cNvPr id="25" name="mode box 4"/>
          <p:cNvSpPr/>
          <p:nvPr/>
        </p:nvSpPr>
        <p:spPr>
          <a:xfrm>
            <a:off x="5120640" y="3931920"/>
            <a:ext cx="3566160" cy="685800"/>
          </a:xfrm>
          <a:prstGeom prst="roundRect">
            <a:avLst>
              <a:gd name="adj" fmla="val 10667"/>
            </a:avLst>
          </a:prstGeom>
          <a:solidFill>
            <a:srgbClr val="EAF4EF"/>
          </a:solidFill>
          <a:ln w="12700">
            <a:solidFill>
              <a:srgbClr val="EAF4EF"/>
            </a:solidFill>
            <a:prstDash val="solid"/>
          </a:ln>
        </p:spPr>
      </p:sp>
      <p:sp>
        <p:nvSpPr>
          <p:cNvPr id="26" name="Text 22"/>
          <p:cNvSpPr txBox="1"/>
          <p:nvPr/>
        </p:nvSpPr>
        <p:spPr>
          <a:xfrm>
            <a:off x="5120640" y="3931920"/>
            <a:ext cx="3566160" cy="685800"/>
          </a:xfrm>
          <a:prstGeom prst="rect">
            <a:avLst/>
          </a:prstGeom>
          <a:noFill/>
          <a:ln/>
        </p:spPr>
        <p:txBody>
          <a:bodyPr wrap="square" lIns="50800" tIns="50800" rIns="50800" bIns="50800" rtlCol="0" anchor="ctr"/>
          <a:lstStyle/>
          <a:p>
            <a:pPr marL="0" indent="0" algn="ctr">
              <a:buNone/>
            </a:pPr>
            <a:r>
              <a:rPr lang="en-US" sz="1500" b="1" dirty="0">
                <a:solidFill>
                  <a:srgbClr val="0B3D2E"/>
                </a:solidFill>
              </a:rPr>
              <a:t>Emotion: YuNet + EfficientNet</a:t>
            </a:r>
            <a:endParaRPr lang="en-US" sz="1500" dirty="0"/>
          </a:p>
        </p:txBody>
      </p:sp>
      <p:sp>
        <p:nvSpPr>
          <p:cNvPr id="27" name="arrow mode 4"/>
          <p:cNvSpPr/>
          <p:nvPr/>
        </p:nvSpPr>
        <p:spPr>
          <a:xfrm>
            <a:off x="4480560" y="3108960"/>
            <a:ext cx="640080" cy="1161288"/>
          </a:xfrm>
          <a:prstGeom prst="line">
            <a:avLst/>
          </a:prstGeom>
          <a:noFill/>
          <a:ln w="25400">
            <a:solidFill>
              <a:srgbClr val="6B7B76"/>
            </a:solidFill>
            <a:prstDash val="solid"/>
            <a:tailEnd type="triangle"/>
          </a:ln>
        </p:spPr>
      </p:sp>
      <p:sp>
        <p:nvSpPr>
          <p:cNvPr id="28" name="arrow out 4"/>
          <p:cNvSpPr/>
          <p:nvPr/>
        </p:nvSpPr>
        <p:spPr>
          <a:xfrm flipV="1">
            <a:off x="8686800" y="3108960"/>
            <a:ext cx="685800" cy="1161288"/>
          </a:xfrm>
          <a:prstGeom prst="line">
            <a:avLst/>
          </a:prstGeom>
          <a:noFill/>
          <a:ln w="25400">
            <a:solidFill>
              <a:srgbClr val="6B7B76"/>
            </a:solidFill>
            <a:prstDash val="solid"/>
            <a:tailEnd type="triangle"/>
          </a:ln>
        </p:spPr>
      </p:sp>
      <p:sp>
        <p:nvSpPr>
          <p:cNvPr id="29" name="mode box 5"/>
          <p:cNvSpPr/>
          <p:nvPr/>
        </p:nvSpPr>
        <p:spPr>
          <a:xfrm>
            <a:off x="5120640" y="4800600"/>
            <a:ext cx="3566160" cy="685800"/>
          </a:xfrm>
          <a:prstGeom prst="roundRect">
            <a:avLst>
              <a:gd name="adj" fmla="val 10667"/>
            </a:avLst>
          </a:prstGeom>
          <a:solidFill>
            <a:srgbClr val="E6E9E8"/>
          </a:solidFill>
          <a:ln w="12700">
            <a:solidFill>
              <a:srgbClr val="E6E9E8"/>
            </a:solidFill>
            <a:prstDash val="solid"/>
          </a:ln>
        </p:spPr>
      </p:sp>
      <p:sp>
        <p:nvSpPr>
          <p:cNvPr id="30" name="Text 26"/>
          <p:cNvSpPr txBox="1"/>
          <p:nvPr/>
        </p:nvSpPr>
        <p:spPr>
          <a:xfrm>
            <a:off x="5120640" y="4800600"/>
            <a:ext cx="3566160" cy="685800"/>
          </a:xfrm>
          <a:prstGeom prst="rect">
            <a:avLst/>
          </a:prstGeom>
          <a:noFill/>
          <a:ln/>
        </p:spPr>
        <p:txBody>
          <a:bodyPr wrap="square" lIns="50800" tIns="50800" rIns="50800" bIns="50800" rtlCol="0" anchor="ctr"/>
          <a:lstStyle/>
          <a:p>
            <a:pPr marL="0" indent="0" algn="ctr">
              <a:buNone/>
            </a:pPr>
            <a:r>
              <a:rPr lang="en-US" sz="1500" b="1" dirty="0">
                <a:solidFill>
                  <a:srgbClr val="0B3D2E"/>
                </a:solidFill>
              </a:rPr>
              <a:t>Online: vision model (optional)</a:t>
            </a:r>
            <a:endParaRPr lang="en-US" sz="1500" dirty="0"/>
          </a:p>
        </p:txBody>
      </p:sp>
      <p:sp>
        <p:nvSpPr>
          <p:cNvPr id="31" name="arrow mode 5"/>
          <p:cNvSpPr/>
          <p:nvPr/>
        </p:nvSpPr>
        <p:spPr>
          <a:xfrm>
            <a:off x="4480560" y="3108960"/>
            <a:ext cx="640080" cy="2029968"/>
          </a:xfrm>
          <a:prstGeom prst="line">
            <a:avLst/>
          </a:prstGeom>
          <a:noFill/>
          <a:ln w="25400">
            <a:solidFill>
              <a:srgbClr val="6B7B76"/>
            </a:solidFill>
            <a:prstDash val="solid"/>
            <a:tailEnd type="triangle"/>
          </a:ln>
        </p:spPr>
      </p:sp>
      <p:sp>
        <p:nvSpPr>
          <p:cNvPr id="32" name="arrow out 5"/>
          <p:cNvSpPr/>
          <p:nvPr/>
        </p:nvSpPr>
        <p:spPr>
          <a:xfrm flipV="1">
            <a:off x="8686800" y="3108960"/>
            <a:ext cx="685800" cy="2029968"/>
          </a:xfrm>
          <a:prstGeom prst="line">
            <a:avLst/>
          </a:prstGeom>
          <a:noFill/>
          <a:ln w="25400">
            <a:solidFill>
              <a:srgbClr val="6B7B76"/>
            </a:solidFill>
            <a:prstDash val="solid"/>
            <a:tailEnd type="triangle"/>
          </a:ln>
        </p:spPr>
      </p:sp>
      <p:sp>
        <p:nvSpPr>
          <p:cNvPr id="33" name="speech circle"/>
          <p:cNvSpPr/>
          <p:nvPr/>
        </p:nvSpPr>
        <p:spPr>
          <a:xfrm>
            <a:off x="9509760" y="2423160"/>
            <a:ext cx="914400" cy="914400"/>
          </a:xfrm>
          <a:prstGeom prst="ellipse">
            <a:avLst/>
          </a:prstGeom>
          <a:solidFill>
            <a:srgbClr val="0B6E4F"/>
          </a:solidFill>
          <a:ln w="12700">
            <a:solidFill>
              <a:srgbClr val="0B6E4F"/>
            </a:solidFill>
            <a:prstDash val="solid"/>
          </a:ln>
        </p:spPr>
      </p:sp>
      <p:pic>
        <p:nvPicPr>
          <p:cNvPr id="34" name="speech icon" descr="preencoded.png"/>
          <p:cNvPicPr>
            <a:picLocks noChangeAspect="1"/>
          </p:cNvPicPr>
          <p:nvPr/>
        </p:nvPicPr>
        <p:blipFill>
          <a:blip r:embed="rId5"/>
          <a:stretch>
            <a:fillRect/>
          </a:stretch>
        </p:blipFill>
        <p:spPr>
          <a:xfrm>
            <a:off x="9710928" y="2624328"/>
            <a:ext cx="512064" cy="512064"/>
          </a:xfrm>
          <a:prstGeom prst="rect">
            <a:avLst/>
          </a:prstGeom>
        </p:spPr>
      </p:pic>
      <p:sp>
        <p:nvSpPr>
          <p:cNvPr id="35" name="Text 30"/>
          <p:cNvSpPr txBox="1"/>
          <p:nvPr/>
        </p:nvSpPr>
        <p:spPr>
          <a:xfrm>
            <a:off x="9144000" y="3429000"/>
            <a:ext cx="2560320" cy="731520"/>
          </a:xfrm>
          <a:prstGeom prst="rect">
            <a:avLst/>
          </a:prstGeom>
          <a:noFill/>
          <a:ln/>
        </p:spPr>
        <p:txBody>
          <a:bodyPr wrap="square" lIns="0" tIns="0" rIns="0" bIns="0" rtlCol="0" anchor="t"/>
          <a:lstStyle/>
          <a:p>
            <a:pPr marL="0" indent="0" algn="ctr">
              <a:buNone/>
            </a:pPr>
            <a:r>
              <a:rPr lang="en-US" sz="1500" b="1" dirty="0">
                <a:solidFill>
                  <a:schemeClr val="tx2"/>
                </a:solidFill>
              </a:rPr>
              <a:t>Bangla / English speech</a:t>
            </a:r>
            <a:endParaRPr lang="en-US" sz="1500" dirty="0"/>
          </a:p>
          <a:p>
            <a:pPr marL="0" indent="0" algn="ctr">
              <a:buNone/>
            </a:pPr>
            <a:r>
              <a:rPr lang="en-US" sz="1500" b="1" dirty="0">
                <a:solidFill>
                  <a:schemeClr val="tx2"/>
                </a:solidFill>
              </a:rPr>
              <a:t>+ vibration</a:t>
            </a:r>
            <a:endParaRPr lang="en-US" sz="1500" dirty="0"/>
          </a:p>
        </p:txBody>
      </p:sp>
      <p:sp>
        <p:nvSpPr>
          <p:cNvPr id="36" name="Text 31"/>
          <p:cNvSpPr txBox="1"/>
          <p:nvPr/>
        </p:nvSpPr>
        <p:spPr>
          <a:xfrm>
            <a:off x="548640" y="5806440"/>
            <a:ext cx="11064240" cy="365760"/>
          </a:xfrm>
          <a:prstGeom prst="rect">
            <a:avLst/>
          </a:prstGeom>
          <a:noFill/>
          <a:ln/>
        </p:spPr>
        <p:txBody>
          <a:bodyPr wrap="square" lIns="0" tIns="0" rIns="0" bIns="0" rtlCol="0" anchor="t"/>
          <a:lstStyle/>
          <a:p>
            <a:pPr marL="0" indent="0">
              <a:buNone/>
            </a:pPr>
            <a:r>
              <a:rPr lang="en-US" sz="1400" dirty="0">
                <a:solidFill>
                  <a:schemeClr val="accent5"/>
                </a:solidFill>
              </a:rPr>
              <a:t>All models run on the Pi's CPU. Every event is written to a small CSV field log for later study.</a:t>
            </a:r>
            <a:endParaRPr lang="en-US" sz="1400" dirty="0"/>
          </a:p>
        </p:txBody>
      </p:sp>
      <p:sp>
        <p:nvSpPr>
          <p:cNvPr id="37"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2"/>
                </a:solidFill>
              </a:rPr>
              <a:t>From design to a first prototype</a:t>
            </a:r>
            <a:endParaRPr lang="en-US" sz="3200" dirty="0"/>
          </a:p>
        </p:txBody>
      </p:sp>
      <p:pic>
        <p:nvPicPr>
          <p:cNvPr id="3" name="Prototype side" descr="E:/Final SP/Thesis Report and paper/thesis report/My report/DIagram fig tab/proto_side.jpg"/>
          <p:cNvPicPr>
            <a:picLocks noChangeAspect="1"/>
          </p:cNvPicPr>
          <p:nvPr/>
        </p:nvPicPr>
        <p:blipFill>
          <a:blip r:embed="rId3"/>
          <a:srcRect/>
          <a:stretch/>
        </p:blipFill>
        <p:spPr>
          <a:xfrm>
            <a:off x="548640" y="1325880"/>
            <a:ext cx="2743200" cy="3566160"/>
          </a:xfrm>
          <a:prstGeom prst="rect">
            <a:avLst/>
          </a:prstGeom>
        </p:spPr>
      </p:pic>
      <p:pic>
        <p:nvPicPr>
          <p:cNvPr id="4" name="Prototype top" descr="E:/Final SP/Thesis Report and paper/thesis report/My report/DIagram fig tab/proto_top.jpg"/>
          <p:cNvPicPr>
            <a:picLocks noChangeAspect="1"/>
          </p:cNvPicPr>
          <p:nvPr/>
        </p:nvPicPr>
        <p:blipFill>
          <a:blip r:embed="rId4"/>
          <a:srcRect/>
          <a:stretch/>
        </p:blipFill>
        <p:spPr>
          <a:xfrm>
            <a:off x="3474720" y="1325880"/>
            <a:ext cx="2743200" cy="3566160"/>
          </a:xfrm>
          <a:prstGeom prst="rect">
            <a:avLst/>
          </a:prstGeom>
        </p:spPr>
      </p:pic>
      <p:pic>
        <p:nvPicPr>
          <p:cNvPr id="5" name="Prototype worn with note" descr="E:/Final SP/Thesis Report and paper/thesis report/My report/DIagram fig tab/worn_100.jpg"/>
          <p:cNvPicPr>
            <a:picLocks noChangeAspect="1"/>
          </p:cNvPicPr>
          <p:nvPr/>
        </p:nvPicPr>
        <p:blipFill>
          <a:blip r:embed="rId5"/>
          <a:srcRect/>
          <a:stretch/>
        </p:blipFill>
        <p:spPr>
          <a:xfrm>
            <a:off x="6400800" y="1325880"/>
            <a:ext cx="2743200" cy="3566160"/>
          </a:xfrm>
          <a:prstGeom prst="rect">
            <a:avLst/>
          </a:prstGeom>
        </p:spPr>
      </p:pic>
      <p:sp>
        <p:nvSpPr>
          <p:cNvPr id="6" name="Text 1"/>
          <p:cNvSpPr txBox="1"/>
          <p:nvPr/>
        </p:nvSpPr>
        <p:spPr>
          <a:xfrm>
            <a:off x="9418320" y="1371600"/>
            <a:ext cx="2286000" cy="35661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Camera above the bridge of a 3D-printed frame</a:t>
            </a:r>
            <a:endParaRPr lang="en-US" sz="1500" dirty="0"/>
          </a:p>
          <a:p>
            <a:pPr marL="342900" indent="-342900">
              <a:spcAft>
                <a:spcPts val="1000"/>
              </a:spcAft>
              <a:buSzPct val="100000"/>
              <a:buChar char="•"/>
            </a:pPr>
            <a:r>
              <a:rPr lang="en-US" sz="1500" dirty="0">
                <a:solidFill>
                  <a:schemeClr val="tx1"/>
                </a:solidFill>
              </a:rPr>
              <a:t>Raspberry Pi 5 with fan tied to the right temple</a:t>
            </a:r>
            <a:endParaRPr lang="en-US" sz="1500" dirty="0"/>
          </a:p>
          <a:p>
            <a:pPr marL="342900" indent="-342900">
              <a:spcAft>
                <a:spcPts val="1000"/>
              </a:spcAft>
              <a:buSzPct val="100000"/>
              <a:buChar char="•"/>
            </a:pPr>
            <a:r>
              <a:rPr lang="en-US" sz="1500" dirty="0">
                <a:solidFill>
                  <a:schemeClr val="tx1"/>
                </a:solidFill>
              </a:rPr>
              <a:t>Ribbon cable loops from camera to board</a:t>
            </a:r>
            <a:endParaRPr lang="en-US" sz="1500" dirty="0"/>
          </a:p>
          <a:p>
            <a:pPr marL="342900" indent="-342900">
              <a:spcAft>
                <a:spcPts val="1000"/>
              </a:spcAft>
              <a:buSzPct val="100000"/>
              <a:buChar char="•"/>
            </a:pPr>
            <a:r>
              <a:rPr lang="en-US" sz="1500" dirty="0">
                <a:solidFill>
                  <a:schemeClr val="tx1"/>
                </a:solidFill>
              </a:rPr>
              <a:t>Next: board, buttons and battery in a pocket enclosure</a:t>
            </a:r>
            <a:endParaRPr lang="en-US" sz="1500" dirty="0"/>
          </a:p>
        </p:txBody>
      </p:sp>
      <p:sp>
        <p:nvSpPr>
          <p:cNvPr id="7" name="Text 2"/>
          <p:cNvSpPr txBox="1"/>
          <p:nvPr/>
        </p:nvSpPr>
        <p:spPr>
          <a:xfrm>
            <a:off x="548640" y="5120640"/>
            <a:ext cx="8595360" cy="731520"/>
          </a:xfrm>
          <a:prstGeom prst="rect">
            <a:avLst/>
          </a:prstGeom>
          <a:noFill/>
          <a:ln/>
        </p:spPr>
        <p:txBody>
          <a:bodyPr wrap="square" lIns="0" tIns="0" rIns="0" bIns="0" rtlCol="0" anchor="t"/>
          <a:lstStyle/>
          <a:p>
            <a:pPr marL="0" indent="0">
              <a:buNone/>
            </a:pPr>
            <a:r>
              <a:rPr lang="en-US" sz="1500" i="1" dirty="0">
                <a:solidFill>
                  <a:schemeClr val="accent1"/>
                </a:solidFill>
              </a:rPr>
              <a:t>The first prototype is heavy on one side and the fan sits by the ear. It is enough to test the software on a person.</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spTree>
  </p:cSld>
  <p:clrMapOvr>
    <a:masterClrMapping/>
  </p:clrMapOvr>
  <p:transition spd="slow">
    <p:randomBar dir="vert"/>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2"/>
                </a:solidFill>
              </a:rPr>
              <a:t>Taka detection: 22,333 training images, no hand labels</a:t>
            </a:r>
            <a:endParaRPr lang="en-US" sz="3200" dirty="0"/>
          </a:p>
        </p:txBody>
      </p:sp>
      <p:pic>
        <p:nvPicPr>
          <p:cNvPr id="3" name="Compositing pipeline" descr="E:/Final SP/Thesis Report and paper/thesis report/My report/DIagram fig tab/fig_compositing.jpg"/>
          <p:cNvPicPr>
            <a:picLocks noChangeAspect="1"/>
          </p:cNvPicPr>
          <p:nvPr/>
        </p:nvPicPr>
        <p:blipFill>
          <a:blip r:embed="rId3"/>
          <a:stretch>
            <a:fillRect/>
          </a:stretch>
        </p:blipFill>
        <p:spPr>
          <a:xfrm>
            <a:off x="548640" y="1371600"/>
            <a:ext cx="6949440" cy="2024024"/>
          </a:xfrm>
          <a:prstGeom prst="rect">
            <a:avLst/>
          </a:prstGeom>
        </p:spPr>
      </p:pic>
      <p:sp>
        <p:nvSpPr>
          <p:cNvPr id="4" name="Text 1"/>
          <p:cNvSpPr txBox="1"/>
          <p:nvPr/>
        </p:nvSpPr>
        <p:spPr>
          <a:xfrm>
            <a:off x="548640" y="3566160"/>
            <a:ext cx="6949440" cy="1097280"/>
          </a:xfrm>
          <a:prstGeom prst="rect">
            <a:avLst/>
          </a:prstGeom>
          <a:noFill/>
          <a:ln/>
        </p:spPr>
        <p:txBody>
          <a:bodyPr wrap="square" lIns="0" tIns="0" rIns="0" bIns="0" rtlCol="0" anchor="t"/>
          <a:lstStyle/>
          <a:p>
            <a:pPr marL="0" indent="0">
              <a:buNone/>
            </a:pPr>
            <a:r>
              <a:rPr lang="en-US" sz="1600" dirty="0">
                <a:solidFill>
                  <a:schemeClr val="tx1"/>
                </a:solidFill>
              </a:rPr>
              <a:t>5,073 note photos are pasted onto real COCO pictures with random angle, scale, light and blur. The program writes the box labels itself.</a:t>
            </a:r>
            <a:endParaRPr lang="en-US" sz="1600" dirty="0"/>
          </a:p>
        </p:txBody>
      </p:sp>
      <p:sp>
        <p:nvSpPr>
          <p:cNvPr id="5" name="stat card 1"/>
          <p:cNvSpPr/>
          <p:nvPr/>
        </p:nvSpPr>
        <p:spPr>
          <a:xfrm>
            <a:off x="7955280" y="1325880"/>
            <a:ext cx="3657600" cy="1417320"/>
          </a:xfrm>
          <a:prstGeom prst="roundRect">
            <a:avLst>
              <a:gd name="adj" fmla="val 5161"/>
            </a:avLst>
          </a:prstGeom>
          <a:solidFill>
            <a:schemeClr val="bg2"/>
          </a:solidFill>
          <a:ln w="12700">
            <a:solidFill>
              <a:schemeClr val="bg2"/>
            </a:solidFill>
            <a:prstDash val="solid"/>
          </a:ln>
        </p:spPr>
      </p:sp>
      <p:sp>
        <p:nvSpPr>
          <p:cNvPr id="6" name="Text 3"/>
          <p:cNvSpPr txBox="1"/>
          <p:nvPr/>
        </p:nvSpPr>
        <p:spPr>
          <a:xfrm>
            <a:off x="8138160" y="1417320"/>
            <a:ext cx="3291840" cy="731520"/>
          </a:xfrm>
          <a:prstGeom prst="rect">
            <a:avLst/>
          </a:prstGeom>
          <a:noFill/>
          <a:ln/>
        </p:spPr>
        <p:txBody>
          <a:bodyPr wrap="square" lIns="0" tIns="0" rIns="0" bIns="0" rtlCol="0" anchor="ctr"/>
          <a:lstStyle/>
          <a:p>
            <a:pPr marL="0" indent="0">
              <a:buNone/>
            </a:pPr>
            <a:r>
              <a:rPr lang="en-US" sz="4000" b="1" dirty="0">
                <a:solidFill>
                  <a:srgbClr val="0B6E4F"/>
                </a:solidFill>
                <a:latin typeface="Cambria" pitchFamily="34" charset="0"/>
                <a:ea typeface="Cambria" pitchFamily="34" charset="-122"/>
                <a:cs typeface="Cambria" pitchFamily="34" charset="-120"/>
              </a:rPr>
              <a:t>0.995</a:t>
            </a:r>
            <a:endParaRPr lang="en-US" sz="4000" dirty="0"/>
          </a:p>
        </p:txBody>
      </p:sp>
      <p:sp>
        <p:nvSpPr>
          <p:cNvPr id="7" name="Text 4"/>
          <p:cNvSpPr txBox="1"/>
          <p:nvPr/>
        </p:nvSpPr>
        <p:spPr>
          <a:xfrm>
            <a:off x="8138160" y="2148840"/>
            <a:ext cx="3291840" cy="502920"/>
          </a:xfrm>
          <a:prstGeom prst="rect">
            <a:avLst/>
          </a:prstGeom>
          <a:noFill/>
          <a:ln/>
        </p:spPr>
        <p:txBody>
          <a:bodyPr wrap="square" lIns="0" tIns="0" rIns="0" bIns="0" rtlCol="0" anchor="t"/>
          <a:lstStyle/>
          <a:p>
            <a:pPr marL="0" indent="0">
              <a:buNone/>
            </a:pPr>
            <a:r>
              <a:rPr lang="en-US" sz="1400" dirty="0">
                <a:solidFill>
                  <a:schemeClr val="tx1"/>
                </a:solidFill>
              </a:rPr>
              <a:t>mAP@0.5 on 2,282 held-out composites</a:t>
            </a:r>
            <a:endParaRPr lang="en-US" sz="1400" dirty="0"/>
          </a:p>
        </p:txBody>
      </p:sp>
      <p:sp>
        <p:nvSpPr>
          <p:cNvPr id="8" name="stat card 2"/>
          <p:cNvSpPr/>
          <p:nvPr/>
        </p:nvSpPr>
        <p:spPr>
          <a:xfrm>
            <a:off x="7955280" y="2926080"/>
            <a:ext cx="3657600" cy="1417320"/>
          </a:xfrm>
          <a:prstGeom prst="roundRect">
            <a:avLst>
              <a:gd name="adj" fmla="val 5161"/>
            </a:avLst>
          </a:prstGeom>
          <a:solidFill>
            <a:schemeClr val="bg2"/>
          </a:solidFill>
          <a:ln w="12700">
            <a:solidFill>
              <a:schemeClr val="bg2"/>
            </a:solidFill>
            <a:prstDash val="solid"/>
          </a:ln>
        </p:spPr>
      </p:sp>
      <p:sp>
        <p:nvSpPr>
          <p:cNvPr id="9" name="Text 6"/>
          <p:cNvSpPr txBox="1"/>
          <p:nvPr/>
        </p:nvSpPr>
        <p:spPr>
          <a:xfrm>
            <a:off x="8138160" y="3017520"/>
            <a:ext cx="3291840" cy="731520"/>
          </a:xfrm>
          <a:prstGeom prst="rect">
            <a:avLst/>
          </a:prstGeom>
          <a:noFill/>
          <a:ln/>
        </p:spPr>
        <p:txBody>
          <a:bodyPr wrap="square" lIns="0" tIns="0" rIns="0" bIns="0" rtlCol="0" anchor="ctr"/>
          <a:lstStyle/>
          <a:p>
            <a:pPr marL="0" indent="0">
              <a:buNone/>
            </a:pPr>
            <a:r>
              <a:rPr lang="en-US" sz="4000" b="1" dirty="0">
                <a:solidFill>
                  <a:srgbClr val="0B6E4F"/>
                </a:solidFill>
                <a:latin typeface="Cambria" pitchFamily="34" charset="0"/>
                <a:ea typeface="Cambria" pitchFamily="34" charset="-122"/>
                <a:cs typeface="Cambria" pitchFamily="34" charset="-120"/>
              </a:rPr>
              <a:t>91.5%</a:t>
            </a:r>
            <a:endParaRPr lang="en-US" sz="4000" dirty="0"/>
          </a:p>
        </p:txBody>
      </p:sp>
      <p:sp>
        <p:nvSpPr>
          <p:cNvPr id="10" name="Text 7"/>
          <p:cNvSpPr txBox="1"/>
          <p:nvPr/>
        </p:nvSpPr>
        <p:spPr>
          <a:xfrm>
            <a:off x="8138160" y="3749040"/>
            <a:ext cx="3291840" cy="502920"/>
          </a:xfrm>
          <a:prstGeom prst="rect">
            <a:avLst/>
          </a:prstGeom>
          <a:noFill/>
          <a:ln/>
        </p:spPr>
        <p:txBody>
          <a:bodyPr wrap="square" lIns="0" tIns="0" rIns="0" bIns="0" rtlCol="0" anchor="t"/>
          <a:lstStyle/>
          <a:p>
            <a:pPr marL="0" indent="0">
              <a:buNone/>
            </a:pPr>
            <a:r>
              <a:rPr lang="en-US" sz="1400" dirty="0">
                <a:solidFill>
                  <a:schemeClr val="tx1"/>
                </a:solidFill>
              </a:rPr>
              <a:t>correct on 1,536 photos taken by others</a:t>
            </a:r>
            <a:endParaRPr lang="en-US" sz="1400" dirty="0"/>
          </a:p>
        </p:txBody>
      </p:sp>
      <p:sp>
        <p:nvSpPr>
          <p:cNvPr id="11" name="stat card 3"/>
          <p:cNvSpPr/>
          <p:nvPr/>
        </p:nvSpPr>
        <p:spPr>
          <a:xfrm>
            <a:off x="7955280" y="4526280"/>
            <a:ext cx="3657600" cy="1417320"/>
          </a:xfrm>
          <a:prstGeom prst="roundRect">
            <a:avLst>
              <a:gd name="adj" fmla="val 5161"/>
            </a:avLst>
          </a:prstGeom>
          <a:solidFill>
            <a:schemeClr val="bg2"/>
          </a:solidFill>
          <a:ln w="12700">
            <a:solidFill>
              <a:schemeClr val="bg2"/>
            </a:solidFill>
            <a:prstDash val="solid"/>
          </a:ln>
        </p:spPr>
      </p:sp>
      <p:sp>
        <p:nvSpPr>
          <p:cNvPr id="12" name="Text 9"/>
          <p:cNvSpPr txBox="1"/>
          <p:nvPr/>
        </p:nvSpPr>
        <p:spPr>
          <a:xfrm>
            <a:off x="8138160" y="4617720"/>
            <a:ext cx="3291840" cy="731520"/>
          </a:xfrm>
          <a:prstGeom prst="rect">
            <a:avLst/>
          </a:prstGeom>
          <a:noFill/>
          <a:ln/>
        </p:spPr>
        <p:txBody>
          <a:bodyPr wrap="square" lIns="0" tIns="0" rIns="0" bIns="0" rtlCol="0" anchor="ctr"/>
          <a:lstStyle/>
          <a:p>
            <a:pPr marL="0" indent="0">
              <a:buNone/>
            </a:pPr>
            <a:r>
              <a:rPr lang="en-US" sz="4000" b="1" dirty="0">
                <a:solidFill>
                  <a:srgbClr val="0B6E4F"/>
                </a:solidFill>
                <a:latin typeface="Cambria" pitchFamily="34" charset="0"/>
                <a:ea typeface="Cambria" pitchFamily="34" charset="-122"/>
                <a:cs typeface="Cambria" pitchFamily="34" charset="-120"/>
              </a:rPr>
              <a:t>0.992</a:t>
            </a:r>
            <a:endParaRPr lang="en-US" sz="4000" dirty="0"/>
          </a:p>
        </p:txBody>
      </p:sp>
      <p:sp>
        <p:nvSpPr>
          <p:cNvPr id="13" name="Text 10"/>
          <p:cNvSpPr txBox="1"/>
          <p:nvPr/>
        </p:nvSpPr>
        <p:spPr>
          <a:xfrm>
            <a:off x="8138160" y="5349240"/>
            <a:ext cx="3291840" cy="502920"/>
          </a:xfrm>
          <a:prstGeom prst="rect">
            <a:avLst/>
          </a:prstGeom>
          <a:noFill/>
          <a:ln/>
        </p:spPr>
        <p:txBody>
          <a:bodyPr wrap="square" lIns="0" tIns="0" rIns="0" bIns="0" rtlCol="0" anchor="t"/>
          <a:lstStyle/>
          <a:p>
            <a:pPr marL="0" indent="0">
              <a:buNone/>
            </a:pPr>
            <a:r>
              <a:rPr lang="en-US" sz="1400" dirty="0">
                <a:solidFill>
                  <a:schemeClr val="tx1"/>
                </a:solidFill>
              </a:rPr>
              <a:t>mAP@0.5 on 566 pictures with new backgrounds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spTree>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2"/>
                </a:solidFill>
              </a:rPr>
              <a:t>Live test with real notes</a:t>
            </a:r>
            <a:endParaRPr lang="en-US" sz="3200" dirty="0"/>
          </a:p>
        </p:txBody>
      </p:sp>
      <p:pic>
        <p:nvPicPr>
          <p:cNvPr id="3" name="Live live_50.jpg" descr="E:/Final SP/Thesis Report and paper/thesis report/My report/DIagram fig tab/live_50.jpg"/>
          <p:cNvPicPr>
            <a:picLocks noChangeAspect="1"/>
          </p:cNvPicPr>
          <p:nvPr/>
        </p:nvPicPr>
        <p:blipFill>
          <a:blip r:embed="rId3"/>
          <a:srcRect/>
          <a:stretch/>
        </p:blipFill>
        <p:spPr>
          <a:xfrm>
            <a:off x="548640" y="1325880"/>
            <a:ext cx="2468880" cy="2240280"/>
          </a:xfrm>
          <a:prstGeom prst="rect">
            <a:avLst/>
          </a:prstGeom>
        </p:spPr>
      </p:pic>
      <p:pic>
        <p:nvPicPr>
          <p:cNvPr id="4" name="Live live_200.jpg" descr="E:/Final SP/Thesis Report and paper/thesis report/My report/DIagram fig tab/live_200.jpg"/>
          <p:cNvPicPr>
            <a:picLocks noChangeAspect="1"/>
          </p:cNvPicPr>
          <p:nvPr/>
        </p:nvPicPr>
        <p:blipFill>
          <a:blip r:embed="rId4"/>
          <a:srcRect/>
          <a:stretch/>
        </p:blipFill>
        <p:spPr>
          <a:xfrm>
            <a:off x="3154680" y="1325880"/>
            <a:ext cx="2468880" cy="2240280"/>
          </a:xfrm>
          <a:prstGeom prst="rect">
            <a:avLst/>
          </a:prstGeom>
        </p:spPr>
      </p:pic>
      <p:pic>
        <p:nvPicPr>
          <p:cNvPr id="5" name="Live live_100.jpg" descr="E:/Final SP/Thesis Report and paper/thesis report/My report/DIagram fig tab/live_100.jpg"/>
          <p:cNvPicPr>
            <a:picLocks noChangeAspect="1"/>
          </p:cNvPicPr>
          <p:nvPr/>
        </p:nvPicPr>
        <p:blipFill>
          <a:blip r:embed="rId5"/>
          <a:srcRect/>
          <a:stretch/>
        </p:blipFill>
        <p:spPr>
          <a:xfrm>
            <a:off x="5760720" y="1325880"/>
            <a:ext cx="2468880" cy="2240280"/>
          </a:xfrm>
          <a:prstGeom prst="rect">
            <a:avLst/>
          </a:prstGeom>
        </p:spPr>
      </p:pic>
      <p:pic>
        <p:nvPicPr>
          <p:cNvPr id="6" name="Live live_10.jpg" descr="E:/Final SP/Thesis Report and paper/thesis report/My report/DIagram fig tab/live_10.jpg"/>
          <p:cNvPicPr>
            <a:picLocks noChangeAspect="1"/>
          </p:cNvPicPr>
          <p:nvPr/>
        </p:nvPicPr>
        <p:blipFill>
          <a:blip r:embed="rId6"/>
          <a:srcRect/>
          <a:stretch/>
        </p:blipFill>
        <p:spPr>
          <a:xfrm>
            <a:off x="548640" y="3703320"/>
            <a:ext cx="2468880" cy="2240280"/>
          </a:xfrm>
          <a:prstGeom prst="rect">
            <a:avLst/>
          </a:prstGeom>
        </p:spPr>
      </p:pic>
      <p:pic>
        <p:nvPicPr>
          <p:cNvPr id="7" name="Live live_1000_500.jpg" descr="E:/Final SP/Thesis Report and paper/thesis report/My report/DIagram fig tab/live_1000_500.jpg"/>
          <p:cNvPicPr>
            <a:picLocks noChangeAspect="1"/>
          </p:cNvPicPr>
          <p:nvPr/>
        </p:nvPicPr>
        <p:blipFill>
          <a:blip r:embed="rId7"/>
          <a:srcRect/>
          <a:stretch/>
        </p:blipFill>
        <p:spPr>
          <a:xfrm>
            <a:off x="3154680" y="3703320"/>
            <a:ext cx="2468880" cy="2240280"/>
          </a:xfrm>
          <a:prstGeom prst="rect">
            <a:avLst/>
          </a:prstGeom>
        </p:spPr>
      </p:pic>
      <p:pic>
        <p:nvPicPr>
          <p:cNvPr id="8" name="Live live_three.jpg" descr="E:/Final SP/Thesis Report and paper/thesis report/My report/DIagram fig tab/live_three.jpg"/>
          <p:cNvPicPr>
            <a:picLocks noChangeAspect="1"/>
          </p:cNvPicPr>
          <p:nvPr/>
        </p:nvPicPr>
        <p:blipFill>
          <a:blip r:embed="rId8"/>
          <a:srcRect/>
          <a:stretch/>
        </p:blipFill>
        <p:spPr>
          <a:xfrm>
            <a:off x="5760720" y="3703320"/>
            <a:ext cx="2468880" cy="2240280"/>
          </a:xfrm>
          <a:prstGeom prst="rect">
            <a:avLst/>
          </a:prstGeom>
        </p:spPr>
      </p:pic>
      <p:sp>
        <p:nvSpPr>
          <p:cNvPr id="9" name="Text 1"/>
          <p:cNvSpPr txBox="1"/>
          <p:nvPr/>
        </p:nvSpPr>
        <p:spPr>
          <a:xfrm>
            <a:off x="8503920" y="1371600"/>
            <a:ext cx="3108960" cy="329184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chemeClr val="tx1"/>
                </a:solidFill>
              </a:rPr>
              <a:t>10, 50, 100, 200, 500 and 1,000 Taka named at 0.63–0.89 confidence</a:t>
            </a:r>
            <a:endParaRPr lang="en-US" sz="1600" dirty="0"/>
          </a:p>
          <a:p>
            <a:pPr marL="342900" indent="-342900">
              <a:spcAft>
                <a:spcPts val="1200"/>
              </a:spcAft>
              <a:buSzPct val="100000"/>
              <a:buChar char="•"/>
            </a:pPr>
            <a:r>
              <a:rPr lang="en-US" sz="1600" dirty="0">
                <a:solidFill>
                  <a:schemeClr val="tx1"/>
                </a:solidFill>
              </a:rPr>
              <a:t>Works on worn and folded notes and with two or three notes at once</a:t>
            </a:r>
            <a:endParaRPr lang="en-US" sz="1600" dirty="0"/>
          </a:p>
          <a:p>
            <a:pPr marL="342900" indent="-342900">
              <a:spcAft>
                <a:spcPts val="1200"/>
              </a:spcAft>
              <a:buSzPct val="100000"/>
              <a:buChar char="•"/>
            </a:pPr>
            <a:r>
              <a:rPr lang="en-US" sz="1600" dirty="0">
                <a:solidFill>
                  <a:schemeClr val="tx1"/>
                </a:solidFill>
              </a:rPr>
              <a:t>Boxes are loose and can overlap when notes are close</a:t>
            </a:r>
            <a:endParaRPr lang="en-US" sz="1600" dirty="0"/>
          </a:p>
        </p:txBody>
      </p:sp>
      <p:sp>
        <p:nvSpPr>
          <p:cNvPr id="10" name="Text 2"/>
          <p:cNvSpPr txBox="1"/>
          <p:nvPr/>
        </p:nvSpPr>
        <p:spPr>
          <a:xfrm>
            <a:off x="8503920" y="4846320"/>
            <a:ext cx="3108960" cy="731520"/>
          </a:xfrm>
          <a:prstGeom prst="rect">
            <a:avLst/>
          </a:prstGeom>
          <a:noFill/>
          <a:ln/>
        </p:spPr>
        <p:txBody>
          <a:bodyPr wrap="square" lIns="0" tIns="0" rIns="0" bIns="0" rtlCol="0" anchor="t"/>
          <a:lstStyle/>
          <a:p>
            <a:pPr marL="0" indent="0">
              <a:buNone/>
            </a:pPr>
            <a:r>
              <a:rPr lang="en-US" sz="1300" i="1" dirty="0">
                <a:solidFill>
                  <a:schemeClr val="accent5"/>
                </a:solidFill>
              </a:rPr>
              <a:t>Informal sessions with a laptop webcam; no error rate was counted.</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spTree>
  </p:cSld>
  <p:clrMapOvr>
    <a:masterClrMapping/>
  </p:clrMapOvr>
  <mc:AlternateContent xmlns:mc="http://schemas.openxmlformats.org/markup-compatibility/2006">
    <mc:Choice xmlns:p14="http://schemas.microsoft.com/office/powerpoint/2010/main" Requires="p14">
      <p:transition spd="slow" p14:dur="2500">
        <p:checker/>
      </p:transition>
    </mc:Choice>
    <mc:Fallback>
      <p:transition spd="slow">
        <p:checker/>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2"/>
                </a:solidFill>
              </a:rPr>
              <a:t>Counterfeit check: one view is enough with prefix training</a:t>
            </a:r>
            <a:endParaRPr lang="en-US" sz="3200" dirty="0"/>
          </a:p>
        </p:txBody>
      </p:sp>
      <p:graphicFrame>
        <p:nvGraphicFramePr>
          <p:cNvPr id="3" name="Chart 0"/>
          <p:cNvGraphicFramePr/>
          <p:nvPr/>
        </p:nvGraphicFramePr>
        <p:xfrm>
          <a:off x="548640" y="1325880"/>
          <a:ext cx="7132320" cy="466344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1"/>
          <p:cNvSpPr txBox="1"/>
          <p:nvPr/>
        </p:nvSpPr>
        <p:spPr>
          <a:xfrm>
            <a:off x="8138160" y="1463040"/>
            <a:ext cx="3566160" cy="822960"/>
          </a:xfrm>
          <a:prstGeom prst="rect">
            <a:avLst/>
          </a:prstGeom>
          <a:noFill/>
          <a:ln/>
        </p:spPr>
        <p:txBody>
          <a:bodyPr wrap="square" lIns="0" tIns="0" rIns="0" bIns="0" rtlCol="0" anchor="ctr"/>
          <a:lstStyle/>
          <a:p>
            <a:pPr marL="0" indent="0">
              <a:buNone/>
            </a:pPr>
            <a:r>
              <a:rPr lang="en-US" sz="3200" b="1" dirty="0">
                <a:solidFill>
                  <a:schemeClr val="accent1"/>
                </a:solidFill>
                <a:latin typeface="Cambria" pitchFamily="34" charset="0"/>
                <a:ea typeface="Cambria" pitchFamily="34" charset="-122"/>
                <a:cs typeface="Cambria" pitchFamily="34" charset="-120"/>
              </a:rPr>
              <a:t>71.2% → 98.2%</a:t>
            </a:r>
            <a:endParaRPr lang="en-US" sz="3200" dirty="0"/>
          </a:p>
        </p:txBody>
      </p:sp>
      <p:sp>
        <p:nvSpPr>
          <p:cNvPr id="5" name="Text 2"/>
          <p:cNvSpPr txBox="1"/>
          <p:nvPr/>
        </p:nvSpPr>
        <p:spPr>
          <a:xfrm>
            <a:off x="8138160" y="2286000"/>
            <a:ext cx="3566160" cy="457200"/>
          </a:xfrm>
          <a:prstGeom prst="rect">
            <a:avLst/>
          </a:prstGeom>
          <a:noFill/>
          <a:ln/>
        </p:spPr>
        <p:txBody>
          <a:bodyPr wrap="square" lIns="0" tIns="0" rIns="0" bIns="0" rtlCol="0" anchor="t"/>
          <a:lstStyle/>
          <a:p>
            <a:pPr marL="0" indent="0">
              <a:buNone/>
            </a:pPr>
            <a:r>
              <a:rPr lang="en-US" sz="1400" dirty="0">
                <a:solidFill>
                  <a:schemeClr val="tx1"/>
                </a:solidFill>
              </a:rPr>
              <a:t>accuracy with a single view, JaalTaka, 3 seeds</a:t>
            </a:r>
            <a:endParaRPr lang="en-US" sz="1400" dirty="0"/>
          </a:p>
        </p:txBody>
      </p:sp>
      <p:sp>
        <p:nvSpPr>
          <p:cNvPr id="6" name="Text 3"/>
          <p:cNvSpPr txBox="1"/>
          <p:nvPr/>
        </p:nvSpPr>
        <p:spPr>
          <a:xfrm>
            <a:off x="8138160" y="3017520"/>
            <a:ext cx="3566160" cy="23774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A blind user cannot promise six views</a:t>
            </a:r>
            <a:endParaRPr lang="en-US" sz="1600" dirty="0"/>
          </a:p>
          <a:p>
            <a:pPr marL="342900" indent="-342900">
              <a:spcAft>
                <a:spcPts val="1000"/>
              </a:spcAft>
              <a:buSzPct val="100000"/>
              <a:buChar char="•"/>
            </a:pPr>
            <a:r>
              <a:rPr lang="en-US" sz="1600" dirty="0">
                <a:solidFill>
                  <a:schemeClr val="tx1"/>
                </a:solidFill>
              </a:rPr>
              <a:t>Training on random first-k views removes the collapse</a:t>
            </a:r>
            <a:endParaRPr lang="en-US" sz="1600" dirty="0"/>
          </a:p>
          <a:p>
            <a:pPr marL="342900" indent="-342900">
              <a:spcAft>
                <a:spcPts val="1000"/>
              </a:spcAft>
              <a:buSzPct val="100000"/>
              <a:buChar char="•"/>
            </a:pPr>
            <a:r>
              <a:rPr lang="en-US" sz="1600" dirty="0">
                <a:solidFill>
                  <a:schemeClr val="tx1"/>
                </a:solidFill>
              </a:rPr>
              <a:t>No loss at six views; stable across seeds</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2"/>
                </a:solidFill>
              </a:rPr>
              <a:t>Unseen counterfeit prints: a stricter test</a:t>
            </a:r>
            <a:endParaRPr lang="en-US" sz="3200" dirty="0"/>
          </a:p>
        </p:txBody>
      </p:sp>
      <p:sp>
        <p:nvSpPr>
          <p:cNvPr id="3" name="serial card"/>
          <p:cNvSpPr/>
          <p:nvPr/>
        </p:nvSpPr>
        <p:spPr>
          <a:xfrm>
            <a:off x="548640" y="1325880"/>
            <a:ext cx="4206240" cy="4480560"/>
          </a:xfrm>
          <a:prstGeom prst="roundRect">
            <a:avLst>
              <a:gd name="adj" fmla="val 1739"/>
            </a:avLst>
          </a:prstGeom>
          <a:solidFill>
            <a:schemeClr val="bg2"/>
          </a:solidFill>
          <a:ln w="12700">
            <a:solidFill>
              <a:schemeClr val="bg2"/>
            </a:solidFill>
            <a:prstDash val="solid"/>
          </a:ln>
        </p:spPr>
      </p:sp>
      <p:sp>
        <p:nvSpPr>
          <p:cNvPr id="4" name="Text 2"/>
          <p:cNvSpPr txBox="1"/>
          <p:nvPr/>
        </p:nvSpPr>
        <p:spPr>
          <a:xfrm>
            <a:off x="777240" y="1508760"/>
            <a:ext cx="3749040" cy="731520"/>
          </a:xfrm>
          <a:prstGeom prst="rect">
            <a:avLst/>
          </a:prstGeom>
          <a:noFill/>
          <a:ln/>
        </p:spPr>
        <p:txBody>
          <a:bodyPr wrap="square" lIns="0" tIns="0" rIns="0" bIns="0" rtlCol="0" anchor="ctr"/>
          <a:lstStyle/>
          <a:p>
            <a:pPr marL="0" indent="0">
              <a:buNone/>
            </a:pPr>
            <a:r>
              <a:rPr lang="en-US" sz="4000" b="1" dirty="0">
                <a:solidFill>
                  <a:schemeClr val="accent2"/>
                </a:solidFill>
                <a:latin typeface="Cambria" pitchFamily="34" charset="0"/>
                <a:ea typeface="Cambria" pitchFamily="34" charset="-122"/>
                <a:cs typeface="Cambria" pitchFamily="34" charset="-120"/>
              </a:rPr>
              <a:t>279 of 322</a:t>
            </a:r>
            <a:endParaRPr lang="en-US" sz="4000" dirty="0"/>
          </a:p>
        </p:txBody>
      </p:sp>
      <p:sp>
        <p:nvSpPr>
          <p:cNvPr id="5" name="Text 3"/>
          <p:cNvSpPr txBox="1"/>
          <p:nvPr/>
        </p:nvSpPr>
        <p:spPr>
          <a:xfrm>
            <a:off x="777240" y="2240280"/>
            <a:ext cx="3749040" cy="640080"/>
          </a:xfrm>
          <a:prstGeom prst="rect">
            <a:avLst/>
          </a:prstGeom>
          <a:noFill/>
          <a:ln/>
        </p:spPr>
        <p:txBody>
          <a:bodyPr wrap="square" lIns="0" tIns="0" rIns="0" bIns="0" rtlCol="0" anchor="t"/>
          <a:lstStyle/>
          <a:p>
            <a:pPr marL="0" indent="0">
              <a:buNone/>
            </a:pPr>
            <a:r>
              <a:rPr lang="en-US" sz="1500" dirty="0">
                <a:solidFill>
                  <a:schemeClr val="tx1"/>
                </a:solidFill>
              </a:rPr>
              <a:t>readable 500 Taka counterfeits carry the same serial number</a:t>
            </a:r>
            <a:endParaRPr lang="en-US" sz="1500" dirty="0"/>
          </a:p>
        </p:txBody>
      </p:sp>
      <p:sp>
        <p:nvSpPr>
          <p:cNvPr id="6" name="Text 4"/>
          <p:cNvSpPr txBox="1"/>
          <p:nvPr/>
        </p:nvSpPr>
        <p:spPr>
          <a:xfrm>
            <a:off x="777240" y="3063240"/>
            <a:ext cx="3749040" cy="2560320"/>
          </a:xfrm>
          <a:prstGeom prst="rect">
            <a:avLst/>
          </a:prstGeom>
          <a:noFill/>
          <a:ln/>
        </p:spPr>
        <p:txBody>
          <a:bodyPr wrap="square" lIns="0" tIns="0" rIns="0" bIns="0" rtlCol="0" anchor="t"/>
          <a:lstStyle/>
          <a:p>
            <a:pPr marL="0" indent="0">
              <a:buNone/>
            </a:pPr>
            <a:r>
              <a:rPr lang="en-US" sz="1600" dirty="0">
                <a:solidFill>
                  <a:schemeClr val="tx1"/>
                </a:solidFill>
              </a:rPr>
              <a:t>The usual split puts copies of one print in training and test. A serial lookup alone scores 90.2%. We built a split where every test counterfeit is a new print.</a:t>
            </a:r>
            <a:endParaRPr lang="en-US" sz="1600" dirty="0"/>
          </a:p>
        </p:txBody>
      </p:sp>
      <p:graphicFrame>
        <p:nvGraphicFramePr>
          <p:cNvPr id="7" name="Chart 0"/>
          <p:cNvGraphicFramePr/>
          <p:nvPr/>
        </p:nvGraphicFramePr>
        <p:xfrm>
          <a:off x="5120640" y="1325880"/>
          <a:ext cx="649224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5"/>
          <p:cNvSpPr txBox="1"/>
          <p:nvPr/>
        </p:nvSpPr>
        <p:spPr>
          <a:xfrm>
            <a:off x="548640" y="5897880"/>
            <a:ext cx="11064240" cy="411480"/>
          </a:xfrm>
          <a:prstGeom prst="rect">
            <a:avLst/>
          </a:prstGeom>
          <a:noFill/>
          <a:ln/>
        </p:spPr>
        <p:txBody>
          <a:bodyPr wrap="square" lIns="0" tIns="0" rIns="0" bIns="0" rtlCol="0" anchor="t"/>
          <a:lstStyle/>
          <a:p>
            <a:pPr marL="0" indent="0">
              <a:buNone/>
            </a:pPr>
            <a:r>
              <a:rPr lang="en-US" sz="1400" i="1" dirty="0">
                <a:solidFill>
                  <a:schemeClr val="accent1"/>
                </a:solidFill>
              </a:rPr>
              <a:t>Adding the watermark raises accuracy to 95%, the same on all three seeds, level with a fully fine-tuned ResNet-50.</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2"/>
                </a:solidFill>
              </a:rPr>
              <a:t>DMWR: a tiny, physics-based watermark checker</a:t>
            </a:r>
            <a:endParaRPr lang="en-US" sz="3200" dirty="0"/>
          </a:p>
        </p:txBody>
      </p:sp>
      <p:pic>
        <p:nvPicPr>
          <p:cNvPr id="3" name="DMWR steps" descr="E:/Final SP/Thesis Report and paper/thesis report/My report/DIagram fig tab/fig_dmwr_steps.png"/>
          <p:cNvPicPr>
            <a:picLocks noChangeAspect="1"/>
          </p:cNvPicPr>
          <p:nvPr/>
        </p:nvPicPr>
        <p:blipFill>
          <a:blip r:embed="rId3"/>
          <a:stretch>
            <a:fillRect/>
          </a:stretch>
        </p:blipFill>
        <p:spPr>
          <a:xfrm>
            <a:off x="548640" y="1234440"/>
            <a:ext cx="6949440" cy="3706368"/>
          </a:xfrm>
          <a:prstGeom prst="rect">
            <a:avLst/>
          </a:prstGeom>
        </p:spPr>
      </p:pic>
      <p:sp>
        <p:nvSpPr>
          <p:cNvPr id="4" name="equation card"/>
          <p:cNvSpPr/>
          <p:nvPr/>
        </p:nvSpPr>
        <p:spPr>
          <a:xfrm>
            <a:off x="548640" y="5074920"/>
            <a:ext cx="6949440" cy="1188720"/>
          </a:xfrm>
          <a:prstGeom prst="roundRect">
            <a:avLst>
              <a:gd name="adj" fmla="val 6154"/>
            </a:avLst>
          </a:prstGeom>
          <a:solidFill>
            <a:schemeClr val="bg2"/>
          </a:solidFill>
          <a:ln w="12700">
            <a:solidFill>
              <a:schemeClr val="bg2"/>
            </a:solidFill>
            <a:prstDash val="solid"/>
          </a:ln>
        </p:spPr>
      </p:sp>
      <p:sp>
        <p:nvSpPr>
          <p:cNvPr id="5" name="Text 2"/>
          <p:cNvSpPr txBox="1"/>
          <p:nvPr/>
        </p:nvSpPr>
        <p:spPr>
          <a:xfrm>
            <a:off x="731520" y="5166360"/>
            <a:ext cx="6675120" cy="1005840"/>
          </a:xfrm>
          <a:prstGeom prst="rect">
            <a:avLst/>
          </a:prstGeom>
          <a:noFill/>
          <a:ln/>
        </p:spPr>
        <p:txBody>
          <a:bodyPr wrap="square" lIns="0" tIns="0" rIns="0" bIns="0" rtlCol="0" anchor="t"/>
          <a:lstStyle/>
          <a:p>
            <a:pPr marL="0" indent="0">
              <a:buNone/>
            </a:pPr>
            <a:r>
              <a:rPr lang="en-US" sz="1400" dirty="0">
                <a:solidFill>
                  <a:schemeClr val="tx2"/>
                </a:solidFill>
              </a:rPr>
              <a:t>1. Remove the lamp:  Q = I / (G∗I)</a:t>
            </a:r>
            <a:endParaRPr lang="en-US" sz="1400" dirty="0"/>
          </a:p>
          <a:p>
            <a:pPr marL="0" indent="0">
              <a:buNone/>
            </a:pPr>
            <a:r>
              <a:rPr lang="en-US" sz="1400" dirty="0">
                <a:solidFill>
                  <a:schemeClr val="tx2"/>
                </a:solidFill>
              </a:rPr>
              <a:t>2. Genuine portrait of the note value:  T = median of Q over genuine training notes</a:t>
            </a:r>
            <a:endParaRPr lang="en-US" sz="1400" dirty="0"/>
          </a:p>
          <a:p>
            <a:pPr marL="0" indent="0">
              <a:buNone/>
            </a:pPr>
            <a:r>
              <a:rPr lang="en-US" sz="1400" dirty="0">
                <a:solidFill>
                  <a:schemeClr val="tx2"/>
                </a:solidFill>
              </a:rPr>
              <a:t>3. Residual R = Q − T  →  two small CNN streams + 4 summary numbers  →  "watermark clear?"</a:t>
            </a:r>
            <a:endParaRPr lang="en-US" sz="1400" dirty="0"/>
          </a:p>
        </p:txBody>
      </p:sp>
      <p:sp>
        <p:nvSpPr>
          <p:cNvPr id="6" name="dmwr card 1"/>
          <p:cNvSpPr/>
          <p:nvPr/>
        </p:nvSpPr>
        <p:spPr>
          <a:xfrm>
            <a:off x="7955280" y="1234440"/>
            <a:ext cx="3657600" cy="1508760"/>
          </a:xfrm>
          <a:prstGeom prst="roundRect">
            <a:avLst>
              <a:gd name="adj" fmla="val 4848"/>
            </a:avLst>
          </a:prstGeom>
          <a:solidFill>
            <a:schemeClr val="bg2"/>
          </a:solidFill>
          <a:ln w="12700">
            <a:solidFill>
              <a:schemeClr val="bg2"/>
            </a:solidFill>
            <a:prstDash val="solid"/>
          </a:ln>
        </p:spPr>
      </p:sp>
      <p:sp>
        <p:nvSpPr>
          <p:cNvPr id="7" name="Text 4"/>
          <p:cNvSpPr txBox="1"/>
          <p:nvPr/>
        </p:nvSpPr>
        <p:spPr>
          <a:xfrm>
            <a:off x="8138160" y="1325880"/>
            <a:ext cx="3291840" cy="731520"/>
          </a:xfrm>
          <a:prstGeom prst="rect">
            <a:avLst/>
          </a:prstGeom>
          <a:noFill/>
          <a:ln/>
        </p:spPr>
        <p:txBody>
          <a:bodyPr wrap="square" lIns="0" tIns="0" rIns="0" bIns="0" rtlCol="0" anchor="ctr"/>
          <a:lstStyle/>
          <a:p>
            <a:pPr marL="0" indent="0">
              <a:buNone/>
            </a:pPr>
            <a:r>
              <a:rPr lang="en-US" sz="3600" b="1" dirty="0">
                <a:solidFill>
                  <a:srgbClr val="0B6E4F"/>
                </a:solidFill>
                <a:latin typeface="Cambria" pitchFamily="34" charset="0"/>
                <a:ea typeface="Cambria" pitchFamily="34" charset="-122"/>
                <a:cs typeface="Cambria" pitchFamily="34" charset="-120"/>
              </a:rPr>
              <a:t>91.5%</a:t>
            </a:r>
            <a:endParaRPr lang="en-US" sz="3600" dirty="0"/>
          </a:p>
        </p:txBody>
      </p:sp>
      <p:sp>
        <p:nvSpPr>
          <p:cNvPr id="8" name="Text 5"/>
          <p:cNvSpPr txBox="1"/>
          <p:nvPr/>
        </p:nvSpPr>
        <p:spPr>
          <a:xfrm>
            <a:off x="8138160" y="2057400"/>
            <a:ext cx="3291840" cy="594360"/>
          </a:xfrm>
          <a:prstGeom prst="rect">
            <a:avLst/>
          </a:prstGeom>
          <a:noFill/>
          <a:ln/>
        </p:spPr>
        <p:txBody>
          <a:bodyPr wrap="square" lIns="0" tIns="0" rIns="0" bIns="0" rtlCol="0" anchor="t"/>
          <a:lstStyle/>
          <a:p>
            <a:pPr marL="0" indent="0">
              <a:buNone/>
            </a:pPr>
            <a:r>
              <a:rPr lang="en-US" sz="1400" dirty="0">
                <a:solidFill>
                  <a:schemeClr val="tx1"/>
                </a:solidFill>
              </a:rPr>
              <a:t>on unseen counterfeit prints (3 seeds, ±0.3)</a:t>
            </a:r>
            <a:endParaRPr lang="en-US" sz="1400" dirty="0"/>
          </a:p>
        </p:txBody>
      </p:sp>
      <p:sp>
        <p:nvSpPr>
          <p:cNvPr id="9" name="dmwr card 2"/>
          <p:cNvSpPr/>
          <p:nvPr/>
        </p:nvSpPr>
        <p:spPr>
          <a:xfrm>
            <a:off x="7955280" y="2926080"/>
            <a:ext cx="3657600" cy="1508760"/>
          </a:xfrm>
          <a:prstGeom prst="roundRect">
            <a:avLst>
              <a:gd name="adj" fmla="val 4848"/>
            </a:avLst>
          </a:prstGeom>
          <a:solidFill>
            <a:schemeClr val="bg2"/>
          </a:solidFill>
          <a:ln w="12700">
            <a:solidFill>
              <a:schemeClr val="bg2"/>
            </a:solidFill>
            <a:prstDash val="solid"/>
          </a:ln>
        </p:spPr>
      </p:sp>
      <p:sp>
        <p:nvSpPr>
          <p:cNvPr id="10" name="Text 7"/>
          <p:cNvSpPr txBox="1"/>
          <p:nvPr/>
        </p:nvSpPr>
        <p:spPr>
          <a:xfrm>
            <a:off x="8138160" y="3017520"/>
            <a:ext cx="3291840" cy="731520"/>
          </a:xfrm>
          <a:prstGeom prst="rect">
            <a:avLst/>
          </a:prstGeom>
          <a:noFill/>
          <a:ln/>
        </p:spPr>
        <p:txBody>
          <a:bodyPr wrap="square" lIns="0" tIns="0" rIns="0" bIns="0" rtlCol="0" anchor="ctr"/>
          <a:lstStyle/>
          <a:p>
            <a:pPr marL="0" indent="0">
              <a:buNone/>
            </a:pPr>
            <a:r>
              <a:rPr lang="en-US" sz="3600" b="1" dirty="0">
                <a:solidFill>
                  <a:srgbClr val="0B6E4F"/>
                </a:solidFill>
                <a:latin typeface="Cambria" pitchFamily="34" charset="0"/>
                <a:ea typeface="Cambria" pitchFamily="34" charset="-122"/>
                <a:cs typeface="Cambria" pitchFamily="34" charset="-120"/>
              </a:rPr>
              <a:t>47,818</a:t>
            </a:r>
            <a:endParaRPr lang="en-US" sz="3600" dirty="0"/>
          </a:p>
        </p:txBody>
      </p:sp>
      <p:sp>
        <p:nvSpPr>
          <p:cNvPr id="11" name="Text 8"/>
          <p:cNvSpPr txBox="1"/>
          <p:nvPr/>
        </p:nvSpPr>
        <p:spPr>
          <a:xfrm>
            <a:off x="8138160" y="3749040"/>
            <a:ext cx="3291840" cy="594360"/>
          </a:xfrm>
          <a:prstGeom prst="rect">
            <a:avLst/>
          </a:prstGeom>
          <a:noFill/>
          <a:ln/>
        </p:spPr>
        <p:txBody>
          <a:bodyPr wrap="square" lIns="0" tIns="0" rIns="0" bIns="0" rtlCol="0" anchor="t"/>
          <a:lstStyle/>
          <a:p>
            <a:pPr marL="0" indent="0">
              <a:buNone/>
            </a:pPr>
            <a:r>
              <a:rPr lang="en-US" sz="1400" dirty="0">
                <a:solidFill>
                  <a:schemeClr val="tx1"/>
                </a:solidFill>
              </a:rPr>
              <a:t>parameters, 0.21 MB: 46× smaller than MobileNetV2</a:t>
            </a:r>
            <a:endParaRPr lang="en-US" sz="1400" dirty="0"/>
          </a:p>
        </p:txBody>
      </p:sp>
      <p:sp>
        <p:nvSpPr>
          <p:cNvPr id="12" name="dmwr card 3"/>
          <p:cNvSpPr/>
          <p:nvPr/>
        </p:nvSpPr>
        <p:spPr>
          <a:xfrm>
            <a:off x="7955280" y="4617720"/>
            <a:ext cx="3657600" cy="1508760"/>
          </a:xfrm>
          <a:prstGeom prst="roundRect">
            <a:avLst>
              <a:gd name="adj" fmla="val 4848"/>
            </a:avLst>
          </a:prstGeom>
          <a:solidFill>
            <a:schemeClr val="bg2"/>
          </a:solidFill>
          <a:ln w="12700">
            <a:solidFill>
              <a:schemeClr val="bg2"/>
            </a:solidFill>
            <a:prstDash val="solid"/>
          </a:ln>
        </p:spPr>
      </p:sp>
      <p:sp>
        <p:nvSpPr>
          <p:cNvPr id="13" name="Text 10"/>
          <p:cNvSpPr txBox="1"/>
          <p:nvPr/>
        </p:nvSpPr>
        <p:spPr>
          <a:xfrm>
            <a:off x="8138160" y="4709160"/>
            <a:ext cx="3291840" cy="731520"/>
          </a:xfrm>
          <a:prstGeom prst="rect">
            <a:avLst/>
          </a:prstGeom>
          <a:noFill/>
          <a:ln/>
        </p:spPr>
        <p:txBody>
          <a:bodyPr wrap="square" lIns="0" tIns="0" rIns="0" bIns="0" rtlCol="0" anchor="ctr"/>
          <a:lstStyle/>
          <a:p>
            <a:pPr marL="0" indent="0">
              <a:buNone/>
            </a:pPr>
            <a:r>
              <a:rPr lang="en-US" sz="3600" b="1" dirty="0">
                <a:solidFill>
                  <a:srgbClr val="0B6E4F"/>
                </a:solidFill>
                <a:latin typeface="Cambria" pitchFamily="34" charset="0"/>
                <a:ea typeface="Cambria" pitchFamily="34" charset="-122"/>
                <a:cs typeface="Cambria" pitchFamily="34" charset="-120"/>
              </a:rPr>
              <a:t>p ≥ 0.375</a:t>
            </a:r>
            <a:endParaRPr lang="en-US" sz="3600" dirty="0"/>
          </a:p>
        </p:txBody>
      </p:sp>
      <p:sp>
        <p:nvSpPr>
          <p:cNvPr id="14" name="Text 11"/>
          <p:cNvSpPr txBox="1"/>
          <p:nvPr/>
        </p:nvSpPr>
        <p:spPr>
          <a:xfrm>
            <a:off x="8138160" y="5440680"/>
            <a:ext cx="3291840" cy="594360"/>
          </a:xfrm>
          <a:prstGeom prst="rect">
            <a:avLst/>
          </a:prstGeom>
          <a:noFill/>
          <a:ln/>
        </p:spPr>
        <p:txBody>
          <a:bodyPr wrap="square" lIns="0" tIns="0" rIns="0" bIns="0" rtlCol="0" anchor="t"/>
          <a:lstStyle/>
          <a:p>
            <a:pPr marL="0" indent="0">
              <a:buNone/>
            </a:pPr>
            <a:r>
              <a:rPr lang="en-US" sz="1400" dirty="0">
                <a:solidFill>
                  <a:schemeClr val="tx1"/>
                </a:solidFill>
              </a:rPr>
              <a:t>no significant difference from MobileNetV2 (92.9%)</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400">
        <p14:doors dir="vert"/>
      </p:transition>
    </mc:Choice>
    <mc:Fallback>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2"/>
                </a:solidFill>
              </a:rPr>
              <a:t>Safe before decisive: the glass never says "counterfeit"</a:t>
            </a:r>
            <a:endParaRPr lang="en-US" sz="3200" dirty="0"/>
          </a:p>
        </p:txBody>
      </p:sp>
      <p:sp>
        <p:nvSpPr>
          <p:cNvPr id="3" name="Text 1"/>
          <p:cNvSpPr txBox="1"/>
          <p:nvPr/>
        </p:nvSpPr>
        <p:spPr>
          <a:xfrm>
            <a:off x="548640" y="1463040"/>
            <a:ext cx="4572000" cy="1371600"/>
          </a:xfrm>
          <a:prstGeom prst="rect">
            <a:avLst/>
          </a:prstGeom>
          <a:noFill/>
          <a:ln/>
        </p:spPr>
        <p:txBody>
          <a:bodyPr wrap="square" lIns="0" tIns="0" rIns="0" bIns="0" rtlCol="0" anchor="ctr"/>
          <a:lstStyle/>
          <a:p>
            <a:pPr marL="0" indent="0">
              <a:buNone/>
            </a:pPr>
            <a:r>
              <a:rPr lang="en-US" sz="8000" b="1" dirty="0">
                <a:solidFill>
                  <a:schemeClr val="accent1"/>
                </a:solidFill>
                <a:latin typeface="Cambria" pitchFamily="34" charset="0"/>
                <a:ea typeface="Cambria" pitchFamily="34" charset="-122"/>
                <a:cs typeface="Cambria" pitchFamily="34" charset="-120"/>
              </a:rPr>
              <a:t>0 / 88</a:t>
            </a:r>
            <a:endParaRPr lang="en-US" sz="8000" dirty="0"/>
          </a:p>
        </p:txBody>
      </p:sp>
      <p:sp>
        <p:nvSpPr>
          <p:cNvPr id="4" name="Text 2"/>
          <p:cNvSpPr txBox="1"/>
          <p:nvPr/>
        </p:nvSpPr>
        <p:spPr>
          <a:xfrm>
            <a:off x="548640" y="2834640"/>
            <a:ext cx="4572000" cy="457200"/>
          </a:xfrm>
          <a:prstGeom prst="rect">
            <a:avLst/>
          </a:prstGeom>
          <a:noFill/>
          <a:ln/>
        </p:spPr>
        <p:txBody>
          <a:bodyPr wrap="square" lIns="0" tIns="0" rIns="0" bIns="0" rtlCol="0" anchor="t"/>
          <a:lstStyle/>
          <a:p>
            <a:pPr marL="0" indent="0">
              <a:buNone/>
            </a:pPr>
            <a:r>
              <a:rPr lang="en-US" sz="1800" dirty="0">
                <a:solidFill>
                  <a:schemeClr val="tx1"/>
                </a:solidFill>
              </a:rPr>
              <a:t>test counterfeits passed as "likely genuine"</a:t>
            </a:r>
            <a:endParaRPr lang="en-US" sz="1800" dirty="0"/>
          </a:p>
        </p:txBody>
      </p:sp>
      <p:sp>
        <p:nvSpPr>
          <p:cNvPr id="5" name="Text 3"/>
          <p:cNvSpPr txBox="1"/>
          <p:nvPr/>
        </p:nvSpPr>
        <p:spPr>
          <a:xfrm>
            <a:off x="548640" y="3566160"/>
            <a:ext cx="4572000" cy="1280160"/>
          </a:xfrm>
          <a:prstGeom prst="rect">
            <a:avLst/>
          </a:prstGeom>
          <a:noFill/>
          <a:ln/>
        </p:spPr>
        <p:txBody>
          <a:bodyPr wrap="square" lIns="0" tIns="0" rIns="0" bIns="0" rtlCol="0" anchor="t"/>
          <a:lstStyle/>
          <a:p>
            <a:pPr marL="0" indent="0">
              <a:buNone/>
            </a:pPr>
            <a:r>
              <a:rPr lang="en-US" sz="1500" dirty="0">
                <a:solidFill>
                  <a:schemeClr val="accent5"/>
                </a:solidFill>
              </a:rPr>
              <a:t>Threshold = highest score of any validation counterfeit, so a new counterfeit passes with probability 1/(n+1) = 1.1%.</a:t>
            </a:r>
            <a:endParaRPr lang="en-US" sz="1500" dirty="0"/>
          </a:p>
        </p:txBody>
      </p:sp>
      <p:sp>
        <p:nvSpPr>
          <p:cNvPr id="6" name="decision box"/>
          <p:cNvSpPr/>
          <p:nvPr/>
        </p:nvSpPr>
        <p:spPr>
          <a:xfrm>
            <a:off x="5760720" y="1463040"/>
            <a:ext cx="2377440" cy="914400"/>
          </a:xfrm>
          <a:prstGeom prst="roundRect">
            <a:avLst>
              <a:gd name="adj" fmla="val 8000"/>
            </a:avLst>
          </a:prstGeom>
          <a:solidFill>
            <a:srgbClr val="0B3D2E"/>
          </a:solidFill>
          <a:ln w="12700">
            <a:solidFill>
              <a:srgbClr val="0B3D2E"/>
            </a:solidFill>
            <a:prstDash val="solid"/>
          </a:ln>
        </p:spPr>
      </p:sp>
      <p:sp>
        <p:nvSpPr>
          <p:cNvPr id="7" name="Text 5"/>
          <p:cNvSpPr txBox="1"/>
          <p:nvPr/>
        </p:nvSpPr>
        <p:spPr>
          <a:xfrm>
            <a:off x="5760720" y="1463040"/>
            <a:ext cx="2377440" cy="914400"/>
          </a:xfrm>
          <a:prstGeom prst="rect">
            <a:avLst/>
          </a:prstGeom>
          <a:noFill/>
          <a:ln/>
        </p:spPr>
        <p:txBody>
          <a:bodyPr wrap="square" lIns="50800" tIns="50800" rIns="50800" bIns="50800" rtlCol="0" anchor="ctr"/>
          <a:lstStyle/>
          <a:p>
            <a:pPr marL="0" indent="0" algn="ctr">
              <a:buNone/>
            </a:pPr>
            <a:r>
              <a:rPr lang="en-US" sz="1500" b="1" dirty="0">
                <a:solidFill>
                  <a:srgbClr val="FFFFFF"/>
                </a:solidFill>
              </a:rPr>
              <a:t>Score above threshold?</a:t>
            </a:r>
            <a:endParaRPr lang="en-US" sz="1500" dirty="0"/>
          </a:p>
        </p:txBody>
      </p:sp>
      <p:sp>
        <p:nvSpPr>
          <p:cNvPr id="8" name="yes box"/>
          <p:cNvSpPr/>
          <p:nvPr/>
        </p:nvSpPr>
        <p:spPr>
          <a:xfrm>
            <a:off x="8778240" y="1005840"/>
            <a:ext cx="2834640" cy="822960"/>
          </a:xfrm>
          <a:prstGeom prst="roundRect">
            <a:avLst>
              <a:gd name="adj" fmla="val 8889"/>
            </a:avLst>
          </a:prstGeom>
          <a:solidFill>
            <a:srgbClr val="0B6E4F"/>
          </a:solidFill>
          <a:ln w="12700">
            <a:solidFill>
              <a:srgbClr val="0B6E4F"/>
            </a:solidFill>
            <a:prstDash val="solid"/>
          </a:ln>
        </p:spPr>
      </p:sp>
      <p:sp>
        <p:nvSpPr>
          <p:cNvPr id="9" name="Text 7"/>
          <p:cNvSpPr txBox="1"/>
          <p:nvPr/>
        </p:nvSpPr>
        <p:spPr>
          <a:xfrm>
            <a:off x="8778240" y="1005840"/>
            <a:ext cx="2834640" cy="822960"/>
          </a:xfrm>
          <a:prstGeom prst="rect">
            <a:avLst/>
          </a:prstGeom>
          <a:noFill/>
          <a:ln/>
        </p:spPr>
        <p:txBody>
          <a:bodyPr wrap="square" lIns="50800" tIns="50800" rIns="50800" bIns="50800" rtlCol="0" anchor="ctr"/>
          <a:lstStyle/>
          <a:p>
            <a:pPr marL="0" indent="0" algn="ctr">
              <a:buNone/>
            </a:pPr>
            <a:r>
              <a:rPr lang="en-US" sz="1500" b="1" dirty="0">
                <a:solidFill>
                  <a:srgbClr val="FFFFFF"/>
                </a:solidFill>
              </a:rPr>
              <a:t>"Likely genuine"</a:t>
            </a:r>
            <a:endParaRPr lang="en-US" sz="1500" dirty="0"/>
          </a:p>
        </p:txBody>
      </p:sp>
      <p:sp>
        <p:nvSpPr>
          <p:cNvPr id="10" name="no box"/>
          <p:cNvSpPr/>
          <p:nvPr/>
        </p:nvSpPr>
        <p:spPr>
          <a:xfrm>
            <a:off x="8778240" y="2103120"/>
            <a:ext cx="2834640" cy="822960"/>
          </a:xfrm>
          <a:prstGeom prst="roundRect">
            <a:avLst>
              <a:gd name="adj" fmla="val 8889"/>
            </a:avLst>
          </a:prstGeom>
          <a:solidFill>
            <a:srgbClr val="F2A541"/>
          </a:solidFill>
          <a:ln w="12700">
            <a:solidFill>
              <a:srgbClr val="F2A541"/>
            </a:solidFill>
            <a:prstDash val="solid"/>
          </a:ln>
        </p:spPr>
      </p:sp>
      <p:sp>
        <p:nvSpPr>
          <p:cNvPr id="11" name="Text 9"/>
          <p:cNvSpPr txBox="1"/>
          <p:nvPr/>
        </p:nvSpPr>
        <p:spPr>
          <a:xfrm>
            <a:off x="8778240" y="2103120"/>
            <a:ext cx="2834640" cy="822960"/>
          </a:xfrm>
          <a:prstGeom prst="rect">
            <a:avLst/>
          </a:prstGeom>
          <a:noFill/>
          <a:ln/>
        </p:spPr>
        <p:txBody>
          <a:bodyPr wrap="square" lIns="50800" tIns="50800" rIns="50800" bIns="50800" rtlCol="0" anchor="ctr"/>
          <a:lstStyle/>
          <a:p>
            <a:pPr marL="0" indent="0" algn="ctr">
              <a:buNone/>
            </a:pPr>
            <a:r>
              <a:rPr lang="en-US" sz="1500" b="1" dirty="0">
                <a:solidFill>
                  <a:srgbClr val="1B1F23"/>
                </a:solidFill>
              </a:rPr>
              <a:t>"Check by hand"</a:t>
            </a:r>
            <a:endParaRPr lang="en-US" sz="1500" dirty="0"/>
          </a:p>
        </p:txBody>
      </p:sp>
      <p:sp>
        <p:nvSpPr>
          <p:cNvPr id="12" name="arrow yes"/>
          <p:cNvSpPr/>
          <p:nvPr/>
        </p:nvSpPr>
        <p:spPr>
          <a:xfrm flipV="1">
            <a:off x="8138160" y="1417320"/>
            <a:ext cx="640080" cy="411480"/>
          </a:xfrm>
          <a:prstGeom prst="line">
            <a:avLst/>
          </a:prstGeom>
          <a:noFill/>
          <a:ln w="25400">
            <a:solidFill>
              <a:srgbClr val="6B7B76"/>
            </a:solidFill>
            <a:prstDash val="solid"/>
            <a:tailEnd type="triangle"/>
          </a:ln>
        </p:spPr>
      </p:sp>
      <p:sp>
        <p:nvSpPr>
          <p:cNvPr id="13" name="arrow no"/>
          <p:cNvSpPr/>
          <p:nvPr/>
        </p:nvSpPr>
        <p:spPr>
          <a:xfrm>
            <a:off x="8138160" y="2011680"/>
            <a:ext cx="640080" cy="502920"/>
          </a:xfrm>
          <a:prstGeom prst="line">
            <a:avLst/>
          </a:prstGeom>
          <a:noFill/>
          <a:ln w="25400">
            <a:solidFill>
              <a:srgbClr val="6B7B76"/>
            </a:solidFill>
            <a:prstDash val="solid"/>
            <a:tailEnd type="triangle"/>
          </a:ln>
        </p:spPr>
      </p:sp>
      <p:sp>
        <p:nvSpPr>
          <p:cNvPr id="14" name="Text 12"/>
          <p:cNvSpPr txBox="1"/>
          <p:nvPr/>
        </p:nvSpPr>
        <p:spPr>
          <a:xfrm>
            <a:off x="8229600" y="1234440"/>
            <a:ext cx="548640" cy="274320"/>
          </a:xfrm>
          <a:prstGeom prst="rect">
            <a:avLst/>
          </a:prstGeom>
          <a:noFill/>
          <a:ln/>
        </p:spPr>
        <p:txBody>
          <a:bodyPr wrap="square" lIns="0" tIns="0" rIns="0" bIns="0" rtlCol="0" anchor="t"/>
          <a:lstStyle/>
          <a:p>
            <a:pPr marL="0" indent="0">
              <a:buNone/>
            </a:pPr>
            <a:r>
              <a:rPr lang="en-US" sz="1200" dirty="0">
                <a:solidFill>
                  <a:schemeClr val="accent5"/>
                </a:solidFill>
              </a:rPr>
              <a:t>yes</a:t>
            </a:r>
            <a:endParaRPr lang="en-US" sz="1200" dirty="0"/>
          </a:p>
        </p:txBody>
      </p:sp>
      <p:sp>
        <p:nvSpPr>
          <p:cNvPr id="15" name="Text 13"/>
          <p:cNvSpPr txBox="1"/>
          <p:nvPr/>
        </p:nvSpPr>
        <p:spPr>
          <a:xfrm>
            <a:off x="8229600" y="2331720"/>
            <a:ext cx="548640" cy="274320"/>
          </a:xfrm>
          <a:prstGeom prst="rect">
            <a:avLst/>
          </a:prstGeom>
          <a:noFill/>
          <a:ln/>
        </p:spPr>
        <p:txBody>
          <a:bodyPr wrap="square" lIns="0" tIns="0" rIns="0" bIns="0" rtlCol="0" anchor="t"/>
          <a:lstStyle/>
          <a:p>
            <a:pPr marL="0" indent="0">
              <a:buNone/>
            </a:pPr>
            <a:r>
              <a:rPr lang="en-US" sz="1200" dirty="0">
                <a:solidFill>
                  <a:schemeClr val="accent5"/>
                </a:solidFill>
              </a:rPr>
              <a:t>no</a:t>
            </a:r>
            <a:endParaRPr lang="en-US" sz="1200" dirty="0"/>
          </a:p>
        </p:txBody>
      </p:sp>
      <p:sp>
        <p:nvSpPr>
          <p:cNvPr id="16" name="cost card"/>
          <p:cNvSpPr/>
          <p:nvPr/>
        </p:nvSpPr>
        <p:spPr>
          <a:xfrm>
            <a:off x="5760720" y="3429000"/>
            <a:ext cx="5852160" cy="2377440"/>
          </a:xfrm>
          <a:prstGeom prst="roundRect">
            <a:avLst>
              <a:gd name="adj" fmla="val 3077"/>
            </a:avLst>
          </a:prstGeom>
          <a:solidFill>
            <a:schemeClr val="bg2"/>
          </a:solidFill>
          <a:ln w="12700">
            <a:solidFill>
              <a:schemeClr val="bg2"/>
            </a:solidFill>
            <a:prstDash val="solid"/>
          </a:ln>
        </p:spPr>
      </p:sp>
      <p:sp>
        <p:nvSpPr>
          <p:cNvPr id="17" name="cost circle"/>
          <p:cNvSpPr/>
          <p:nvPr/>
        </p:nvSpPr>
        <p:spPr>
          <a:xfrm>
            <a:off x="5989320" y="3703320"/>
            <a:ext cx="731520" cy="731520"/>
          </a:xfrm>
          <a:prstGeom prst="ellipse">
            <a:avLst/>
          </a:prstGeom>
          <a:solidFill>
            <a:srgbClr val="0B6E4F"/>
          </a:solidFill>
          <a:ln w="12700">
            <a:solidFill>
              <a:srgbClr val="0B6E4F"/>
            </a:solidFill>
            <a:prstDash val="solid"/>
          </a:ln>
        </p:spPr>
      </p:sp>
      <p:pic>
        <p:nvPicPr>
          <p:cNvPr id="18" name="cost icon" descr="preencoded.png"/>
          <p:cNvPicPr>
            <a:picLocks noChangeAspect="1"/>
          </p:cNvPicPr>
          <p:nvPr/>
        </p:nvPicPr>
        <p:blipFill>
          <a:blip r:embed="rId3"/>
          <a:stretch>
            <a:fillRect/>
          </a:stretch>
        </p:blipFill>
        <p:spPr>
          <a:xfrm>
            <a:off x="6150254" y="3864254"/>
            <a:ext cx="409651" cy="409651"/>
          </a:xfrm>
          <a:prstGeom prst="rect">
            <a:avLst/>
          </a:prstGeom>
        </p:spPr>
      </p:pic>
      <p:sp>
        <p:nvSpPr>
          <p:cNvPr id="19" name="Text 16"/>
          <p:cNvSpPr txBox="1"/>
          <p:nvPr/>
        </p:nvSpPr>
        <p:spPr>
          <a:xfrm>
            <a:off x="6903720" y="3657600"/>
            <a:ext cx="4480560" cy="411480"/>
          </a:xfrm>
          <a:prstGeom prst="rect">
            <a:avLst/>
          </a:prstGeom>
          <a:noFill/>
          <a:ln/>
        </p:spPr>
        <p:txBody>
          <a:bodyPr wrap="square" lIns="0" tIns="0" rIns="0" bIns="0" rtlCol="0" anchor="t"/>
          <a:lstStyle/>
          <a:p>
            <a:pPr marL="0" indent="0">
              <a:buNone/>
            </a:pPr>
            <a:r>
              <a:rPr lang="en-US" sz="2000" b="1" dirty="0">
                <a:solidFill>
                  <a:schemeClr val="tx2"/>
                </a:solidFill>
              </a:rPr>
              <a:t>When it is not sure</a:t>
            </a:r>
            <a:endParaRPr lang="en-US" sz="2000" dirty="0"/>
          </a:p>
        </p:txBody>
      </p:sp>
      <p:sp>
        <p:nvSpPr>
          <p:cNvPr id="20" name="Text 17"/>
          <p:cNvSpPr txBox="1"/>
          <p:nvPr/>
        </p:nvSpPr>
        <p:spPr>
          <a:xfrm>
            <a:off x="6903720" y="4114800"/>
            <a:ext cx="4480560" cy="1554480"/>
          </a:xfrm>
          <a:prstGeom prst="rect">
            <a:avLst/>
          </a:prstGeom>
          <a:noFill/>
          <a:ln/>
        </p:spPr>
        <p:txBody>
          <a:bodyPr wrap="square" lIns="0" tIns="0" rIns="0" bIns="0" rtlCol="0" anchor="t"/>
          <a:lstStyle/>
          <a:p>
            <a:pPr marL="0" indent="0">
              <a:buNone/>
            </a:pPr>
            <a:r>
              <a:rPr lang="en-US" sz="1500" dirty="0">
                <a:solidFill>
                  <a:schemeClr val="tx1"/>
                </a:solidFill>
              </a:rPr>
              <a:t>57.5% of genuine notes are confirmed from close-up views. Otherwise the glass asks for a quick check by hand, and the guided watermark check gives a second opinion.</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250">
        <p14:switch dir="r"/>
      </p:transition>
    </mc:Choice>
    <mc:Fallback>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2"/>
                </a:solidFill>
              </a:rPr>
              <a:t>Bangla reading: error cut by three quarters</a:t>
            </a:r>
            <a:endParaRPr lang="en-US" sz="3200" dirty="0"/>
          </a:p>
        </p:txBody>
      </p:sp>
      <p:graphicFrame>
        <p:nvGraphicFramePr>
          <p:cNvPr id="3" name="Chart 0"/>
          <p:cNvGraphicFramePr/>
          <p:nvPr/>
        </p:nvGraphicFramePr>
        <p:xfrm>
          <a:off x="548640" y="1325880"/>
          <a:ext cx="676656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1"/>
          <p:cNvSpPr txBox="1"/>
          <p:nvPr/>
        </p:nvSpPr>
        <p:spPr>
          <a:xfrm>
            <a:off x="7772400" y="1371600"/>
            <a:ext cx="3840480" cy="411480"/>
          </a:xfrm>
          <a:prstGeom prst="rect">
            <a:avLst/>
          </a:prstGeom>
          <a:noFill/>
          <a:ln/>
        </p:spPr>
        <p:txBody>
          <a:bodyPr wrap="square" lIns="0" tIns="0" rIns="0" bIns="0" rtlCol="0" anchor="t"/>
          <a:lstStyle/>
          <a:p>
            <a:pPr marL="0" indent="0">
              <a:buNone/>
            </a:pPr>
            <a:r>
              <a:rPr lang="en-US" sz="2000" b="1" dirty="0">
                <a:solidFill>
                  <a:schemeClr val="accent1"/>
                </a:solidFill>
              </a:rPr>
              <a:t>What helped</a:t>
            </a:r>
            <a:endParaRPr lang="en-US" sz="2000" dirty="0"/>
          </a:p>
        </p:txBody>
      </p:sp>
      <p:sp>
        <p:nvSpPr>
          <p:cNvPr id="5" name="Text 2"/>
          <p:cNvSpPr txBox="1"/>
          <p:nvPr/>
        </p:nvSpPr>
        <p:spPr>
          <a:xfrm>
            <a:off x="7772400" y="1828800"/>
            <a:ext cx="3840480" cy="13716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Reading only the main block of text</a:t>
            </a:r>
            <a:endParaRPr lang="en-US" sz="1500" dirty="0"/>
          </a:p>
          <a:p>
            <a:pPr marL="342900" indent="-342900">
              <a:spcAft>
                <a:spcPts val="600"/>
              </a:spcAft>
              <a:buSzPct val="100000"/>
              <a:buChar char="•"/>
            </a:pPr>
            <a:r>
              <a:rPr lang="en-US" sz="1500" dirty="0">
                <a:solidFill>
                  <a:schemeClr val="tx1"/>
                </a:solidFill>
              </a:rPr>
              <a:t>Tuned detector settings, CLAHE</a:t>
            </a:r>
            <a:endParaRPr lang="en-US" sz="1500" dirty="0"/>
          </a:p>
          <a:p>
            <a:pPr marL="342900" indent="-342900">
              <a:spcAft>
                <a:spcPts val="600"/>
              </a:spcAft>
              <a:buSzPct val="100000"/>
              <a:buChar char="•"/>
            </a:pPr>
            <a:r>
              <a:rPr lang="en-US" sz="1500" dirty="0">
                <a:solidFill>
                  <a:schemeClr val="tx1"/>
                </a:solidFill>
              </a:rPr>
              <a:t>Simple clean-up rules</a:t>
            </a:r>
            <a:endParaRPr lang="en-US" sz="1500" dirty="0"/>
          </a:p>
        </p:txBody>
      </p:sp>
      <p:sp>
        <p:nvSpPr>
          <p:cNvPr id="6" name="Text 3"/>
          <p:cNvSpPr txBox="1"/>
          <p:nvPr/>
        </p:nvSpPr>
        <p:spPr>
          <a:xfrm>
            <a:off x="7772400" y="3383280"/>
            <a:ext cx="3840480" cy="411480"/>
          </a:xfrm>
          <a:prstGeom prst="rect">
            <a:avLst/>
          </a:prstGeom>
          <a:noFill/>
          <a:ln/>
        </p:spPr>
        <p:txBody>
          <a:bodyPr wrap="square" lIns="0" tIns="0" rIns="0" bIns="0" rtlCol="0" anchor="t"/>
          <a:lstStyle/>
          <a:p>
            <a:pPr marL="0" indent="0">
              <a:buNone/>
            </a:pPr>
            <a:r>
              <a:rPr lang="en-US" sz="2000" b="1" dirty="0">
                <a:solidFill>
                  <a:schemeClr val="accent2"/>
                </a:solidFill>
              </a:rPr>
              <a:t>What did not</a:t>
            </a:r>
            <a:endParaRPr lang="en-US" sz="2000" dirty="0"/>
          </a:p>
        </p:txBody>
      </p:sp>
      <p:sp>
        <p:nvSpPr>
          <p:cNvPr id="7" name="Text 4"/>
          <p:cNvSpPr txBox="1"/>
          <p:nvPr/>
        </p:nvSpPr>
        <p:spPr>
          <a:xfrm>
            <a:off x="7772400" y="3840480"/>
            <a:ext cx="3840480" cy="13716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Binarisation, multi-scale reading</a:t>
            </a:r>
            <a:endParaRPr lang="en-US" sz="1500" dirty="0"/>
          </a:p>
          <a:p>
            <a:pPr marL="342900" indent="-342900">
              <a:spcAft>
                <a:spcPts val="600"/>
              </a:spcAft>
              <a:buSzPct val="100000"/>
              <a:buChar char="•"/>
            </a:pPr>
            <a:r>
              <a:rPr lang="en-US" sz="1500" dirty="0">
                <a:solidFill>
                  <a:schemeClr val="tx1"/>
                </a:solidFill>
              </a:rPr>
              <a:t>Tesseract, TrOCR, PaddleOCR</a:t>
            </a:r>
            <a:endParaRPr lang="en-US" sz="1500" dirty="0"/>
          </a:p>
          <a:p>
            <a:pPr marL="342900" indent="-342900">
              <a:spcAft>
                <a:spcPts val="600"/>
              </a:spcAft>
              <a:buSzPct val="100000"/>
              <a:buChar char="•"/>
            </a:pPr>
            <a:r>
              <a:rPr lang="en-US" sz="1500" dirty="0">
                <a:solidFill>
                  <a:schemeClr val="tx1"/>
                </a:solidFill>
              </a:rPr>
              <a:t>Dictionaries and language models</a:t>
            </a:r>
            <a:endParaRPr lang="en-US" sz="1500" dirty="0"/>
          </a:p>
        </p:txBody>
      </p:sp>
      <p:sp>
        <p:nvSpPr>
          <p:cNvPr id="8" name="Text 5"/>
          <p:cNvSpPr txBox="1"/>
          <p:nvPr/>
        </p:nvSpPr>
        <p:spPr>
          <a:xfrm>
            <a:off x="7772400" y="5349240"/>
            <a:ext cx="3840480" cy="548640"/>
          </a:xfrm>
          <a:prstGeom prst="rect">
            <a:avLst/>
          </a:prstGeom>
          <a:noFill/>
          <a:ln/>
        </p:spPr>
        <p:txBody>
          <a:bodyPr wrap="square" lIns="0" tIns="0" rIns="0" bIns="0" rtlCol="0" anchor="t"/>
          <a:lstStyle/>
          <a:p>
            <a:pPr marL="0" indent="0">
              <a:buNone/>
            </a:pPr>
            <a:r>
              <a:rPr lang="en-US" sz="1300" i="1" dirty="0">
                <a:solidFill>
                  <a:schemeClr val="accent5"/>
                </a:solidFill>
              </a:rPr>
              <a:t>Benchmark with correctly shaped Bangla; every choice made on validation data.</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250">
        <p14:flip dir="r"/>
      </p:transition>
    </mc:Choice>
    <mc:Fallback>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2"/>
                </a:solidFill>
              </a:rPr>
              <a:t>Running on the Raspberry Pi 5</a:t>
            </a:r>
            <a:endParaRPr lang="en-US" sz="3200" dirty="0"/>
          </a:p>
        </p:txBody>
      </p:sp>
      <p:sp>
        <p:nvSpPr>
          <p:cNvPr id="3" name="pi card 1"/>
          <p:cNvSpPr/>
          <p:nvPr/>
        </p:nvSpPr>
        <p:spPr>
          <a:xfrm>
            <a:off x="548640" y="1371600"/>
            <a:ext cx="3566160" cy="2011680"/>
          </a:xfrm>
          <a:prstGeom prst="roundRect">
            <a:avLst>
              <a:gd name="adj" fmla="val 3636"/>
            </a:avLst>
          </a:prstGeom>
          <a:solidFill>
            <a:schemeClr val="bg2"/>
          </a:solidFill>
          <a:ln w="12700">
            <a:solidFill>
              <a:schemeClr val="bg2"/>
            </a:solidFill>
            <a:prstDash val="solid"/>
          </a:ln>
        </p:spPr>
      </p:sp>
      <p:sp>
        <p:nvSpPr>
          <p:cNvPr id="4" name="pi 1 circle"/>
          <p:cNvSpPr/>
          <p:nvPr/>
        </p:nvSpPr>
        <p:spPr>
          <a:xfrm>
            <a:off x="777240" y="1645920"/>
            <a:ext cx="731520" cy="731520"/>
          </a:xfrm>
          <a:prstGeom prst="ellipse">
            <a:avLst/>
          </a:prstGeom>
          <a:solidFill>
            <a:srgbClr val="0B6E4F"/>
          </a:solidFill>
          <a:ln w="12700">
            <a:solidFill>
              <a:srgbClr val="0B6E4F"/>
            </a:solidFill>
            <a:prstDash val="solid"/>
          </a:ln>
        </p:spPr>
      </p:sp>
      <p:pic>
        <p:nvPicPr>
          <p:cNvPr id="5" name="pi 1 icon" descr="preencoded.png"/>
          <p:cNvPicPr>
            <a:picLocks noChangeAspect="1"/>
          </p:cNvPicPr>
          <p:nvPr/>
        </p:nvPicPr>
        <p:blipFill>
          <a:blip r:embed="rId3"/>
          <a:stretch>
            <a:fillRect/>
          </a:stretch>
        </p:blipFill>
        <p:spPr>
          <a:xfrm>
            <a:off x="938174" y="1806854"/>
            <a:ext cx="409651" cy="409651"/>
          </a:xfrm>
          <a:prstGeom prst="rect">
            <a:avLst/>
          </a:prstGeom>
        </p:spPr>
      </p:pic>
      <p:sp>
        <p:nvSpPr>
          <p:cNvPr id="6" name="Text 3"/>
          <p:cNvSpPr txBox="1"/>
          <p:nvPr/>
        </p:nvSpPr>
        <p:spPr>
          <a:xfrm>
            <a:off x="1691640" y="1600200"/>
            <a:ext cx="2286000" cy="822960"/>
          </a:xfrm>
          <a:prstGeom prst="rect">
            <a:avLst/>
          </a:prstGeom>
          <a:noFill/>
          <a:ln/>
        </p:spPr>
        <p:txBody>
          <a:bodyPr wrap="square" lIns="0" tIns="0" rIns="0" bIns="0" rtlCol="0" anchor="ctr"/>
          <a:lstStyle/>
          <a:p>
            <a:pPr marL="0" indent="0">
              <a:buNone/>
            </a:pPr>
            <a:r>
              <a:rPr lang="en-US" sz="3600" b="1" dirty="0">
                <a:solidFill>
                  <a:srgbClr val="0B6E4F"/>
                </a:solidFill>
                <a:latin typeface="Cambria" pitchFamily="34" charset="0"/>
                <a:ea typeface="Cambria" pitchFamily="34" charset="-122"/>
                <a:cs typeface="Cambria" pitchFamily="34" charset="-120"/>
              </a:rPr>
              <a:t>327 ms</a:t>
            </a:r>
            <a:endParaRPr lang="en-US" sz="3600" dirty="0"/>
          </a:p>
        </p:txBody>
      </p:sp>
      <p:sp>
        <p:nvSpPr>
          <p:cNvPr id="7" name="Text 4"/>
          <p:cNvSpPr txBox="1"/>
          <p:nvPr/>
        </p:nvSpPr>
        <p:spPr>
          <a:xfrm>
            <a:off x="777240" y="2606040"/>
            <a:ext cx="3108960" cy="548640"/>
          </a:xfrm>
          <a:prstGeom prst="rect">
            <a:avLst/>
          </a:prstGeom>
          <a:noFill/>
          <a:ln/>
        </p:spPr>
        <p:txBody>
          <a:bodyPr wrap="square" lIns="0" tIns="0" rIns="0" bIns="0" rtlCol="0" anchor="t"/>
          <a:lstStyle/>
          <a:p>
            <a:pPr marL="0" indent="0">
              <a:buNone/>
            </a:pPr>
            <a:r>
              <a:rPr lang="en-US" sz="1500" dirty="0">
                <a:solidFill>
                  <a:schemeClr val="tx1"/>
                </a:solidFill>
              </a:rPr>
              <a:t>currency check, median</a:t>
            </a:r>
            <a:endParaRPr lang="en-US" sz="1500" dirty="0"/>
          </a:p>
        </p:txBody>
      </p:sp>
      <p:sp>
        <p:nvSpPr>
          <p:cNvPr id="8" name="pi card 2"/>
          <p:cNvSpPr/>
          <p:nvPr/>
        </p:nvSpPr>
        <p:spPr>
          <a:xfrm>
            <a:off x="4297680" y="1371600"/>
            <a:ext cx="3566160" cy="2011680"/>
          </a:xfrm>
          <a:prstGeom prst="roundRect">
            <a:avLst>
              <a:gd name="adj" fmla="val 3636"/>
            </a:avLst>
          </a:prstGeom>
          <a:solidFill>
            <a:schemeClr val="bg2"/>
          </a:solidFill>
          <a:ln w="12700">
            <a:solidFill>
              <a:schemeClr val="bg2"/>
            </a:solidFill>
            <a:prstDash val="solid"/>
          </a:ln>
        </p:spPr>
      </p:sp>
      <p:sp>
        <p:nvSpPr>
          <p:cNvPr id="9" name="pi 2 circle"/>
          <p:cNvSpPr/>
          <p:nvPr/>
        </p:nvSpPr>
        <p:spPr>
          <a:xfrm>
            <a:off x="4526280" y="1645920"/>
            <a:ext cx="731520" cy="731520"/>
          </a:xfrm>
          <a:prstGeom prst="ellipse">
            <a:avLst/>
          </a:prstGeom>
          <a:solidFill>
            <a:srgbClr val="0B6E4F"/>
          </a:solidFill>
          <a:ln w="12700">
            <a:solidFill>
              <a:srgbClr val="0B6E4F"/>
            </a:solidFill>
            <a:prstDash val="solid"/>
          </a:ln>
        </p:spPr>
      </p:sp>
      <p:pic>
        <p:nvPicPr>
          <p:cNvPr id="10" name="pi 2 icon" descr="preencoded.png"/>
          <p:cNvPicPr>
            <a:picLocks noChangeAspect="1"/>
          </p:cNvPicPr>
          <p:nvPr/>
        </p:nvPicPr>
        <p:blipFill>
          <a:blip r:embed="rId4"/>
          <a:stretch>
            <a:fillRect/>
          </a:stretch>
        </p:blipFill>
        <p:spPr>
          <a:xfrm>
            <a:off x="4687214" y="1806854"/>
            <a:ext cx="409651" cy="409651"/>
          </a:xfrm>
          <a:prstGeom prst="rect">
            <a:avLst/>
          </a:prstGeom>
        </p:spPr>
      </p:pic>
      <p:sp>
        <p:nvSpPr>
          <p:cNvPr id="11" name="Text 7"/>
          <p:cNvSpPr txBox="1"/>
          <p:nvPr/>
        </p:nvSpPr>
        <p:spPr>
          <a:xfrm>
            <a:off x="5440680" y="1600200"/>
            <a:ext cx="2286000" cy="822960"/>
          </a:xfrm>
          <a:prstGeom prst="rect">
            <a:avLst/>
          </a:prstGeom>
          <a:noFill/>
          <a:ln/>
        </p:spPr>
        <p:txBody>
          <a:bodyPr wrap="square" lIns="0" tIns="0" rIns="0" bIns="0" rtlCol="0" anchor="ctr"/>
          <a:lstStyle/>
          <a:p>
            <a:pPr marL="0" indent="0">
              <a:buNone/>
            </a:pPr>
            <a:r>
              <a:rPr lang="en-US" sz="3600" b="1" dirty="0">
                <a:solidFill>
                  <a:srgbClr val="0B6E4F"/>
                </a:solidFill>
                <a:latin typeface="Cambria" pitchFamily="34" charset="0"/>
                <a:ea typeface="Cambria" pitchFamily="34" charset="-122"/>
                <a:cs typeface="Cambria" pitchFamily="34" charset="-120"/>
              </a:rPr>
              <a:t>50 ms</a:t>
            </a:r>
            <a:endParaRPr lang="en-US" sz="3600" dirty="0"/>
          </a:p>
        </p:txBody>
      </p:sp>
      <p:sp>
        <p:nvSpPr>
          <p:cNvPr id="12" name="Text 8"/>
          <p:cNvSpPr txBox="1"/>
          <p:nvPr/>
        </p:nvSpPr>
        <p:spPr>
          <a:xfrm>
            <a:off x="4526280" y="2606040"/>
            <a:ext cx="3108960" cy="548640"/>
          </a:xfrm>
          <a:prstGeom prst="rect">
            <a:avLst/>
          </a:prstGeom>
          <a:noFill/>
          <a:ln/>
        </p:spPr>
        <p:txBody>
          <a:bodyPr wrap="square" lIns="0" tIns="0" rIns="0" bIns="0" rtlCol="0" anchor="t"/>
          <a:lstStyle/>
          <a:p>
            <a:pPr marL="0" indent="0">
              <a:buNone/>
            </a:pPr>
            <a:r>
              <a:rPr lang="en-US" sz="1500" dirty="0">
                <a:solidFill>
                  <a:schemeClr val="tx1"/>
                </a:solidFill>
              </a:rPr>
              <a:t>watermark check</a:t>
            </a:r>
            <a:endParaRPr lang="en-US" sz="1500" dirty="0"/>
          </a:p>
        </p:txBody>
      </p:sp>
      <p:sp>
        <p:nvSpPr>
          <p:cNvPr id="13" name="pi card 3"/>
          <p:cNvSpPr/>
          <p:nvPr/>
        </p:nvSpPr>
        <p:spPr>
          <a:xfrm>
            <a:off x="8046720" y="1371600"/>
            <a:ext cx="3566160" cy="2011680"/>
          </a:xfrm>
          <a:prstGeom prst="roundRect">
            <a:avLst>
              <a:gd name="adj" fmla="val 3636"/>
            </a:avLst>
          </a:prstGeom>
          <a:solidFill>
            <a:schemeClr val="bg2"/>
          </a:solidFill>
          <a:ln w="12700">
            <a:solidFill>
              <a:schemeClr val="bg2"/>
            </a:solidFill>
            <a:prstDash val="solid"/>
          </a:ln>
        </p:spPr>
      </p:sp>
      <p:sp>
        <p:nvSpPr>
          <p:cNvPr id="14" name="pi 3 circle"/>
          <p:cNvSpPr/>
          <p:nvPr/>
        </p:nvSpPr>
        <p:spPr>
          <a:xfrm>
            <a:off x="8275320" y="1645920"/>
            <a:ext cx="731520" cy="731520"/>
          </a:xfrm>
          <a:prstGeom prst="ellipse">
            <a:avLst/>
          </a:prstGeom>
          <a:solidFill>
            <a:srgbClr val="0B6E4F"/>
          </a:solidFill>
          <a:ln w="12700">
            <a:solidFill>
              <a:srgbClr val="0B6E4F"/>
            </a:solidFill>
            <a:prstDash val="solid"/>
          </a:ln>
        </p:spPr>
      </p:sp>
      <p:pic>
        <p:nvPicPr>
          <p:cNvPr id="15" name="pi 3 icon" descr="preencoded.png"/>
          <p:cNvPicPr>
            <a:picLocks noChangeAspect="1"/>
          </p:cNvPicPr>
          <p:nvPr/>
        </p:nvPicPr>
        <p:blipFill>
          <a:blip r:embed="rId5"/>
          <a:stretch>
            <a:fillRect/>
          </a:stretch>
        </p:blipFill>
        <p:spPr>
          <a:xfrm>
            <a:off x="8436254" y="1806854"/>
            <a:ext cx="409651" cy="409651"/>
          </a:xfrm>
          <a:prstGeom prst="rect">
            <a:avLst/>
          </a:prstGeom>
        </p:spPr>
      </p:pic>
      <p:sp>
        <p:nvSpPr>
          <p:cNvPr id="16" name="Text 11"/>
          <p:cNvSpPr txBox="1"/>
          <p:nvPr/>
        </p:nvSpPr>
        <p:spPr>
          <a:xfrm>
            <a:off x="9189720" y="1600200"/>
            <a:ext cx="2286000" cy="822960"/>
          </a:xfrm>
          <a:prstGeom prst="rect">
            <a:avLst/>
          </a:prstGeom>
          <a:noFill/>
          <a:ln/>
        </p:spPr>
        <p:txBody>
          <a:bodyPr wrap="square" lIns="0" tIns="0" rIns="0" bIns="0" rtlCol="0" anchor="ctr"/>
          <a:lstStyle/>
          <a:p>
            <a:pPr marL="0" indent="0">
              <a:buNone/>
            </a:pPr>
            <a:r>
              <a:rPr lang="en-US" sz="3600" b="1" dirty="0">
                <a:solidFill>
                  <a:srgbClr val="0B6E4F"/>
                </a:solidFill>
                <a:latin typeface="Cambria" pitchFamily="34" charset="0"/>
                <a:ea typeface="Cambria" pitchFamily="34" charset="-122"/>
                <a:cs typeface="Cambria" pitchFamily="34" charset="-120"/>
              </a:rPr>
              <a:t>207 ms</a:t>
            </a:r>
            <a:endParaRPr lang="en-US" sz="3600" dirty="0"/>
          </a:p>
        </p:txBody>
      </p:sp>
      <p:sp>
        <p:nvSpPr>
          <p:cNvPr id="17" name="Text 12"/>
          <p:cNvSpPr txBox="1"/>
          <p:nvPr/>
        </p:nvSpPr>
        <p:spPr>
          <a:xfrm>
            <a:off x="8275320" y="2606040"/>
            <a:ext cx="3108960" cy="548640"/>
          </a:xfrm>
          <a:prstGeom prst="rect">
            <a:avLst/>
          </a:prstGeom>
          <a:noFill/>
          <a:ln/>
        </p:spPr>
        <p:txBody>
          <a:bodyPr wrap="square" lIns="0" tIns="0" rIns="0" bIns="0" rtlCol="0" anchor="t"/>
          <a:lstStyle/>
          <a:p>
            <a:pPr marL="0" indent="0">
              <a:buNone/>
            </a:pPr>
            <a:r>
              <a:rPr lang="en-US" sz="1500" dirty="0">
                <a:solidFill>
                  <a:schemeClr val="tx1"/>
                </a:solidFill>
              </a:rPr>
              <a:t>object scan</a:t>
            </a:r>
            <a:endParaRPr lang="en-US" sz="1500" dirty="0"/>
          </a:p>
        </p:txBody>
      </p:sp>
      <p:sp>
        <p:nvSpPr>
          <p:cNvPr id="18" name="pi card 4"/>
          <p:cNvSpPr/>
          <p:nvPr/>
        </p:nvSpPr>
        <p:spPr>
          <a:xfrm>
            <a:off x="548640" y="3611880"/>
            <a:ext cx="3566160" cy="2011680"/>
          </a:xfrm>
          <a:prstGeom prst="roundRect">
            <a:avLst>
              <a:gd name="adj" fmla="val 3636"/>
            </a:avLst>
          </a:prstGeom>
          <a:solidFill>
            <a:schemeClr val="bg2"/>
          </a:solidFill>
          <a:ln w="12700">
            <a:solidFill>
              <a:schemeClr val="bg2"/>
            </a:solidFill>
            <a:prstDash val="solid"/>
          </a:ln>
        </p:spPr>
      </p:sp>
      <p:sp>
        <p:nvSpPr>
          <p:cNvPr id="19" name="pi 4 circle"/>
          <p:cNvSpPr/>
          <p:nvPr/>
        </p:nvSpPr>
        <p:spPr>
          <a:xfrm>
            <a:off x="777240" y="3886200"/>
            <a:ext cx="731520" cy="731520"/>
          </a:xfrm>
          <a:prstGeom prst="ellipse">
            <a:avLst/>
          </a:prstGeom>
          <a:solidFill>
            <a:srgbClr val="E4572E"/>
          </a:solidFill>
          <a:ln w="12700">
            <a:solidFill>
              <a:srgbClr val="E4572E"/>
            </a:solidFill>
            <a:prstDash val="solid"/>
          </a:ln>
        </p:spPr>
      </p:sp>
      <p:pic>
        <p:nvPicPr>
          <p:cNvPr id="20" name="pi 4 icon" descr="preencoded.png"/>
          <p:cNvPicPr>
            <a:picLocks noChangeAspect="1"/>
          </p:cNvPicPr>
          <p:nvPr/>
        </p:nvPicPr>
        <p:blipFill>
          <a:blip r:embed="rId6"/>
          <a:stretch>
            <a:fillRect/>
          </a:stretch>
        </p:blipFill>
        <p:spPr>
          <a:xfrm>
            <a:off x="938174" y="4047134"/>
            <a:ext cx="409651" cy="409651"/>
          </a:xfrm>
          <a:prstGeom prst="rect">
            <a:avLst/>
          </a:prstGeom>
        </p:spPr>
      </p:pic>
      <p:sp>
        <p:nvSpPr>
          <p:cNvPr id="21" name="Text 15"/>
          <p:cNvSpPr txBox="1"/>
          <p:nvPr/>
        </p:nvSpPr>
        <p:spPr>
          <a:xfrm>
            <a:off x="1691640" y="3840480"/>
            <a:ext cx="2286000" cy="822960"/>
          </a:xfrm>
          <a:prstGeom prst="rect">
            <a:avLst/>
          </a:prstGeom>
          <a:noFill/>
          <a:ln/>
        </p:spPr>
        <p:txBody>
          <a:bodyPr wrap="square" lIns="0" tIns="0" rIns="0" bIns="0" rtlCol="0" anchor="ctr"/>
          <a:lstStyle/>
          <a:p>
            <a:pPr marL="0" indent="0">
              <a:buNone/>
            </a:pPr>
            <a:r>
              <a:rPr lang="en-US" sz="3600" b="1" dirty="0">
                <a:solidFill>
                  <a:srgbClr val="E4572E"/>
                </a:solidFill>
                <a:latin typeface="Cambria" pitchFamily="34" charset="0"/>
                <a:ea typeface="Cambria" pitchFamily="34" charset="-122"/>
                <a:cs typeface="Cambria" pitchFamily="34" charset="-120"/>
              </a:rPr>
              <a:t>18.7 s</a:t>
            </a:r>
            <a:endParaRPr lang="en-US" sz="3600" dirty="0"/>
          </a:p>
        </p:txBody>
      </p:sp>
      <p:sp>
        <p:nvSpPr>
          <p:cNvPr id="22" name="Text 16"/>
          <p:cNvSpPr txBox="1"/>
          <p:nvPr/>
        </p:nvSpPr>
        <p:spPr>
          <a:xfrm>
            <a:off x="777240" y="4846320"/>
            <a:ext cx="3108960" cy="548640"/>
          </a:xfrm>
          <a:prstGeom prst="rect">
            <a:avLst/>
          </a:prstGeom>
          <a:noFill/>
          <a:ln/>
        </p:spPr>
        <p:txBody>
          <a:bodyPr wrap="square" lIns="0" tIns="0" rIns="0" bIns="0" rtlCol="0" anchor="t"/>
          <a:lstStyle/>
          <a:p>
            <a:pPr marL="0" indent="0">
              <a:buNone/>
            </a:pPr>
            <a:r>
              <a:rPr lang="en-US" sz="1500" dirty="0">
                <a:solidFill>
                  <a:schemeClr val="tx1"/>
                </a:solidFill>
              </a:rPr>
              <a:t>text reading: too slow</a:t>
            </a:r>
            <a:endParaRPr lang="en-US" sz="1500" dirty="0"/>
          </a:p>
        </p:txBody>
      </p:sp>
      <p:sp>
        <p:nvSpPr>
          <p:cNvPr id="23" name="pi card 5"/>
          <p:cNvSpPr/>
          <p:nvPr/>
        </p:nvSpPr>
        <p:spPr>
          <a:xfrm>
            <a:off x="4297680" y="3611880"/>
            <a:ext cx="3566160" cy="2011680"/>
          </a:xfrm>
          <a:prstGeom prst="roundRect">
            <a:avLst>
              <a:gd name="adj" fmla="val 3636"/>
            </a:avLst>
          </a:prstGeom>
          <a:solidFill>
            <a:schemeClr val="bg2"/>
          </a:solidFill>
          <a:ln w="12700">
            <a:solidFill>
              <a:schemeClr val="bg2"/>
            </a:solidFill>
            <a:prstDash val="solid"/>
          </a:ln>
        </p:spPr>
      </p:sp>
      <p:sp>
        <p:nvSpPr>
          <p:cNvPr id="24" name="pi 5 circle"/>
          <p:cNvSpPr/>
          <p:nvPr/>
        </p:nvSpPr>
        <p:spPr>
          <a:xfrm>
            <a:off x="4526280" y="3886200"/>
            <a:ext cx="731520" cy="731520"/>
          </a:xfrm>
          <a:prstGeom prst="ellipse">
            <a:avLst/>
          </a:prstGeom>
          <a:solidFill>
            <a:srgbClr val="3D8B7D"/>
          </a:solidFill>
          <a:ln w="12700">
            <a:solidFill>
              <a:srgbClr val="3D8B7D"/>
            </a:solidFill>
            <a:prstDash val="solid"/>
          </a:ln>
        </p:spPr>
      </p:sp>
      <p:pic>
        <p:nvPicPr>
          <p:cNvPr id="25" name="pi 5 icon" descr="preencoded.png"/>
          <p:cNvPicPr>
            <a:picLocks noChangeAspect="1"/>
          </p:cNvPicPr>
          <p:nvPr/>
        </p:nvPicPr>
        <p:blipFill>
          <a:blip r:embed="rId7"/>
          <a:stretch>
            <a:fillRect/>
          </a:stretch>
        </p:blipFill>
        <p:spPr>
          <a:xfrm>
            <a:off x="4687214" y="4047134"/>
            <a:ext cx="409651" cy="409651"/>
          </a:xfrm>
          <a:prstGeom prst="rect">
            <a:avLst/>
          </a:prstGeom>
        </p:spPr>
      </p:pic>
      <p:sp>
        <p:nvSpPr>
          <p:cNvPr id="26" name="Text 19"/>
          <p:cNvSpPr txBox="1"/>
          <p:nvPr/>
        </p:nvSpPr>
        <p:spPr>
          <a:xfrm>
            <a:off x="5440680" y="3840480"/>
            <a:ext cx="2286000" cy="822960"/>
          </a:xfrm>
          <a:prstGeom prst="rect">
            <a:avLst/>
          </a:prstGeom>
          <a:noFill/>
          <a:ln/>
        </p:spPr>
        <p:txBody>
          <a:bodyPr wrap="square" lIns="0" tIns="0" rIns="0" bIns="0" rtlCol="0" anchor="ctr"/>
          <a:lstStyle/>
          <a:p>
            <a:pPr marL="0" indent="0">
              <a:buNone/>
            </a:pPr>
            <a:r>
              <a:rPr lang="en-US" sz="3600" b="1" dirty="0">
                <a:solidFill>
                  <a:srgbClr val="3D8B7D"/>
                </a:solidFill>
                <a:latin typeface="Cambria" pitchFamily="34" charset="0"/>
                <a:ea typeface="Cambria" pitchFamily="34" charset="-122"/>
                <a:cs typeface="Cambria" pitchFamily="34" charset="-120"/>
              </a:rPr>
              <a:t>77.1 °C</a:t>
            </a:r>
            <a:endParaRPr lang="en-US" sz="3600" dirty="0"/>
          </a:p>
        </p:txBody>
      </p:sp>
      <p:sp>
        <p:nvSpPr>
          <p:cNvPr id="27" name="Text 20"/>
          <p:cNvSpPr txBox="1"/>
          <p:nvPr/>
        </p:nvSpPr>
        <p:spPr>
          <a:xfrm>
            <a:off x="4526280" y="4846320"/>
            <a:ext cx="3108960" cy="548640"/>
          </a:xfrm>
          <a:prstGeom prst="rect">
            <a:avLst/>
          </a:prstGeom>
          <a:noFill/>
          <a:ln/>
        </p:spPr>
        <p:txBody>
          <a:bodyPr wrap="square" lIns="0" tIns="0" rIns="0" bIns="0" rtlCol="0" anchor="t"/>
          <a:lstStyle/>
          <a:p>
            <a:pPr marL="0" indent="0">
              <a:buNone/>
            </a:pPr>
            <a:r>
              <a:rPr lang="en-US" sz="1500" dirty="0">
                <a:solidFill>
                  <a:schemeClr val="tx1"/>
                </a:solidFill>
              </a:rPr>
              <a:t>peak, no throttling in 30 min</a:t>
            </a:r>
            <a:endParaRPr lang="en-US" sz="1500" dirty="0"/>
          </a:p>
        </p:txBody>
      </p:sp>
      <p:sp>
        <p:nvSpPr>
          <p:cNvPr id="28" name="pi card 6"/>
          <p:cNvSpPr/>
          <p:nvPr/>
        </p:nvSpPr>
        <p:spPr>
          <a:xfrm>
            <a:off x="8046720" y="3611880"/>
            <a:ext cx="3566160" cy="2011680"/>
          </a:xfrm>
          <a:prstGeom prst="roundRect">
            <a:avLst>
              <a:gd name="adj" fmla="val 3636"/>
            </a:avLst>
          </a:prstGeom>
          <a:solidFill>
            <a:schemeClr val="bg2"/>
          </a:solidFill>
          <a:ln w="12700">
            <a:solidFill>
              <a:schemeClr val="bg2"/>
            </a:solidFill>
            <a:prstDash val="solid"/>
          </a:ln>
        </p:spPr>
      </p:sp>
      <p:sp>
        <p:nvSpPr>
          <p:cNvPr id="29" name="pi 6 circle"/>
          <p:cNvSpPr/>
          <p:nvPr/>
        </p:nvSpPr>
        <p:spPr>
          <a:xfrm>
            <a:off x="8275320" y="3886200"/>
            <a:ext cx="731520" cy="731520"/>
          </a:xfrm>
          <a:prstGeom prst="ellipse">
            <a:avLst/>
          </a:prstGeom>
          <a:solidFill>
            <a:srgbClr val="3D8B7D"/>
          </a:solidFill>
          <a:ln w="12700">
            <a:solidFill>
              <a:srgbClr val="3D8B7D"/>
            </a:solidFill>
            <a:prstDash val="solid"/>
          </a:ln>
        </p:spPr>
      </p:sp>
      <p:pic>
        <p:nvPicPr>
          <p:cNvPr id="30" name="pi 6 icon" descr="preencoded.png"/>
          <p:cNvPicPr>
            <a:picLocks noChangeAspect="1"/>
          </p:cNvPicPr>
          <p:nvPr/>
        </p:nvPicPr>
        <p:blipFill>
          <a:blip r:embed="rId8"/>
          <a:stretch>
            <a:fillRect/>
          </a:stretch>
        </p:blipFill>
        <p:spPr>
          <a:xfrm>
            <a:off x="8436254" y="4047134"/>
            <a:ext cx="409651" cy="409651"/>
          </a:xfrm>
          <a:prstGeom prst="rect">
            <a:avLst/>
          </a:prstGeom>
        </p:spPr>
      </p:pic>
      <p:sp>
        <p:nvSpPr>
          <p:cNvPr id="31" name="Text 23"/>
          <p:cNvSpPr txBox="1"/>
          <p:nvPr/>
        </p:nvSpPr>
        <p:spPr>
          <a:xfrm>
            <a:off x="9189720" y="3840480"/>
            <a:ext cx="2286000" cy="822960"/>
          </a:xfrm>
          <a:prstGeom prst="rect">
            <a:avLst/>
          </a:prstGeom>
          <a:noFill/>
          <a:ln/>
        </p:spPr>
        <p:txBody>
          <a:bodyPr wrap="square" lIns="0" tIns="0" rIns="0" bIns="0" rtlCol="0" anchor="ctr"/>
          <a:lstStyle/>
          <a:p>
            <a:pPr marL="0" indent="0">
              <a:buNone/>
            </a:pPr>
            <a:r>
              <a:rPr lang="en-US" sz="3600" b="1" dirty="0">
                <a:solidFill>
                  <a:srgbClr val="3D8B7D"/>
                </a:solidFill>
                <a:latin typeface="Cambria" pitchFamily="34" charset="0"/>
                <a:ea typeface="Cambria" pitchFamily="34" charset="-122"/>
                <a:cs typeface="Cambria" pitchFamily="34" charset="-120"/>
              </a:rPr>
              <a:t>1.48 GB</a:t>
            </a:r>
            <a:endParaRPr lang="en-US" sz="3600" dirty="0"/>
          </a:p>
        </p:txBody>
      </p:sp>
      <p:sp>
        <p:nvSpPr>
          <p:cNvPr id="32" name="Text 24"/>
          <p:cNvSpPr txBox="1"/>
          <p:nvPr/>
        </p:nvSpPr>
        <p:spPr>
          <a:xfrm>
            <a:off x="8275320" y="4846320"/>
            <a:ext cx="3108960" cy="548640"/>
          </a:xfrm>
          <a:prstGeom prst="rect">
            <a:avLst/>
          </a:prstGeom>
          <a:noFill/>
          <a:ln/>
        </p:spPr>
        <p:txBody>
          <a:bodyPr wrap="square" lIns="0" tIns="0" rIns="0" bIns="0" rtlCol="0" anchor="t"/>
          <a:lstStyle/>
          <a:p>
            <a:pPr marL="0" indent="0">
              <a:buNone/>
            </a:pPr>
            <a:r>
              <a:rPr lang="en-US" sz="1500" dirty="0">
                <a:solidFill>
                  <a:schemeClr val="tx1"/>
                </a:solidFill>
              </a:rPr>
              <a:t>peak memory</a:t>
            </a:r>
            <a:endParaRPr lang="en-US" sz="1500" dirty="0"/>
          </a:p>
        </p:txBody>
      </p:sp>
      <p:sp>
        <p:nvSpPr>
          <p:cNvPr id="3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spTree>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2"/>
                </a:solidFill>
              </a:rPr>
              <a:t>Testing the worn glass</a:t>
            </a:r>
            <a:endParaRPr lang="en-US" sz="3200" dirty="0"/>
          </a:p>
        </p:txBody>
      </p:sp>
      <p:pic>
        <p:nvPicPr>
          <p:cNvPr id="3" name="Worn with 200 Taka" descr="E:/Final SP/Thesis Report and paper/thesis report/My report/DIagram fig tab/worn_200.jpg"/>
          <p:cNvPicPr>
            <a:picLocks noChangeAspect="1"/>
          </p:cNvPicPr>
          <p:nvPr/>
        </p:nvPicPr>
        <p:blipFill>
          <a:blip r:embed="rId3"/>
          <a:srcRect/>
          <a:stretch/>
        </p:blipFill>
        <p:spPr>
          <a:xfrm>
            <a:off x="548640" y="1325880"/>
            <a:ext cx="2926080" cy="4389120"/>
          </a:xfrm>
          <a:prstGeom prst="rect">
            <a:avLst/>
          </a:prstGeom>
        </p:spPr>
      </p:pic>
      <p:pic>
        <p:nvPicPr>
          <p:cNvPr id="4" name="Worn front" descr="E:/Final SP/Thesis Report and paper/thesis report/My report/DIagram fig tab/worn_front.jpg"/>
          <p:cNvPicPr>
            <a:picLocks noChangeAspect="1"/>
          </p:cNvPicPr>
          <p:nvPr/>
        </p:nvPicPr>
        <p:blipFill>
          <a:blip r:embed="rId4"/>
          <a:srcRect/>
          <a:stretch/>
        </p:blipFill>
        <p:spPr>
          <a:xfrm>
            <a:off x="3657600" y="1325880"/>
            <a:ext cx="2926080" cy="4389120"/>
          </a:xfrm>
          <a:prstGeom prst="rect">
            <a:avLst/>
          </a:prstGeom>
        </p:spPr>
      </p:pic>
      <p:sp>
        <p:nvSpPr>
          <p:cNvPr id="5" name="field test circle"/>
          <p:cNvSpPr/>
          <p:nvPr/>
        </p:nvSpPr>
        <p:spPr>
          <a:xfrm>
            <a:off x="7040880" y="1371600"/>
            <a:ext cx="685800" cy="685800"/>
          </a:xfrm>
          <a:prstGeom prst="ellipse">
            <a:avLst/>
          </a:prstGeom>
          <a:solidFill>
            <a:srgbClr val="E4572E"/>
          </a:solidFill>
          <a:ln w="12700">
            <a:solidFill>
              <a:srgbClr val="E4572E"/>
            </a:solidFill>
            <a:prstDash val="solid"/>
          </a:ln>
        </p:spPr>
      </p:sp>
      <p:pic>
        <p:nvPicPr>
          <p:cNvPr id="6" name="field test icon" descr="preencoded.png"/>
          <p:cNvPicPr>
            <a:picLocks noChangeAspect="1"/>
          </p:cNvPicPr>
          <p:nvPr/>
        </p:nvPicPr>
        <p:blipFill>
          <a:blip r:embed="rId5"/>
          <a:stretch>
            <a:fillRect/>
          </a:stretch>
        </p:blipFill>
        <p:spPr>
          <a:xfrm>
            <a:off x="7191756" y="1522476"/>
            <a:ext cx="384048" cy="384048"/>
          </a:xfrm>
          <a:prstGeom prst="rect">
            <a:avLst/>
          </a:prstGeom>
        </p:spPr>
      </p:pic>
      <p:sp>
        <p:nvSpPr>
          <p:cNvPr id="7" name="Text 2"/>
          <p:cNvSpPr txBox="1"/>
          <p:nvPr/>
        </p:nvSpPr>
        <p:spPr>
          <a:xfrm>
            <a:off x="7909560" y="1417320"/>
            <a:ext cx="3657600" cy="411480"/>
          </a:xfrm>
          <a:prstGeom prst="rect">
            <a:avLst/>
          </a:prstGeom>
          <a:noFill/>
          <a:ln/>
        </p:spPr>
        <p:txBody>
          <a:bodyPr wrap="square" lIns="0" tIns="0" rIns="0" bIns="0" rtlCol="0" anchor="t"/>
          <a:lstStyle/>
          <a:p>
            <a:pPr marL="0" indent="0">
              <a:buNone/>
            </a:pPr>
            <a:r>
              <a:rPr lang="en-US" sz="2000" b="1" dirty="0">
                <a:solidFill>
                  <a:schemeClr val="tx2"/>
                </a:solidFill>
              </a:rPr>
              <a:t>First field test</a:t>
            </a:r>
            <a:endParaRPr lang="en-US" sz="2000" dirty="0"/>
          </a:p>
        </p:txBody>
      </p:sp>
      <p:sp>
        <p:nvSpPr>
          <p:cNvPr id="8" name="Text 3"/>
          <p:cNvSpPr txBox="1"/>
          <p:nvPr/>
        </p:nvSpPr>
        <p:spPr>
          <a:xfrm>
            <a:off x="7909560" y="1874520"/>
            <a:ext cx="3703320" cy="1645920"/>
          </a:xfrm>
          <a:prstGeom prst="rect">
            <a:avLst/>
          </a:prstGeom>
          <a:noFill/>
          <a:ln/>
        </p:spPr>
        <p:txBody>
          <a:bodyPr wrap="square" lIns="0" tIns="0" rIns="0" bIns="0" rtlCol="0" anchor="t"/>
          <a:lstStyle/>
          <a:p>
            <a:pPr marL="0" indent="0">
              <a:buNone/>
            </a:pPr>
            <a:r>
              <a:rPr lang="en-US" sz="1500" dirty="0">
                <a:solidFill>
                  <a:schemeClr val="tx1"/>
                </a:solidFill>
              </a:rPr>
              <a:t>With the glass camera, currency was unreliable and Bangla text was not read. We suspect the 640×480 fixed-focus picture; the laptop webcam works.</a:t>
            </a:r>
            <a:endParaRPr lang="en-US" sz="1500" dirty="0"/>
          </a:p>
        </p:txBody>
      </p:sp>
      <p:sp>
        <p:nvSpPr>
          <p:cNvPr id="9" name="trials circle"/>
          <p:cNvSpPr/>
          <p:nvPr/>
        </p:nvSpPr>
        <p:spPr>
          <a:xfrm>
            <a:off x="7040880" y="3749040"/>
            <a:ext cx="685800" cy="685800"/>
          </a:xfrm>
          <a:prstGeom prst="ellipse">
            <a:avLst/>
          </a:prstGeom>
          <a:solidFill>
            <a:srgbClr val="0B6E4F"/>
          </a:solidFill>
          <a:ln w="12700">
            <a:solidFill>
              <a:srgbClr val="0B6E4F"/>
            </a:solidFill>
            <a:prstDash val="solid"/>
          </a:ln>
        </p:spPr>
      </p:sp>
      <p:pic>
        <p:nvPicPr>
          <p:cNvPr id="10" name="trials icon" descr="preencoded.png"/>
          <p:cNvPicPr>
            <a:picLocks noChangeAspect="1"/>
          </p:cNvPicPr>
          <p:nvPr/>
        </p:nvPicPr>
        <p:blipFill>
          <a:blip r:embed="rId6"/>
          <a:stretch>
            <a:fillRect/>
          </a:stretch>
        </p:blipFill>
        <p:spPr>
          <a:xfrm>
            <a:off x="7191756" y="3899916"/>
            <a:ext cx="384048" cy="384048"/>
          </a:xfrm>
          <a:prstGeom prst="rect">
            <a:avLst/>
          </a:prstGeom>
        </p:spPr>
      </p:pic>
      <p:sp>
        <p:nvSpPr>
          <p:cNvPr id="11" name="Text 5"/>
          <p:cNvSpPr txBox="1"/>
          <p:nvPr/>
        </p:nvSpPr>
        <p:spPr>
          <a:xfrm>
            <a:off x="7909560" y="3794760"/>
            <a:ext cx="3657600" cy="411480"/>
          </a:xfrm>
          <a:prstGeom prst="rect">
            <a:avLst/>
          </a:prstGeom>
          <a:noFill/>
          <a:ln/>
        </p:spPr>
        <p:txBody>
          <a:bodyPr wrap="square" lIns="0" tIns="0" rIns="0" bIns="0" rtlCol="0" anchor="t"/>
          <a:lstStyle/>
          <a:p>
            <a:pPr marL="0" indent="0">
              <a:buNone/>
            </a:pPr>
            <a:r>
              <a:rPr lang="en-US" sz="2000" b="1" dirty="0">
                <a:solidFill>
                  <a:schemeClr val="tx2"/>
                </a:solidFill>
              </a:rPr>
              <a:t>Trials and survey</a:t>
            </a:r>
            <a:endParaRPr lang="en-US" sz="2000" dirty="0"/>
          </a:p>
        </p:txBody>
      </p:sp>
      <p:sp>
        <p:nvSpPr>
          <p:cNvPr id="12" name="Text 6"/>
          <p:cNvSpPr txBox="1"/>
          <p:nvPr/>
        </p:nvSpPr>
        <p:spPr>
          <a:xfrm>
            <a:off x="7909560" y="4251960"/>
            <a:ext cx="3703320" cy="1463040"/>
          </a:xfrm>
          <a:prstGeom prst="rect">
            <a:avLst/>
          </a:prstGeom>
          <a:noFill/>
          <a:ln/>
        </p:spPr>
        <p:txBody>
          <a:bodyPr wrap="square" lIns="0" tIns="0" rIns="0" bIns="0" rtlCol="0" anchor="t"/>
          <a:lstStyle/>
          <a:p>
            <a:pPr marL="0" indent="0">
              <a:buNone/>
            </a:pPr>
            <a:r>
              <a:rPr lang="en-US" sz="1500" dirty="0">
                <a:solidFill>
                  <a:schemeClr val="tx1"/>
                </a:solidFill>
              </a:rPr>
              <a:t>Sessions with a visually impaired participant have started. A Bangla voice questionnaire records answers; results will follow.</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2"/>
                </a:solidFill>
              </a:rPr>
              <a:t>Ongoing work and next steps</a:t>
            </a:r>
            <a:endParaRPr lang="en-US" sz="3200" dirty="0"/>
          </a:p>
        </p:txBody>
      </p:sp>
      <p:sp>
        <p:nvSpPr>
          <p:cNvPr id="3" name="number 1"/>
          <p:cNvSpPr/>
          <p:nvPr/>
        </p:nvSpPr>
        <p:spPr>
          <a:xfrm>
            <a:off x="1325880" y="1554480"/>
            <a:ext cx="685800" cy="685800"/>
          </a:xfrm>
          <a:prstGeom prst="ellipse">
            <a:avLst/>
          </a:prstGeom>
          <a:solidFill>
            <a:srgbClr val="0B6E4F"/>
          </a:solidFill>
          <a:ln w="12700">
            <a:solidFill>
              <a:srgbClr val="0B6E4F"/>
            </a:solidFill>
            <a:prstDash val="solid"/>
          </a:ln>
        </p:spPr>
      </p:sp>
      <p:sp>
        <p:nvSpPr>
          <p:cNvPr id="4" name="Text 2"/>
          <p:cNvSpPr txBox="1"/>
          <p:nvPr/>
        </p:nvSpPr>
        <p:spPr>
          <a:xfrm>
            <a:off x="1325880" y="1554480"/>
            <a:ext cx="685800" cy="68580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5" name="step line 1"/>
          <p:cNvSpPr/>
          <p:nvPr/>
        </p:nvSpPr>
        <p:spPr>
          <a:xfrm>
            <a:off x="2103120" y="1892808"/>
            <a:ext cx="1417320" cy="0"/>
          </a:xfrm>
          <a:prstGeom prst="line">
            <a:avLst/>
          </a:prstGeom>
          <a:noFill/>
          <a:ln w="25400">
            <a:solidFill>
              <a:srgbClr val="C9D6D0"/>
            </a:solidFill>
            <a:prstDash val="solid"/>
          </a:ln>
        </p:spPr>
      </p:sp>
      <p:sp>
        <p:nvSpPr>
          <p:cNvPr id="6" name="Text 4"/>
          <p:cNvSpPr txBox="1"/>
          <p:nvPr/>
        </p:nvSpPr>
        <p:spPr>
          <a:xfrm>
            <a:off x="548640" y="2468880"/>
            <a:ext cx="2103120" cy="731520"/>
          </a:xfrm>
          <a:prstGeom prst="rect">
            <a:avLst/>
          </a:prstGeom>
          <a:noFill/>
          <a:ln/>
        </p:spPr>
        <p:txBody>
          <a:bodyPr wrap="square" lIns="0" tIns="0" rIns="0" bIns="0" rtlCol="0" anchor="t"/>
          <a:lstStyle/>
          <a:p>
            <a:pPr marL="0" indent="0" algn="ctr">
              <a:buNone/>
            </a:pPr>
            <a:r>
              <a:rPr lang="en-US" sz="1800" b="1" dirty="0">
                <a:solidFill>
                  <a:schemeClr val="tx2"/>
                </a:solidFill>
              </a:rPr>
              <a:t>Tune the glass camera</a:t>
            </a:r>
            <a:endParaRPr lang="en-US" sz="1800" dirty="0"/>
          </a:p>
        </p:txBody>
      </p:sp>
      <p:sp>
        <p:nvSpPr>
          <p:cNvPr id="7" name="Text 5"/>
          <p:cNvSpPr txBox="1"/>
          <p:nvPr/>
        </p:nvSpPr>
        <p:spPr>
          <a:xfrm>
            <a:off x="548640" y="3246120"/>
            <a:ext cx="2103120" cy="1645920"/>
          </a:xfrm>
          <a:prstGeom prst="rect">
            <a:avLst/>
          </a:prstGeom>
          <a:noFill/>
          <a:ln/>
        </p:spPr>
        <p:txBody>
          <a:bodyPr wrap="square" lIns="0" tIns="0" rIns="0" bIns="0" rtlCol="0" anchor="t"/>
          <a:lstStyle/>
          <a:p>
            <a:pPr marL="0" indent="0" algn="ctr">
              <a:buNone/>
            </a:pPr>
            <a:r>
              <a:rPr lang="en-US" sz="1500" dirty="0">
                <a:solidFill>
                  <a:schemeClr val="tx1"/>
                </a:solidFill>
              </a:rPr>
              <a:t>Higher resolution or autofocus; test set taken through the glass</a:t>
            </a:r>
            <a:endParaRPr lang="en-US" sz="1500" dirty="0"/>
          </a:p>
        </p:txBody>
      </p:sp>
      <p:sp>
        <p:nvSpPr>
          <p:cNvPr id="8" name="number 2"/>
          <p:cNvSpPr/>
          <p:nvPr/>
        </p:nvSpPr>
        <p:spPr>
          <a:xfrm>
            <a:off x="3611880" y="1554480"/>
            <a:ext cx="685800" cy="685800"/>
          </a:xfrm>
          <a:prstGeom prst="ellipse">
            <a:avLst/>
          </a:prstGeom>
          <a:solidFill>
            <a:srgbClr val="0B6E4F"/>
          </a:solidFill>
          <a:ln w="12700">
            <a:solidFill>
              <a:srgbClr val="0B6E4F"/>
            </a:solidFill>
            <a:prstDash val="solid"/>
          </a:ln>
        </p:spPr>
      </p:sp>
      <p:sp>
        <p:nvSpPr>
          <p:cNvPr id="9" name="Text 7"/>
          <p:cNvSpPr txBox="1"/>
          <p:nvPr/>
        </p:nvSpPr>
        <p:spPr>
          <a:xfrm>
            <a:off x="3611880" y="1554480"/>
            <a:ext cx="685800" cy="68580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0" name="step line 2"/>
          <p:cNvSpPr/>
          <p:nvPr/>
        </p:nvSpPr>
        <p:spPr>
          <a:xfrm>
            <a:off x="4389120" y="1892808"/>
            <a:ext cx="1417320" cy="0"/>
          </a:xfrm>
          <a:prstGeom prst="line">
            <a:avLst/>
          </a:prstGeom>
          <a:noFill/>
          <a:ln w="25400">
            <a:solidFill>
              <a:srgbClr val="C9D6D0"/>
            </a:solidFill>
            <a:prstDash val="solid"/>
          </a:ln>
        </p:spPr>
      </p:sp>
      <p:sp>
        <p:nvSpPr>
          <p:cNvPr id="11" name="Text 9"/>
          <p:cNvSpPr txBox="1"/>
          <p:nvPr/>
        </p:nvSpPr>
        <p:spPr>
          <a:xfrm>
            <a:off x="2834640" y="2468880"/>
            <a:ext cx="2103120" cy="731520"/>
          </a:xfrm>
          <a:prstGeom prst="rect">
            <a:avLst/>
          </a:prstGeom>
          <a:noFill/>
          <a:ln/>
        </p:spPr>
        <p:txBody>
          <a:bodyPr wrap="square" lIns="0" tIns="0" rIns="0" bIns="0" rtlCol="0" anchor="t"/>
          <a:lstStyle/>
          <a:p>
            <a:pPr marL="0" indent="0" algn="ctr">
              <a:buNone/>
            </a:pPr>
            <a:r>
              <a:rPr lang="en-US" sz="1800" b="1" dirty="0">
                <a:solidFill>
                  <a:schemeClr val="tx2"/>
                </a:solidFill>
              </a:rPr>
              <a:t>Complete the user study</a:t>
            </a:r>
            <a:endParaRPr lang="en-US" sz="1800" dirty="0"/>
          </a:p>
        </p:txBody>
      </p:sp>
      <p:sp>
        <p:nvSpPr>
          <p:cNvPr id="12" name="Text 10"/>
          <p:cNvSpPr txBox="1"/>
          <p:nvPr/>
        </p:nvSpPr>
        <p:spPr>
          <a:xfrm>
            <a:off x="2834640" y="3246120"/>
            <a:ext cx="2103120" cy="1645920"/>
          </a:xfrm>
          <a:prstGeom prst="rect">
            <a:avLst/>
          </a:prstGeom>
          <a:noFill/>
          <a:ln/>
        </p:spPr>
        <p:txBody>
          <a:bodyPr wrap="square" lIns="0" tIns="0" rIns="0" bIns="0" rtlCol="0" anchor="t"/>
          <a:lstStyle/>
          <a:p>
            <a:pPr marL="0" indent="0" algn="ctr">
              <a:buNone/>
            </a:pPr>
            <a:r>
              <a:rPr lang="en-US" sz="1500" dirty="0">
                <a:solidFill>
                  <a:schemeClr val="tx1"/>
                </a:solidFill>
              </a:rPr>
              <a:t>Trials started; 8–12 participants: task time, accuracy, SUS and NASA-TLX</a:t>
            </a:r>
            <a:endParaRPr lang="en-US" sz="1500" dirty="0"/>
          </a:p>
        </p:txBody>
      </p:sp>
      <p:sp>
        <p:nvSpPr>
          <p:cNvPr id="13" name="number 3"/>
          <p:cNvSpPr/>
          <p:nvPr/>
        </p:nvSpPr>
        <p:spPr>
          <a:xfrm>
            <a:off x="5897880" y="1554480"/>
            <a:ext cx="685800" cy="685800"/>
          </a:xfrm>
          <a:prstGeom prst="ellipse">
            <a:avLst/>
          </a:prstGeom>
          <a:solidFill>
            <a:srgbClr val="0B6E4F"/>
          </a:solidFill>
          <a:ln w="12700">
            <a:solidFill>
              <a:srgbClr val="0B6E4F"/>
            </a:solidFill>
            <a:prstDash val="solid"/>
          </a:ln>
        </p:spPr>
      </p:sp>
      <p:sp>
        <p:nvSpPr>
          <p:cNvPr id="14" name="Text 12"/>
          <p:cNvSpPr txBox="1"/>
          <p:nvPr/>
        </p:nvSpPr>
        <p:spPr>
          <a:xfrm>
            <a:off x="5897880" y="1554480"/>
            <a:ext cx="685800" cy="68580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5" name="step line 3"/>
          <p:cNvSpPr/>
          <p:nvPr/>
        </p:nvSpPr>
        <p:spPr>
          <a:xfrm>
            <a:off x="6675120" y="1892808"/>
            <a:ext cx="1417320" cy="0"/>
          </a:xfrm>
          <a:prstGeom prst="line">
            <a:avLst/>
          </a:prstGeom>
          <a:noFill/>
          <a:ln w="25400">
            <a:solidFill>
              <a:srgbClr val="C9D6D0"/>
            </a:solidFill>
            <a:prstDash val="solid"/>
          </a:ln>
        </p:spPr>
      </p:sp>
      <p:sp>
        <p:nvSpPr>
          <p:cNvPr id="16" name="Text 14"/>
          <p:cNvSpPr txBox="1"/>
          <p:nvPr/>
        </p:nvSpPr>
        <p:spPr>
          <a:xfrm>
            <a:off x="5120640" y="2468880"/>
            <a:ext cx="2103120" cy="731520"/>
          </a:xfrm>
          <a:prstGeom prst="rect">
            <a:avLst/>
          </a:prstGeom>
          <a:noFill/>
          <a:ln/>
        </p:spPr>
        <p:txBody>
          <a:bodyPr wrap="square" lIns="0" tIns="0" rIns="0" bIns="0" rtlCol="0" anchor="t"/>
          <a:lstStyle/>
          <a:p>
            <a:pPr marL="0" indent="0" algn="ctr">
              <a:buNone/>
            </a:pPr>
            <a:r>
              <a:rPr lang="en-US" sz="1800" b="1" dirty="0">
                <a:solidFill>
                  <a:schemeClr val="tx2"/>
                </a:solidFill>
              </a:rPr>
              <a:t>Collect more prints</a:t>
            </a:r>
            <a:endParaRPr lang="en-US" sz="1800" dirty="0"/>
          </a:p>
        </p:txBody>
      </p:sp>
      <p:sp>
        <p:nvSpPr>
          <p:cNvPr id="17" name="Text 15"/>
          <p:cNvSpPr txBox="1"/>
          <p:nvPr/>
        </p:nvSpPr>
        <p:spPr>
          <a:xfrm>
            <a:off x="5120640" y="3246120"/>
            <a:ext cx="2103120" cy="1645920"/>
          </a:xfrm>
          <a:prstGeom prst="rect">
            <a:avLst/>
          </a:prstGeom>
          <a:noFill/>
          <a:ln/>
        </p:spPr>
        <p:txBody>
          <a:bodyPr wrap="square" lIns="0" tIns="0" rIns="0" bIns="0" rtlCol="0" anchor="t"/>
          <a:lstStyle/>
          <a:p>
            <a:pPr marL="0" indent="0" algn="ctr">
              <a:buNone/>
            </a:pPr>
            <a:r>
              <a:rPr lang="en-US" sz="1500" dirty="0">
                <a:solidFill>
                  <a:schemeClr val="tx1"/>
                </a:solidFill>
              </a:rPr>
              <a:t>About 100 unseen counterfeit prints with a bank or the police</a:t>
            </a:r>
            <a:endParaRPr lang="en-US" sz="1500" dirty="0"/>
          </a:p>
        </p:txBody>
      </p:sp>
      <p:sp>
        <p:nvSpPr>
          <p:cNvPr id="18" name="number 4"/>
          <p:cNvSpPr/>
          <p:nvPr/>
        </p:nvSpPr>
        <p:spPr>
          <a:xfrm>
            <a:off x="8183880" y="1554480"/>
            <a:ext cx="685800" cy="685800"/>
          </a:xfrm>
          <a:prstGeom prst="ellipse">
            <a:avLst/>
          </a:prstGeom>
          <a:solidFill>
            <a:srgbClr val="0B6E4F"/>
          </a:solidFill>
          <a:ln w="12700">
            <a:solidFill>
              <a:srgbClr val="0B6E4F"/>
            </a:solidFill>
            <a:prstDash val="solid"/>
          </a:ln>
        </p:spPr>
      </p:sp>
      <p:sp>
        <p:nvSpPr>
          <p:cNvPr id="19" name="Text 17"/>
          <p:cNvSpPr txBox="1"/>
          <p:nvPr/>
        </p:nvSpPr>
        <p:spPr>
          <a:xfrm>
            <a:off x="8183880" y="1554480"/>
            <a:ext cx="685800" cy="685800"/>
          </a:xfrm>
          <a:prstGeom prst="rect">
            <a:avLst/>
          </a:prstGeom>
          <a:no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20" name="step line 4"/>
          <p:cNvSpPr/>
          <p:nvPr/>
        </p:nvSpPr>
        <p:spPr>
          <a:xfrm>
            <a:off x="8961120" y="1892808"/>
            <a:ext cx="1417320" cy="0"/>
          </a:xfrm>
          <a:prstGeom prst="line">
            <a:avLst/>
          </a:prstGeom>
          <a:noFill/>
          <a:ln w="25400">
            <a:solidFill>
              <a:srgbClr val="C9D6D0"/>
            </a:solidFill>
            <a:prstDash val="solid"/>
          </a:ln>
        </p:spPr>
      </p:sp>
      <p:sp>
        <p:nvSpPr>
          <p:cNvPr id="21" name="Text 19"/>
          <p:cNvSpPr txBox="1"/>
          <p:nvPr/>
        </p:nvSpPr>
        <p:spPr>
          <a:xfrm>
            <a:off x="7406640" y="2468880"/>
            <a:ext cx="2103120" cy="731520"/>
          </a:xfrm>
          <a:prstGeom prst="rect">
            <a:avLst/>
          </a:prstGeom>
          <a:noFill/>
          <a:ln/>
        </p:spPr>
        <p:txBody>
          <a:bodyPr wrap="square" lIns="0" tIns="0" rIns="0" bIns="0" rtlCol="0" anchor="t"/>
          <a:lstStyle/>
          <a:p>
            <a:pPr marL="0" indent="0" algn="ctr">
              <a:buNone/>
            </a:pPr>
            <a:r>
              <a:rPr lang="en-US" sz="1800" b="1" dirty="0">
                <a:solidFill>
                  <a:schemeClr val="tx2"/>
                </a:solidFill>
              </a:rPr>
              <a:t>Faster reading</a:t>
            </a:r>
            <a:endParaRPr lang="en-US" sz="1800" dirty="0"/>
          </a:p>
        </p:txBody>
      </p:sp>
      <p:sp>
        <p:nvSpPr>
          <p:cNvPr id="22" name="Text 20"/>
          <p:cNvSpPr txBox="1"/>
          <p:nvPr/>
        </p:nvSpPr>
        <p:spPr>
          <a:xfrm>
            <a:off x="7406640" y="3246120"/>
            <a:ext cx="2103120" cy="1645920"/>
          </a:xfrm>
          <a:prstGeom prst="rect">
            <a:avLst/>
          </a:prstGeom>
          <a:noFill/>
          <a:ln/>
        </p:spPr>
        <p:txBody>
          <a:bodyPr wrap="square" lIns="0" tIns="0" rIns="0" bIns="0" rtlCol="0" anchor="t"/>
          <a:lstStyle/>
          <a:p>
            <a:pPr marL="0" indent="0" algn="ctr">
              <a:buNone/>
            </a:pPr>
            <a:r>
              <a:rPr lang="en-US" sz="1500" dirty="0">
                <a:solidFill>
                  <a:schemeClr val="tx1"/>
                </a:solidFill>
              </a:rPr>
              <a:t>Line-by-line page reading; lighter text detector</a:t>
            </a:r>
            <a:endParaRPr lang="en-US" sz="1500" dirty="0"/>
          </a:p>
        </p:txBody>
      </p:sp>
      <p:sp>
        <p:nvSpPr>
          <p:cNvPr id="23" name="number 5"/>
          <p:cNvSpPr/>
          <p:nvPr/>
        </p:nvSpPr>
        <p:spPr>
          <a:xfrm>
            <a:off x="10469880" y="1554480"/>
            <a:ext cx="685800" cy="685800"/>
          </a:xfrm>
          <a:prstGeom prst="ellipse">
            <a:avLst/>
          </a:prstGeom>
          <a:solidFill>
            <a:srgbClr val="0B6E4F"/>
          </a:solidFill>
          <a:ln w="12700">
            <a:solidFill>
              <a:srgbClr val="0B6E4F"/>
            </a:solidFill>
            <a:prstDash val="solid"/>
          </a:ln>
        </p:spPr>
      </p:sp>
      <p:sp>
        <p:nvSpPr>
          <p:cNvPr id="24" name="Text 22"/>
          <p:cNvSpPr txBox="1"/>
          <p:nvPr/>
        </p:nvSpPr>
        <p:spPr>
          <a:xfrm>
            <a:off x="10469880" y="1554480"/>
            <a:ext cx="685800" cy="685800"/>
          </a:xfrm>
          <a:prstGeom prst="rect">
            <a:avLst/>
          </a:prstGeom>
          <a:noFill/>
          <a:ln/>
        </p:spPr>
        <p:txBody>
          <a:bodyPr wrap="square" lIns="0" tIns="0" rIns="0" bIns="0" rtlCol="0" anchor="ctr"/>
          <a:lstStyle/>
          <a:p>
            <a:pPr marL="0" indent="0" algn="ctr">
              <a:buNone/>
            </a:pPr>
            <a:r>
              <a:rPr lang="en-US" sz="1800" b="1" dirty="0">
                <a:solidFill>
                  <a:schemeClr val="bg1"/>
                </a:solidFill>
              </a:rPr>
              <a:t>5</a:t>
            </a:r>
            <a:endParaRPr lang="en-US" sz="1800" dirty="0"/>
          </a:p>
        </p:txBody>
      </p:sp>
      <p:sp>
        <p:nvSpPr>
          <p:cNvPr id="25" name="Text 23"/>
          <p:cNvSpPr txBox="1"/>
          <p:nvPr/>
        </p:nvSpPr>
        <p:spPr>
          <a:xfrm>
            <a:off x="9692640" y="2468880"/>
            <a:ext cx="2103120" cy="731520"/>
          </a:xfrm>
          <a:prstGeom prst="rect">
            <a:avLst/>
          </a:prstGeom>
          <a:noFill/>
          <a:ln/>
        </p:spPr>
        <p:txBody>
          <a:bodyPr wrap="square" lIns="0" tIns="0" rIns="0" bIns="0" rtlCol="0" anchor="t"/>
          <a:lstStyle/>
          <a:p>
            <a:pPr marL="0" indent="0" algn="ctr">
              <a:buNone/>
            </a:pPr>
            <a:r>
              <a:rPr lang="en-US" sz="1800" b="1" dirty="0">
                <a:solidFill>
                  <a:schemeClr val="tx2"/>
                </a:solidFill>
              </a:rPr>
              <a:t>Pocket enclosure</a:t>
            </a:r>
            <a:endParaRPr lang="en-US" sz="1800" dirty="0"/>
          </a:p>
        </p:txBody>
      </p:sp>
      <p:sp>
        <p:nvSpPr>
          <p:cNvPr id="26" name="Text 24"/>
          <p:cNvSpPr txBox="1"/>
          <p:nvPr/>
        </p:nvSpPr>
        <p:spPr>
          <a:xfrm>
            <a:off x="9692640" y="3246120"/>
            <a:ext cx="2103120" cy="1645920"/>
          </a:xfrm>
          <a:prstGeom prst="rect">
            <a:avLst/>
          </a:prstGeom>
          <a:noFill/>
          <a:ln/>
        </p:spPr>
        <p:txBody>
          <a:bodyPr wrap="square" lIns="0" tIns="0" rIns="0" bIns="0" rtlCol="0" anchor="t"/>
          <a:lstStyle/>
          <a:p>
            <a:pPr marL="0" indent="0" algn="ctr">
              <a:buNone/>
            </a:pPr>
            <a:r>
              <a:rPr lang="en-US" sz="1500" dirty="0">
                <a:solidFill>
                  <a:schemeClr val="tx1"/>
                </a:solidFill>
              </a:rPr>
              <a:t>Move board, buttons and battery off the frame; measure battery</a:t>
            </a:r>
            <a:endParaRPr lang="en-US" sz="1500" dirty="0"/>
          </a:p>
        </p:txBody>
      </p:sp>
      <p:sp>
        <p:nvSpPr>
          <p:cNvPr id="27"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spTree>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371600"/>
            <a:ext cx="6766560" cy="1280160"/>
          </a:xfrm>
          <a:prstGeom prst="rect">
            <a:avLst/>
          </a:prstGeom>
          <a:noFill/>
          <a:ln/>
        </p:spPr>
        <p:txBody>
          <a:bodyPr wrap="square" lIns="0" tIns="0" rIns="0" bIns="0" rtlCol="0" anchor="b"/>
          <a:lstStyle/>
          <a:p>
            <a:pPr marL="0" indent="0" algn="l">
              <a:buNone/>
            </a:pPr>
            <a:r>
              <a:rPr lang="en-US" sz="5400" b="1" dirty="0">
                <a:solidFill>
                  <a:schemeClr val="bg1"/>
                </a:solidFill>
              </a:rPr>
              <a:t>Thank you</a:t>
            </a:r>
            <a:endParaRPr lang="en-US" sz="5400" dirty="0"/>
          </a:p>
        </p:txBody>
      </p:sp>
      <p:sp>
        <p:nvSpPr>
          <p:cNvPr id="3" name="Text 0"/>
          <p:cNvSpPr>
            <a:spLocks noGrp="1"/>
          </p:cNvSpPr>
          <p:nvPr>
            <p:ph type="body" idx="101" hasCustomPrompt="1"/>
          </p:nvPr>
        </p:nvSpPr>
        <p:spPr>
          <a:xfrm>
            <a:off x="640080" y="2788920"/>
            <a:ext cx="6766560" cy="1554480"/>
          </a:xfrm>
          <a:prstGeom prst="rect">
            <a:avLst/>
          </a:prstGeom>
          <a:noFill/>
          <a:ln/>
        </p:spPr>
        <p:txBody>
          <a:bodyPr wrap="square" lIns="0" tIns="0" rIns="0" bIns="0" rtlCol="0" anchor="t"/>
          <a:lstStyle/>
          <a:p>
            <a:pPr marL="0" indent="0" algn="l">
              <a:buNone/>
            </a:pPr>
            <a:r>
              <a:rPr lang="en-US" sz="2200" dirty="0">
                <a:solidFill>
                  <a:srgbClr val="A8D5BA"/>
                </a:solidFill>
              </a:rPr>
              <a:t>Questions are welcome</a:t>
            </a:r>
            <a:endParaRPr lang="en-US" sz="2200" dirty="0"/>
          </a:p>
        </p:txBody>
      </p:sp>
      <p:sp>
        <p:nvSpPr>
          <p:cNvPr id="4" name="Text 2"/>
          <p:cNvSpPr txBox="1"/>
          <p:nvPr/>
        </p:nvSpPr>
        <p:spPr>
          <a:xfrm>
            <a:off x="640080" y="4114800"/>
            <a:ext cx="6949440" cy="1828800"/>
          </a:xfrm>
          <a:prstGeom prst="rect">
            <a:avLst/>
          </a:prstGeom>
          <a:noFill/>
          <a:ln/>
        </p:spPr>
        <p:txBody>
          <a:bodyPr wrap="square" lIns="0" tIns="0" rIns="0" bIns="0" rtlCol="0" anchor="ctr"/>
          <a:lstStyle/>
          <a:p>
            <a:pPr marL="342900" indent="-342900">
              <a:spcAft>
                <a:spcPts val="800"/>
              </a:spcAft>
              <a:buSzPct val="100000"/>
              <a:buChar char="•"/>
            </a:pPr>
            <a:r>
              <a:rPr lang="en-US" sz="1600" dirty="0">
                <a:solidFill>
                  <a:schemeClr val="bg1"/>
                </a:solidFill>
              </a:rPr>
              <a:t>An offline glass that speaks Bangla, reads text, names objects and recognises Taka on a Raspberry Pi 5</a:t>
            </a:r>
            <a:endParaRPr lang="en-US" sz="1600" dirty="0"/>
          </a:p>
          <a:p>
            <a:pPr marL="342900" indent="-342900">
              <a:spcAft>
                <a:spcPts val="800"/>
              </a:spcAft>
              <a:buSzPct val="100000"/>
              <a:buChar char="•"/>
            </a:pPr>
            <a:r>
              <a:rPr lang="en-US" sz="1600" dirty="0">
                <a:solidFill>
                  <a:schemeClr val="bg1"/>
                </a:solidFill>
              </a:rPr>
              <a:t>New methods: prefix training, a safe verdict, and the DMWR watermark checker</a:t>
            </a:r>
            <a:endParaRPr lang="en-US" sz="1600" dirty="0"/>
          </a:p>
          <a:p>
            <a:pPr marL="342900" indent="-342900">
              <a:spcAft>
                <a:spcPts val="800"/>
              </a:spcAft>
              <a:buSzPct val="100000"/>
              <a:buChar char="•"/>
            </a:pPr>
            <a:r>
              <a:rPr lang="en-US" sz="1600" dirty="0">
                <a:solidFill>
                  <a:schemeClr val="bg1"/>
                </a:solidFill>
              </a:rPr>
              <a:t>Next: tune the glass camera and complete the user trials</a:t>
            </a:r>
            <a:endParaRPr lang="en-US" sz="1600" dirty="0"/>
          </a:p>
        </p:txBody>
      </p:sp>
      <p:pic>
        <p:nvPicPr>
          <p:cNvPr id="5" name="Closing photo" descr="E:/Final SP/Thesis Report and paper/thesis report/My report/DIagram fig tab/worn_200.jpg"/>
          <p:cNvPicPr>
            <a:picLocks noChangeAspect="1"/>
          </p:cNvPicPr>
          <p:nvPr/>
        </p:nvPicPr>
        <p:blipFill>
          <a:blip r:embed="rId3"/>
          <a:srcRect/>
          <a:stretch/>
        </p:blipFill>
        <p:spPr>
          <a:xfrm>
            <a:off x="8001000" y="640080"/>
            <a:ext cx="3657600" cy="5577840"/>
          </a:xfrm>
          <a:prstGeom prst="rect">
            <a:avLst/>
          </a:prstGeom>
        </p:spPr>
      </p:pic>
    </p:spTree>
  </p:cSld>
  <p:clrMapOvr>
    <a:masterClrMapping/>
  </p:clrMapOvr>
  <mc:AlternateContent xmlns:mc="http://schemas.openxmlformats.org/markup-compatibility/2006">
    <mc:Choice xmlns:p15="http://schemas.microsoft.com/office/powerpoint/2012/main" Requires="p15">
      <p:transition spd="slow">
        <p15:prstTrans prst="curtains"/>
      </p:transition>
    </mc:Choice>
    <mc:Fallback>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SARA">
  <a:themeElements>
    <a:clrScheme name="SARA">
      <a:dk1>
        <a:srgbClr val="1B1F23"/>
      </a:dk1>
      <a:lt1>
        <a:srgbClr val="FFFFFF"/>
      </a:lt1>
      <a:dk2>
        <a:srgbClr val="0B3D2E"/>
      </a:dk2>
      <a:lt2>
        <a:srgbClr val="EAF4EF"/>
      </a:lt2>
      <a:accent1>
        <a:srgbClr val="0B6E4F"/>
      </a:accent1>
      <a:accent2>
        <a:srgbClr val="E4572E"/>
      </a:accent2>
      <a:accent3>
        <a:srgbClr val="F2A541"/>
      </a:accent3>
      <a:accent4>
        <a:srgbClr val="3D8B7D"/>
      </a:accent4>
      <a:accent5>
        <a:srgbClr val="6B7B76"/>
      </a:accent5>
      <a:accent6>
        <a:srgbClr val="1C7293"/>
      </a:accent6>
      <a:hlink>
        <a:srgbClr val="1C7293"/>
      </a:hlink>
      <a:folHlink>
        <a:srgbClr val="6B7B76"/>
      </a:folHlink>
    </a:clrScheme>
    <a:fontScheme name="SAR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2382</Words>
  <Application>Microsoft Office PowerPoint</Application>
  <PresentationFormat>Widescreen</PresentationFormat>
  <Paragraphs>250</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Cambria</vt:lpstr>
      <vt:lpstr>SARA</vt:lpstr>
      <vt:lpstr>SARA</vt:lpstr>
      <vt:lpstr>Reading, recognising and paying still need a helper</vt:lpstr>
      <vt:lpstr>SARA: Five mode buttons</vt:lpstr>
      <vt:lpstr>Six research questions</vt:lpstr>
      <vt:lpstr>What existing devices miss</vt:lpstr>
      <vt:lpstr>How the glass works</vt:lpstr>
      <vt:lpstr>From design to a first prototype</vt:lpstr>
      <vt:lpstr>Taka detection: 22,333 training images, no hand labels</vt:lpstr>
      <vt:lpstr>Live test with real notes</vt:lpstr>
      <vt:lpstr>Counterfeit check: one view is enough with prefix training</vt:lpstr>
      <vt:lpstr>Unseen counterfeit prints: a stricter test</vt:lpstr>
      <vt:lpstr>DMWR: a tiny, physics-based watermark checker</vt:lpstr>
      <vt:lpstr>Safe before decisive: the glass never says "counterfeit"</vt:lpstr>
      <vt:lpstr>Bangla reading: error cut by three quarters</vt:lpstr>
      <vt:lpstr>Running on the Raspberry Pi 5</vt:lpstr>
      <vt:lpstr>Testing the worn glass</vt:lpstr>
      <vt:lpstr>Ongoing work and next steps</vt:lpstr>
      <vt:lpstr>Thank you</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SARA</dc:title>
  <dc:subject>PptxGenJS Presentation</dc:subject>
  <dc:creator>MD Abdun Fattah Lam, Mukut Protim Memo, Tanjila Hossain Tapti</dc:creator>
  <cp:lastModifiedBy>Microsoft account</cp:lastModifiedBy>
  <cp:revision>2</cp:revision>
  <dcterms:created xsi:type="dcterms:W3CDTF">2026-10-10T21:34:11Z</dcterms:created>
  <dcterms:modified xsi:type="dcterms:W3CDTF">2026-10-11T08:12:20Z</dcterms:modified>
</cp:coreProperties>
</file>
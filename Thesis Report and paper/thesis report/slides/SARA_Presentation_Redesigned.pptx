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7a9d248-eb9a-6b1e-1c4e-e1fb35e70128}">
          <p14:sldIdLst>
            <p14:sldId id="256"/>
          </p14:sldIdLst>
        </p14:section>
        <p14:section name="Problem" id="{6dd1cd5f-fc66-63f6-5663-864a2c82ad66}">
          <p14:sldIdLst>
            <p14:sldId id="257"/>
            <p14:sldId id="258"/>
            <p14:sldId id="259"/>
          </p14:sldIdLst>
        </p14:section>
        <p14:section name="Solution" id="{541511d8-843e-377a-5b23-262e398b193b}">
          <p14:sldIdLst>
            <p14:sldId id="260"/>
            <p14:sldId id="261"/>
            <p14:sldId id="262"/>
            <p14:sldId id="263"/>
            <p14:sldId id="264"/>
          </p14:sldIdLst>
        </p14:section>
        <p14:section name="Currency" id="{a78ed2b0-3707-0103-096c-91850e90812e}">
          <p14:sldIdLst>
            <p14:sldId id="265"/>
            <p14:sldId id="266"/>
            <p14:sldId id="267"/>
            <p14:sldId id="268"/>
            <p14:sldId id="269"/>
            <p14:sldId id="270"/>
            <p14:sldId id="271"/>
            <p14:sldId id="272"/>
          </p14:sldIdLst>
        </p14:section>
        <p14:section name="Reading and voice" id="{04969529-2ff6-83ce-6be9-0e483867c6a2}">
          <p14:sldIdLst>
            <p14:sldId id="273"/>
            <p14:sldId id="274"/>
          </p14:sldIdLst>
        </p14:section>
        <p14:section name="Device" id="{b7375852-d73e-17f7-3853-7701038fb729}">
          <p14:sldIdLst>
            <p14:sldId id="275"/>
            <p14:sldId id="276"/>
            <p14:sldId id="277"/>
          </p14:sldIdLst>
        </p14:section>
        <p14:section name="Closing" id="{8f5353ab-c74e-ad72-48a2-46b4fcd5447c}">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E6B66"/>
            </a:solidFill>
            <a:ln w="38100" cap="flat">
              <a:solidFill>
                <a:srgbClr val="5E6B66"/>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5E6B66"/>
              </a:solidFill>
              <a:ln w="9525" cap="flat">
                <a:solidFill>
                  <a:srgbClr val="5E6B66"/>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06A4E"/>
            </a:solidFill>
            <a:ln w="38100" cap="flat">
              <a:solidFill>
                <a:srgbClr val="006A4E"/>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006A4E"/>
              </a:solidFill>
              <a:ln w="9525" cap="flat">
                <a:solidFill>
                  <a:srgbClr val="006A4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E6B66"/>
                    </a:solidFill>
                    <a:latin typeface="Arial"/>
                  </a:defRPr>
                </a:pPr>
                <a:r>
                  <a:rPr sz="1200" b="0" i="0" u="none" strike="noStrike">
                    <a:solidFill>
                      <a:srgbClr val="5E6B6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dPt>
            <c:idx val="0"/>
            <c:invertIfNegative val="0"/>
            <c:bubble3D val="0"/>
            <c:spPr>
              <a:solidFill>
                <a:srgbClr val="5E6B66"/>
              </a:solidFill>
              <a:effectLst/>
            </c:spPr>
          </c:dPt>
          <c:dPt>
            <c:idx val="1"/>
            <c:invertIfNegative val="0"/>
            <c:bubble3D val="0"/>
            <c:spPr>
              <a:solidFill>
                <a:srgbClr val="3A8F72"/>
              </a:solidFill>
              <a:effectLst/>
            </c:spPr>
          </c:dPt>
          <c:dPt>
            <c:idx val="2"/>
            <c:invertIfNegative val="0"/>
            <c:bubble3D val="0"/>
            <c:spPr>
              <a:solidFill>
                <a:srgbClr val="5E6B66"/>
              </a:solidFill>
              <a:effectLst/>
            </c:spPr>
          </c:dPt>
          <c:dPt>
            <c:idx val="3"/>
            <c:invertIfNegative val="0"/>
            <c:bubble3D val="0"/>
            <c:spPr>
              <a:solidFill>
                <a:srgbClr val="006A4E"/>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DE7E2"/>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moments; the top row is today, the bottom row is with SARA. At the shop, the blind customer receives change and must trust the shopkeeper about which note it is and whether it is real. At the pharmacy, the medicine label is in Bangla and no affordable device reads it. On the street, they must stop and ask a stranger what is ahead. In every case the answer comes from another person and cannot be checked. With SARA, the glass names the note, reads the label and names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Health Organization counts at least 2.2 billion people with a vision impairment, most of them in low- and middle-income countries. Three gaps keep existing help away from Bangladeshi users. OrCam MyEye, the best-known commercial reading glass, does not support Bangla. The research glasses we reviewed send every picture to a cloud server, so without a network there is no answer. And none of the systems we reviewed names Bangladeshi Taka notes, let alone screens them safely: a wrong value or a false accusation of counterfeit has real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moment with SARA. The user says glass, check money. The camera picture is processed on the Raspberry Pi 5 without the internet, and the glass answers in Bangla, for example five hundred Taka note, with a short vibration. The same three steps read a medicine label or name what is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4D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19-1.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6-1.png"/><Relationship Id="rId4" Type="http://schemas.openxmlformats.org/officeDocument/2006/relationships/image" Target="../media/image-26-2.png"/><Relationship Id="rId11" Type="http://schemas.openxmlformats.org/officeDocument/2006/relationships/image" Target="../media/image-26-3.png"/><Relationship Id="rId18" Type="http://schemas.openxmlformats.org/officeDocument/2006/relationships/slideLayout" Target="../slideLayouts/slideLayout3.xml"/><Relationship Id="rId19"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econd prototype: front, side and back" descr="E:\Final SP\Thesis Report and paper\tools\deck\assets/v2_collage.jpg">    </p:cNvPr>
          <p:cNvPicPr>
            <a:picLocks noChangeAspect="1"/>
          </p:cNvPicPr>
          <p:nvPr/>
        </p:nvPicPr>
        <p:blipFill>
          <a:blip r:embed="rId1"/>
          <a:srcRect l="0" r="0" t="0" b="0"/>
          <a:stretch/>
        </p:blipFill>
        <p:spPr>
          <a:xfrm>
            <a:off x="6793992" y="0"/>
            <a:ext cx="5394960" cy="6858000"/>
          </a:xfrm>
          <a:prstGeom prst="rect">
            <a:avLst/>
          </a:prstGeom>
        </p:spPr>
      </p:pic>
      <p:sp>
        <p:nvSpPr>
          <p:cNvPr id="3" name="Glasses circle"/>
          <p:cNvSpPr/>
          <p:nvPr/>
        </p:nvSpPr>
        <p:spPr>
          <a:xfrm>
            <a:off x="685800" y="685800"/>
            <a:ext cx="685800" cy="685800"/>
          </a:xfrm>
          <a:prstGeom prst="ellipse">
            <a:avLst/>
          </a:prstGeom>
          <a:solidFill>
            <a:srgbClr val="006A4E"/>
          </a:solidFill>
          <a:ln w="12700">
            <a:solidFill>
              <a:srgbClr val="006A4E"/>
            </a:solidFill>
            <a:prstDash val="solid"/>
          </a:ln>
        </p:spPr>
      </p:sp>
      <p:pic>
        <p:nvPicPr>
          <p:cNvPr id="4" name="Glasses icon" descr="preencoded.png">    </p:cNvPr>
          <p:cNvPicPr>
            <a:picLocks noChangeAspect="1"/>
          </p:cNvPicPr>
          <p:nvPr/>
        </p:nvPicPr>
        <p:blipFill>
          <a:blip r:embed="rId2"/>
          <a:stretch>
            <a:fillRect/>
          </a:stretch>
        </p:blipFill>
        <p:spPr>
          <a:xfrm>
            <a:off x="850392" y="850392"/>
            <a:ext cx="356616" cy="356616"/>
          </a:xfrm>
          <a:prstGeom prst="rect">
            <a:avLst/>
          </a:prstGeom>
        </p:spPr>
      </p:pic>
      <p:sp>
        <p:nvSpPr>
          <p:cNvPr id="5" name="Title"/>
          <p:cNvSpPr txBox="1"/>
          <p:nvPr/>
        </p:nvSpPr>
        <p:spPr>
          <a:xfrm>
            <a:off x="685800" y="1600200"/>
            <a:ext cx="566928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SARA</a:t>
            </a:r>
            <a:endParaRPr lang="en-US" sz="5400" dirty="0"/>
          </a:p>
        </p:txBody>
      </p:sp>
      <p:sp>
        <p:nvSpPr>
          <p:cNvPr id="6" name="Subtitle"/>
          <p:cNvSpPr txBox="1"/>
          <p:nvPr/>
        </p:nvSpPr>
        <p:spPr>
          <a:xfrm>
            <a:off x="685800" y="2560320"/>
            <a:ext cx="5669280" cy="1645920"/>
          </a:xfrm>
          <a:prstGeom prst="rect">
            <a:avLst/>
          </a:prstGeom>
          <a:noFill/>
          <a:ln/>
        </p:spPr>
        <p:txBody>
          <a:bodyPr wrap="square" lIns="0" tIns="0" rIns="0" bIns="0" rtlCol="0" anchor="t"/>
          <a:lstStyle/>
          <a:p>
            <a:pPr indent="0" marL="0">
              <a:buNone/>
            </a:pPr>
            <a:r>
              <a:rPr lang="en-US" sz="2200" b="1" dirty="0">
                <a:solidFill>
                  <a:srgbClr val="E4EFEA"/>
                </a:solidFill>
              </a:rPr>
              <a:t>Smart Assistive Reading Aid</a:t>
            </a:r>
            <a:endParaRPr lang="en-US" sz="2200" dirty="0"/>
          </a:p>
          <a:p>
            <a:pPr indent="0" marL="0">
              <a:buNone/>
            </a:pPr>
            <a:r>
              <a:rPr lang="en-US" sz="2200" dirty="0">
                <a:solidFill>
                  <a:srgbClr val="E4EFEA"/>
                </a:solidFill>
              </a:rPr>
              <a:t>Offline AI Smart Glasses for Reading, Object Recognition and Bangladeshi Taka Verification</a:t>
            </a:r>
            <a:endParaRPr lang="en-US" sz="2200" dirty="0"/>
          </a:p>
        </p:txBody>
      </p:sp>
      <p:sp>
        <p:nvSpPr>
          <p:cNvPr id="7" name="Authors"/>
          <p:cNvSpPr txBox="1"/>
          <p:nvPr/>
        </p:nvSpPr>
        <p:spPr>
          <a:xfrm>
            <a:off x="685800" y="4526280"/>
            <a:ext cx="5760720" cy="1463040"/>
          </a:xfrm>
          <a:prstGeom prst="rect">
            <a:avLst/>
          </a:prstGeom>
          <a:noFill/>
          <a:ln/>
        </p:spPr>
        <p:txBody>
          <a:bodyPr wrap="square" lIns="0" tIns="0" rIns="0" bIns="0" rtlCol="0" anchor="ctr"/>
          <a:lstStyle/>
          <a:p>
            <a:pPr indent="0" marL="0">
              <a:spcAft>
                <a:spcPts val="400"/>
              </a:spcAft>
              <a:buNone/>
            </a:pPr>
            <a:r>
              <a:rPr lang="en-US" sz="1300" dirty="0">
                <a:solidFill>
                  <a:srgbClr val="CFE2DA"/>
                </a:solidFill>
              </a:rPr>
              <a:t>MD Abdun Fattah Lam (2220014)  ·  Mukut Protim Memo (2020086)</a:t>
            </a:r>
            <a:endParaRPr lang="en-US" sz="1300" dirty="0"/>
          </a:p>
          <a:p>
            <a:pPr indent="0" marL="0">
              <a:spcAft>
                <a:spcPts val="400"/>
              </a:spcAft>
              <a:buNone/>
            </a:pPr>
            <a:r>
              <a:rPr lang="en-US" sz="1300" dirty="0">
                <a:solidFill>
                  <a:srgbClr val="CFE2DA"/>
                </a:solidFill>
              </a:rPr>
              <a:t>Tanjila Hossain Tapti (2130561)</a:t>
            </a:r>
            <a:endParaRPr lang="en-US" sz="1300" dirty="0"/>
          </a:p>
          <a:p>
            <a:pPr indent="0" marL="0">
              <a:spcAft>
                <a:spcPts val="400"/>
              </a:spcAft>
              <a:buNone/>
            </a:pPr>
            <a:r>
              <a:rPr lang="en-US" sz="1300" dirty="0">
                <a:solidFill>
                  <a:srgbClr val="CFE2DA"/>
                </a:solidFill>
              </a:rPr>
              <a:t>Supervisor: Mohammad Shidujaman, PhD, Assistant Professor</a:t>
            </a:r>
            <a:endParaRPr lang="en-US" sz="1300" dirty="0"/>
          </a:p>
          <a:p>
            <a:pPr indent="0" marL="0">
              <a:spcAft>
                <a:spcPts val="400"/>
              </a:spcAft>
              <a:buNone/>
            </a:pPr>
            <a:r>
              <a:rPr lang="en-US" sz="1300" dirty="0">
                <a:solidFill>
                  <a:srgbClr val="CFE2DA"/>
                </a:solidFill>
              </a:rPr>
              <a:t>Department of Computer Science and Engineering, Independent University, Bangladesh</a:t>
            </a:r>
            <a:endParaRPr lang="en-US"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Three everyday challenges</a:t>
            </a:r>
            <a:endParaRPr lang="en-US" sz="3000" dirty="0"/>
          </a:p>
        </p:txBody>
      </p:sp>
      <p:sp>
        <p:nvSpPr>
          <p:cNvPr id="3" name="Money label"/>
          <p:cNvSpPr txBox="1"/>
          <p:nvPr/>
        </p:nvSpPr>
        <p:spPr>
          <a:xfrm>
            <a:off x="548640"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Money</a:t>
            </a:r>
            <a:endParaRPr lang="en-US" sz="2600" dirty="0"/>
          </a:p>
        </p:txBody>
      </p:sp>
      <p:sp>
        <p:nvSpPr>
          <p:cNvPr id="4" name="Reading label"/>
          <p:cNvSpPr txBox="1"/>
          <p:nvPr/>
        </p:nvSpPr>
        <p:spPr>
          <a:xfrm>
            <a:off x="4233672"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Reading</a:t>
            </a:r>
            <a:endParaRPr lang="en-US" sz="2600" dirty="0"/>
          </a:p>
        </p:txBody>
      </p:sp>
      <p:sp>
        <p:nvSpPr>
          <p:cNvPr id="5" name="Surroundings label"/>
          <p:cNvSpPr txBox="1"/>
          <p:nvPr/>
        </p:nvSpPr>
        <p:spPr>
          <a:xfrm>
            <a:off x="7918704" y="1261872"/>
            <a:ext cx="3685032" cy="502920"/>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Surroundings</a:t>
            </a:r>
            <a:endParaRPr lang="en-US" sz="2600" dirty="0"/>
          </a:p>
        </p:txBody>
      </p:sp>
      <p:pic>
        <p:nvPicPr>
          <p:cNvPr id="6" name="Without and with SARA" descr="E:\Final SP\Thesis Report and paper\tools\deck\assets/cartoon_full.jpg">    </p:cNvPr>
          <p:cNvPicPr>
            <a:picLocks noChangeAspect="1"/>
          </p:cNvPicPr>
          <p:nvPr/>
        </p:nvPicPr>
        <p:blipFill>
          <a:blip r:embed="rId1"/>
          <a:stretch>
            <a:fillRect/>
          </a:stretch>
        </p:blipFill>
        <p:spPr>
          <a:xfrm>
            <a:off x="548640" y="1828800"/>
            <a:ext cx="11064240" cy="4424580"/>
          </a:xfrm>
          <a:prstGeom prst="rect">
            <a:avLst/>
          </a:prstGeom>
        </p:spPr>
      </p:pic>
      <p:sp>
        <p:nvSpPr>
          <p:cNvPr id="7"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existing solutions fall short</a:t>
            </a:r>
            <a:endParaRPr lang="en-US" sz="3000" dirty="0"/>
          </a:p>
        </p:txBody>
      </p:sp>
      <p:sp>
        <p:nvSpPr>
          <p:cNvPr id="3" name="Statistic card"/>
          <p:cNvSpPr/>
          <p:nvPr/>
        </p:nvSpPr>
        <p:spPr>
          <a:xfrm>
            <a:off x="548640" y="1325880"/>
            <a:ext cx="3840480" cy="4526280"/>
          </a:xfrm>
          <a:prstGeom prst="roundRect">
            <a:avLst>
              <a:gd name="adj" fmla="val 2857"/>
            </a:avLst>
          </a:prstGeom>
          <a:solidFill>
            <a:schemeClr val="tx2"/>
          </a:solidFill>
          <a:ln w="12700">
            <a:solidFill>
              <a:schemeClr val="tx2"/>
            </a:solidFill>
            <a:prstDash val="solid"/>
          </a:ln>
        </p:spPr>
      </p:sp>
      <p:sp>
        <p:nvSpPr>
          <p:cNvPr id="4" name="WHO figure"/>
          <p:cNvSpPr txBox="1"/>
          <p:nvPr/>
        </p:nvSpPr>
        <p:spPr>
          <a:xfrm>
            <a:off x="868680" y="1920240"/>
            <a:ext cx="329184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2.2 billion</a:t>
            </a:r>
            <a:endParaRPr lang="en-US" sz="4800" dirty="0"/>
          </a:p>
        </p:txBody>
      </p:sp>
      <p:sp>
        <p:nvSpPr>
          <p:cNvPr id="5" name="WHO label"/>
          <p:cNvSpPr txBox="1"/>
          <p:nvPr/>
        </p:nvSpPr>
        <p:spPr>
          <a:xfrm>
            <a:off x="868680" y="2880360"/>
            <a:ext cx="3246120" cy="1097280"/>
          </a:xfrm>
          <a:prstGeom prst="rect">
            <a:avLst/>
          </a:prstGeom>
          <a:noFill/>
          <a:ln/>
        </p:spPr>
        <p:txBody>
          <a:bodyPr wrap="square" lIns="0" tIns="0" rIns="0" bIns="0" rtlCol="0" anchor="t"/>
          <a:lstStyle/>
          <a:p>
            <a:pPr indent="0" marL="0">
              <a:buNone/>
            </a:pPr>
            <a:r>
              <a:rPr lang="en-US" sz="1900" dirty="0">
                <a:solidFill>
                  <a:srgbClr val="E4EFEA"/>
                </a:solidFill>
              </a:rPr>
              <a:t>people worldwide have a near or distance vision impairment [1]</a:t>
            </a:r>
            <a:endParaRPr lang="en-US" sz="1900" dirty="0"/>
          </a:p>
        </p:txBody>
      </p:sp>
      <p:sp>
        <p:nvSpPr>
          <p:cNvPr id="6" name="WHO note"/>
          <p:cNvSpPr txBox="1"/>
          <p:nvPr/>
        </p:nvSpPr>
        <p:spPr>
          <a:xfrm>
            <a:off x="868680" y="4206240"/>
            <a:ext cx="3246120" cy="1097280"/>
          </a:xfrm>
          <a:prstGeom prst="rect">
            <a:avLst/>
          </a:prstGeom>
          <a:noFill/>
          <a:ln/>
        </p:spPr>
        <p:txBody>
          <a:bodyPr wrap="square" lIns="0" tIns="0" rIns="0" bIns="0" rtlCol="0" anchor="t"/>
          <a:lstStyle/>
          <a:p>
            <a:pPr indent="0" marL="0">
              <a:buNone/>
            </a:pPr>
            <a:r>
              <a:rPr lang="en-US" sz="1700" i="1" dirty="0">
                <a:solidFill>
                  <a:srgbClr val="CFE2DA"/>
                </a:solidFill>
              </a:rPr>
              <a:t>most of them in low- and middle-income regions [1]</a:t>
            </a:r>
            <a:endParaRPr lang="en-US" sz="1700" dirty="0"/>
          </a:p>
        </p:txBody>
      </p:sp>
      <p:sp>
        <p:nvSpPr>
          <p:cNvPr id="7" name="Gap 1"/>
          <p:cNvSpPr/>
          <p:nvPr/>
        </p:nvSpPr>
        <p:spPr>
          <a:xfrm>
            <a:off x="4709160" y="1325880"/>
            <a:ext cx="6903720" cy="1371600"/>
          </a:xfrm>
          <a:prstGeom prst="roundRect">
            <a:avLst>
              <a:gd name="adj" fmla="val 8000"/>
            </a:avLst>
          </a:prstGeom>
          <a:solidFill>
            <a:schemeClr val="bg2"/>
          </a:solidFill>
          <a:ln w="12700">
            <a:solidFill>
              <a:schemeClr val="bg2"/>
            </a:solidFill>
            <a:prstDash val="solid"/>
          </a:ln>
        </p:spPr>
      </p:sp>
      <p:sp>
        <p:nvSpPr>
          <p:cNvPr id="8" name="Gap 1 circle"/>
          <p:cNvSpPr/>
          <p:nvPr/>
        </p:nvSpPr>
        <p:spPr>
          <a:xfrm>
            <a:off x="4937760" y="1600200"/>
            <a:ext cx="822960" cy="822960"/>
          </a:xfrm>
          <a:prstGeom prst="ellipse">
            <a:avLst/>
          </a:prstGeom>
          <a:solidFill>
            <a:srgbClr val="006A4E"/>
          </a:solidFill>
          <a:ln w="12700">
            <a:solidFill>
              <a:srgbClr val="006A4E"/>
            </a:solidFill>
            <a:prstDash val="solid"/>
          </a:ln>
        </p:spPr>
      </p:sp>
      <p:pic>
        <p:nvPicPr>
          <p:cNvPr id="9" name="Gap 1 icon" descr="preencoded.png">    </p:cNvPr>
          <p:cNvPicPr>
            <a:picLocks noChangeAspect="1"/>
          </p:cNvPicPr>
          <p:nvPr/>
        </p:nvPicPr>
        <p:blipFill>
          <a:blip r:embed="rId1"/>
          <a:stretch>
            <a:fillRect/>
          </a:stretch>
        </p:blipFill>
        <p:spPr>
          <a:xfrm>
            <a:off x="5135270" y="1797710"/>
            <a:ext cx="427939" cy="427939"/>
          </a:xfrm>
          <a:prstGeom prst="rect">
            <a:avLst/>
          </a:prstGeom>
        </p:spPr>
      </p:pic>
      <p:sp>
        <p:nvSpPr>
          <p:cNvPr id="10" name="Gap 1 heading"/>
          <p:cNvSpPr txBox="1"/>
          <p:nvPr/>
        </p:nvSpPr>
        <p:spPr>
          <a:xfrm>
            <a:off x="5989320" y="150876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Bangla support</a:t>
            </a:r>
            <a:endParaRPr lang="en-US" sz="2400" dirty="0"/>
          </a:p>
        </p:txBody>
      </p:sp>
      <p:sp>
        <p:nvSpPr>
          <p:cNvPr id="11" name="Gap 1 text"/>
          <p:cNvSpPr txBox="1"/>
          <p:nvPr/>
        </p:nvSpPr>
        <p:spPr>
          <a:xfrm>
            <a:off x="5989320" y="2039112"/>
            <a:ext cx="5486400" cy="502920"/>
          </a:xfrm>
          <a:prstGeom prst="rect">
            <a:avLst/>
          </a:prstGeom>
          <a:noFill/>
          <a:ln/>
        </p:spPr>
        <p:txBody>
          <a:bodyPr wrap="square" lIns="0" tIns="0" rIns="0" bIns="0" rtlCol="0" anchor="t"/>
          <a:lstStyle/>
          <a:p>
            <a:pPr indent="0" marL="0">
              <a:buNone/>
            </a:pPr>
            <a:r>
              <a:rPr lang="en-US" sz="1800" dirty="0">
                <a:solidFill>
                  <a:schemeClr val="tx1"/>
                </a:solidFill>
              </a:rPr>
              <a:t>OrCam MyEye does not support Bangla [2]</a:t>
            </a:r>
            <a:endParaRPr lang="en-US" sz="1800" dirty="0"/>
          </a:p>
        </p:txBody>
      </p:sp>
      <p:sp>
        <p:nvSpPr>
          <p:cNvPr id="12" name="Gap 2"/>
          <p:cNvSpPr/>
          <p:nvPr/>
        </p:nvSpPr>
        <p:spPr>
          <a:xfrm>
            <a:off x="4709160" y="2880360"/>
            <a:ext cx="6903720" cy="1371600"/>
          </a:xfrm>
          <a:prstGeom prst="roundRect">
            <a:avLst>
              <a:gd name="adj" fmla="val 8000"/>
            </a:avLst>
          </a:prstGeom>
          <a:solidFill>
            <a:schemeClr val="bg2"/>
          </a:solidFill>
          <a:ln w="12700">
            <a:solidFill>
              <a:schemeClr val="bg2"/>
            </a:solidFill>
            <a:prstDash val="solid"/>
          </a:ln>
        </p:spPr>
      </p:sp>
      <p:sp>
        <p:nvSpPr>
          <p:cNvPr id="13" name="Gap 2 circle"/>
          <p:cNvSpPr/>
          <p:nvPr/>
        </p:nvSpPr>
        <p:spPr>
          <a:xfrm>
            <a:off x="4937760" y="3154680"/>
            <a:ext cx="822960" cy="822960"/>
          </a:xfrm>
          <a:prstGeom prst="ellipse">
            <a:avLst/>
          </a:prstGeom>
          <a:solidFill>
            <a:srgbClr val="3A8F72"/>
          </a:solidFill>
          <a:ln w="12700">
            <a:solidFill>
              <a:srgbClr val="3A8F72"/>
            </a:solidFill>
            <a:prstDash val="solid"/>
          </a:ln>
        </p:spPr>
      </p:sp>
      <p:pic>
        <p:nvPicPr>
          <p:cNvPr id="14" name="Gap 2 icon" descr="preencoded.png">    </p:cNvPr>
          <p:cNvPicPr>
            <a:picLocks noChangeAspect="1"/>
          </p:cNvPicPr>
          <p:nvPr/>
        </p:nvPicPr>
        <p:blipFill>
          <a:blip r:embed="rId2"/>
          <a:stretch>
            <a:fillRect/>
          </a:stretch>
        </p:blipFill>
        <p:spPr>
          <a:xfrm>
            <a:off x="5135270" y="3352190"/>
            <a:ext cx="427939" cy="427939"/>
          </a:xfrm>
          <a:prstGeom prst="rect">
            <a:avLst/>
          </a:prstGeom>
        </p:spPr>
      </p:pic>
      <p:sp>
        <p:nvSpPr>
          <p:cNvPr id="15" name="Gap 2 heading"/>
          <p:cNvSpPr txBox="1"/>
          <p:nvPr/>
        </p:nvSpPr>
        <p:spPr>
          <a:xfrm>
            <a:off x="5989320" y="306324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Internet dependence</a:t>
            </a:r>
            <a:endParaRPr lang="en-US" sz="2400" dirty="0"/>
          </a:p>
        </p:txBody>
      </p:sp>
      <p:sp>
        <p:nvSpPr>
          <p:cNvPr id="16" name="Gap 2 text"/>
          <p:cNvSpPr txBox="1"/>
          <p:nvPr/>
        </p:nvSpPr>
        <p:spPr>
          <a:xfrm>
            <a:off x="5989320" y="3593592"/>
            <a:ext cx="5486400" cy="502920"/>
          </a:xfrm>
          <a:prstGeom prst="rect">
            <a:avLst/>
          </a:prstGeom>
          <a:noFill/>
          <a:ln/>
        </p:spPr>
        <p:txBody>
          <a:bodyPr wrap="square" lIns="0" tIns="0" rIns="0" bIns="0" rtlCol="0" anchor="t"/>
          <a:lstStyle/>
          <a:p>
            <a:pPr indent="0" marL="0">
              <a:buNone/>
            </a:pPr>
            <a:r>
              <a:rPr lang="en-US" sz="1800" dirty="0">
                <a:solidFill>
                  <a:schemeClr val="tx1"/>
                </a:solidFill>
              </a:rPr>
              <a:t>Research glasses send pictures to a server [3, 4]</a:t>
            </a:r>
            <a:endParaRPr lang="en-US" sz="1800" dirty="0"/>
          </a:p>
        </p:txBody>
      </p:sp>
      <p:sp>
        <p:nvSpPr>
          <p:cNvPr id="17" name="Gap 3"/>
          <p:cNvSpPr/>
          <p:nvPr/>
        </p:nvSpPr>
        <p:spPr>
          <a:xfrm>
            <a:off x="4709160" y="4434840"/>
            <a:ext cx="6903720" cy="1371600"/>
          </a:xfrm>
          <a:prstGeom prst="roundRect">
            <a:avLst>
              <a:gd name="adj" fmla="val 8000"/>
            </a:avLst>
          </a:prstGeom>
          <a:solidFill>
            <a:schemeClr val="bg2"/>
          </a:solidFill>
          <a:ln w="12700">
            <a:solidFill>
              <a:schemeClr val="bg2"/>
            </a:solidFill>
            <a:prstDash val="solid"/>
          </a:ln>
        </p:spPr>
      </p:sp>
      <p:sp>
        <p:nvSpPr>
          <p:cNvPr id="18" name="Gap 3 circle"/>
          <p:cNvSpPr/>
          <p:nvPr/>
        </p:nvSpPr>
        <p:spPr>
          <a:xfrm>
            <a:off x="4937760" y="4709160"/>
            <a:ext cx="822960" cy="822960"/>
          </a:xfrm>
          <a:prstGeom prst="ellipse">
            <a:avLst/>
          </a:prstGeom>
          <a:solidFill>
            <a:srgbClr val="D7263D"/>
          </a:solidFill>
          <a:ln w="12700">
            <a:solidFill>
              <a:srgbClr val="D7263D"/>
            </a:solidFill>
            <a:prstDash val="solid"/>
          </a:ln>
        </p:spPr>
      </p:sp>
      <p:pic>
        <p:nvPicPr>
          <p:cNvPr id="19" name="Gap 3 icon" descr="preencoded.png">    </p:cNvPr>
          <p:cNvPicPr>
            <a:picLocks noChangeAspect="1"/>
          </p:cNvPicPr>
          <p:nvPr/>
        </p:nvPicPr>
        <p:blipFill>
          <a:blip r:embed="rId3"/>
          <a:stretch>
            <a:fillRect/>
          </a:stretch>
        </p:blipFill>
        <p:spPr>
          <a:xfrm>
            <a:off x="5135270" y="4906670"/>
            <a:ext cx="427939" cy="427939"/>
          </a:xfrm>
          <a:prstGeom prst="rect">
            <a:avLst/>
          </a:prstGeom>
        </p:spPr>
      </p:pic>
      <p:sp>
        <p:nvSpPr>
          <p:cNvPr id="20" name="Gap 3 heading"/>
          <p:cNvSpPr txBox="1"/>
          <p:nvPr/>
        </p:nvSpPr>
        <p:spPr>
          <a:xfrm>
            <a:off x="5989320" y="4617720"/>
            <a:ext cx="5486400" cy="50292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Limited Taka verification</a:t>
            </a:r>
            <a:endParaRPr lang="en-US" sz="2400" dirty="0"/>
          </a:p>
        </p:txBody>
      </p:sp>
      <p:sp>
        <p:nvSpPr>
          <p:cNvPr id="21" name="Gap 3 text"/>
          <p:cNvSpPr txBox="1"/>
          <p:nvPr/>
        </p:nvSpPr>
        <p:spPr>
          <a:xfrm>
            <a:off x="5989320" y="5148072"/>
            <a:ext cx="5486400" cy="502920"/>
          </a:xfrm>
          <a:prstGeom prst="rect">
            <a:avLst/>
          </a:prstGeom>
          <a:noFill/>
          <a:ln/>
        </p:spPr>
        <p:txBody>
          <a:bodyPr wrap="square" lIns="0" tIns="0" rIns="0" bIns="0" rtlCol="0" anchor="t"/>
          <a:lstStyle/>
          <a:p>
            <a:pPr indent="0" marL="0">
              <a:buNone/>
            </a:pPr>
            <a:r>
              <a:rPr lang="en-US" sz="1800" dirty="0">
                <a:solidFill>
                  <a:schemeClr val="tx1"/>
                </a:solidFill>
              </a:rPr>
              <a:t>Reviewed systems do not name Taka notes [2, 3, 4]</a:t>
            </a:r>
            <a:endParaRPr lang="en-US" sz="1800" dirty="0"/>
          </a:p>
        </p:txBody>
      </p:sp>
      <p:sp>
        <p:nvSpPr>
          <p:cNvPr id="2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 WHO 2023; [2] OrCam MyEye; [3] Ali A. et al., IEEE Access 2021; [4] Brilli et al., arXiv 2024.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SARA in action: ask the glass, not a stranger</a:t>
            </a:r>
            <a:endParaRPr lang="en-US" sz="3000" dirty="0"/>
          </a:p>
        </p:txBody>
      </p:sp>
      <p:pic>
        <p:nvPicPr>
          <p:cNvPr id="3" name="SARA prototype, worn" descr="E:\Final SP\Thesis Report and paper\tools\deck\assets/1_20.jpg">    </p:cNvPr>
          <p:cNvPicPr>
            <a:picLocks noChangeAspect="1"/>
          </p:cNvPicPr>
          <p:nvPr/>
        </p:nvPicPr>
        <p:blipFill>
          <a:blip r:embed="rId1"/>
          <a:srcRect l="0" r="0" t="0" b="0"/>
          <a:stretch/>
        </p:blipFill>
        <p:spPr>
          <a:xfrm>
            <a:off x="548640" y="1325880"/>
            <a:ext cx="2834640" cy="4663440"/>
          </a:xfrm>
          <a:prstGeom prst="rect">
            <a:avLst/>
          </a:prstGeom>
        </p:spPr>
      </p:pic>
      <p:sp>
        <p:nvSpPr>
          <p:cNvPr id="4" name="Prototype caption"/>
          <p:cNvSpPr txBox="1"/>
          <p:nvPr/>
        </p:nvSpPr>
        <p:spPr>
          <a:xfrm>
            <a:off x="548640" y="6035040"/>
            <a:ext cx="2834640" cy="292608"/>
          </a:xfrm>
          <a:prstGeom prst="rect">
            <a:avLst/>
          </a:prstGeom>
          <a:noFill/>
          <a:ln/>
        </p:spPr>
        <p:txBody>
          <a:bodyPr wrap="square" lIns="0" tIns="0" rIns="0" bIns="0" rtlCol="0" anchor="ctr"/>
          <a:lstStyle/>
          <a:p>
            <a:pPr algn="ctr" indent="0" marL="0">
              <a:buNone/>
            </a:pPr>
            <a:r>
              <a:rPr lang="en-US" sz="1200" i="1" dirty="0">
                <a:solidFill>
                  <a:schemeClr val="accent5"/>
                </a:solidFill>
              </a:rPr>
              <a:t>Our prototype</a:t>
            </a:r>
            <a:endParaRPr lang="en-US" sz="1200" dirty="0"/>
          </a:p>
        </p:txBody>
      </p:sp>
      <p:sp>
        <p:nvSpPr>
          <p:cNvPr id="5" name="Offline note"/>
          <p:cNvSpPr txBox="1"/>
          <p:nvPr/>
        </p:nvSpPr>
        <p:spPr>
          <a:xfrm>
            <a:off x="3749040" y="6035040"/>
            <a:ext cx="7863840" cy="320040"/>
          </a:xfrm>
          <a:prstGeom prst="rect">
            <a:avLst/>
          </a:prstGeom>
          <a:noFill/>
          <a:ln/>
        </p:spPr>
        <p:txBody>
          <a:bodyPr wrap="square" lIns="0" tIns="0" rIns="0" bIns="0" rtlCol="0" anchor="ctr"/>
          <a:lstStyle/>
          <a:p>
            <a:pPr indent="0" marL="0">
              <a:buNone/>
            </a:pPr>
            <a:r>
              <a:rPr lang="en-US" sz="1400" b="1" dirty="0">
                <a:solidFill>
                  <a:srgbClr val="006A4E"/>
                </a:solidFill>
              </a:rPr>
              <a:t>Offline: </a:t>
            </a:r>
            <a:pPr indent="0" marL="0">
              <a:buNone/>
            </a:pPr>
            <a:r>
              <a:rPr lang="en-US" sz="1400" dirty="0">
                <a:solidFill>
                  <a:schemeClr val="tx1"/>
                </a:solidFill>
              </a:rPr>
              <a:t>text, objects, Taka, emotion.   </a:t>
            </a:r>
            <a:pPr indent="0" marL="0">
              <a:buNone/>
            </a:pPr>
            <a:r>
              <a:rPr lang="en-US" sz="1400" b="1" dirty="0">
                <a:solidFill>
                  <a:srgbClr val="5E6B66"/>
                </a:solidFill>
              </a:rPr>
              <a:t>Optional online: </a:t>
            </a:r>
            <a:pPr indent="0" marL="0">
              <a:buNone/>
            </a:pPr>
            <a:r>
              <a:rPr lang="en-US" sz="1400" dirty="0">
                <a:solidFill>
                  <a:schemeClr val="tx1"/>
                </a:solidFill>
              </a:rPr>
              <a:t>scene description only.</a:t>
            </a:r>
            <a:endParaRPr lang="en-US" sz="1400" dirty="0"/>
          </a:p>
        </p:txBody>
      </p:sp>
      <p:sp>
        <p:nvSpPr>
          <p:cNvPr id="6" name="Step 1 circle"/>
          <p:cNvSpPr/>
          <p:nvPr/>
        </p:nvSpPr>
        <p:spPr>
          <a:xfrm>
            <a:off x="3749040" y="1371600"/>
            <a:ext cx="658368" cy="658368"/>
          </a:xfrm>
          <a:prstGeom prst="ellipse">
            <a:avLst/>
          </a:prstGeom>
          <a:solidFill>
            <a:srgbClr val="006A4E"/>
          </a:solidFill>
          <a:ln w="12700">
            <a:solidFill>
              <a:srgbClr val="006A4E"/>
            </a:solidFill>
            <a:prstDash val="solid"/>
          </a:ln>
        </p:spPr>
      </p:sp>
      <p:pic>
        <p:nvPicPr>
          <p:cNvPr id="7" name="Step 1 icon" descr="preencoded.png">    </p:cNvPr>
          <p:cNvPicPr>
            <a:picLocks noChangeAspect="1"/>
          </p:cNvPicPr>
          <p:nvPr/>
        </p:nvPicPr>
        <p:blipFill>
          <a:blip r:embed="rId2"/>
          <a:stretch>
            <a:fillRect/>
          </a:stretch>
        </p:blipFill>
        <p:spPr>
          <a:xfrm>
            <a:off x="3907048" y="1529608"/>
            <a:ext cx="342351" cy="342351"/>
          </a:xfrm>
          <a:prstGeom prst="rect">
            <a:avLst/>
          </a:prstGeom>
        </p:spPr>
      </p:pic>
      <p:sp>
        <p:nvSpPr>
          <p:cNvPr id="8" name="Step 1 heading"/>
          <p:cNvSpPr txBox="1"/>
          <p:nvPr/>
        </p:nvSpPr>
        <p:spPr>
          <a:xfrm>
            <a:off x="449884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Speak</a:t>
            </a:r>
            <a:endParaRPr lang="en-US" sz="1800" dirty="0"/>
          </a:p>
        </p:txBody>
      </p:sp>
      <p:sp>
        <p:nvSpPr>
          <p:cNvPr id="9" name="Step 1 text"/>
          <p:cNvSpPr txBox="1"/>
          <p:nvPr/>
        </p:nvSpPr>
        <p:spPr>
          <a:xfrm>
            <a:off x="449884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"Glass, check money"</a:t>
            </a:r>
            <a:endParaRPr lang="en-US" sz="1400" dirty="0"/>
          </a:p>
        </p:txBody>
      </p:sp>
      <p:sp>
        <p:nvSpPr>
          <p:cNvPr id="10" name="Step arrow 1"/>
          <p:cNvSpPr/>
          <p:nvPr/>
        </p:nvSpPr>
        <p:spPr>
          <a:xfrm>
            <a:off x="6236208" y="1737360"/>
            <a:ext cx="164592" cy="0"/>
          </a:xfrm>
          <a:prstGeom prst="line">
            <a:avLst/>
          </a:prstGeom>
          <a:noFill/>
          <a:ln w="15875">
            <a:solidFill>
              <a:srgbClr val="9DB8AD"/>
            </a:solidFill>
            <a:prstDash val="solid"/>
            <a:tailEnd type="triangle"/>
          </a:ln>
        </p:spPr>
      </p:sp>
      <p:sp>
        <p:nvSpPr>
          <p:cNvPr id="11" name="Step 2 circle"/>
          <p:cNvSpPr/>
          <p:nvPr/>
        </p:nvSpPr>
        <p:spPr>
          <a:xfrm>
            <a:off x="6446520" y="1371600"/>
            <a:ext cx="658368" cy="658368"/>
          </a:xfrm>
          <a:prstGeom prst="ellipse">
            <a:avLst/>
          </a:prstGeom>
          <a:solidFill>
            <a:srgbClr val="3A8F72"/>
          </a:solidFill>
          <a:ln w="12700">
            <a:solidFill>
              <a:srgbClr val="3A8F72"/>
            </a:solidFill>
            <a:prstDash val="solid"/>
          </a:ln>
        </p:spPr>
      </p:sp>
      <p:pic>
        <p:nvPicPr>
          <p:cNvPr id="12" name="Step 2 icon" descr="preencoded.png">    </p:cNvPr>
          <p:cNvPicPr>
            <a:picLocks noChangeAspect="1"/>
          </p:cNvPicPr>
          <p:nvPr/>
        </p:nvPicPr>
        <p:blipFill>
          <a:blip r:embed="rId3"/>
          <a:stretch>
            <a:fillRect/>
          </a:stretch>
        </p:blipFill>
        <p:spPr>
          <a:xfrm>
            <a:off x="6604528" y="1529608"/>
            <a:ext cx="342351" cy="342351"/>
          </a:xfrm>
          <a:prstGeom prst="rect">
            <a:avLst/>
          </a:prstGeom>
        </p:spPr>
      </p:pic>
      <p:sp>
        <p:nvSpPr>
          <p:cNvPr id="13" name="Step 2 heading"/>
          <p:cNvSpPr txBox="1"/>
          <p:nvPr/>
        </p:nvSpPr>
        <p:spPr>
          <a:xfrm>
            <a:off x="719632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Detect offline</a:t>
            </a:r>
            <a:endParaRPr lang="en-US" sz="1800" dirty="0"/>
          </a:p>
        </p:txBody>
      </p:sp>
      <p:sp>
        <p:nvSpPr>
          <p:cNvPr id="14" name="Step 2 text"/>
          <p:cNvSpPr txBox="1"/>
          <p:nvPr/>
        </p:nvSpPr>
        <p:spPr>
          <a:xfrm>
            <a:off x="719632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Raspberry Pi 5, no internet</a:t>
            </a:r>
            <a:endParaRPr lang="en-US" sz="1400" dirty="0"/>
          </a:p>
        </p:txBody>
      </p:sp>
      <p:sp>
        <p:nvSpPr>
          <p:cNvPr id="15" name="Step arrow 2"/>
          <p:cNvSpPr/>
          <p:nvPr/>
        </p:nvSpPr>
        <p:spPr>
          <a:xfrm>
            <a:off x="8933688" y="1737360"/>
            <a:ext cx="164592" cy="0"/>
          </a:xfrm>
          <a:prstGeom prst="line">
            <a:avLst/>
          </a:prstGeom>
          <a:noFill/>
          <a:ln w="15875">
            <a:solidFill>
              <a:srgbClr val="9DB8AD"/>
            </a:solidFill>
            <a:prstDash val="solid"/>
            <a:tailEnd type="triangle"/>
          </a:ln>
        </p:spPr>
      </p:sp>
      <p:sp>
        <p:nvSpPr>
          <p:cNvPr id="16" name="Step 3 circle"/>
          <p:cNvSpPr/>
          <p:nvPr/>
        </p:nvSpPr>
        <p:spPr>
          <a:xfrm>
            <a:off x="9144000" y="1371600"/>
            <a:ext cx="658368" cy="658368"/>
          </a:xfrm>
          <a:prstGeom prst="ellipse">
            <a:avLst/>
          </a:prstGeom>
          <a:solidFill>
            <a:srgbClr val="0B4D3B"/>
          </a:solidFill>
          <a:ln w="12700">
            <a:solidFill>
              <a:srgbClr val="0B4D3B"/>
            </a:solidFill>
            <a:prstDash val="solid"/>
          </a:ln>
        </p:spPr>
      </p:sp>
      <p:pic>
        <p:nvPicPr>
          <p:cNvPr id="17" name="Step 3 icon" descr="preencoded.png">    </p:cNvPr>
          <p:cNvPicPr>
            <a:picLocks noChangeAspect="1"/>
          </p:cNvPicPr>
          <p:nvPr/>
        </p:nvPicPr>
        <p:blipFill>
          <a:blip r:embed="rId4"/>
          <a:stretch>
            <a:fillRect/>
          </a:stretch>
        </p:blipFill>
        <p:spPr>
          <a:xfrm>
            <a:off x="9302008" y="1529608"/>
            <a:ext cx="342351" cy="342351"/>
          </a:xfrm>
          <a:prstGeom prst="rect">
            <a:avLst/>
          </a:prstGeom>
        </p:spPr>
      </p:pic>
      <p:sp>
        <p:nvSpPr>
          <p:cNvPr id="18" name="Step 3 heading"/>
          <p:cNvSpPr txBox="1"/>
          <p:nvPr/>
        </p:nvSpPr>
        <p:spPr>
          <a:xfrm>
            <a:off x="9893808" y="1344168"/>
            <a:ext cx="178308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Hear the answer</a:t>
            </a:r>
            <a:endParaRPr lang="en-US" sz="1800" dirty="0"/>
          </a:p>
        </p:txBody>
      </p:sp>
      <p:sp>
        <p:nvSpPr>
          <p:cNvPr id="19" name="Step 3 text"/>
          <p:cNvSpPr txBox="1"/>
          <p:nvPr/>
        </p:nvSpPr>
        <p:spPr>
          <a:xfrm>
            <a:off x="9893808" y="1755648"/>
            <a:ext cx="1783080" cy="548640"/>
          </a:xfrm>
          <a:prstGeom prst="rect">
            <a:avLst/>
          </a:prstGeom>
          <a:noFill/>
          <a:ln/>
        </p:spPr>
        <p:txBody>
          <a:bodyPr wrap="square" lIns="0" tIns="0" rIns="0" bIns="0" rtlCol="0" anchor="t"/>
          <a:lstStyle/>
          <a:p>
            <a:pPr indent="0" marL="0">
              <a:buNone/>
            </a:pPr>
            <a:r>
              <a:rPr lang="en-US" sz="1400" dirty="0">
                <a:solidFill>
                  <a:schemeClr val="tx1"/>
                </a:solidFill>
              </a:rPr>
              <a:t>Bangla speech + vibration</a:t>
            </a:r>
            <a:endParaRPr lang="en-US" sz="1400" dirty="0"/>
          </a:p>
        </p:txBody>
      </p:sp>
      <p:sp>
        <p:nvSpPr>
          <p:cNvPr id="20" name="Money card"/>
          <p:cNvSpPr/>
          <p:nvPr/>
        </p:nvSpPr>
        <p:spPr>
          <a:xfrm>
            <a:off x="3749040" y="2606040"/>
            <a:ext cx="2514600" cy="2423160"/>
          </a:xfrm>
          <a:prstGeom prst="roundRect">
            <a:avLst>
              <a:gd name="adj" fmla="val 4528"/>
            </a:avLst>
          </a:prstGeom>
          <a:solidFill>
            <a:schemeClr val="bg2"/>
          </a:solidFill>
          <a:ln w="12700">
            <a:solidFill>
              <a:schemeClr val="bg2"/>
            </a:solidFill>
            <a:prstDash val="solid"/>
          </a:ln>
        </p:spPr>
      </p:sp>
      <p:sp>
        <p:nvSpPr>
          <p:cNvPr id="21" name="Money circle"/>
          <p:cNvSpPr/>
          <p:nvPr/>
        </p:nvSpPr>
        <p:spPr>
          <a:xfrm>
            <a:off x="4645152" y="2788920"/>
            <a:ext cx="731520" cy="731520"/>
          </a:xfrm>
          <a:prstGeom prst="ellipse">
            <a:avLst/>
          </a:prstGeom>
          <a:solidFill>
            <a:srgbClr val="006A4E"/>
          </a:solidFill>
          <a:ln w="12700">
            <a:solidFill>
              <a:srgbClr val="006A4E"/>
            </a:solidFill>
            <a:prstDash val="solid"/>
          </a:ln>
        </p:spPr>
      </p:sp>
      <p:pic>
        <p:nvPicPr>
          <p:cNvPr id="22" name="Money icon" descr="preencoded.png">    </p:cNvPr>
          <p:cNvPicPr>
            <a:picLocks noChangeAspect="1"/>
          </p:cNvPicPr>
          <p:nvPr/>
        </p:nvPicPr>
        <p:blipFill>
          <a:blip r:embed="rId5"/>
          <a:stretch>
            <a:fillRect/>
          </a:stretch>
        </p:blipFill>
        <p:spPr>
          <a:xfrm>
            <a:off x="4820717" y="2964485"/>
            <a:ext cx="380390" cy="380390"/>
          </a:xfrm>
          <a:prstGeom prst="rect">
            <a:avLst/>
          </a:prstGeom>
        </p:spPr>
      </p:pic>
      <p:sp>
        <p:nvSpPr>
          <p:cNvPr id="23" name="Money label"/>
          <p:cNvSpPr txBox="1"/>
          <p:nvPr/>
        </p:nvSpPr>
        <p:spPr>
          <a:xfrm>
            <a:off x="384048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Money</a:t>
            </a:r>
            <a:endParaRPr lang="en-US" sz="2000" dirty="0"/>
          </a:p>
        </p:txBody>
      </p:sp>
      <p:sp>
        <p:nvSpPr>
          <p:cNvPr id="24" name="Money answer"/>
          <p:cNvSpPr txBox="1"/>
          <p:nvPr/>
        </p:nvSpPr>
        <p:spPr>
          <a:xfrm>
            <a:off x="388620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the note and screens it with care</a:t>
            </a:r>
            <a:endParaRPr lang="en-US" sz="1500" dirty="0"/>
          </a:p>
        </p:txBody>
      </p:sp>
      <p:sp>
        <p:nvSpPr>
          <p:cNvPr id="25" name="Reading card"/>
          <p:cNvSpPr/>
          <p:nvPr/>
        </p:nvSpPr>
        <p:spPr>
          <a:xfrm>
            <a:off x="6446520" y="2606040"/>
            <a:ext cx="2514600" cy="2423160"/>
          </a:xfrm>
          <a:prstGeom prst="roundRect">
            <a:avLst>
              <a:gd name="adj" fmla="val 4528"/>
            </a:avLst>
          </a:prstGeom>
          <a:solidFill>
            <a:schemeClr val="bg2"/>
          </a:solidFill>
          <a:ln w="12700">
            <a:solidFill>
              <a:schemeClr val="bg2"/>
            </a:solidFill>
            <a:prstDash val="solid"/>
          </a:ln>
        </p:spPr>
      </p:sp>
      <p:sp>
        <p:nvSpPr>
          <p:cNvPr id="26" name="Reading circle"/>
          <p:cNvSpPr/>
          <p:nvPr/>
        </p:nvSpPr>
        <p:spPr>
          <a:xfrm>
            <a:off x="7342632" y="2788920"/>
            <a:ext cx="731520" cy="731520"/>
          </a:xfrm>
          <a:prstGeom prst="ellipse">
            <a:avLst/>
          </a:prstGeom>
          <a:solidFill>
            <a:srgbClr val="006A4E"/>
          </a:solidFill>
          <a:ln w="12700">
            <a:solidFill>
              <a:srgbClr val="006A4E"/>
            </a:solidFill>
            <a:prstDash val="solid"/>
          </a:ln>
        </p:spPr>
      </p:sp>
      <p:pic>
        <p:nvPicPr>
          <p:cNvPr id="27" name="Reading icon" descr="preencoded.png">    </p:cNvPr>
          <p:cNvPicPr>
            <a:picLocks noChangeAspect="1"/>
          </p:cNvPicPr>
          <p:nvPr/>
        </p:nvPicPr>
        <p:blipFill>
          <a:blip r:embed="rId6"/>
          <a:stretch>
            <a:fillRect/>
          </a:stretch>
        </p:blipFill>
        <p:spPr>
          <a:xfrm>
            <a:off x="7518197" y="2964485"/>
            <a:ext cx="380390" cy="380390"/>
          </a:xfrm>
          <a:prstGeom prst="rect">
            <a:avLst/>
          </a:prstGeom>
        </p:spPr>
      </p:pic>
      <p:sp>
        <p:nvSpPr>
          <p:cNvPr id="28" name="Reading label"/>
          <p:cNvSpPr txBox="1"/>
          <p:nvPr/>
        </p:nvSpPr>
        <p:spPr>
          <a:xfrm>
            <a:off x="653796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Reading</a:t>
            </a:r>
            <a:endParaRPr lang="en-US" sz="2000" dirty="0"/>
          </a:p>
        </p:txBody>
      </p:sp>
      <p:sp>
        <p:nvSpPr>
          <p:cNvPr id="29" name="Reading answer"/>
          <p:cNvSpPr txBox="1"/>
          <p:nvPr/>
        </p:nvSpPr>
        <p:spPr>
          <a:xfrm>
            <a:off x="658368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Reads Bangla and English labels aloud</a:t>
            </a:r>
            <a:endParaRPr lang="en-US" sz="1500" dirty="0"/>
          </a:p>
        </p:txBody>
      </p:sp>
      <p:sp>
        <p:nvSpPr>
          <p:cNvPr id="30" name="Surroundings card"/>
          <p:cNvSpPr/>
          <p:nvPr/>
        </p:nvSpPr>
        <p:spPr>
          <a:xfrm>
            <a:off x="9144000" y="2606040"/>
            <a:ext cx="2514600" cy="2423160"/>
          </a:xfrm>
          <a:prstGeom prst="roundRect">
            <a:avLst>
              <a:gd name="adj" fmla="val 4528"/>
            </a:avLst>
          </a:prstGeom>
          <a:solidFill>
            <a:schemeClr val="bg2"/>
          </a:solidFill>
          <a:ln w="12700">
            <a:solidFill>
              <a:schemeClr val="bg2"/>
            </a:solidFill>
            <a:prstDash val="solid"/>
          </a:ln>
        </p:spPr>
      </p:sp>
      <p:sp>
        <p:nvSpPr>
          <p:cNvPr id="31" name="Surroundings circle"/>
          <p:cNvSpPr/>
          <p:nvPr/>
        </p:nvSpPr>
        <p:spPr>
          <a:xfrm>
            <a:off x="10040112" y="2788920"/>
            <a:ext cx="731520" cy="731520"/>
          </a:xfrm>
          <a:prstGeom prst="ellipse">
            <a:avLst/>
          </a:prstGeom>
          <a:solidFill>
            <a:srgbClr val="006A4E"/>
          </a:solidFill>
          <a:ln w="12700">
            <a:solidFill>
              <a:srgbClr val="006A4E"/>
            </a:solidFill>
            <a:prstDash val="solid"/>
          </a:ln>
        </p:spPr>
      </p:sp>
      <p:pic>
        <p:nvPicPr>
          <p:cNvPr id="32" name="Surroundings icon" descr="preencoded.png">    </p:cNvPr>
          <p:cNvPicPr>
            <a:picLocks noChangeAspect="1"/>
          </p:cNvPicPr>
          <p:nvPr/>
        </p:nvPicPr>
        <p:blipFill>
          <a:blip r:embed="rId7"/>
          <a:stretch>
            <a:fillRect/>
          </a:stretch>
        </p:blipFill>
        <p:spPr>
          <a:xfrm>
            <a:off x="10215677" y="2964485"/>
            <a:ext cx="380390" cy="380390"/>
          </a:xfrm>
          <a:prstGeom prst="rect">
            <a:avLst/>
          </a:prstGeom>
        </p:spPr>
      </p:pic>
      <p:sp>
        <p:nvSpPr>
          <p:cNvPr id="33" name="Surroundings label"/>
          <p:cNvSpPr txBox="1"/>
          <p:nvPr/>
        </p:nvSpPr>
        <p:spPr>
          <a:xfrm>
            <a:off x="9235440" y="3611880"/>
            <a:ext cx="2331720" cy="411480"/>
          </a:xfrm>
          <a:prstGeom prst="rect">
            <a:avLst/>
          </a:prstGeom>
          <a:noFill/>
          <a:ln/>
        </p:spPr>
        <p:txBody>
          <a:bodyPr wrap="square" lIns="0" tIns="0" rIns="0" bIns="0" rtlCol="0" anchor="ctr"/>
          <a:lstStyle/>
          <a:p>
            <a:pPr algn="ctr" indent="0" marL="0">
              <a:buNone/>
            </a:pPr>
            <a:r>
              <a:rPr lang="en-US" sz="2000" b="1" dirty="0">
                <a:solidFill>
                  <a:schemeClr val="tx2"/>
                </a:solidFill>
                <a:latin typeface="Cambria" pitchFamily="34" charset="0"/>
                <a:ea typeface="Cambria" pitchFamily="34" charset="-122"/>
                <a:cs typeface="Cambria" pitchFamily="34" charset="-120"/>
              </a:rPr>
              <a:t>Surroundings</a:t>
            </a:r>
            <a:endParaRPr lang="en-US" sz="2000" dirty="0"/>
          </a:p>
        </p:txBody>
      </p:sp>
      <p:sp>
        <p:nvSpPr>
          <p:cNvPr id="34" name="Surroundings answer"/>
          <p:cNvSpPr txBox="1"/>
          <p:nvPr/>
        </p:nvSpPr>
        <p:spPr>
          <a:xfrm>
            <a:off x="9281160" y="4069080"/>
            <a:ext cx="2240280" cy="822960"/>
          </a:xfrm>
          <a:prstGeom prst="rect">
            <a:avLst/>
          </a:prstGeom>
          <a:noFill/>
          <a:ln/>
        </p:spPr>
        <p:txBody>
          <a:bodyPr wrap="square" lIns="0" tIns="0" rIns="0" bIns="0" rtlCol="0" anchor="t"/>
          <a:lstStyle/>
          <a:p>
            <a:pPr algn="ctr" indent="0" marL="0">
              <a:buNone/>
            </a:pPr>
            <a:r>
              <a:rPr lang="en-US" sz="1500" dirty="0">
                <a:solidFill>
                  <a:schemeClr val="tx1"/>
                </a:solidFill>
              </a:rPr>
              <a:t>Names people and objects ahead</a:t>
            </a:r>
            <a:endParaRPr lang="en-US" sz="1500" dirty="0"/>
          </a:p>
        </p:txBody>
      </p:sp>
      <p:sp>
        <p:nvSpPr>
          <p:cNvPr id="35" name="Spoken answer"/>
          <p:cNvSpPr txBox="1"/>
          <p:nvPr/>
        </p:nvSpPr>
        <p:spPr>
          <a:xfrm>
            <a:off x="3749040" y="5257800"/>
            <a:ext cx="7863840" cy="685800"/>
          </a:xfrm>
          <a:prstGeom prst="roundRect">
            <a:avLst>
              <a:gd name="adj" fmla="val 13333"/>
            </a:avLst>
          </a:prstGeom>
          <a:solidFill>
            <a:srgbClr val="EEF5F1"/>
          </a:solidFill>
          <a:ln>
            <a:solidFill>
              <a:srgbClr val="EEF5F1"/>
            </a:solidFill>
          </a:ln>
        </p:spPr>
        <p:txBody>
          <a:bodyPr wrap="square" lIns="152400" tIns="152400" rIns="152400" bIns="152400" rtlCol="0" anchor="ctr"/>
          <a:lstStyle/>
          <a:p>
            <a:pPr indent="0" marL="0">
              <a:buNone/>
            </a:pPr>
            <a:r>
              <a:rPr lang="en-US" sz="2400" b="1" dirty="0">
                <a:solidFill>
                  <a:srgbClr val="006A4E"/>
                </a:solidFill>
                <a:latin typeface="Nirmala UI" pitchFamily="34" charset="0"/>
                <a:ea typeface="Nirmala UI" pitchFamily="34" charset="-122"/>
                <a:cs typeface="Nirmala UI" pitchFamily="34" charset="-120"/>
              </a:rPr>
              <a:t>পাঁচশত টাকার নোট</a:t>
            </a:r>
            <a:pPr indent="0" marL="0">
              <a:buNone/>
            </a:pPr>
            <a:r>
              <a:rPr lang="en-US" sz="1600" dirty="0">
                <a:solidFill>
                  <a:srgbClr val="1C2321"/>
                </a:solidFill>
              </a:rPr>
              <a:t>   "500 Taka note": the answer the glass speaks</a:t>
            </a:r>
            <a:endParaRPr lang="en-US" sz="2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Five modes, started by button or by voice</a:t>
            </a:r>
            <a:endParaRPr lang="en-US" sz="3000" dirty="0"/>
          </a:p>
        </p:txBody>
      </p:sp>
      <p:pic>
        <p:nvPicPr>
          <p:cNvPr id="3" name="Prototype, side view" descr="E:\Final SP\Thesis Report and paper\tools\deck\assets/1_17.jpg">    </p:cNvPr>
          <p:cNvPicPr>
            <a:picLocks noChangeAspect="1"/>
          </p:cNvPicPr>
          <p:nvPr/>
        </p:nvPicPr>
        <p:blipFill>
          <a:blip r:embed="rId1"/>
          <a:srcRect l="0" r="0" t="0" b="0"/>
          <a:stretch/>
        </p:blipFill>
        <p:spPr>
          <a:xfrm>
            <a:off x="548640" y="1325880"/>
            <a:ext cx="4572000" cy="2569464"/>
          </a:xfrm>
          <a:prstGeom prst="rect">
            <a:avLst/>
          </a:prstGeom>
        </p:spPr>
      </p:pic>
      <p:pic>
        <p:nvPicPr>
          <p:cNvPr id="4" name="Prototype, rear enclosure" descr="E:\Final SP\Thesis Report and paper\tools\deck\assets/1_16.jpg">    </p:cNvPr>
          <p:cNvPicPr>
            <a:picLocks noChangeAspect="1"/>
          </p:cNvPicPr>
          <p:nvPr/>
        </p:nvPicPr>
        <p:blipFill>
          <a:blip r:embed="rId2"/>
          <a:srcRect l="0" r="0" t="0" b="0"/>
          <a:stretch/>
        </p:blipFill>
        <p:spPr>
          <a:xfrm>
            <a:off x="548640" y="3986784"/>
            <a:ext cx="4572000" cy="1956816"/>
          </a:xfrm>
          <a:prstGeom prst="rect">
            <a:avLst/>
          </a:prstGeom>
        </p:spPr>
      </p:pic>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006A4E"/>
          </a:solidFill>
          <a:ln w="12700">
            <a:solidFill>
              <a:srgbClr val="006A4E"/>
            </a:solidFill>
            <a:prstDash val="solid"/>
          </a:ln>
        </p:spPr>
      </p:sp>
      <p:pic>
        <p:nvPicPr>
          <p:cNvPr id="7" name="Text reading icon" descr="preencoded.png">    </p:cNvPr>
          <p:cNvPicPr>
            <a:picLocks noChangeAspect="1"/>
          </p:cNvPicPr>
          <p:nvPr/>
        </p:nvPicPr>
        <p:blipFill>
          <a:blip r:embed="rId3"/>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006A4E"/>
          </a:solidFill>
          <a:ln w="12700">
            <a:solidFill>
              <a:srgbClr val="006A4E"/>
            </a:solidFill>
            <a:prstDash val="solid"/>
          </a:ln>
        </p:spPr>
      </p:sp>
      <p:pic>
        <p:nvPicPr>
          <p:cNvPr id="12" name="Objects icon" descr="preencoded.png">    </p:cNvPr>
          <p:cNvPicPr>
            <a:picLocks noChangeAspect="1"/>
          </p:cNvPicPr>
          <p:nvPr/>
        </p:nvPicPr>
        <p:blipFill>
          <a:blip r:embed="rId4"/>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006A4E"/>
          </a:solidFill>
          <a:ln w="12700">
            <a:solidFill>
              <a:srgbClr val="006A4E"/>
            </a:solidFill>
            <a:prstDash val="solid"/>
          </a:ln>
        </p:spPr>
      </p:sp>
      <p:pic>
        <p:nvPicPr>
          <p:cNvPr id="17" name="Taka notes icon" descr="preencoded.png">    </p:cNvPr>
          <p:cNvPicPr>
            <a:picLocks noChangeAspect="1"/>
          </p:cNvPicPr>
          <p:nvPr/>
        </p:nvPicPr>
        <p:blipFill>
          <a:blip r:embed="rId5"/>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006A4E"/>
          </a:solidFill>
          <a:ln w="12700">
            <a:solidFill>
              <a:srgbClr val="006A4E"/>
            </a:solidFill>
            <a:prstDash val="solid"/>
          </a:ln>
        </p:spPr>
      </p:sp>
      <p:pic>
        <p:nvPicPr>
          <p:cNvPr id="22" name="Emotion icon" descr="preencoded.png">    </p:cNvPr>
          <p:cNvPicPr>
            <a:picLocks noChangeAspect="1"/>
          </p:cNvPicPr>
          <p:nvPr/>
        </p:nvPicPr>
        <p:blipFill>
          <a:blip r:embed="rId6"/>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006A4E"/>
          </a:solidFill>
          <a:ln w="12700">
            <a:solidFill>
              <a:srgbClr val="006A4E"/>
            </a:solidFill>
            <a:prstDash val="solid"/>
          </a:ln>
        </p:spPr>
      </p:sp>
      <p:pic>
        <p:nvPicPr>
          <p:cNvPr id="27" name="Online description icon" descr="preencoded.png">    </p:cNvPr>
          <p:cNvPicPr>
            <a:picLocks noChangeAspect="1"/>
          </p:cNvPicPr>
          <p:nvPr/>
        </p:nvPicPr>
        <p:blipFill>
          <a:blip r:embed="rId7"/>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3A8F72"/>
          </a:solidFill>
          <a:ln w="12700">
            <a:solidFill>
              <a:srgbClr val="3A8F72"/>
            </a:solidFill>
            <a:prstDash val="solid"/>
          </a:ln>
        </p:spPr>
      </p:sp>
      <p:pic>
        <p:nvPicPr>
          <p:cNvPr id="32" name="Buttons icon" descr="preencoded.png">    </p:cNvPr>
          <p:cNvPicPr>
            <a:picLocks noChangeAspect="1"/>
          </p:cNvPicPr>
          <p:nvPr/>
        </p:nvPicPr>
        <p:blipFill>
          <a:blip r:embed="rId8"/>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9"/>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Six 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existing devices miss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r>
              <a:tr h="475488">
                <a:tc>
                  <a:txBody>
                    <a:bodyPr/>
                    <a:lstStyle/>
                    <a:p>
                      <a:pPr indent="0" marL="0">
                        <a:buNone/>
                      </a:pPr>
                      <a:r>
                        <a:rPr lang="en-US" sz="1600" dirty="0">
                          <a:solidFill>
                            <a:srgbClr val="1C2321"/>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C2321"/>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E6B66"/>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C2321"/>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600" b="1" dirty="0">
                          <a:solidFill>
                            <a:srgbClr val="006A4E"/>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4EFEA"/>
                </a:solidFill>
              </a:rPr>
              <a:t>Counterfeit tests reuse the same prints</a:t>
            </a:r>
            <a:endParaRPr lang="en-US" sz="1600" dirty="0"/>
          </a:p>
          <a:p>
            <a:pPr marL="342900" indent="-342900">
              <a:spcAft>
                <a:spcPts val="800"/>
              </a:spcAft>
              <a:buSzPct val="100000"/>
              <a:buChar char="•"/>
            </a:pPr>
            <a:r>
              <a:rPr lang="en-US" sz="1600" dirty="0">
                <a:solidFill>
                  <a:srgbClr val="E4EFEA"/>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the glass works</a:t>
            </a:r>
            <a:endParaRPr lang="en-US" sz="3000" dirty="0"/>
          </a:p>
        </p:txBody>
      </p:sp>
      <p:sp>
        <p:nvSpPr>
          <p:cNvPr id="3" name="Camera, buttons, voice card"/>
          <p:cNvSpPr/>
          <p:nvPr/>
        </p:nvSpPr>
        <p:spPr>
          <a:xfrm>
            <a:off x="548640" y="1325880"/>
            <a:ext cx="2514600" cy="3840480"/>
          </a:xfrm>
          <a:prstGeom prst="roundRect">
            <a:avLst>
              <a:gd name="adj" fmla="val 4364"/>
            </a:avLst>
          </a:prstGeom>
          <a:solidFill>
            <a:schemeClr val="bg2"/>
          </a:solidFill>
          <a:ln w="12700">
            <a:solidFill>
              <a:schemeClr val="bg2"/>
            </a:solidFill>
            <a:prstDash val="solid"/>
          </a:ln>
        </p:spPr>
      </p:sp>
      <p:sp>
        <p:nvSpPr>
          <p:cNvPr id="4" name="Camera, buttons, voice circle"/>
          <p:cNvSpPr/>
          <p:nvPr/>
        </p:nvSpPr>
        <p:spPr>
          <a:xfrm>
            <a:off x="1261872" y="1554480"/>
            <a:ext cx="1097280" cy="1097280"/>
          </a:xfrm>
          <a:prstGeom prst="ellipse">
            <a:avLst/>
          </a:prstGeom>
          <a:solidFill>
            <a:srgbClr val="006A4E"/>
          </a:solidFill>
          <a:ln w="12700">
            <a:solidFill>
              <a:srgbClr val="006A4E"/>
            </a:solidFill>
            <a:prstDash val="solid"/>
          </a:ln>
        </p:spPr>
      </p:sp>
      <p:pic>
        <p:nvPicPr>
          <p:cNvPr id="5" name="Camera, buttons, voice icon" descr="preencoded.png">    </p:cNvPr>
          <p:cNvPicPr>
            <a:picLocks noChangeAspect="1"/>
          </p:cNvPicPr>
          <p:nvPr/>
        </p:nvPicPr>
        <p:blipFill>
          <a:blip r:embed="rId1"/>
          <a:stretch>
            <a:fillRect/>
          </a:stretch>
        </p:blipFill>
        <p:spPr>
          <a:xfrm>
            <a:off x="1525219" y="1817827"/>
            <a:ext cx="570586" cy="570586"/>
          </a:xfrm>
          <a:prstGeom prst="rect">
            <a:avLst/>
          </a:prstGeom>
        </p:spPr>
      </p:pic>
      <p:sp>
        <p:nvSpPr>
          <p:cNvPr id="6" name="Camera, buttons, voice heading"/>
          <p:cNvSpPr txBox="1"/>
          <p:nvPr/>
        </p:nvSpPr>
        <p:spPr>
          <a:xfrm>
            <a:off x="64008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Camera, buttons, voice</a:t>
            </a:r>
            <a:endParaRPr lang="en-US" sz="2000" dirty="0"/>
          </a:p>
        </p:txBody>
      </p:sp>
      <p:sp>
        <p:nvSpPr>
          <p:cNvPr id="7" name="Camera, buttons, voice details"/>
          <p:cNvSpPr txBox="1"/>
          <p:nvPr/>
        </p:nvSpPr>
        <p:spPr>
          <a:xfrm>
            <a:off x="68580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Camera 640×480</a:t>
            </a:r>
            <a:endParaRPr lang="en-US" sz="1500" dirty="0"/>
          </a:p>
          <a:p>
            <a:pPr algn="ctr" indent="0" marL="0">
              <a:spcAft>
                <a:spcPts val="600"/>
              </a:spcAft>
              <a:buNone/>
            </a:pPr>
            <a:r>
              <a:rPr lang="en-US" sz="1500" dirty="0">
                <a:solidFill>
                  <a:schemeClr val="tx1"/>
                </a:solidFill>
              </a:rPr>
              <a:t>5 buttons on the frame</a:t>
            </a:r>
            <a:endParaRPr lang="en-US" sz="1500" dirty="0"/>
          </a:p>
          <a:p>
            <a:pPr algn="ctr" indent="0" marL="0">
              <a:spcAft>
                <a:spcPts val="600"/>
              </a:spcAft>
              <a:buNone/>
            </a:pPr>
            <a:r>
              <a:rPr lang="en-US" sz="1500" dirty="0">
                <a:solidFill>
                  <a:schemeClr val="tx1"/>
                </a:solidFill>
              </a:rPr>
              <a:t>Voice: "glass, …"</a:t>
            </a:r>
            <a:endParaRPr lang="en-US" sz="1500" dirty="0"/>
          </a:p>
        </p:txBody>
      </p:sp>
      <p:sp>
        <p:nvSpPr>
          <p:cNvPr id="8" name="Arrow 1"/>
          <p:cNvSpPr/>
          <p:nvPr/>
        </p:nvSpPr>
        <p:spPr>
          <a:xfrm>
            <a:off x="3136392" y="1874520"/>
            <a:ext cx="256032" cy="502920"/>
          </a:xfrm>
          <a:prstGeom prst="chevron">
            <a:avLst/>
          </a:prstGeom>
          <a:solidFill>
            <a:srgbClr val="B9DCCD"/>
          </a:solidFill>
          <a:ln w="12700">
            <a:solidFill>
              <a:srgbClr val="B9DCCD"/>
            </a:solidFill>
            <a:prstDash val="solid"/>
          </a:ln>
        </p:spPr>
      </p:sp>
      <p:sp>
        <p:nvSpPr>
          <p:cNvPr id="9" name="Raspberry Pi 5 card"/>
          <p:cNvSpPr/>
          <p:nvPr/>
        </p:nvSpPr>
        <p:spPr>
          <a:xfrm>
            <a:off x="3429000" y="1325880"/>
            <a:ext cx="2514600" cy="3840480"/>
          </a:xfrm>
          <a:prstGeom prst="roundRect">
            <a:avLst>
              <a:gd name="adj" fmla="val 4364"/>
            </a:avLst>
          </a:prstGeom>
          <a:solidFill>
            <a:schemeClr val="bg2"/>
          </a:solidFill>
          <a:ln w="12700">
            <a:solidFill>
              <a:schemeClr val="bg2"/>
            </a:solidFill>
            <a:prstDash val="solid"/>
          </a:ln>
        </p:spPr>
      </p:sp>
      <p:sp>
        <p:nvSpPr>
          <p:cNvPr id="10" name="Raspberry Pi 5 circle"/>
          <p:cNvSpPr/>
          <p:nvPr/>
        </p:nvSpPr>
        <p:spPr>
          <a:xfrm>
            <a:off x="4142232" y="1554480"/>
            <a:ext cx="1097280" cy="1097280"/>
          </a:xfrm>
          <a:prstGeom prst="ellipse">
            <a:avLst/>
          </a:prstGeom>
          <a:solidFill>
            <a:srgbClr val="0B4D3B"/>
          </a:solidFill>
          <a:ln w="12700">
            <a:solidFill>
              <a:srgbClr val="0B4D3B"/>
            </a:solidFill>
            <a:prstDash val="solid"/>
          </a:ln>
        </p:spPr>
      </p:sp>
      <p:pic>
        <p:nvPicPr>
          <p:cNvPr id="11" name="Raspberry Pi 5 icon" descr="preencoded.png">    </p:cNvPr>
          <p:cNvPicPr>
            <a:picLocks noChangeAspect="1"/>
          </p:cNvPicPr>
          <p:nvPr/>
        </p:nvPicPr>
        <p:blipFill>
          <a:blip r:embed="rId2"/>
          <a:stretch>
            <a:fillRect/>
          </a:stretch>
        </p:blipFill>
        <p:spPr>
          <a:xfrm>
            <a:off x="4405579" y="1817827"/>
            <a:ext cx="570586" cy="570586"/>
          </a:xfrm>
          <a:prstGeom prst="rect">
            <a:avLst/>
          </a:prstGeom>
        </p:spPr>
      </p:pic>
      <p:sp>
        <p:nvSpPr>
          <p:cNvPr id="12" name="Raspberry Pi 5 heading"/>
          <p:cNvSpPr txBox="1"/>
          <p:nvPr/>
        </p:nvSpPr>
        <p:spPr>
          <a:xfrm>
            <a:off x="352044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Raspberry Pi 5</a:t>
            </a:r>
            <a:endParaRPr lang="en-US" sz="2000" dirty="0"/>
          </a:p>
        </p:txBody>
      </p:sp>
      <p:sp>
        <p:nvSpPr>
          <p:cNvPr id="13" name="Raspberry Pi 5 details"/>
          <p:cNvSpPr txBox="1"/>
          <p:nvPr/>
        </p:nvSpPr>
        <p:spPr>
          <a:xfrm>
            <a:off x="356616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Mode manager</a:t>
            </a:r>
            <a:endParaRPr lang="en-US" sz="1500" dirty="0"/>
          </a:p>
          <a:p>
            <a:pPr algn="ctr" indent="0" marL="0">
              <a:spcAft>
                <a:spcPts val="600"/>
              </a:spcAft>
              <a:buNone/>
            </a:pPr>
            <a:r>
              <a:rPr lang="en-US" sz="1500" dirty="0">
                <a:solidFill>
                  <a:schemeClr val="tx1"/>
                </a:solidFill>
              </a:rPr>
              <a:t>All models on the CPU</a:t>
            </a:r>
            <a:endParaRPr lang="en-US" sz="1500" dirty="0"/>
          </a:p>
          <a:p>
            <a:pPr algn="ctr" indent="0" marL="0">
              <a:spcAft>
                <a:spcPts val="600"/>
              </a:spcAft>
              <a:buNone/>
            </a:pPr>
            <a:r>
              <a:rPr lang="en-US" sz="1500" dirty="0">
                <a:solidFill>
                  <a:schemeClr val="tx1"/>
                </a:solidFill>
              </a:rPr>
              <a:t>Offline, except the online mode</a:t>
            </a:r>
            <a:endParaRPr lang="en-US" sz="1500" dirty="0"/>
          </a:p>
        </p:txBody>
      </p:sp>
      <p:sp>
        <p:nvSpPr>
          <p:cNvPr id="14" name="Arrow 2"/>
          <p:cNvSpPr/>
          <p:nvPr/>
        </p:nvSpPr>
        <p:spPr>
          <a:xfrm>
            <a:off x="6016752" y="1874520"/>
            <a:ext cx="256032" cy="502920"/>
          </a:xfrm>
          <a:prstGeom prst="chevron">
            <a:avLst/>
          </a:prstGeom>
          <a:solidFill>
            <a:srgbClr val="B9DCCD"/>
          </a:solidFill>
          <a:ln w="12700">
            <a:solidFill>
              <a:srgbClr val="B9DCCD"/>
            </a:solidFill>
            <a:prstDash val="solid"/>
          </a:ln>
        </p:spPr>
      </p:sp>
      <p:sp>
        <p:nvSpPr>
          <p:cNvPr id="15" name="AI modules card"/>
          <p:cNvSpPr/>
          <p:nvPr/>
        </p:nvSpPr>
        <p:spPr>
          <a:xfrm>
            <a:off x="6309360" y="1325880"/>
            <a:ext cx="2514600" cy="3840480"/>
          </a:xfrm>
          <a:prstGeom prst="roundRect">
            <a:avLst>
              <a:gd name="adj" fmla="val 4364"/>
            </a:avLst>
          </a:prstGeom>
          <a:solidFill>
            <a:schemeClr val="bg2"/>
          </a:solidFill>
          <a:ln w="12700">
            <a:solidFill>
              <a:schemeClr val="bg2"/>
            </a:solidFill>
            <a:prstDash val="solid"/>
          </a:ln>
        </p:spPr>
      </p:sp>
      <p:sp>
        <p:nvSpPr>
          <p:cNvPr id="16" name="AI modules circle"/>
          <p:cNvSpPr/>
          <p:nvPr/>
        </p:nvSpPr>
        <p:spPr>
          <a:xfrm>
            <a:off x="7022592" y="1554480"/>
            <a:ext cx="1097280" cy="1097280"/>
          </a:xfrm>
          <a:prstGeom prst="ellipse">
            <a:avLst/>
          </a:prstGeom>
          <a:solidFill>
            <a:srgbClr val="3A8F72"/>
          </a:solidFill>
          <a:ln w="12700">
            <a:solidFill>
              <a:srgbClr val="3A8F72"/>
            </a:solidFill>
            <a:prstDash val="solid"/>
          </a:ln>
        </p:spPr>
      </p:sp>
      <p:pic>
        <p:nvPicPr>
          <p:cNvPr id="17" name="AI modules icon" descr="preencoded.png">    </p:cNvPr>
          <p:cNvPicPr>
            <a:picLocks noChangeAspect="1"/>
          </p:cNvPicPr>
          <p:nvPr/>
        </p:nvPicPr>
        <p:blipFill>
          <a:blip r:embed="rId3"/>
          <a:stretch>
            <a:fillRect/>
          </a:stretch>
        </p:blipFill>
        <p:spPr>
          <a:xfrm>
            <a:off x="7285939" y="1817827"/>
            <a:ext cx="570586" cy="570586"/>
          </a:xfrm>
          <a:prstGeom prst="rect">
            <a:avLst/>
          </a:prstGeom>
        </p:spPr>
      </p:pic>
      <p:sp>
        <p:nvSpPr>
          <p:cNvPr id="18" name="AI modules heading"/>
          <p:cNvSpPr txBox="1"/>
          <p:nvPr/>
        </p:nvSpPr>
        <p:spPr>
          <a:xfrm>
            <a:off x="640080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AI modules</a:t>
            </a:r>
            <a:endParaRPr lang="en-US" sz="2000" dirty="0"/>
          </a:p>
        </p:txBody>
      </p:sp>
      <p:sp>
        <p:nvSpPr>
          <p:cNvPr id="19" name="AI modules details"/>
          <p:cNvSpPr txBox="1"/>
          <p:nvPr/>
        </p:nvSpPr>
        <p:spPr>
          <a:xfrm>
            <a:off x="6446520" y="3566160"/>
            <a:ext cx="2240280" cy="2148840"/>
          </a:xfrm>
          <a:prstGeom prst="rect">
            <a:avLst/>
          </a:prstGeom>
          <a:noFill/>
          <a:ln/>
        </p:spPr>
        <p:txBody>
          <a:bodyPr wrap="square" lIns="0" tIns="0" rIns="0" bIns="0" rtlCol="0" anchor="t"/>
          <a:lstStyle/>
          <a:p>
            <a:pPr algn="ctr" indent="0" marL="0">
              <a:spcAft>
                <a:spcPts val="600"/>
              </a:spcAft>
              <a:buNone/>
            </a:pPr>
            <a:r>
              <a:rPr lang="en-US" sz="1300" dirty="0">
                <a:solidFill>
                  <a:schemeClr val="tx1"/>
                </a:solidFill>
              </a:rPr>
              <a:t>Text: CRAFT + EasyOCR [5, 6]</a:t>
            </a:r>
            <a:endParaRPr lang="en-US" sz="1300" dirty="0"/>
          </a:p>
          <a:p>
            <a:pPr algn="ctr" indent="0" marL="0">
              <a:spcAft>
                <a:spcPts val="600"/>
              </a:spcAft>
              <a:buNone/>
            </a:pPr>
            <a:r>
              <a:rPr lang="en-US" sz="1300" dirty="0">
                <a:solidFill>
                  <a:schemeClr val="tx1"/>
                </a:solidFill>
              </a:rPr>
              <a:t>Objects: YOLOv8s, COCO [7, 8]</a:t>
            </a:r>
            <a:endParaRPr lang="en-US" sz="1300" dirty="0"/>
          </a:p>
          <a:p>
            <a:pPr algn="ctr" indent="0" marL="0">
              <a:spcAft>
                <a:spcPts val="600"/>
              </a:spcAft>
              <a:buNone/>
            </a:pPr>
            <a:r>
              <a:rPr lang="en-US" sz="1300" dirty="0">
                <a:solidFill>
                  <a:schemeClr val="tx1"/>
                </a:solidFill>
              </a:rPr>
              <a:t>Taka: YOLOv8s + safe checks</a:t>
            </a:r>
            <a:endParaRPr lang="en-US" sz="1300" dirty="0"/>
          </a:p>
          <a:p>
            <a:pPr algn="ctr" indent="0" marL="0">
              <a:spcAft>
                <a:spcPts val="600"/>
              </a:spcAft>
              <a:buNone/>
            </a:pPr>
            <a:r>
              <a:rPr lang="en-US" sz="1300" dirty="0">
                <a:solidFill>
                  <a:schemeClr val="tx1"/>
                </a:solidFill>
              </a:rPr>
              <a:t>Emotion: YuNet + EfficientNet [9]</a:t>
            </a:r>
            <a:endParaRPr lang="en-US" sz="1300" dirty="0"/>
          </a:p>
          <a:p>
            <a:pPr algn="ctr" indent="0" marL="0">
              <a:spcAft>
                <a:spcPts val="600"/>
              </a:spcAft>
              <a:buNone/>
            </a:pPr>
            <a:r>
              <a:rPr lang="en-US" sz="1300" dirty="0">
                <a:solidFill>
                  <a:schemeClr val="tx1"/>
                </a:solidFill>
              </a:rPr>
              <a:t>Online: cloud model (optional)</a:t>
            </a:r>
            <a:endParaRPr lang="en-US" sz="1300" dirty="0"/>
          </a:p>
        </p:txBody>
      </p:sp>
      <p:sp>
        <p:nvSpPr>
          <p:cNvPr id="20" name="Arrow 3"/>
          <p:cNvSpPr/>
          <p:nvPr/>
        </p:nvSpPr>
        <p:spPr>
          <a:xfrm>
            <a:off x="8897112" y="1874520"/>
            <a:ext cx="256032" cy="502920"/>
          </a:xfrm>
          <a:prstGeom prst="chevron">
            <a:avLst/>
          </a:prstGeom>
          <a:solidFill>
            <a:srgbClr val="B9DCCD"/>
          </a:solidFill>
          <a:ln w="12700">
            <a:solidFill>
              <a:srgbClr val="B9DCCD"/>
            </a:solidFill>
            <a:prstDash val="solid"/>
          </a:ln>
        </p:spPr>
      </p:sp>
      <p:sp>
        <p:nvSpPr>
          <p:cNvPr id="21" name="Audio + vibration card"/>
          <p:cNvSpPr/>
          <p:nvPr/>
        </p:nvSpPr>
        <p:spPr>
          <a:xfrm>
            <a:off x="9189720" y="1325880"/>
            <a:ext cx="2514600" cy="3840480"/>
          </a:xfrm>
          <a:prstGeom prst="roundRect">
            <a:avLst>
              <a:gd name="adj" fmla="val 4364"/>
            </a:avLst>
          </a:prstGeom>
          <a:solidFill>
            <a:schemeClr val="bg2"/>
          </a:solidFill>
          <a:ln w="12700">
            <a:solidFill>
              <a:schemeClr val="bg2"/>
            </a:solidFill>
            <a:prstDash val="solid"/>
          </a:ln>
        </p:spPr>
      </p:sp>
      <p:sp>
        <p:nvSpPr>
          <p:cNvPr id="22" name="Audio + vibration circle"/>
          <p:cNvSpPr/>
          <p:nvPr/>
        </p:nvSpPr>
        <p:spPr>
          <a:xfrm>
            <a:off x="9902952" y="1554480"/>
            <a:ext cx="1097280" cy="1097280"/>
          </a:xfrm>
          <a:prstGeom prst="ellipse">
            <a:avLst/>
          </a:prstGeom>
          <a:solidFill>
            <a:srgbClr val="006A4E"/>
          </a:solidFill>
          <a:ln w="12700">
            <a:solidFill>
              <a:srgbClr val="006A4E"/>
            </a:solidFill>
            <a:prstDash val="solid"/>
          </a:ln>
        </p:spPr>
      </p:sp>
      <p:pic>
        <p:nvPicPr>
          <p:cNvPr id="23" name="Audio + vibration icon" descr="preencoded.png">    </p:cNvPr>
          <p:cNvPicPr>
            <a:picLocks noChangeAspect="1"/>
          </p:cNvPicPr>
          <p:nvPr/>
        </p:nvPicPr>
        <p:blipFill>
          <a:blip r:embed="rId4"/>
          <a:stretch>
            <a:fillRect/>
          </a:stretch>
        </p:blipFill>
        <p:spPr>
          <a:xfrm>
            <a:off x="10166299" y="1817827"/>
            <a:ext cx="570586" cy="570586"/>
          </a:xfrm>
          <a:prstGeom prst="rect">
            <a:avLst/>
          </a:prstGeom>
        </p:spPr>
      </p:pic>
      <p:sp>
        <p:nvSpPr>
          <p:cNvPr id="24" name="Audio + vibration heading"/>
          <p:cNvSpPr txBox="1"/>
          <p:nvPr/>
        </p:nvSpPr>
        <p:spPr>
          <a:xfrm>
            <a:off x="9281160" y="2788920"/>
            <a:ext cx="2331720" cy="731520"/>
          </a:xfrm>
          <a:prstGeom prst="rect">
            <a:avLst/>
          </a:prstGeom>
          <a:noFill/>
          <a:ln/>
        </p:spPr>
        <p:txBody>
          <a:bodyPr wrap="square" lIns="0" tIns="0" rIns="0" bIns="0" rtlCol="0" anchor="t"/>
          <a:lstStyle/>
          <a:p>
            <a:pPr algn="ctr" indent="0" marL="0">
              <a:buNone/>
            </a:pPr>
            <a:r>
              <a:rPr lang="en-US" sz="2000" b="1" dirty="0">
                <a:solidFill>
                  <a:schemeClr val="tx2"/>
                </a:solidFill>
                <a:latin typeface="Cambria" pitchFamily="34" charset="0"/>
                <a:ea typeface="Cambria" pitchFamily="34" charset="-122"/>
                <a:cs typeface="Cambria" pitchFamily="34" charset="-120"/>
              </a:rPr>
              <a:t>Audio + vibration</a:t>
            </a:r>
            <a:endParaRPr lang="en-US" sz="2000" dirty="0"/>
          </a:p>
        </p:txBody>
      </p:sp>
      <p:sp>
        <p:nvSpPr>
          <p:cNvPr id="25" name="Audio + vibration details"/>
          <p:cNvSpPr txBox="1"/>
          <p:nvPr/>
        </p:nvSpPr>
        <p:spPr>
          <a:xfrm>
            <a:off x="9326880" y="3566160"/>
            <a:ext cx="2240280" cy="2148840"/>
          </a:xfrm>
          <a:prstGeom prst="rect">
            <a:avLst/>
          </a:prstGeom>
          <a:noFill/>
          <a:ln/>
        </p:spPr>
        <p:txBody>
          <a:bodyPr wrap="square" lIns="0" tIns="0" rIns="0" bIns="0" rtlCol="0" anchor="t"/>
          <a:lstStyle/>
          <a:p>
            <a:pPr algn="ctr" indent="0" marL="0">
              <a:spcAft>
                <a:spcPts val="600"/>
              </a:spcAft>
              <a:buNone/>
            </a:pPr>
            <a:r>
              <a:rPr lang="en-US" sz="1500" dirty="0">
                <a:solidFill>
                  <a:schemeClr val="tx1"/>
                </a:solidFill>
              </a:rPr>
              <a:t>Bangla or English speech [10, 11]</a:t>
            </a:r>
            <a:endParaRPr lang="en-US" sz="1500" dirty="0"/>
          </a:p>
          <a:p>
            <a:pPr algn="ctr" indent="0" marL="0">
              <a:spcAft>
                <a:spcPts val="600"/>
              </a:spcAft>
              <a:buNone/>
            </a:pPr>
            <a:r>
              <a:rPr lang="en-US" sz="1500" dirty="0">
                <a:solidFill>
                  <a:schemeClr val="tx1"/>
                </a:solidFill>
              </a:rPr>
              <a:t>Vibration for a note</a:t>
            </a:r>
            <a:endParaRPr lang="en-US" sz="1500" dirty="0"/>
          </a:p>
        </p:txBody>
      </p:sp>
      <p:sp>
        <p:nvSpPr>
          <p:cNvPr id="26" name="Pipeline takeaway"/>
          <p:cNvSpPr txBox="1"/>
          <p:nvPr/>
        </p:nvSpPr>
        <p:spPr>
          <a:xfrm>
            <a:off x="548640" y="5349240"/>
            <a:ext cx="11064240" cy="411480"/>
          </a:xfrm>
          <a:prstGeom prst="rect">
            <a:avLst/>
          </a:prstGeom>
          <a:noFill/>
          <a:ln/>
        </p:spPr>
        <p:txBody>
          <a:bodyPr wrap="square" lIns="0" tIns="0" rIns="0" bIns="0" rtlCol="0" anchor="ctr"/>
          <a:lstStyle/>
          <a:p>
            <a:pPr algn="ctr" indent="0" marL="0">
              <a:buNone/>
            </a:pPr>
            <a:r>
              <a:rPr lang="en-US" sz="1800" b="1" dirty="0">
                <a:solidFill>
                  <a:schemeClr val="accent1"/>
                </a:solidFill>
              </a:rPr>
              <a:t>Everything runs on the glass itself; only the optional online mode uses the internet.</a:t>
            </a:r>
            <a:endParaRPr lang="en-US" sz="1800" dirty="0"/>
          </a:p>
        </p:txBody>
      </p:sp>
      <p:sp>
        <p:nvSpPr>
          <p:cNvPr id="2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[5] Baek et al. 2019; [6] EasyOCR; [7] Ultralytics YOLOv8; [8] COCO; [9] RAF-DB; [10] Piper; [11]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From a desk prototype to a wearable glass</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Version 1</a:t>
            </a:r>
            <a:endParaRPr lang="en-US" sz="1600" dirty="0"/>
          </a:p>
          <a:p>
            <a:pPr indent="0" marL="0">
              <a:buNone/>
            </a:pPr>
            <a:r>
              <a:rPr lang="en-US" sz="1300" dirty="0">
                <a:solidFill>
                  <a:srgbClr val="5E6B66"/>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Front</a:t>
            </a:r>
            <a:endParaRPr lang="en-US" sz="1600" dirty="0"/>
          </a:p>
          <a:p>
            <a:pPr indent="0" marL="0">
              <a:buNone/>
            </a:pPr>
            <a:r>
              <a:rPr lang="en-US" sz="1300" dirty="0">
                <a:solidFill>
                  <a:srgbClr val="5E6B66"/>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Side</a:t>
            </a:r>
            <a:endParaRPr lang="en-US" sz="1600" dirty="0"/>
          </a:p>
          <a:p>
            <a:pPr indent="0" marL="0">
              <a:buNone/>
            </a:pPr>
            <a:r>
              <a:rPr lang="en-US" sz="1300" dirty="0">
                <a:solidFill>
                  <a:srgbClr val="5E6B66"/>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0B4D3B"/>
                </a:solidFill>
              </a:rPr>
              <a:t>Rear</a:t>
            </a:r>
            <a:endParaRPr lang="en-US" sz="1600" dirty="0"/>
          </a:p>
          <a:p>
            <a:pPr indent="0" marL="0">
              <a:buNone/>
            </a:pPr>
            <a:r>
              <a:rPr lang="en-US" sz="1300" dirty="0">
                <a:solidFill>
                  <a:srgbClr val="5E6B66"/>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006A4E"/>
          </a:solidFill>
          <a:ln>
            <a:solidFill>
              <a:srgbClr val="006A4E"/>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Taka detection: 22,333 training images, no hand labels</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[12] are pasted onto real scenes [8],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9DCCD"/>
          </a:solidFill>
          <a:ln>
            <a:solidFill>
              <a:srgbClr val="B9DCCD"/>
            </a:solidFill>
          </a:ln>
        </p:spPr>
        <p:txBody>
          <a:bodyPr wrap="square" lIns="0" tIns="0" rIns="0" bIns="0" rtlCol="0" anchor="ctr"/>
          <a:lstStyle/>
          <a:p>
            <a:pPr algn="ctr" indent="0" marL="0">
              <a:buNone/>
            </a:pPr>
            <a:r>
              <a:rPr lang="en-US" sz="1200" b="1" dirty="0">
                <a:solidFill>
                  <a:srgbClr val="0B4D3B"/>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4EFEA"/>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[12] BanglaTaka (Mendeley); [8] Lin et al., COCO, ECCV 2014; detector [7]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Notes held in a hand: from 1 in 8 to 1 in 2</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9DCCD"/>
          </a:solidFill>
          <a:ln>
            <a:solidFill>
              <a:srgbClr val="B9DCCD"/>
            </a:solidFill>
          </a:ln>
        </p:spPr>
        <p:txBody>
          <a:bodyPr wrap="square" lIns="0" tIns="0" rIns="0" bIns="0" rtlCol="0" anchor="ctr"/>
          <a:lstStyle/>
          <a:p>
            <a:pPr algn="ctr" indent="0" marL="0">
              <a:buNone/>
            </a:pPr>
            <a:r>
              <a:rPr lang="en-US" sz="1200" b="1" dirty="0">
                <a:solidFill>
                  <a:srgbClr val="0B4D3B"/>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[13] Rafi et al., NSTU-BDTAKA, Data in Brief 2024; detector [7]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Live tests with real notes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Counterfeit check: one view is enough with prefix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CFE2DA"/>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9C4BF"/>
                </a:solidFill>
                <a:latin typeface="Cambria" pitchFamily="34" charset="0"/>
                <a:ea typeface="Cambria" pitchFamily="34" charset="-122"/>
                <a:cs typeface="Cambria"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CFE2DA"/>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CFE2DA"/>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4EFEA"/>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15]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Unseen counterfeit prints: a stricter test</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4EFEA"/>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JaalTaka; serial-number audit and print-disjoint split are ours. Earlier Taka counterfeit work: [16] SVM on security features; [17] CNNs; [19]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DMWR: a tiny, physics-based watermark checker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[18]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[18] Sandler et al., MobileNetV2, CVPR 2018; data [14]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Safe before decisive: the glass never says "counterfeit"</a:t>
            </a:r>
            <a:endParaRPr lang="en-US" sz="3000" dirty="0"/>
          </a:p>
        </p:txBody>
      </p:sp>
      <p:sp>
        <p:nvSpPr>
          <p:cNvPr id="3" name="Note circle"/>
          <p:cNvSpPr/>
          <p:nvPr/>
        </p:nvSpPr>
        <p:spPr>
          <a:xfrm>
            <a:off x="731520" y="2240280"/>
            <a:ext cx="1097280" cy="1097280"/>
          </a:xfrm>
          <a:prstGeom prst="ellipse">
            <a:avLst/>
          </a:prstGeom>
          <a:solidFill>
            <a:srgbClr val="0B4D3B"/>
          </a:solidFill>
          <a:ln w="12700">
            <a:solidFill>
              <a:srgbClr val="0B4D3B"/>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EF5F1"/>
          </a:solidFill>
          <a:ln w="19050">
            <a:solidFill>
              <a:srgbClr val="006A4E"/>
            </a:solidFill>
          </a:ln>
        </p:spPr>
        <p:txBody>
          <a:bodyPr wrap="square" lIns="2540" tIns="2540" rIns="2540" bIns="2540" rtlCol="0" anchor="ctr"/>
          <a:lstStyle/>
          <a:p>
            <a:pPr algn="ctr" indent="0" marL="0">
              <a:buNone/>
            </a:pPr>
            <a:r>
              <a:rPr lang="en-US" sz="1500" b="1" dirty="0">
                <a:solidFill>
                  <a:srgbClr val="0B4D3B"/>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8AD"/>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006A4E"/>
          </a:solidFill>
          <a:ln>
            <a:solidFill>
              <a:srgbClr val="006A4E"/>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C2321"/>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8AD"/>
            </a:solidFill>
            <a:prstDash val="solid"/>
            <a:tailEnd type="triangle"/>
          </a:ln>
        </p:spPr>
      </p:sp>
      <p:sp>
        <p:nvSpPr>
          <p:cNvPr id="11" name="Arrow no"/>
          <p:cNvSpPr/>
          <p:nvPr/>
        </p:nvSpPr>
        <p:spPr>
          <a:xfrm>
            <a:off x="5212080" y="2788920"/>
            <a:ext cx="822960" cy="960120"/>
          </a:xfrm>
          <a:prstGeom prst="line">
            <a:avLst/>
          </a:prstGeom>
          <a:noFill/>
          <a:ln w="15875">
            <a:solidFill>
              <a:srgbClr val="9DB8AD"/>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006A4E"/>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[14]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UV fibre check: the glass carries its own UV lamp</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Cambria" pitchFamily="34" charset="0"/>
                <a:ea typeface="Cambria" pitchFamily="34" charset="-122"/>
                <a:cs typeface="Cambria"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[20]. Prior Taka UV work: [19]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Bangla reading: rendered text and real street photos</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Cambria" pitchFamily="34" charset="0"/>
                <a:ea typeface="Cambria" pitchFamily="34" charset="-122"/>
                <a:cs typeface="Cambria"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[6] EasyOCR with [5] CRAFT; real words from [21]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Voice: a natural Bangla voice and spoken commands</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006A4E"/>
          </a:solidFill>
          <a:ln w="12700">
            <a:solidFill>
              <a:srgbClr val="006A4E"/>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[10, 11]</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C2321"/>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[22] Vosk; noise from [23] Piczak, ESC-50; voices [10, 11].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Running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4EFEA"/>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CFE2DA"/>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Testing the worn glass: where the project stands</a:t>
            </a:r>
            <a:endParaRPr lang="en-US" sz="3000" dirty="0"/>
          </a:p>
        </p:txBody>
      </p:sp>
      <p:pic>
        <p:nvPicPr>
          <p:cNvPr id="3" name="Worn glass 1" descr="E:\Final SP\Thesis Report and paper\tools\deck\assets/1_5.jpg">    </p:cNvPr>
          <p:cNvPicPr>
            <a:picLocks noChangeAspect="1"/>
          </p:cNvPicPr>
          <p:nvPr/>
        </p:nvPicPr>
        <p:blipFill>
          <a:blip r:embed="rId1"/>
          <a:srcRect l="0" r="0" t="0" b="0"/>
          <a:stretch/>
        </p:blipFill>
        <p:spPr>
          <a:xfrm>
            <a:off x="548640" y="1325880"/>
            <a:ext cx="2194560" cy="3904488"/>
          </a:xfrm>
          <a:prstGeom prst="rect">
            <a:avLst/>
          </a:prstGeom>
        </p:spPr>
      </p:pic>
      <p:pic>
        <p:nvPicPr>
          <p:cNvPr id="4" name="Worn glass 2" descr="E:\Final SP\Thesis Report and paper\tools\deck\assets/1_18.jpg">    </p:cNvPr>
          <p:cNvPicPr>
            <a:picLocks noChangeAspect="1"/>
          </p:cNvPicPr>
          <p:nvPr/>
        </p:nvPicPr>
        <p:blipFill>
          <a:blip r:embed="rId2"/>
          <a:srcRect l="0" r="0" t="0" b="0"/>
          <a:stretch/>
        </p:blipFill>
        <p:spPr>
          <a:xfrm>
            <a:off x="2880360" y="1325880"/>
            <a:ext cx="2194560" cy="3904488"/>
          </a:xfrm>
          <a:prstGeom prst="rect">
            <a:avLst/>
          </a:prstGeom>
        </p:spPr>
      </p:pic>
      <p:pic>
        <p:nvPicPr>
          <p:cNvPr id="5" name="Worn glass 3" descr="E:\Final SP\Thesis Report and paper\tools\deck\assets/1_1.jpg">    </p:cNvPr>
          <p:cNvPicPr>
            <a:picLocks noChangeAspect="1"/>
          </p:cNvPicPr>
          <p:nvPr/>
        </p:nvPicPr>
        <p:blipFill>
          <a:blip r:embed="rId3"/>
          <a:srcRect l="0" r="0" t="0" b="0"/>
          <a:stretch/>
        </p:blipFill>
        <p:spPr>
          <a:xfrm>
            <a:off x="5212080" y="1325880"/>
            <a:ext cx="2194560" cy="3904488"/>
          </a:xfrm>
          <a:prstGeom prst="rect">
            <a:avLst/>
          </a:prstGeom>
        </p:spPr>
      </p:pic>
      <p:sp>
        <p:nvSpPr>
          <p:cNvPr id="6" name="Worn caption"/>
          <p:cNvSpPr txBox="1"/>
          <p:nvPr/>
        </p:nvSpPr>
        <p:spPr>
          <a:xfrm>
            <a:off x="548640" y="5349240"/>
            <a:ext cx="6858000" cy="640080"/>
          </a:xfrm>
          <a:prstGeom prst="rect">
            <a:avLst/>
          </a:prstGeom>
          <a:noFill/>
          <a:ln/>
        </p:spPr>
        <p:txBody>
          <a:bodyPr wrap="square" lIns="0" tIns="0" rIns="0" bIns="0" rtlCol="0" anchor="t"/>
          <a:lstStyle/>
          <a:p>
            <a:pPr indent="0" marL="0">
              <a:buNone/>
            </a:pPr>
            <a:r>
              <a:rPr lang="en-US" sz="1400" i="1" dirty="0">
                <a:solidFill>
                  <a:schemeClr val="accent5"/>
                </a:solidFill>
              </a:rPr>
              <a:t>Prototype version 2 on team members: fit, weight and button reach are checked before user trials.</a:t>
            </a:r>
            <a:endParaRPr lang="en-US" sz="1400" dirty="0"/>
          </a:p>
        </p:txBody>
      </p:sp>
      <p:sp>
        <p:nvSpPr>
          <p:cNvPr id="7" name="Engineering checks card"/>
          <p:cNvSpPr/>
          <p:nvPr/>
        </p:nvSpPr>
        <p:spPr>
          <a:xfrm>
            <a:off x="7726680" y="1325880"/>
            <a:ext cx="3886200" cy="1069848"/>
          </a:xfrm>
          <a:prstGeom prst="roundRect">
            <a:avLst>
              <a:gd name="adj" fmla="val 8547"/>
            </a:avLst>
          </a:prstGeom>
          <a:solidFill>
            <a:srgbClr val="EEF5F1"/>
          </a:solidFill>
          <a:ln w="15875">
            <a:solidFill>
              <a:srgbClr val="006A4E"/>
            </a:solidFill>
            <a:prstDash val="solid"/>
          </a:ln>
        </p:spPr>
      </p:sp>
      <p:sp>
        <p:nvSpPr>
          <p:cNvPr id="8" name="Engineering checks status"/>
          <p:cNvSpPr txBox="1"/>
          <p:nvPr/>
        </p:nvSpPr>
        <p:spPr>
          <a:xfrm>
            <a:off x="7909560" y="1435608"/>
            <a:ext cx="1325880" cy="329184"/>
          </a:xfrm>
          <a:prstGeom prst="roundRect">
            <a:avLst>
              <a:gd name="adj" fmla="val 16667"/>
            </a:avLst>
          </a:prstGeom>
          <a:solidFill>
            <a:srgbClr val="006A4E"/>
          </a:solidFill>
          <a:ln>
            <a:solidFill>
              <a:srgbClr val="006A4E"/>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9"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Engineering checks</a:t>
            </a:r>
            <a:endParaRPr lang="en-US" sz="1700" dirty="0"/>
          </a:p>
        </p:txBody>
      </p:sp>
      <p:sp>
        <p:nvSpPr>
          <p:cNvPr id="10"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11"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2"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3"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First field test</a:t>
            </a:r>
            <a:endParaRPr lang="en-US" sz="1700" dirty="0"/>
          </a:p>
        </p:txBody>
      </p:sp>
      <p:sp>
        <p:nvSpPr>
          <p:cNvPr id="14"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5"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6"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C2321"/>
                </a:solidFill>
              </a:rPr>
              <a:t>IN PROGRESS</a:t>
            </a:r>
            <a:endParaRPr lang="en-US" sz="1200" dirty="0"/>
          </a:p>
        </p:txBody>
      </p:sp>
      <p:sp>
        <p:nvSpPr>
          <p:cNvPr id="17"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Participant trials</a:t>
            </a:r>
            <a:endParaRPr lang="en-US" sz="1700" dirty="0"/>
          </a:p>
        </p:txBody>
      </p:sp>
      <p:sp>
        <p:nvSpPr>
          <p:cNvPr id="18"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9" name="Completed user study card"/>
          <p:cNvSpPr/>
          <p:nvPr/>
        </p:nvSpPr>
        <p:spPr>
          <a:xfrm>
            <a:off x="7726680" y="4809744"/>
            <a:ext cx="3886200" cy="1069848"/>
          </a:xfrm>
          <a:prstGeom prst="roundRect">
            <a:avLst>
              <a:gd name="adj" fmla="val 8547"/>
            </a:avLst>
          </a:prstGeom>
          <a:solidFill>
            <a:srgbClr val="F3F5F4"/>
          </a:solidFill>
          <a:ln w="15875">
            <a:solidFill>
              <a:srgbClr val="5E6B66"/>
            </a:solidFill>
            <a:prstDash val="solid"/>
          </a:ln>
        </p:spPr>
      </p:sp>
      <p:sp>
        <p:nvSpPr>
          <p:cNvPr id="20" name="Completed user study status"/>
          <p:cNvSpPr txBox="1"/>
          <p:nvPr/>
        </p:nvSpPr>
        <p:spPr>
          <a:xfrm>
            <a:off x="7909560" y="4919472"/>
            <a:ext cx="1325880" cy="329184"/>
          </a:xfrm>
          <a:prstGeom prst="roundRect">
            <a:avLst>
              <a:gd name="adj" fmla="val 16667"/>
            </a:avLst>
          </a:prstGeom>
          <a:solidFill>
            <a:srgbClr val="5E6B66"/>
          </a:solidFill>
          <a:ln>
            <a:solidFill>
              <a:srgbClr val="5E6B66"/>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21" name="Completed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Completed user study</a:t>
            </a:r>
            <a:endParaRPr lang="en-US" sz="1700" dirty="0"/>
          </a:p>
        </p:txBody>
      </p:sp>
      <p:sp>
        <p:nvSpPr>
          <p:cNvPr id="22" name="Completed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Future work: the roadmap</a:t>
            </a:r>
            <a:endParaRPr lang="en-US" sz="3000" dirty="0"/>
          </a:p>
        </p:txBody>
      </p:sp>
      <p:sp>
        <p:nvSpPr>
          <p:cNvPr id="3" name="Roadmap line"/>
          <p:cNvSpPr/>
          <p:nvPr/>
        </p:nvSpPr>
        <p:spPr>
          <a:xfrm>
            <a:off x="1097280" y="2377440"/>
            <a:ext cx="9966960" cy="73152"/>
          </a:xfrm>
          <a:prstGeom prst="rect">
            <a:avLst/>
          </a:prstGeom>
          <a:solidFill>
            <a:srgbClr val="B9DCCD"/>
          </a:solidFill>
          <a:ln w="12700">
            <a:solidFill>
              <a:srgbClr val="B9DCCD"/>
            </a:solidFill>
            <a:prstDash val="solid"/>
          </a:ln>
        </p:spPr>
      </p:sp>
      <p:sp>
        <p:nvSpPr>
          <p:cNvPr id="4" name="Camera circle"/>
          <p:cNvSpPr/>
          <p:nvPr/>
        </p:nvSpPr>
        <p:spPr>
          <a:xfrm>
            <a:off x="1271016" y="1691640"/>
            <a:ext cx="1463040" cy="1463040"/>
          </a:xfrm>
          <a:prstGeom prst="ellipse">
            <a:avLst/>
          </a:prstGeom>
          <a:solidFill>
            <a:srgbClr val="006A4E"/>
          </a:solidFill>
          <a:ln w="12700">
            <a:solidFill>
              <a:srgbClr val="006A4E"/>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3A8F72"/>
          </a:solidFill>
          <a:ln w="12700">
            <a:solidFill>
              <a:srgbClr val="3A8F72"/>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006A4E"/>
          </a:solidFill>
          <a:ln w="12700">
            <a:solidFill>
              <a:srgbClr val="006A4E"/>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3A8F72"/>
          </a:solidFill>
          <a:ln w="12700">
            <a:solidFill>
              <a:srgbClr val="3A8F72"/>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0B4D3B"/>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Cambria" pitchFamily="34" charset="0"/>
                <a:ea typeface="Cambria" pitchFamily="34" charset="-122"/>
                <a:cs typeface="Cambria"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EF5F1"/>
          </a:solidFill>
          <a:ln>
            <a:solidFill>
              <a:srgbClr val="EEF5F1"/>
            </a:solidFill>
          </a:ln>
        </p:spPr>
        <p:txBody>
          <a:bodyPr wrap="square" lIns="0" tIns="0" rIns="0" bIns="0" rtlCol="0" anchor="ctr"/>
          <a:lstStyle/>
          <a:p>
            <a:pPr algn="ctr" indent="0" marL="0">
              <a:buNone/>
            </a:pPr>
            <a:r>
              <a:rPr lang="en-US" sz="1700" b="1" dirty="0">
                <a:solidFill>
                  <a:srgbClr val="006A4E"/>
                </a:solidFill>
              </a:rPr>
              <a:t>Done: </a:t>
            </a:r>
            <a:pPr algn="ctr" indent="0" marL="0">
              <a:buNone/>
            </a:pPr>
            <a:r>
              <a:rPr lang="en-US" sz="1700" dirty="0">
                <a:solidFill>
                  <a:srgbClr val="1C2321"/>
                </a:solidFill>
              </a:rPr>
              <a:t>engineering tests     </a:t>
            </a:r>
            <a:pPr algn="ctr" indent="0" marL="0">
              <a:buNone/>
            </a:pPr>
            <a:r>
              <a:rPr lang="en-US" sz="1700" b="1" dirty="0">
                <a:solidFill>
                  <a:srgbClr val="B07D00"/>
                </a:solidFill>
              </a:rPr>
              <a:t>In progress: </a:t>
            </a:r>
            <a:pPr algn="ctr" indent="0" marL="0">
              <a:buNone/>
            </a:pPr>
            <a:r>
              <a:rPr lang="en-US" sz="1700" dirty="0">
                <a:solidFill>
                  <a:srgbClr val="1C2321"/>
                </a:solidFill>
              </a:rPr>
              <a:t>participant trials     </a:t>
            </a:r>
            <a:pPr algn="ctr" indent="0" marL="0">
              <a:buNone/>
            </a:pPr>
            <a:r>
              <a:rPr lang="en-US" sz="1700" b="1" dirty="0">
                <a:solidFill>
                  <a:srgbClr val="0B4D3B"/>
                </a:solidFill>
              </a:rPr>
              <a:t>Future: </a:t>
            </a:r>
            <a:pPr algn="ctr" indent="0" marL="0">
              <a:buNone/>
            </a:pPr>
            <a:r>
              <a:rPr lang="en-US" sz="1700" dirty="0">
                <a:solidFill>
                  <a:srgbClr val="1C2321"/>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006A4E"/>
          </a:solidFill>
          <a:ln w="12700">
            <a:solidFill>
              <a:srgbClr val="006A4E"/>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006A4E"/>
          </a:solidFill>
          <a:ln w="12700">
            <a:solidFill>
              <a:srgbClr val="006A4E"/>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3A8F72"/>
          </a:solidFill>
          <a:ln w="12700">
            <a:solidFill>
              <a:srgbClr val="3A8F72"/>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Prototype worn" descr="E:\Final SP\Thesis Report and paper\tools\deck\assets/1_20.jpg">    </p:cNvPr>
          <p:cNvPicPr>
            <a:picLocks noChangeAspect="1"/>
          </p:cNvPicPr>
          <p:nvPr/>
        </p:nvPicPr>
        <p:blipFill>
          <a:blip r:embed="rId1"/>
          <a:srcRect l="0" r="0" t="0" b="0"/>
          <a:stretch/>
        </p:blipFill>
        <p:spPr>
          <a:xfrm>
            <a:off x="7982712" y="0"/>
            <a:ext cx="4206240" cy="6858000"/>
          </a:xfrm>
          <a:prstGeom prst="rect">
            <a:avLst/>
          </a:prstGeom>
        </p:spPr>
      </p:pic>
      <p:sp>
        <p:nvSpPr>
          <p:cNvPr id="3" name="Thanks"/>
          <p:cNvSpPr txBox="1"/>
          <p:nvPr/>
        </p:nvSpPr>
        <p:spPr>
          <a:xfrm>
            <a:off x="685800" y="2194560"/>
            <a:ext cx="68580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4" name="Questions"/>
          <p:cNvSpPr txBox="1"/>
          <p:nvPr/>
        </p:nvSpPr>
        <p:spPr>
          <a:xfrm>
            <a:off x="685800" y="3337560"/>
            <a:ext cx="6858000" cy="548640"/>
          </a:xfrm>
          <a:prstGeom prst="rect">
            <a:avLst/>
          </a:prstGeom>
          <a:noFill/>
          <a:ln/>
        </p:spPr>
        <p:txBody>
          <a:bodyPr wrap="square" lIns="0" tIns="0" rIns="0" bIns="0" rtlCol="0" anchor="ctr"/>
          <a:lstStyle/>
          <a:p>
            <a:pPr indent="0" marL="0">
              <a:buNone/>
            </a:pPr>
            <a:r>
              <a:rPr lang="en-US" sz="2400" dirty="0">
                <a:solidFill>
                  <a:srgbClr val="CFE2DA"/>
                </a:solidFill>
              </a:rPr>
              <a:t>Questions?</a:t>
            </a:r>
            <a:endParaRPr lang="en-US" sz="2400" dirty="0"/>
          </a:p>
        </p:txBody>
      </p:sp>
      <p:sp>
        <p:nvSpPr>
          <p:cNvPr id="5" name="Closing name"/>
          <p:cNvSpPr txBox="1"/>
          <p:nvPr/>
        </p:nvSpPr>
        <p:spPr>
          <a:xfrm>
            <a:off x="685800" y="5852160"/>
            <a:ext cx="6858000" cy="365760"/>
          </a:xfrm>
          <a:prstGeom prst="rect">
            <a:avLst/>
          </a:prstGeom>
          <a:noFill/>
          <a:ln/>
        </p:spPr>
        <p:txBody>
          <a:bodyPr wrap="square" lIns="0" tIns="0" rIns="0" bIns="0" rtlCol="0" anchor="ctr"/>
          <a:lstStyle/>
          <a:p>
            <a:pPr indent="0" marL="0">
              <a:buNone/>
            </a:pPr>
            <a:r>
              <a:rPr lang="en-US" sz="1400" dirty="0">
                <a:solidFill>
                  <a:srgbClr val="9FC2B4"/>
                </a:solidFill>
              </a:rPr>
              <a:t>SARA  ·  Smart Assistive Reading Aid</a:t>
            </a:r>
            <a:endParaRPr lang="en-US" sz="140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[1]  World Health Organization. Blindness and vision impairment: fact sheet, 2023.</a:t>
            </a:r>
            <a:endParaRPr lang="en-US" sz="1300" dirty="0"/>
          </a:p>
          <a:p>
            <a:pPr indent="0" marL="0">
              <a:spcAft>
                <a:spcPts val="500"/>
              </a:spcAft>
              <a:buNone/>
            </a:pPr>
            <a:r>
              <a:rPr lang="en-US" sz="1300" dirty="0">
                <a:solidFill>
                  <a:schemeClr val="tx1"/>
                </a:solidFill>
              </a:rPr>
              <a:t>[2]  OrCam Technologies. OrCam MyEye.</a:t>
            </a:r>
            <a:endParaRPr lang="en-US" sz="1300" dirty="0"/>
          </a:p>
          <a:p>
            <a:pPr indent="0" marL="0">
              <a:spcAft>
                <a:spcPts val="500"/>
              </a:spcAft>
              <a:buNone/>
            </a:pPr>
            <a:r>
              <a:rPr lang="en-US" sz="1300" dirty="0">
                <a:solidFill>
                  <a:schemeClr val="tx1"/>
                </a:solidFill>
              </a:rPr>
              <a:t>[3]  Ali A., H. et al. A Google Glass based real-time scene analysis for the visually impaired. IEEE Access 9, 2021.</a:t>
            </a:r>
            <a:endParaRPr lang="en-US" sz="1300" dirty="0"/>
          </a:p>
          <a:p>
            <a:pPr indent="0" marL="0">
              <a:spcAft>
                <a:spcPts val="500"/>
              </a:spcAft>
              <a:buNone/>
            </a:pPr>
            <a:r>
              <a:rPr lang="en-US" sz="1300" dirty="0">
                <a:solidFill>
                  <a:schemeClr val="tx1"/>
                </a:solidFill>
              </a:rPr>
              <a:t>[4]  Brilli, D. D. et al. AIris: an AI-powered wearable assistive device for the visually impaired. arXiv:2405.07606, 2024.</a:t>
            </a:r>
            <a:endParaRPr lang="en-US" sz="1300" dirty="0"/>
          </a:p>
          <a:p>
            <a:pPr indent="0" marL="0">
              <a:spcAft>
                <a:spcPts val="500"/>
              </a:spcAft>
              <a:buNone/>
            </a:pPr>
            <a:r>
              <a:rPr lang="en-US" sz="1300" dirty="0">
                <a:solidFill>
                  <a:schemeClr val="tx1"/>
                </a:solidFill>
              </a:rPr>
              <a:t>[5]  Baek, Y. et al. Character region awareness for text detection (CRAFT). CVPR, 2019.</a:t>
            </a:r>
            <a:endParaRPr lang="en-US" sz="1300" dirty="0"/>
          </a:p>
          <a:p>
            <a:pPr indent="0" marL="0">
              <a:spcAft>
                <a:spcPts val="500"/>
              </a:spcAft>
              <a:buNone/>
            </a:pPr>
            <a:r>
              <a:rPr lang="en-US" sz="1300" dirty="0">
                <a:solidFill>
                  <a:schemeClr val="tx1"/>
                </a:solidFill>
              </a:rPr>
              <a:t>[6]  JaidedAI. EasyOCR: ready-to-use OCR with 80+ languages.</a:t>
            </a:r>
            <a:endParaRPr lang="en-US" sz="1300" dirty="0"/>
          </a:p>
          <a:p>
            <a:pPr indent="0" marL="0">
              <a:spcAft>
                <a:spcPts val="500"/>
              </a:spcAft>
              <a:buNone/>
            </a:pPr>
            <a:r>
              <a:rPr lang="en-US" sz="1300" dirty="0">
                <a:solidFill>
                  <a:schemeClr val="tx1"/>
                </a:solidFill>
              </a:rPr>
              <a:t>[7]  Jocher, G., Chaurasia, A., Qiu, J. Ultralytics YOLOv8.</a:t>
            </a:r>
            <a:endParaRPr lang="en-US" sz="1300" dirty="0"/>
          </a:p>
          <a:p>
            <a:pPr indent="0" marL="0">
              <a:spcAft>
                <a:spcPts val="500"/>
              </a:spcAft>
              <a:buNone/>
            </a:pPr>
            <a:r>
              <a:rPr lang="en-US" sz="1300" dirty="0">
                <a:solidFill>
                  <a:schemeClr val="tx1"/>
                </a:solidFill>
              </a:rPr>
              <a:t>[8]  Lin, T.-Y. et al. Microsoft COCO: common objects in context. ECCV, 2014.</a:t>
            </a:r>
            <a:endParaRPr lang="en-US" sz="1300" dirty="0"/>
          </a:p>
          <a:p>
            <a:pPr indent="0" marL="0">
              <a:spcAft>
                <a:spcPts val="500"/>
              </a:spcAft>
              <a:buNone/>
            </a:pPr>
            <a:r>
              <a:rPr lang="en-US" sz="1300" dirty="0">
                <a:solidFill>
                  <a:schemeClr val="tx1"/>
                </a:solidFill>
              </a:rPr>
              <a:t>[9]  Li, S., Deng, W., Du, J. Reliable crowdsourcing and deep locality-preserving learning for expression recognition in the wild (RAF-DB). CVPR, 2017.</a:t>
            </a:r>
            <a:endParaRPr lang="en-US" sz="1300" dirty="0"/>
          </a:p>
          <a:p>
            <a:pPr indent="0" marL="0">
              <a:spcAft>
                <a:spcPts val="500"/>
              </a:spcAft>
              <a:buNone/>
            </a:pPr>
            <a:r>
              <a:rPr lang="en-US" sz="1300" dirty="0">
                <a:solidFill>
                  <a:schemeClr val="tx1"/>
                </a:solidFill>
              </a:rPr>
              <a:t>[10]  Rhasspy. Piper: a fast, local neural text-to-speech system.</a:t>
            </a:r>
            <a:endParaRPr lang="en-US" sz="1300" dirty="0"/>
          </a:p>
          <a:p>
            <a:pPr indent="0" marL="0">
              <a:spcAft>
                <a:spcPts val="500"/>
              </a:spcAft>
              <a:buNone/>
            </a:pPr>
            <a:r>
              <a:rPr lang="en-US" sz="1300" dirty="0">
                <a:solidFill>
                  <a:schemeClr val="tx1"/>
                </a:solidFill>
              </a:rPr>
              <a:t>[11]  eSpeak NG text-to-speech.</a:t>
            </a:r>
            <a:endParaRPr lang="en-US" sz="1300" dirty="0"/>
          </a:p>
          <a:p>
            <a:pPr indent="0" marL="0">
              <a:spcAft>
                <a:spcPts val="500"/>
              </a:spcAft>
              <a:buNone/>
            </a:pPr>
            <a:r>
              <a:rPr lang="en-US" sz="1300" dirty="0">
                <a:solidFill>
                  <a:schemeClr val="tx1"/>
                </a:solidFill>
              </a:rPr>
              <a:t>[12]  A diverse image dataset for Bangladeshi currency recognition (BanglaTaka). Mendeley Data.</a:t>
            </a:r>
            <a:endParaRPr lang="en-US" sz="13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300" dirty="0">
                <a:solidFill>
                  <a:schemeClr val="tx1"/>
                </a:solidFill>
              </a:rPr>
              <a:t>[13]  Rafi, M. J. A., Rony, M., Majadi, N. NSTU-BDTAKA: an open dataset for Bangladeshi paper currency detection and recognition. Data in Brief 55, 2024.</a:t>
            </a:r>
            <a:endParaRPr lang="en-US" sz="1300" dirty="0"/>
          </a:p>
          <a:p>
            <a:pPr indent="0" marL="0">
              <a:spcAft>
                <a:spcPts val="500"/>
              </a:spcAft>
              <a:buNone/>
            </a:pPr>
            <a:r>
              <a:rPr lang="en-US" sz="1300" dirty="0">
                <a:solidFill>
                  <a:schemeClr val="tx1"/>
                </a:solidFill>
              </a:rPr>
              <a:t>[14]  Piyas, B. R. C. et al. JaalTaka: a benchmark dataset for detecting counterfeit Bangladeshi banknotes. Mendeley Data V2, 2025.</a:t>
            </a:r>
            <a:endParaRPr lang="en-US" sz="1300" dirty="0"/>
          </a:p>
          <a:p>
            <a:pPr indent="0" marL="0">
              <a:spcAft>
                <a:spcPts val="500"/>
              </a:spcAft>
              <a:buNone/>
            </a:pPr>
            <a:r>
              <a:rPr lang="en-US" sz="1300" dirty="0">
                <a:solidFill>
                  <a:schemeClr val="tx1"/>
                </a:solidFill>
              </a:rPr>
              <a:t>[15]  Piyas, B. R. C. et al. JaalTaka: a benchmark dataset for detecting counterfeit Bangladeshi banknotes. Data in Brief 64, 112377, 2026.</a:t>
            </a:r>
            <a:endParaRPr lang="en-US" sz="1300" dirty="0"/>
          </a:p>
          <a:p>
            <a:pPr indent="0" marL="0">
              <a:spcAft>
                <a:spcPts val="500"/>
              </a:spcAft>
              <a:buNone/>
            </a:pPr>
            <a:r>
              <a:rPr lang="en-US" sz="1300" dirty="0">
                <a:solidFill>
                  <a:schemeClr val="tx1"/>
                </a:solidFill>
              </a:rPr>
              <a:t>[16]  Uddin, M. S., Das, P. P., Roney, M. S. A. Image-based approach for the detection of counterfeit banknotes of Bangladesh. ICIEV, 2016.</a:t>
            </a:r>
            <a:endParaRPr lang="en-US" sz="1300" dirty="0"/>
          </a:p>
          <a:p>
            <a:pPr indent="0" marL="0">
              <a:spcAft>
                <a:spcPts val="500"/>
              </a:spcAft>
              <a:buNone/>
            </a:pPr>
            <a:r>
              <a:rPr lang="en-US" sz="1300" dirty="0">
                <a:solidFill>
                  <a:schemeClr val="tx1"/>
                </a:solidFill>
              </a:rPr>
              <a:t>[17]  Pathak, A. et al. Enhanced counterfeit detection of Bangladesh currency through convolutional neural networks. IJIRCST 12(2), 2024.</a:t>
            </a:r>
            <a:endParaRPr lang="en-US" sz="1300" dirty="0"/>
          </a:p>
          <a:p>
            <a:pPr indent="0" marL="0">
              <a:spcAft>
                <a:spcPts val="500"/>
              </a:spcAft>
              <a:buNone/>
            </a:pPr>
            <a:r>
              <a:rPr lang="en-US" sz="1300" dirty="0">
                <a:solidFill>
                  <a:schemeClr val="tx1"/>
                </a:solidFill>
              </a:rPr>
              <a:t>[18]  Sandler, M. et al. MobileNetV2: inverted residuals and linear bottlenecks. CVPR, 2018.</a:t>
            </a:r>
            <a:endParaRPr lang="en-US" sz="1300" dirty="0"/>
          </a:p>
          <a:p>
            <a:pPr indent="0" marL="0">
              <a:spcAft>
                <a:spcPts val="500"/>
              </a:spcAft>
              <a:buNone/>
            </a:pPr>
            <a:r>
              <a:rPr lang="en-US" sz="1300" dirty="0">
                <a:solidFill>
                  <a:schemeClr val="tx1"/>
                </a:solidFill>
              </a:rPr>
              <a:t>[19]  Chowdhury, A. A. et al. Evaluation of deep learning models on UV ink: a fake money detection scheme with RPN. ICCA (ACM), 2022.</a:t>
            </a:r>
            <a:endParaRPr lang="en-US" sz="1300" dirty="0"/>
          </a:p>
          <a:p>
            <a:pPr indent="0" marL="0">
              <a:spcAft>
                <a:spcPts val="500"/>
              </a:spcAft>
              <a:buNone/>
            </a:pPr>
            <a:r>
              <a:rPr lang="en-US" sz="1300" dirty="0">
                <a:solidFill>
                  <a:schemeClr val="tx1"/>
                </a:solidFill>
              </a:rPr>
              <a:t>[20]  Mutanen, J., Jaaskelainen, T., Parkkinen, J. P. S. Luminescent security properties of banknotes. IS&amp;T PICS Conference, 2003, pp. 421-424.</a:t>
            </a:r>
            <a:endParaRPr lang="en-US" sz="1300" dirty="0"/>
          </a:p>
          <a:p>
            <a:pPr indent="0" marL="0">
              <a:spcAft>
                <a:spcPts val="500"/>
              </a:spcAft>
              <a:buNone/>
            </a:pPr>
            <a:r>
              <a:rPr lang="en-US" sz="1300" dirty="0">
                <a:solidFill>
                  <a:schemeClr val="tx1"/>
                </a:solidFill>
              </a:rPr>
              <a:t>[21]  Nayef, N. et al. ICDAR2019 robust reading challenge on multi-lingual scene text (RRC-MLT-2019). ICDAR, 2019.</a:t>
            </a:r>
            <a:endParaRPr lang="en-US" sz="1300" dirty="0"/>
          </a:p>
          <a:p>
            <a:pPr indent="0" marL="0">
              <a:spcAft>
                <a:spcPts val="500"/>
              </a:spcAft>
              <a:buNone/>
            </a:pPr>
            <a:r>
              <a:rPr lang="en-US" sz="1300" dirty="0">
                <a:solidFill>
                  <a:schemeClr val="tx1"/>
                </a:solidFill>
              </a:rPr>
              <a:t>[22]  Alpha Cephei. Vosk offline speech recognition toolkit.</a:t>
            </a:r>
            <a:endParaRPr lang="en-US" sz="1300" dirty="0"/>
          </a:p>
          <a:p>
            <a:pPr indent="0" marL="0">
              <a:spcAft>
                <a:spcPts val="500"/>
              </a:spcAft>
              <a:buNone/>
            </a:pPr>
            <a:r>
              <a:rPr lang="en-US" sz="1300" dirty="0">
                <a:solidFill>
                  <a:schemeClr val="tx1"/>
                </a:solidFill>
              </a:rPr>
              <a:t>[23]  Piczak, K. J. ESC: dataset for environmental sound classification. ACM Multimedia, 2015.</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E6B66"/>
                </a:solidFill>
              </a:rPr>
              <a:t>github.com/aflam330/SARA</a:t>
            </a:r>
            <a:endParaRPr lang="en-US" sz="1500" dirty="0"/>
          </a:p>
          <a:p>
            <a:pPr indent="0" marL="0">
              <a:buNone/>
            </a:pPr>
            <a:r>
              <a:rPr lang="en-US" sz="1500" b="1" u="sng" dirty="0">
                <a:solidFill>
                  <a:srgbClr val="006A4E"/>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E6B66"/>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E6B66"/>
                </a:solidFill>
              </a:rPr>
              <a:t>data.mendeley.com/datasets/2m7wk5cy4c/2</a:t>
            </a:r>
            <a:endParaRPr lang="en-US" sz="1500" dirty="0"/>
          </a:p>
          <a:p>
            <a:pPr indent="0" marL="0">
              <a:buNone/>
            </a:pPr>
            <a:r>
              <a:rPr lang="en-US" sz="1500" b="1" u="sng" dirty="0">
                <a:solidFill>
                  <a:srgbClr val="006A4E"/>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E6B66"/>
                </a:solidFill>
              </a:rPr>
              <a:t>data.mendeley.com/datasets/3cv2sypkkh/1</a:t>
            </a:r>
            <a:endParaRPr lang="en-US" sz="1500" dirty="0"/>
          </a:p>
          <a:p>
            <a:pPr indent="0" marL="0">
              <a:buNone/>
            </a:pPr>
            <a:r>
              <a:rPr lang="en-US" sz="1500" b="1" u="sng" dirty="0">
                <a:solidFill>
                  <a:srgbClr val="006A4E"/>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E6B66"/>
                </a:solidFill>
              </a:rPr>
              <a:t>www.sciencedirect.com/science/article/pii/S2352340924006681</a:t>
            </a:r>
            <a:endParaRPr lang="en-US" sz="1500" dirty="0"/>
          </a:p>
          <a:p>
            <a:pPr indent="0" marL="0">
              <a:buNone/>
            </a:pPr>
            <a:r>
              <a:rPr lang="en-US" sz="1500" b="1" u="sng" dirty="0">
                <a:solidFill>
                  <a:srgbClr val="006A4E"/>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E6B66"/>
                </a:solidFill>
              </a:rPr>
              <a:t>cocodataset.org</a:t>
            </a:r>
            <a:endParaRPr lang="en-US" sz="1500" dirty="0"/>
          </a:p>
          <a:p>
            <a:pPr indent="0" marL="0">
              <a:buNone/>
            </a:pPr>
            <a:r>
              <a:rPr lang="en-US" sz="1500" b="1" u="sng" dirty="0">
                <a:solidFill>
                  <a:srgbClr val="006A4E"/>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E6B66"/>
                </a:solidFill>
              </a:rPr>
              <a:t>rrc.cvc.uab.es/?ch=15</a:t>
            </a:r>
            <a:endParaRPr lang="en-US" sz="1500" dirty="0"/>
          </a:p>
          <a:p>
            <a:pPr indent="0" marL="0">
              <a:buNone/>
            </a:pPr>
            <a:r>
              <a:rPr lang="en-US" sz="1500" b="1" u="sng" dirty="0">
                <a:solidFill>
                  <a:srgbClr val="006A4E"/>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E6B66"/>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006A4E"/>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E6B66"/>
                </a:solidFill>
              </a:rPr>
              <a:t>github.com/ultralytics/ultralytics</a:t>
            </a:r>
            <a:endParaRPr lang="en-US" sz="1500" dirty="0"/>
          </a:p>
          <a:p>
            <a:pPr indent="0" marL="0">
              <a:buNone/>
            </a:pPr>
            <a:r>
              <a:rPr lang="en-US" sz="1500" b="1" u="sng" dirty="0">
                <a:solidFill>
                  <a:srgbClr val="006A4E"/>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E6B66"/>
                </a:solidFill>
              </a:rPr>
              <a:t>github.com/JaidedAI/EasyOCR</a:t>
            </a:r>
            <a:endParaRPr lang="en-US" sz="1500" dirty="0"/>
          </a:p>
          <a:p>
            <a:pPr indent="0" marL="0">
              <a:buNone/>
            </a:pPr>
            <a:r>
              <a:rPr lang="en-US" sz="1500" b="1" u="sng" dirty="0">
                <a:solidFill>
                  <a:srgbClr val="006A4E"/>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E6B66"/>
                </a:solidFill>
              </a:rPr>
              <a:t>github.com/rhasspy/piper</a:t>
            </a:r>
            <a:endParaRPr lang="en-US" sz="1500" dirty="0"/>
          </a:p>
          <a:p>
            <a:pPr indent="0" marL="0">
              <a:buNone/>
            </a:pPr>
            <a:r>
              <a:rPr lang="en-US" sz="1500" b="1" u="sng" dirty="0">
                <a:solidFill>
                  <a:srgbClr val="006A4E"/>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E6B66"/>
                </a:solidFill>
              </a:rPr>
              <a:t>alphacephei.com/vosk/</a:t>
            </a:r>
            <a:endParaRPr lang="en-US" sz="1500" dirty="0"/>
          </a:p>
          <a:p>
            <a:pPr indent="0" marL="0">
              <a:buNone/>
            </a:pPr>
            <a:r>
              <a:rPr lang="en-US" sz="1500" b="1" u="sng" dirty="0">
                <a:solidFill>
                  <a:srgbClr val="006A4E"/>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E6B66"/>
                </a:solidFill>
              </a:rPr>
              <a:t>github.com/espeak-ng/espeak-ng</a:t>
            </a:r>
            <a:endParaRPr lang="en-US" sz="1500" dirty="0"/>
          </a:p>
          <a:p>
            <a:pPr indent="0" marL="0">
              <a:buNone/>
            </a:pPr>
            <a:r>
              <a:rPr lang="en-US" sz="1500" b="1" u="sng" dirty="0">
                <a:solidFill>
                  <a:srgbClr val="006A4E"/>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E6B66"/>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C2321"/>
      </a:dk1>
      <a:lt1>
        <a:srgbClr val="FFFFFF"/>
      </a:lt1>
      <a:dk2>
        <a:srgbClr val="0B4D3B"/>
      </a:dk2>
      <a:lt2>
        <a:srgbClr val="EEF5F1"/>
      </a:lt2>
      <a:accent1>
        <a:srgbClr val="006A4E"/>
      </a:accent1>
      <a:accent2>
        <a:srgbClr val="D7263D"/>
      </a:accent2>
      <a:accent3>
        <a:srgbClr val="3A8F72"/>
      </a:accent3>
      <a:accent4>
        <a:srgbClr val="E6A817"/>
      </a:accent4>
      <a:accent5>
        <a:srgbClr val="5E6B66"/>
      </a:accent5>
      <a:accent6>
        <a:srgbClr val="B9DCCD"/>
      </a:accent6>
      <a:hlink>
        <a:srgbClr val="006A4E"/>
      </a:hlink>
      <a:folHlink>
        <a:srgbClr val="3A8F72"/>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 Smart Assistive Reading Aid</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2026-10-26T17:56:34Z</dcterms:created>
  <dcterms:modified xsi:type="dcterms:W3CDTF">2026-10-26T17:56:34Z</dcterms:modified>
</cp:coreProperties>
</file>
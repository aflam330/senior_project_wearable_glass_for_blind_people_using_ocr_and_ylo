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9fc51e3-34d8-cb50-b873-fd89ffb6393b}">
          <p14:sldIdLst>
            <p14:sldId id="256"/>
          </p14:sldIdLst>
        </p14:section>
        <p14:section name="Problem" id="{a6df9f4a-114f-dcc4-c3fb-06c4da0d0661}">
          <p14:sldIdLst>
            <p14:sldId id="257"/>
            <p14:sldId id="258"/>
            <p14:sldId id="259"/>
          </p14:sldIdLst>
        </p14:section>
        <p14:section name="Solution" id="{5952159d-276a-5372-8bb0-e109ac03bbaf}">
          <p14:sldIdLst>
            <p14:sldId id="260"/>
            <p14:sldId id="261"/>
            <p14:sldId id="262"/>
            <p14:sldId id="263"/>
            <p14:sldId id="264"/>
            <p14:sldId id="265"/>
          </p14:sldIdLst>
        </p14:section>
        <p14:section name="Currency" id="{ade854b2-e020-0f58-bc5f-e7fac29a82b6}">
          <p14:sldIdLst>
            <p14:sldId id="266"/>
            <p14:sldId id="267"/>
            <p14:sldId id="268"/>
            <p14:sldId id="269"/>
            <p14:sldId id="270"/>
            <p14:sldId id="271"/>
            <p14:sldId id="272"/>
            <p14:sldId id="273"/>
          </p14:sldIdLst>
        </p14:section>
        <p14:section name="Reading and voice" id="{273c7531-0078-1c8c-8c21-170591ee2d69}">
          <p14:sldIdLst>
            <p14:sldId id="274"/>
            <p14:sldId id="275"/>
          </p14:sldIdLst>
        </p14:section>
        <p14:section name="Device" id="{63770d8d-ee8b-2aaf-e475-0b0812e74778}">
          <p14:sldIdLst>
            <p14:sldId id="276"/>
            <p14:sldId id="277"/>
            <p14:sldId id="278"/>
          </p14:sldIdLst>
        </p14:section>
        <p14:section name="Closing" id="{a112025d-f054-f3ed-ee7b-3d92ed0e6f4c}">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Right note value, real hand-held photos (NSTU, 1,127)</a:t>
            </a:r>
          </a:p>
        </c:rich>
      </c:tx>
      <c:layout/>
      <c:overlay val="0"/>
    </c:title>
    <c:autoTitleDeleted val="0"/>
    <c:plotArea>
      <c:layout/>
      <c:barChart>
        <c:barDir val="col"/>
        <c:grouping val="clustered"/>
        <c:varyColors val="0"/>
        <c:ser>
          <c:idx val="0"/>
          <c:order val="0"/>
          <c:tx>
            <c:strRef>
              <c:f>Sheet1!$B$1</c:f>
              <c:strCache>
                <c:ptCount val="1"/>
                <c:pt idx="0">
                  <c:v>Earlier detector</c:v>
                </c:pt>
              </c:strCache>
            </c:strRef>
          </c:tx>
          <c:spPr>
            <a:solidFill>
              <a:srgbClr val="5B6777"/>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Laptop</c:v>
                  </c:pt>
                  <c:pt idx="1">
                    <c:v>Raspberry Pi (8-bit)</c:v>
                  </c:pt>
                </c:lvl>
              </c:multiLvlStrCache>
            </c:multiLvlStrRef>
          </c:cat>
          <c:val>
            <c:numRef>
              <c:f>Sheet1!$B$2:$B$3</c:f>
              <c:numCache>
                <c:formatCode>General</c:formatCode>
                <c:ptCount val="2"/>
                <c:pt idx="0">
                  <c:v>11.8</c:v>
                </c:pt>
                <c:pt idx="1">
                  <c:v>8.7</c:v>
                </c:pt>
              </c:numCache>
            </c:numRef>
          </c:val>
        </c:ser>
        <c:ser>
          <c:idx val="1"/>
          <c:order val="1"/>
          <c:tx>
            <c:strRef>
              <c:f>Sheet1!$C$1</c:f>
              <c:strCache>
                <c:ptCount val="1"/>
                <c:pt idx="0">
                  <c:v>Hand-held detector</c:v>
                </c:pt>
              </c:strCache>
            </c:strRef>
          </c:tx>
          <c:spPr>
            <a:solidFill>
              <a:srgbClr val="1F5F8B"/>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Laptop</c:v>
                  </c:pt>
                  <c:pt idx="1">
                    <c:v>Raspberry Pi (8-bit)</c:v>
                  </c:pt>
                </c:lvl>
              </c:multiLvlStrCache>
            </c:multiLvlStrRef>
          </c:cat>
          <c:val>
            <c:numRef>
              <c:f>Sheet1!$C$2:$C$3</c:f>
              <c:numCache>
                <c:formatCode>General</c:formatCode>
                <c:ptCount val="2"/>
                <c:pt idx="0">
                  <c:v>47.5</c:v>
                </c:pt>
                <c:pt idx="1">
                  <c:v>33.5</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DCE5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Test accuracy by number of views (mean of 3 seeds)</a:t>
            </a:r>
          </a:p>
        </c:rich>
      </c:tx>
      <c:layout/>
      <c:overlay val="0"/>
    </c:title>
    <c:autoTitleDeleted val="0"/>
    <c:plotArea>
      <c:layout/>
      <c:lineChart>
        <c:varyColors val="0"/>
        <c:ser>
          <c:idx val="0"/>
          <c:order val="0"/>
          <c:tx>
            <c:strRef>
              <c:f>Sheet1!$B$1</c:f>
              <c:strCache>
                <c:ptCount val="1"/>
                <c:pt idx="0">
                  <c:v>Fixed six-view training</c:v>
                </c:pt>
              </c:strCache>
            </c:strRef>
          </c:tx>
          <c:spPr>
            <a:solidFill>
              <a:srgbClr val="5B6777"/>
            </a:solidFill>
            <a:ln w="38100" cap="flat">
              <a:solidFill>
                <a:srgbClr val="5B6777"/>
              </a:solidFill>
              <a:prstDash val="solid"/>
              <a:round/>
            </a:ln>
            <a:effectLst/>
          </c:spPr>
          <c:invertIfNegative val="0"/>
          <c:dLbls>
            <c:numFmt formatCode="#,##0"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showLeaderLines val="0"/>
          </c:dLbls>
          <c:marker>
            <c:symbol val="circle"/>
            <c:size val="8"/>
            <c:spPr>
              <a:solidFill>
                <a:srgbClr val="5B6777"/>
              </a:solidFill>
              <a:ln w="9525" cap="flat">
                <a:solidFill>
                  <a:srgbClr val="5B6777"/>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71.2</c:v>
                </c:pt>
                <c:pt idx="1">
                  <c:v>73.1</c:v>
                </c:pt>
                <c:pt idx="2">
                  <c:v>85.7</c:v>
                </c:pt>
                <c:pt idx="3">
                  <c:v>90.5</c:v>
                </c:pt>
                <c:pt idx="4">
                  <c:v>90.5</c:v>
                </c:pt>
                <c:pt idx="5">
                  <c:v>98.1</c:v>
                </c:pt>
              </c:numCache>
            </c:numRef>
          </c:val>
          <c:smooth val="0"/>
        </c:ser>
        <c:ser>
          <c:idx val="1"/>
          <c:order val="1"/>
          <c:tx>
            <c:strRef>
              <c:f>Sheet1!$C$1</c:f>
              <c:strCache>
                <c:ptCount val="1"/>
                <c:pt idx="0">
                  <c:v>Prefix training (ours)</c:v>
                </c:pt>
              </c:strCache>
            </c:strRef>
          </c:tx>
          <c:spPr>
            <a:solidFill>
              <a:srgbClr val="1F5F8B"/>
            </a:solidFill>
            <a:ln w="38100" cap="flat">
              <a:solidFill>
                <a:srgbClr val="1F5F8B"/>
              </a:solidFill>
              <a:prstDash val="solid"/>
              <a:round/>
            </a:ln>
            <a:effectLst/>
          </c:spPr>
          <c:invertIfNegative val="0"/>
          <c:dLbls>
            <c:numFmt formatCode="#,##0"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showLeaderLines val="0"/>
          </c:dLbls>
          <c:marker>
            <c:symbol val="circle"/>
            <c:size val="8"/>
            <c:spPr>
              <a:solidFill>
                <a:srgbClr val="1F5F8B"/>
              </a:solidFill>
              <a:ln w="9525" cap="flat">
                <a:solidFill>
                  <a:srgbClr val="1F5F8B"/>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98.2</c:v>
                </c:pt>
                <c:pt idx="1">
                  <c:v>98.4</c:v>
                </c:pt>
                <c:pt idx="2">
                  <c:v>98.6</c:v>
                </c:pt>
                <c:pt idx="3">
                  <c:v>98.6</c:v>
                </c:pt>
                <c:pt idx="4">
                  <c:v>98.7</c:v>
                </c:pt>
                <c:pt idx="5">
                  <c:v>98.7</c:v>
                </c:pt>
              </c:numCache>
            </c:numRef>
          </c:val>
          <c:smooth val="0"/>
        </c:ser>
        <c:dLbls>
          <c:numFmt formatCode="#,##0"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777"/>
                    </a:solidFill>
                    <a:latin typeface="Arial"/>
                  </a:defRPr>
                </a:pPr>
                <a:r>
                  <a:rPr sz="1200" b="0" i="0" u="none" strike="noStrike">
                    <a:solidFill>
                      <a:srgbClr val="5B6777"/>
                    </a:solidFill>
                    <a:latin typeface="Arial"/>
                  </a:rPr>
                  <a:t>Views captured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9525" cap="flat">
              <a:solidFill>
                <a:srgbClr val="DCE5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Accuracy on counterfeit prints never seen in training (6 views, 3 seeds)</a:t>
            </a:r>
          </a:p>
        </c:rich>
      </c:tx>
      <c:layout/>
      <c:overlay val="0"/>
    </c:title>
    <c:autoTitleDeleted val="0"/>
    <c:plotArea>
      <c:layout/>
      <c:barChart>
        <c:barDir val="bar"/>
        <c:grouping val="clustered"/>
        <c:varyColors val="0"/>
        <c:ser>
          <c:idx val="0"/>
          <c:order val="0"/>
          <c:tx>
            <c:strRef>
              <c:f>Sheet1!$B$1</c:f>
              <c:strCache>
                <c:ptCount val="1"/>
                <c:pt idx="0">
                  <c:v>6 views</c:v>
                </c:pt>
              </c:strCache>
            </c:strRef>
          </c:tx>
          <c:spPr>
            <a:solidFill>
              <a:srgbClr val="5B6777"/>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5B6777"/>
              </a:solidFill>
              <a:effectLst/>
            </c:spPr>
          </c:dPt>
          <c:dPt>
            <c:idx val="1"/>
            <c:invertIfNegative val="0"/>
            <c:bubble3D val="0"/>
            <c:spPr>
              <a:solidFill>
                <a:srgbClr val="4A87B5"/>
              </a:solidFill>
              <a:effectLst/>
            </c:spPr>
          </c:dPt>
          <c:dPt>
            <c:idx val="2"/>
            <c:invertIfNegative val="0"/>
            <c:bubble3D val="0"/>
            <c:spPr>
              <a:solidFill>
                <a:srgbClr val="5B6777"/>
              </a:solidFill>
              <a:effectLst/>
            </c:spPr>
          </c:dPt>
          <c:dPt>
            <c:idx val="3"/>
            <c:invertIfNegative val="0"/>
            <c:bubble3D val="0"/>
            <c:spPr>
              <a:solidFill>
                <a:srgbClr val="1F5F8B"/>
              </a:solidFill>
              <a:effectLst/>
            </c:spPr>
          </c:dPt>
          <c:cat>
            <c:multiLvlStrRef>
              <c:f>Sheet1!$A$2:$A$5</c:f>
              <c:multiLvlStrCache>
                <c:ptCount val="4"/>
                <c:lvl>
                  <c:pt idx="0">
                    <c:v>Frozen ResNet-50</c:v>
                  </c:pt>
                  <c:pt idx="1">
                    <c:v>Prefix network</c:v>
                  </c:pt>
                  <c:pt idx="2">
                    <c:v>Fine-tuned ResNet-50</c:v>
                  </c:pt>
                  <c:pt idx="3">
                    <c:v>Prefix + watermark</c:v>
                  </c:pt>
                </c:lvl>
              </c:multiLvlStrCache>
            </c:multiLvlStrRef>
          </c:cat>
          <c:val>
            <c:numRef>
              <c:f>Sheet1!$B$2:$B$5</c:f>
              <c:numCache>
                <c:formatCode>General</c:formatCode>
                <c:ptCount val="4"/>
                <c:pt idx="0">
                  <c:v>83.8</c:v>
                </c:pt>
                <c:pt idx="1">
                  <c:v>89.3</c:v>
                </c:pt>
                <c:pt idx="2">
                  <c:v>94.4</c:v>
                </c:pt>
                <c:pt idx="3">
                  <c:v>95</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00"/>
          <c:min val="70"/>
        </c:scaling>
        <c:delete val="0"/>
        <c:axPos val="b"/>
        <c:majorGridlines>
          <c:spPr>
            <a:ln w="9525" cap="flat">
              <a:solidFill>
                <a:srgbClr val="DCE5EE"/>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5B6777"/>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Sheet1!$A$2:$A$2</c:f>
              <c:multiLvlStrCache>
                <c:ptCount val="1"/>
                <c:lvl>
                  <c:pt idx="0">
                    <c:v>All scripts</c:v>
                  </c:pt>
                </c:lvl>
              </c:multiLvlStrCache>
            </c:multiLvlStrRef>
          </c:cat>
          <c:val>
            <c:numRef>
              <c:f>Sheet1!$B$2:$B$2</c:f>
              <c:numCache>
                <c:formatCode>General</c:formatCode>
                <c:ptCount val="1"/>
                <c:pt idx="0">
                  <c:v>9.3</c:v>
                </c:pt>
              </c:numCache>
            </c:numRef>
          </c:val>
        </c:ser>
        <c:ser>
          <c:idx val="1"/>
          <c:order val="1"/>
          <c:tx>
            <c:strRef>
              <c:f>Sheet1!$C$1</c:f>
              <c:strCache>
                <c:ptCount val="1"/>
                <c:pt idx="0">
                  <c:v>Now</c:v>
                </c:pt>
              </c:strCache>
            </c:strRef>
          </c:tx>
          <c:spPr>
            <a:solidFill>
              <a:srgbClr val="1F5F8B"/>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Sheet1!$A$2:$A$2</c:f>
              <c:multiLvlStrCache>
                <c:ptCount val="1"/>
                <c:lvl>
                  <c:pt idx="0">
                    <c:v>All scripts</c:v>
                  </c:pt>
                </c:lvl>
              </c:multiLvlStrCache>
            </c:multiLvlStrRef>
          </c:cat>
          <c:val>
            <c:numRef>
              <c:f>Sheet1!$C$2:$C$2</c:f>
              <c:numCache>
                <c:formatCode>General</c:formatCode>
                <c:ptCount val="1"/>
                <c:pt idx="0">
                  <c:v>2.3</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DCE5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5B6777"/>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Bangla</c:v>
                  </c:pt>
                  <c:pt idx="1">
                    <c:v>Latin</c:v>
                  </c:pt>
                </c:lvl>
              </c:multiLvlStrCache>
            </c:multiLvlStrRef>
          </c:cat>
          <c:val>
            <c:numRef>
              <c:f>Sheet1!$B$2:$B$3</c:f>
              <c:numCache>
                <c:formatCode>General</c:formatCode>
                <c:ptCount val="2"/>
                <c:pt idx="0">
                  <c:v>39.2</c:v>
                </c:pt>
                <c:pt idx="1">
                  <c:v>62.5</c:v>
                </c:pt>
              </c:numCache>
            </c:numRef>
          </c:val>
        </c:ser>
        <c:ser>
          <c:idx val="1"/>
          <c:order val="1"/>
          <c:tx>
            <c:strRef>
              <c:f>Sheet1!$C$1</c:f>
              <c:strCache>
                <c:ptCount val="1"/>
                <c:pt idx="0">
                  <c:v>Now</c:v>
                </c:pt>
              </c:strCache>
            </c:strRef>
          </c:tx>
          <c:spPr>
            <a:solidFill>
              <a:srgbClr val="1F5F8B"/>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Bangla</c:v>
                  </c:pt>
                  <c:pt idx="1">
                    <c:v>Latin</c:v>
                  </c:pt>
                </c:lvl>
              </c:multiLvlStrCache>
            </c:multiLvlStrRef>
          </c:cat>
          <c:val>
            <c:numRef>
              <c:f>Sheet1!$C$2:$C$3</c:f>
              <c:numCache>
                <c:formatCode>General</c:formatCode>
                <c:ptCount val="2"/>
                <c:pt idx="0">
                  <c:v>28.7</c:v>
                </c:pt>
                <c:pt idx="1">
                  <c:v>50.6</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DCE5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"Glass, …" commands, 12 unseen synthetic voices</a:t>
            </a:r>
          </a:p>
        </c:rich>
      </c:tx>
      <c:layout/>
      <c:overlay val="0"/>
    </c:title>
    <c:autoTitleDeleted val="0"/>
    <c:plotArea>
      <c:layout/>
      <c:barChart>
        <c:barDir val="col"/>
        <c:grouping val="clustered"/>
        <c:varyColors val="0"/>
        <c:ser>
          <c:idx val="0"/>
          <c:order val="0"/>
          <c:tx>
            <c:strRef>
              <c:f>Sheet1!$B$1</c:f>
              <c:strCache>
                <c:ptCount val="1"/>
                <c:pt idx="0">
                  <c:v>Commands carried out</c:v>
                </c:pt>
              </c:strCache>
            </c:strRef>
          </c:tx>
          <c:spPr>
            <a:solidFill>
              <a:srgbClr val="1F5F8B"/>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Whispered</c:v>
                  </c:pt>
                  <c:pt idx="2">
                    <c:v>Street noise 0 dB</c:v>
                  </c:pt>
                  <c:pt idx="3">
                    <c:v>People talking 10 dB</c:v>
                  </c:pt>
                </c:lvl>
              </c:multiLvlStrCache>
            </c:multiLvlStrRef>
          </c:cat>
          <c:val>
            <c:numRef>
              <c:f>Sheet1!$B$2:$B$5</c:f>
              <c:numCache>
                <c:formatCode>General</c:formatCode>
                <c:ptCount val="4"/>
                <c:pt idx="0">
                  <c:v>100</c:v>
                </c:pt>
                <c:pt idx="1">
                  <c:v>98.9</c:v>
                </c:pt>
                <c:pt idx="2">
                  <c:v>82.5</c:v>
                </c:pt>
                <c:pt idx="3">
                  <c:v>54.3</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CE5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present SARA, a smart glass for blind and low-vision people in Bangladesh. It reads Bangla and English text, names objects, recognises Taka notes and checks them carefully, and it works on the device without the internet. The photo is the current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least 2.2 billion people have a vision impairment, and it is about four times as common in low- and middle-income regions. In Bangladesh, three everyday questions usually need another person: which note was handed back and whether it is genuine, what a medicine label, sign or letter says, and what or who is ahead. In each case the blind person depends on an answer they cannot check. SARA is an offline, bilingual glass built for exactly this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picture shows the problem. A visually impaired user receives change at a shop, needs a medicine label read at the pharmacy, or walks outside. Each time the answer comes from another person: the shopkeeper they must trust, a family member or pharmacist, or a stranger. So they end up with an answer they cannot verify: a wrong or fake note can go unnoticed, a label can be misread, and every task waits for someone else. Existing aids do not close this gap. OrCam MyEye works offline but does not list Bangla and does not name Taka notes. The research glasses send pictures to a server. Low-cost Raspberry Pi reading aids are mostly English-only. Studies on Bangladeshi counterfeit notes, and the JaalTaka benchmark, have not been brought to a wearable. No reviewed device is offline, speaks Bangla and names Taka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picture is the same moment with SARA. The user presses a button or says glass, check money. The glass camera captures a picture, and the Raspberry Pi 5 processes it on the device without the internet. Depending on the mode, it recognises the Taka note, checks the watermark and the UV security fibres, reads Bangla or English text, or names objects and people ahead. For money, the safe verdict says likely genuine or check by hand, and never says counterfeit. The answer is spoken in Bangla or English through the bone-conduction headphone with a short vibration, for example five hundred Taka note, so the user knows without asking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prototype: the camera and five buttons sit on the frame, a bone-conduction earphone leaves the ears free, and the Raspberry Pi 5 rides in a ventilated enclosure at the back of the head. Five modes cover text, objects, Taka notes, emotion and an optional online description. Every mode can be started with a button or with a voice command that begins with the word glass.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questions organise the talk. First, whether a multi-function Bangla glass runs on a Raspberry Pi 5 and how fast. Second, whether a Taka detector trained without hand labels works on real, hand-held photos. Third, why multi-view counterfeit models fail with fewer views and whether training fixes it. Fourth, how much accuracy drops on counterfeit prints never seen in training. Fifth, whether the glass can give counterfeit advice that never accuses a genuine note. Sixth, which part of a Bangla OCR pipeline matters most for a wearable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glasses such as OrCam work offline but not in Bangla and not with Taka. Glass-based research systems send pictures to a server. Raspberry Pi reading aids are cheap but mostly English. No device combines Bangla, Taka and offline use, and counterfeit studies do not check for copies of the same print in training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drawn as streams. A camera frame of 640 by 480 comes in on the left, and a button press or a voice command starting with glass tells the mode manager which stream to start. The text-reading stream runs the CRAFT detector at a canvas size of 2560, keeps the main text block, and reads it with our fine-tuned EasyOCR recogniser. The Taka stream finds the note with YOLOv8s at 640, then checks four watermark windows with DMWR and counts the UV security fibres. The object stream runs YOLOv8s trained on COCO and names new objects. The emotion stream finds a face with YuNet and classifies the expression with EfficientNet-V2-S trained on RAF-DB. Whatever stream ran, its result becomes one Bangla or English sentence, which Piper speaks, with eSpeak NG as a fallback, and a short vibration confirms a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second prototype is wired. The Raspberry Pi 5 sits in the rear enclosure and runs every model. The camera is a USB webcam plugged into a USB port of the Pi. The five push-buttons each connect one GPIO pin to ground, BCM 17 for MODE, 27 for ACTION, 24 for READ, 22 for volume up and 23 for volume down, with internal pull-up resistors. The vibration motor is driven by PWM from BCM 13. Speech goes to the audio output and the bone-conduction headphone, and a USB microphone can be plugged in for voice commands. A power bank supplies 5 volts through the USB-C port. The UV lamp on the frame is switched by hand and is not wired to the 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version put the board and fan on one temple: heavy on one side and loud by the ear. Version two moves the Raspberry Pi into a ventilated enclosure at the back of the head, keeps the camera and a small UV lamp on the front, puts five buttons along the frame and uses a bone-conduction earphone so the ears stay free for traffic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Taka images are clean close-ups, so a model trained on them fails on a live camera. We pasted 5,073 note photos onto real COCO pictures with random angle, scale, light and blur, and let the program write the box labels. The detector scores 0.995 mAP on held-out composites and, the number that matters for users, names 94.1 percent of 1,536 real photographs taken by other people correctly. The two numbers measure different things: the first is on synthetic composites, the second on real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blind user holds the note close, folded and under the fingers, and our training pictures showed whole notes in scenes. We generated six thousand hand-held close-ups from training notes only and fine-tuned the detector. On the independent NSTU hand-held test, the right value rises from 11.8 to 47.5 percent on the laptop and from 8.7 to 33.5 percent on the Pi. There are costs: one-taka notes are named more often by mistake (36.6 percent), and with three notes in view the total is right 97.0 percent of the time instead of 99.2.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row is the software on a laptop webcam: the detector draws a box with the note value and its confidence. Fifty, two hundred, five hundred and one thousand Taka were named at 0.63 to 0.89 confidence, with two or three notes at once. The bottom row is the second prototype in live tests: a team member holds a note up in front of the glass camera; these scenes are staged and the photos do not show the detector output. We did not count an error rate in these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blind user cannot promise to capture six views of a note. A model trained only with all six views collapses to 71 percent with one view. Training on random prefixes of the views, that is the first k views for a random k, keeps it at about 98 percent from one to six views, with no loss at six views and stable results across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counterfeit notes in JaalTaka are copies of a few prints, so the usual test measures recognition of known reprints; a serial-number lookup alone scores 90.2 percent. On truly unseen prints our network drops to about 89 percent; adding the watermark check brings it to 95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watermark method divides the back-lit photo by a blurred copy to remove the lamp, subtracts a genuine portrait of the note value and classifies the residual with two tiny networks. With under fifty thousand parameters it reaches 91.5 percent on unseen prints, statistically level with a MobileNetV2 46 times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 blind user cannot verify the answer, the glass never says a note is counterfeit. It says likely genuine only above a threshold set from validation counterfeits; otherwise it asks for a check by hand. The threshold is the highest score of any validation counterfeit, so a new counterfeit passes with probability about 1 in n plus 1, roughly 1.1 percent. No test counterfeit passed, and 57.5 percent of genuine notes are confirmed from close-up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 UV lamp, genuine 200, 500 and 1000 Taka notes show glowing security fibres. Our check removes the lamp's own blue light and counts thin glowing marks. It accepts 85.6 percent of real genuine photos and rejects 88.6 percent of simulated fibre-free sheets. It stays off by default until real counterfeits are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rendered Bangla and English benchmark the error fell from 9.3 to 2.3 percent. Real street words are much harder: a recogniser fine-tuned on real words and blended with the original weights lowered the error from 39.2 to 28.7 percent for Bangla and from 62.5 to 50.6 percent for Latin script. What helped: reading only the main block of text, tuned detector settings with CLAHE and clean-up rules, and the recogniser fine-tuned on real words and blended fifty-fifty with the original weights. Binarisation, multi-scale reading, Tesseract, TrOCR, PaddleOCR, dictionaries, smaller pictures and a rotation retry did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glass now speaks with a natural Piper voice, with eSpeak NG as a fallback, and each sentence is rendered before it plays, which fixed the broken sound on the Pi; a short word and a soft tick tell the user that a long capture is running. These command results come from synthetic voices on a laptop, not from people wearing the glass. Commands start with the word glass. On twelve unseen synthetic voices, clean commands are always carried out, whispered ones 98.9 percent, with street noise as loud as the voice 82.5 percent, and with people talking nearby about half. The wake word cut false commands from 212 to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the Raspberry Pi 5 itself. The currency check takes 0.4 seconds, the watermark check 64 milliseconds. Text reading is the slow part at about 18 seconds for a short sign. With the thermometer on the board while the glass was running, we measured 57.8 to 62.3 degrees Celsius, below the 80 degrees at which the Pi 5 starts to throttle. An earlier run on 13 October read 88.7 degrees on the CPU sensor, which is why we added a thermal governor. We re-checked the latency on the Pi in later use and it was responsive.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prototype on team members. The first field test with the glass camera was not good enough: currency was unreliable and Bangla text was not read, probably because of the low-resolution fixed-focus camera. Sessions with a visually impaired participant have started, with a Bangla voice questionnaire, but no user study is complete yet, so we make no claims about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has four steps. First, a better glass camera with higher resolution or autofocus, and a test set taken through the glass. Second, the user study with eight to twelve participants: task time, accuracy, SUS and NASA-TLX, including voice commands spoken by people and Bangla command words. Third, more banknotes: about a hundred unseen counterfeit prints with a bank or the police, and the UV check on real counterfeits. Fourth, speed and cooling: timing the new code on the Pi, better cooling and battery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SARA turns three everyday moments, money, reading and the street, into questions the user can ask the glass. It is an assistive glass that speaks Bangla and runs on a Raspberry Pi 5, tested part by part on held-out data, with new methods for counterfeit checking and hand-held notes. Still to be validated: real counterfeit notes, including under the UV lamp; voice commands spoken by people; the glass camera; and a completed user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sources cited on the slides, numbered as in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code is public on GitHub: the glass software and the research repository with every experiment. The datasets and open-source tools we used are linked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DARK-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rtlCol="0"/>
          <a:lstStyle>
            <a:lvl1pPr algn="ctr" indent="0" marL="0">
              <a:buNone/>
              <a:defRPr lang="en-US" sz="3000" b="1" dirty="0">
                <a:solidFill>
                  <a:schemeClr val="tx2"/>
                </a:solidFill>
                <a:latin typeface="Arial" pitchFamily="34" charset="0"/>
                <a:ea typeface="Arial" pitchFamily="34" charset="-122"/>
                <a:cs typeface="Arial" pitchFamily="34" charset="-120"/>
              </a:defRPr>
            </a:lvl1pPr>
          </a:lstStyle>
          <a:p>
            <a:pPr algn="ctr" indent="0" marL="0">
              <a:buNone/>
            </a:pPr>
            <a:endParaRPr lang="en-US" sz="3000" dirty="0"/>
          </a:p>
        </p:txBody>
      </p:sp>
      <p:sp>
        <p:nvSpPr>
          <p:cNvPr id="3" name="Text 0"/>
          <p:cNvSpPr txBox="1"/>
          <p:nvPr/>
        </p:nvSpPr>
        <p:spPr>
          <a:xfrm>
            <a:off x="548640" y="6419088"/>
            <a:ext cx="5943600" cy="256032"/>
          </a:xfrm>
          <a:prstGeom prst="rect">
            <a:avLst/>
          </a:prstGeom>
          <a:noFill/>
          <a:ln/>
        </p:spPr>
        <p:txBody>
          <a:bodyPr wrap="square" lIns="0" tIns="0" rIns="0" bIns="0" rtlCol="0" anchor="ctr"/>
          <a:lstStyle/>
          <a:p>
            <a:pPr indent="0" marL="0">
              <a:buNone/>
            </a:pPr>
            <a:r>
              <a:rPr lang="en-US" sz="1000" dirty="0">
                <a:solidFill>
                  <a:schemeClr val="accent5"/>
                </a:solidFill>
              </a:rPr>
              <a:t>SARA  ·  Smart Assistive Reading Aid  ·  IUB CSE Senior Project</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png"/><Relationship Id="rId4" Type="http://schemas.openxmlformats.org/officeDocument/2006/relationships/image" Target="../media/image-3-4.jpg"/><Relationship Id="rId5" Type="http://schemas.openxmlformats.org/officeDocument/2006/relationships/image" Target="../media/image-3-5.png"/><Relationship Id="rId6" Type="http://schemas.openxmlformats.org/officeDocument/2006/relationships/image" Target="../media/image-3-6.jp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jpg"/><Relationship Id="rId10" Type="http://schemas.openxmlformats.org/officeDocument/2006/relationships/image" Target="../media/image-3-10.jpg"/><Relationship Id="rId11" Type="http://schemas.openxmlformats.org/officeDocument/2006/relationships/image" Target="../media/image-3-11.jpg"/><Relationship Id="rId12" Type="http://schemas.openxmlformats.org/officeDocument/2006/relationships/image" Target="../media/image-3-12.jpg"/><Relationship Id="rId13" Type="http://schemas.openxmlformats.org/officeDocument/2006/relationships/slideLayout" Target="../slideLayouts/slideLayout3.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image" Target="../media/image-4-7.jpg"/><Relationship Id="rId8" Type="http://schemas.openxmlformats.org/officeDocument/2006/relationships/image" Target="../media/image-4-8.png"/><Relationship Id="rId9" Type="http://schemas.openxmlformats.org/officeDocument/2006/relationships/image" Target="../media/image-4-9.jpg"/><Relationship Id="rId10" Type="http://schemas.openxmlformats.org/officeDocument/2006/relationships/image" Target="../media/image-4-10.jp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image" Target="../media/image-13-8.jpg"/><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20-1.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3.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3.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github.com/aflam330/SARA" TargetMode="External"/><Relationship Id="rId3" Type="http://schemas.openxmlformats.org/officeDocument/2006/relationships/hyperlink" Target="https://github.com/aflam330/Senior_project_wearable_glass_for_blind_people_using_ocr_and_ylo" TargetMode="External"/><Relationship Id="rId5" Type="http://schemas.openxmlformats.org/officeDocument/2006/relationships/hyperlink" Target="https://data.mendeley.com/datasets/2m7wk5cy4c/2" TargetMode="External"/><Relationship Id="rId6" Type="http://schemas.openxmlformats.org/officeDocument/2006/relationships/hyperlink" Target="https://data.mendeley.com/datasets/3cv2sypkkh/1" TargetMode="External"/><Relationship Id="rId7" Type="http://schemas.openxmlformats.org/officeDocument/2006/relationships/hyperlink" Target="https://www.sciencedirect.com/science/article/pii/S2352340924006681" TargetMode="External"/><Relationship Id="rId8" Type="http://schemas.openxmlformats.org/officeDocument/2006/relationships/hyperlink" Target="https://cocodataset.org" TargetMode="External"/><Relationship Id="rId9" Type="http://schemas.openxmlformats.org/officeDocument/2006/relationships/hyperlink" Target="https://rrc.cvc.uab.es/?ch=15" TargetMode="External"/><Relationship Id="rId10" Type="http://schemas.openxmlformats.org/officeDocument/2006/relationships/hyperlink" Target="https://github.com/karolpiczak/ESC-50" TargetMode="External"/><Relationship Id="rId12" Type="http://schemas.openxmlformats.org/officeDocument/2006/relationships/hyperlink" Target="https://github.com/ultralytics/ultralytics" TargetMode="External"/><Relationship Id="rId13" Type="http://schemas.openxmlformats.org/officeDocument/2006/relationships/hyperlink" Target="https://github.com/JaidedAI/EasyOCR" TargetMode="External"/><Relationship Id="rId14" Type="http://schemas.openxmlformats.org/officeDocument/2006/relationships/hyperlink" Target="https://github.com/rhasspy/piper" TargetMode="External"/><Relationship Id="rId15" Type="http://schemas.openxmlformats.org/officeDocument/2006/relationships/hyperlink" Target="https://alphacephei.com/vosk/" TargetMode="External"/><Relationship Id="rId16" Type="http://schemas.openxmlformats.org/officeDocument/2006/relationships/hyperlink" Target="https://github.com/espeak-ng/espeak-ng" TargetMode="External"/><Relationship Id="rId17" Type="http://schemas.openxmlformats.org/officeDocument/2006/relationships/hyperlink" Target="https://www.who.int/news-room/fact-sheets/detail/blindness-and-visual-impairment" TargetMode="External"/><Relationship Id="rId1" Type="http://schemas.openxmlformats.org/officeDocument/2006/relationships/image" Target="../media/image-27-1.png"/><Relationship Id="rId4" Type="http://schemas.openxmlformats.org/officeDocument/2006/relationships/image" Target="../media/image-27-2.png"/><Relationship Id="rId11" Type="http://schemas.openxmlformats.org/officeDocument/2006/relationships/image" Target="../media/image-27-3.png"/><Relationship Id="rId18" Type="http://schemas.openxmlformats.org/officeDocument/2006/relationships/slideLayout" Target="../slideLayouts/slideLayout3.xml"/><Relationship Id="rId19"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UB logo" descr="E:/Final SP/Thesis Report and paper/thesis report/My report/DIagram fig tab/iub_logo.png">    </p:cNvPr>
          <p:cNvPicPr>
            <a:picLocks noChangeAspect="1"/>
          </p:cNvPicPr>
          <p:nvPr/>
        </p:nvPicPr>
        <p:blipFill>
          <a:blip r:embed="rId1"/>
          <a:stretch>
            <a:fillRect/>
          </a:stretch>
        </p:blipFill>
        <p:spPr>
          <a:xfrm>
            <a:off x="502920" y="320040"/>
            <a:ext cx="1143000" cy="946861"/>
          </a:xfrm>
          <a:prstGeom prst="rect">
            <a:avLst/>
          </a:prstGeom>
        </p:spPr>
      </p:pic>
      <p:sp>
        <p:nvSpPr>
          <p:cNvPr id="3" name="Project name"/>
          <p:cNvSpPr txBox="1"/>
          <p:nvPr/>
        </p:nvSpPr>
        <p:spPr>
          <a:xfrm>
            <a:off x="1783080" y="457200"/>
            <a:ext cx="5669280" cy="548640"/>
          </a:xfrm>
          <a:prstGeom prst="rect">
            <a:avLst/>
          </a:prstGeom>
          <a:noFill/>
          <a:ln/>
        </p:spPr>
        <p:txBody>
          <a:bodyPr wrap="square" lIns="0" tIns="0" rIns="0" bIns="0" rtlCol="0" anchor="ctr"/>
          <a:lstStyle/>
          <a:p>
            <a:pPr indent="0" marL="0">
              <a:buNone/>
            </a:pPr>
            <a:r>
              <a:rPr lang="en-US" sz="1800" b="1" dirty="0">
                <a:solidFill>
                  <a:srgbClr val="1F5F8B"/>
                </a:solidFill>
              </a:rPr>
              <a:t>SARA  ·  Smart Assistive Reading Aid</a:t>
            </a:r>
            <a:endParaRPr lang="en-US" sz="1800" dirty="0"/>
          </a:p>
        </p:txBody>
      </p:sp>
      <p:sp>
        <p:nvSpPr>
          <p:cNvPr id="4" name="Title"/>
          <p:cNvSpPr txBox="1"/>
          <p:nvPr/>
        </p:nvSpPr>
        <p:spPr>
          <a:xfrm>
            <a:off x="548640" y="1508760"/>
            <a:ext cx="7223760" cy="2057400"/>
          </a:xfrm>
          <a:prstGeom prst="rect">
            <a:avLst/>
          </a:prstGeom>
          <a:noFill/>
          <a:ln/>
        </p:spPr>
        <p:txBody>
          <a:bodyPr wrap="square" lIns="0" tIns="0" rIns="0" bIns="0" rtlCol="0" anchor="t"/>
          <a:lstStyle/>
          <a:p>
            <a:pPr indent="0" marL="0">
              <a:buNone/>
            </a:pPr>
            <a:r>
              <a:rPr lang="en-US" sz="2800" b="1" dirty="0">
                <a:solidFill>
                  <a:srgbClr val="1B2430"/>
                </a:solidFill>
                <a:latin typeface="Arial" pitchFamily="34" charset="0"/>
                <a:ea typeface="Arial" pitchFamily="34" charset="-122"/>
                <a:cs typeface="Arial" pitchFamily="34" charset="-120"/>
              </a:rPr>
              <a:t>A Wearable Assistive Glass for Authenticating Bangladeshi Banknotes: Fusing Physical Security Features and Deep Learning for Visually Impaired Users</a:t>
            </a:r>
            <a:endParaRPr lang="en-US" sz="2800" dirty="0"/>
          </a:p>
        </p:txBody>
      </p:sp>
      <p:sp>
        <p:nvSpPr>
          <p:cNvPr id="5" name="Title rule"/>
          <p:cNvSpPr/>
          <p:nvPr/>
        </p:nvSpPr>
        <p:spPr>
          <a:xfrm>
            <a:off x="548640" y="3657600"/>
            <a:ext cx="7223760" cy="0"/>
          </a:xfrm>
          <a:prstGeom prst="line">
            <a:avLst/>
          </a:prstGeom>
          <a:noFill/>
          <a:ln w="19050">
            <a:solidFill>
              <a:srgbClr val="4A87B5"/>
            </a:solidFill>
            <a:prstDash val="solid"/>
          </a:ln>
        </p:spPr>
      </p:sp>
      <p:sp>
        <p:nvSpPr>
          <p:cNvPr id="6" name="Subtitle"/>
          <p:cNvSpPr txBox="1"/>
          <p:nvPr/>
        </p:nvSpPr>
        <p:spPr>
          <a:xfrm>
            <a:off x="548640" y="3767328"/>
            <a:ext cx="7223760" cy="777240"/>
          </a:xfrm>
          <a:prstGeom prst="rect">
            <a:avLst/>
          </a:prstGeom>
          <a:noFill/>
          <a:ln/>
        </p:spPr>
        <p:txBody>
          <a:bodyPr wrap="square" lIns="0" tIns="0" rIns="0" bIns="0" rtlCol="0" anchor="t"/>
          <a:lstStyle/>
          <a:p>
            <a:pPr indent="0" marL="0">
              <a:buNone/>
            </a:pPr>
            <a:r>
              <a:rPr lang="en-US" sz="1600" i="1" dirty="0">
                <a:solidFill>
                  <a:srgbClr val="1F5F8B"/>
                </a:solidFill>
              </a:rPr>
              <a:t>A bilingual (Bangla and English) smart glass that also reads printed Bangla and English text and detects everyday objects, offline on a Raspberry Pi 5</a:t>
            </a:r>
            <a:endParaRPr lang="en-US" sz="1600" dirty="0"/>
          </a:p>
        </p:txBody>
      </p:sp>
      <p:sp>
        <p:nvSpPr>
          <p:cNvPr id="7" name="Supervisor"/>
          <p:cNvSpPr txBox="1"/>
          <p:nvPr/>
        </p:nvSpPr>
        <p:spPr>
          <a:xfrm>
            <a:off x="548640" y="4800600"/>
            <a:ext cx="3749040" cy="1463040"/>
          </a:xfrm>
          <a:prstGeom prst="rect">
            <a:avLst/>
          </a:prstGeom>
          <a:noFill/>
          <a:ln/>
        </p:spPr>
        <p:txBody>
          <a:bodyPr wrap="square" lIns="0" tIns="0" rIns="0" bIns="0" rtlCol="0" anchor="t"/>
          <a:lstStyle/>
          <a:p>
            <a:pPr indent="0" marL="0">
              <a:spcAft>
                <a:spcPts val="300"/>
              </a:spcAft>
              <a:buNone/>
            </a:pPr>
            <a:r>
              <a:rPr lang="en-US" sz="1400" b="1" dirty="0">
                <a:solidFill>
                  <a:srgbClr val="1B2430"/>
                </a:solidFill>
              </a:rPr>
              <a:t>Supervisor:</a:t>
            </a:r>
            <a:endParaRPr lang="en-US" sz="1400" dirty="0"/>
          </a:p>
          <a:p>
            <a:pPr indent="0" marL="0">
              <a:spcAft>
                <a:spcPts val="300"/>
              </a:spcAft>
              <a:buNone/>
            </a:pPr>
            <a:r>
              <a:rPr lang="en-US" sz="1400" dirty="0">
                <a:solidFill>
                  <a:srgbClr val="1B2430"/>
                </a:solidFill>
              </a:rPr>
              <a:t>Mohammad Shidujaman, PhD</a:t>
            </a:r>
            <a:endParaRPr lang="en-US" sz="1400" dirty="0"/>
          </a:p>
          <a:p>
            <a:pPr indent="0" marL="0">
              <a:spcAft>
                <a:spcPts val="300"/>
              </a:spcAft>
              <a:buNone/>
            </a:pPr>
            <a:r>
              <a:rPr lang="en-US" sz="1400" dirty="0">
                <a:solidFill>
                  <a:srgbClr val="1B2430"/>
                </a:solidFill>
              </a:rPr>
              <a:t>Assistant Professor</a:t>
            </a:r>
            <a:endParaRPr lang="en-US" sz="1400" dirty="0"/>
          </a:p>
          <a:p>
            <a:pPr indent="0" marL="0">
              <a:spcAft>
                <a:spcPts val="300"/>
              </a:spcAft>
              <a:buNone/>
            </a:pPr>
            <a:r>
              <a:rPr lang="en-US" sz="1400" dirty="0">
                <a:solidFill>
                  <a:srgbClr val="1B2430"/>
                </a:solidFill>
              </a:rPr>
              <a:t>Department of Computer Science &amp; Engineering</a:t>
            </a:r>
            <a:endParaRPr lang="en-US" sz="1400" dirty="0"/>
          </a:p>
        </p:txBody>
      </p:sp>
      <p:sp>
        <p:nvSpPr>
          <p:cNvPr id="8" name="Submitted by"/>
          <p:cNvSpPr txBox="1"/>
          <p:nvPr/>
        </p:nvSpPr>
        <p:spPr>
          <a:xfrm>
            <a:off x="4434840" y="4800600"/>
            <a:ext cx="3383280" cy="1463040"/>
          </a:xfrm>
          <a:prstGeom prst="rect">
            <a:avLst/>
          </a:prstGeom>
          <a:noFill/>
          <a:ln/>
        </p:spPr>
        <p:txBody>
          <a:bodyPr wrap="square" lIns="0" tIns="0" rIns="0" bIns="0" rtlCol="0" anchor="t"/>
          <a:lstStyle/>
          <a:p>
            <a:pPr indent="0" marL="0">
              <a:spcAft>
                <a:spcPts val="300"/>
              </a:spcAft>
              <a:buNone/>
            </a:pPr>
            <a:r>
              <a:rPr lang="en-US" sz="1400" b="1" dirty="0">
                <a:solidFill>
                  <a:srgbClr val="1B2430"/>
                </a:solidFill>
              </a:rPr>
              <a:t>Submitted By:</a:t>
            </a:r>
            <a:endParaRPr lang="en-US" sz="1400" dirty="0"/>
          </a:p>
          <a:p>
            <a:pPr indent="0" marL="0">
              <a:spcAft>
                <a:spcPts val="300"/>
              </a:spcAft>
              <a:buNone/>
            </a:pPr>
            <a:r>
              <a:rPr lang="en-US" sz="1400" dirty="0">
                <a:solidFill>
                  <a:srgbClr val="1B2430"/>
                </a:solidFill>
              </a:rPr>
              <a:t>MD Abdun Fattah Lam (2220014)</a:t>
            </a:r>
            <a:endParaRPr lang="en-US" sz="1400" dirty="0"/>
          </a:p>
          <a:p>
            <a:pPr indent="0" marL="0">
              <a:spcAft>
                <a:spcPts val="300"/>
              </a:spcAft>
              <a:buNone/>
            </a:pPr>
            <a:r>
              <a:rPr lang="en-US" sz="1400" dirty="0">
                <a:solidFill>
                  <a:srgbClr val="1B2430"/>
                </a:solidFill>
              </a:rPr>
              <a:t>Mukut Protim Memo (2020086)</a:t>
            </a:r>
            <a:endParaRPr lang="en-US" sz="1400" dirty="0"/>
          </a:p>
          <a:p>
            <a:pPr indent="0" marL="0">
              <a:spcAft>
                <a:spcPts val="300"/>
              </a:spcAft>
              <a:buNone/>
            </a:pPr>
            <a:r>
              <a:rPr lang="en-US" sz="1400" dirty="0">
                <a:solidFill>
                  <a:srgbClr val="1B2430"/>
                </a:solidFill>
              </a:rPr>
              <a:t>Tanjila Hossain Tapti (2130561)</a:t>
            </a:r>
            <a:endParaRPr lang="en-US" sz="1400" dirty="0"/>
          </a:p>
        </p:txBody>
      </p:sp>
      <p:pic>
        <p:nvPicPr>
          <p:cNvPr id="9" name="Second prototype: front, side and back" descr="E:\Final SP\Thesis Report and paper\tools\deck\assets/v2_collage.jpg">    </p:cNvPr>
          <p:cNvPicPr>
            <a:picLocks noChangeAspect="1"/>
          </p:cNvPicPr>
          <p:nvPr/>
        </p:nvPicPr>
        <p:blipFill>
          <a:blip r:embed="rId2"/>
          <a:srcRect l="0" r="0" t="0" b="0"/>
          <a:stretch/>
        </p:blipFill>
        <p:spPr>
          <a:xfrm>
            <a:off x="8092440" y="411480"/>
            <a:ext cx="3657600" cy="603504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Introduction</a:t>
            </a:r>
            <a:endParaRPr lang="en-US" sz="3000" dirty="0"/>
          </a:p>
        </p:txBody>
      </p:sp>
      <p:sp>
        <p:nvSpPr>
          <p:cNvPr id="3" name="Introduction points"/>
          <p:cNvSpPr txBox="1"/>
          <p:nvPr/>
        </p:nvSpPr>
        <p:spPr>
          <a:xfrm>
            <a:off x="548640" y="1325880"/>
            <a:ext cx="5760720" cy="46177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B2430"/>
                </a:solidFill>
              </a:rPr>
              <a:t>At least 2.2 billion people have a near or distance vision impairment, and its prevalence in low- and middle-income regions is about four times that in high-income regions [1]</a:t>
            </a:r>
            <a:endParaRPr lang="en-US" sz="1800" dirty="0"/>
          </a:p>
          <a:p>
            <a:pPr marL="228600" indent="-228600">
              <a:spcAft>
                <a:spcPts val="400"/>
              </a:spcAft>
              <a:buSzPct val="100000"/>
              <a:buChar char="•"/>
            </a:pPr>
            <a:r>
              <a:rPr lang="en-US" sz="1800" dirty="0">
                <a:solidFill>
                  <a:srgbClr val="1B2430"/>
                </a:solidFill>
              </a:rPr>
              <a:t>In Bangladesh, three everyday questions usually require help from another person:</a:t>
            </a:r>
            <a:endParaRPr lang="en-US" sz="1800" dirty="0"/>
          </a:p>
          <a:p>
            <a:pPr lvl="1" marL="457200" indent="-228600">
              <a:spcAft>
                <a:spcPts val="400"/>
              </a:spcAft>
              <a:buSzPct val="100000"/>
              <a:buChar char="•"/>
            </a:pPr>
            <a:r>
              <a:rPr lang="en-US" sz="1800" b="1" dirty="0">
                <a:solidFill>
                  <a:srgbClr val="1F5F8B"/>
                </a:solidFill>
              </a:rPr>
              <a:t>Money: </a:t>
            </a:r>
            <a:pPr indent="0" marL="0">
              <a:buNone/>
            </a:pPr>
            <a:r>
              <a:rPr lang="en-US" sz="1800" dirty="0">
                <a:solidFill>
                  <a:srgbClr val="1B2430"/>
                </a:solidFill>
              </a:rPr>
              <a:t>which note was handed back, and is it genuine?</a:t>
            </a:r>
            <a:endParaRPr lang="en-US" sz="1800" dirty="0"/>
          </a:p>
          <a:p>
            <a:pPr lvl="1" marL="457200" indent="-228600">
              <a:spcAft>
                <a:spcPts val="400"/>
              </a:spcAft>
              <a:buSzPct val="100000"/>
              <a:buChar char="•"/>
            </a:pPr>
            <a:r>
              <a:rPr lang="en-US" sz="1800" b="1" dirty="0">
                <a:solidFill>
                  <a:srgbClr val="1F5F8B"/>
                </a:solidFill>
              </a:rPr>
              <a:t>Reading: </a:t>
            </a:r>
            <a:pPr indent="0" marL="0">
              <a:buNone/>
            </a:pPr>
            <a:r>
              <a:rPr lang="en-US" sz="1800" dirty="0">
                <a:solidFill>
                  <a:srgbClr val="1B2430"/>
                </a:solidFill>
              </a:rPr>
              <a:t>what does a medicine label, sign or letter say?</a:t>
            </a:r>
            <a:endParaRPr lang="en-US" sz="1800" dirty="0"/>
          </a:p>
          <a:p>
            <a:pPr lvl="1" marL="457200" indent="-228600">
              <a:spcAft>
                <a:spcPts val="400"/>
              </a:spcAft>
              <a:buSzPct val="100000"/>
              <a:buChar char="•"/>
            </a:pPr>
            <a:r>
              <a:rPr lang="en-US" sz="1800" b="1" dirty="0">
                <a:solidFill>
                  <a:srgbClr val="1F5F8B"/>
                </a:solidFill>
              </a:rPr>
              <a:t>Surroundings: </a:t>
            </a:r>
            <a:pPr indent="0" marL="0">
              <a:buNone/>
            </a:pPr>
            <a:r>
              <a:rPr lang="en-US" sz="1800" dirty="0">
                <a:solidFill>
                  <a:srgbClr val="1B2430"/>
                </a:solidFill>
              </a:rPr>
              <a:t>what or who is ahead?</a:t>
            </a:r>
            <a:endParaRPr lang="en-US" sz="1800" dirty="0"/>
          </a:p>
          <a:p>
            <a:pPr marL="228600" indent="-228600">
              <a:spcBef>
                <a:spcPts val="400"/>
              </a:spcBef>
              <a:spcAft>
                <a:spcPts val="800"/>
              </a:spcAft>
              <a:buSzPct val="100000"/>
              <a:buChar char="•"/>
            </a:pPr>
            <a:r>
              <a:rPr lang="en-US" sz="1800" dirty="0">
                <a:solidFill>
                  <a:srgbClr val="1B2430"/>
                </a:solidFill>
              </a:rPr>
              <a:t>In each case the blind person depends on an answer they cannot verify</a:t>
            </a:r>
            <a:endParaRPr lang="en-US" sz="1800" dirty="0"/>
          </a:p>
          <a:p>
            <a:pPr marL="228600" indent="-228600">
              <a:buSzPct val="100000"/>
              <a:buChar char="•"/>
            </a:pPr>
            <a:r>
              <a:rPr lang="en-US" sz="1800" b="1" dirty="0">
                <a:solidFill>
                  <a:srgbClr val="17324D"/>
                </a:solidFill>
              </a:rPr>
              <a:t>SARA is an offline, bilingual assistive glass built for this setting</a:t>
            </a:r>
            <a:endParaRPr lang="en-US" sz="1800" dirty="0"/>
          </a:p>
        </p:txBody>
      </p:sp>
      <p:sp>
        <p:nvSpPr>
          <p:cNvPr id="4" name="Money label"/>
          <p:cNvSpPr txBox="1"/>
          <p:nvPr/>
        </p:nvSpPr>
        <p:spPr>
          <a:xfrm>
            <a:off x="6492240" y="1600200"/>
            <a:ext cx="170688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Arial" pitchFamily="34" charset="0"/>
                <a:ea typeface="Arial" pitchFamily="34" charset="-122"/>
                <a:cs typeface="Arial" pitchFamily="34" charset="-120"/>
              </a:rPr>
              <a:t>Money</a:t>
            </a:r>
            <a:endParaRPr lang="en-US" sz="1800" dirty="0"/>
          </a:p>
        </p:txBody>
      </p:sp>
      <p:sp>
        <p:nvSpPr>
          <p:cNvPr id="5" name="Reading label"/>
          <p:cNvSpPr txBox="1"/>
          <p:nvPr/>
        </p:nvSpPr>
        <p:spPr>
          <a:xfrm>
            <a:off x="8199120" y="1600200"/>
            <a:ext cx="170688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Arial" pitchFamily="34" charset="0"/>
                <a:ea typeface="Arial" pitchFamily="34" charset="-122"/>
                <a:cs typeface="Arial" pitchFamily="34" charset="-120"/>
              </a:rPr>
              <a:t>Reading</a:t>
            </a:r>
            <a:endParaRPr lang="en-US" sz="1800" dirty="0"/>
          </a:p>
        </p:txBody>
      </p:sp>
      <p:sp>
        <p:nvSpPr>
          <p:cNvPr id="6" name="Surroundings label"/>
          <p:cNvSpPr txBox="1"/>
          <p:nvPr/>
        </p:nvSpPr>
        <p:spPr>
          <a:xfrm>
            <a:off x="9906000" y="1600200"/>
            <a:ext cx="170688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Arial" pitchFamily="34" charset="0"/>
                <a:ea typeface="Arial" pitchFamily="34" charset="-122"/>
                <a:cs typeface="Arial" pitchFamily="34" charset="-120"/>
              </a:rPr>
              <a:t>Surroundings</a:t>
            </a:r>
            <a:endParaRPr lang="en-US" sz="1800" dirty="0"/>
          </a:p>
        </p:txBody>
      </p:sp>
      <p:pic>
        <p:nvPicPr>
          <p:cNvPr id="7" name="Without and with SARA" descr="E:\Final SP\Thesis Report and paper\tools\deck\assets/cartoon_full.jpg">    </p:cNvPr>
          <p:cNvPicPr>
            <a:picLocks noChangeAspect="1"/>
          </p:cNvPicPr>
          <p:nvPr/>
        </p:nvPicPr>
        <p:blipFill>
          <a:blip r:embed="rId1"/>
          <a:stretch>
            <a:fillRect/>
          </a:stretch>
        </p:blipFill>
        <p:spPr>
          <a:xfrm>
            <a:off x="6492240" y="2057400"/>
            <a:ext cx="5120640" cy="2047740"/>
          </a:xfrm>
          <a:prstGeom prst="rect">
            <a:avLst/>
          </a:prstGeom>
        </p:spPr>
      </p:pic>
      <p:sp>
        <p:nvSpPr>
          <p:cNvPr id="8" name="Illustration caption"/>
          <p:cNvSpPr txBox="1"/>
          <p:nvPr/>
        </p:nvSpPr>
        <p:spPr>
          <a:xfrm>
            <a:off x="6492240" y="4196580"/>
            <a:ext cx="5120640" cy="548640"/>
          </a:xfrm>
          <a:prstGeom prst="rect">
            <a:avLst/>
          </a:prstGeom>
          <a:noFill/>
          <a:ln/>
        </p:spPr>
        <p:txBody>
          <a:bodyPr wrap="square" lIns="0" tIns="0" rIns="0" bIns="0" rtlCol="0" anchor="t"/>
          <a:lstStyle/>
          <a:p>
            <a:pPr algn="ctr" indent="0" marL="0">
              <a:buNone/>
            </a:pPr>
            <a:r>
              <a:rPr lang="en-US" sz="1200" i="1" dirty="0">
                <a:solidFill>
                  <a:schemeClr val="accent5"/>
                </a:solidFill>
              </a:rPr>
              <a:t>Top row: today, an answer from another person.  Bottom row: with SARA, the glass answers. (Illustration)</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Problem Statement</a:t>
            </a:r>
            <a:endParaRPr lang="en-US" sz="3000" dirty="0"/>
          </a:p>
        </p:txBody>
      </p:sp>
      <p:sp>
        <p:nvSpPr>
          <p:cNvPr id="3" name="User box"/>
          <p:cNvSpPr/>
          <p:nvPr/>
        </p:nvSpPr>
        <p:spPr>
          <a:xfrm>
            <a:off x="548640" y="1783080"/>
            <a:ext cx="1325880" cy="2103120"/>
          </a:xfrm>
          <a:prstGeom prst="roundRect">
            <a:avLst>
              <a:gd name="adj" fmla="val 4138"/>
            </a:avLst>
          </a:prstGeom>
          <a:solidFill>
            <a:srgbClr val="FFFFFF"/>
          </a:solidFill>
          <a:ln w="12700">
            <a:solidFill>
              <a:srgbClr val="BFD4E6"/>
            </a:solidFill>
            <a:prstDash val="solid"/>
          </a:ln>
        </p:spPr>
      </p:sp>
      <p:sp>
        <p:nvSpPr>
          <p:cNvPr id="4" name="User label"/>
          <p:cNvSpPr txBox="1"/>
          <p:nvPr/>
        </p:nvSpPr>
        <p:spPr>
          <a:xfrm>
            <a:off x="603504" y="1837944"/>
            <a:ext cx="1216152" cy="45720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200" b="1" dirty="0">
                <a:solidFill>
                  <a:srgbClr val="17324D"/>
                </a:solidFill>
              </a:rPr>
              <a:t>Visually impaired user</a:t>
            </a:r>
            <a:endParaRPr lang="en-US" sz="1200" dirty="0"/>
          </a:p>
        </p:txBody>
      </p:sp>
      <p:pic>
        <p:nvPicPr>
          <p:cNvPr id="5" name="User picture" descr="E:\Final SP\Thesis Report and paper\tools\deck\assets/flow_user.jpg">    </p:cNvPr>
          <p:cNvPicPr>
            <a:picLocks noChangeAspect="1"/>
          </p:cNvPicPr>
          <p:nvPr/>
        </p:nvPicPr>
        <p:blipFill>
          <a:blip r:embed="rId1"/>
          <a:srcRect l="0" r="0" t="0" b="0"/>
          <a:stretch/>
        </p:blipFill>
        <p:spPr>
          <a:xfrm>
            <a:off x="603504" y="2350008"/>
            <a:ext cx="1216152" cy="1481328"/>
          </a:xfrm>
          <a:prstGeom prst="rect">
            <a:avLst/>
          </a:prstGeom>
        </p:spPr>
      </p:pic>
      <p:sp>
        <p:nvSpPr>
          <p:cNvPr id="6" name="Money: at the shop box"/>
          <p:cNvSpPr/>
          <p:nvPr/>
        </p:nvSpPr>
        <p:spPr>
          <a:xfrm>
            <a:off x="3154680" y="1280160"/>
            <a:ext cx="1828800" cy="1051560"/>
          </a:xfrm>
          <a:prstGeom prst="roundRect">
            <a:avLst>
              <a:gd name="adj" fmla="val 5217"/>
            </a:avLst>
          </a:prstGeom>
          <a:solidFill>
            <a:srgbClr val="FFFFFF"/>
          </a:solidFill>
          <a:ln w="12700">
            <a:solidFill>
              <a:srgbClr val="BFD4E6"/>
            </a:solidFill>
            <a:prstDash val="solid"/>
          </a:ln>
        </p:spPr>
      </p:sp>
      <p:sp>
        <p:nvSpPr>
          <p:cNvPr id="7" name="Money: at the shop label"/>
          <p:cNvSpPr txBox="1"/>
          <p:nvPr/>
        </p:nvSpPr>
        <p:spPr>
          <a:xfrm>
            <a:off x="3209544" y="1335024"/>
            <a:ext cx="1719072" cy="27432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100" b="1" dirty="0">
                <a:solidFill>
                  <a:srgbClr val="17324D"/>
                </a:solidFill>
              </a:rPr>
              <a:t>Money: at the shop</a:t>
            </a:r>
            <a:endParaRPr lang="en-US" sz="1100" dirty="0"/>
          </a:p>
        </p:txBody>
      </p:sp>
      <p:pic>
        <p:nvPicPr>
          <p:cNvPr id="8" name="Money: at the shop picture" descr="E:\Final SP\Thesis Report and paper\tools\deck\assets/cartoon_problem_1.jpg">    </p:cNvPr>
          <p:cNvPicPr>
            <a:picLocks noChangeAspect="1"/>
          </p:cNvPicPr>
          <p:nvPr/>
        </p:nvPicPr>
        <p:blipFill>
          <a:blip r:embed="rId2"/>
          <a:srcRect l="0" r="0" t="0" b="0"/>
          <a:stretch/>
        </p:blipFill>
        <p:spPr>
          <a:xfrm>
            <a:off x="3209544" y="1664208"/>
            <a:ext cx="1719072" cy="612648"/>
          </a:xfrm>
          <a:prstGeom prst="rect">
            <a:avLst/>
          </a:prstGeom>
        </p:spPr>
      </p:pic>
      <p:sp>
        <p:nvSpPr>
          <p:cNvPr id="9" name="Shopkeeper box"/>
          <p:cNvSpPr/>
          <p:nvPr/>
        </p:nvSpPr>
        <p:spPr>
          <a:xfrm>
            <a:off x="5897880" y="1280160"/>
            <a:ext cx="1463040" cy="1051560"/>
          </a:xfrm>
          <a:prstGeom prst="roundRect">
            <a:avLst>
              <a:gd name="adj" fmla="val 5217"/>
            </a:avLst>
          </a:prstGeom>
          <a:solidFill>
            <a:srgbClr val="FFFFFF"/>
          </a:solidFill>
          <a:ln w="12700">
            <a:solidFill>
              <a:srgbClr val="BFD4E6"/>
            </a:solidFill>
            <a:prstDash val="solid"/>
          </a:ln>
        </p:spPr>
      </p:sp>
      <p:sp>
        <p:nvSpPr>
          <p:cNvPr id="10" name="Shopkeeper label"/>
          <p:cNvSpPr txBox="1"/>
          <p:nvPr/>
        </p:nvSpPr>
        <p:spPr>
          <a:xfrm>
            <a:off x="5952744" y="1335024"/>
            <a:ext cx="1353312" cy="27432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100" b="1" dirty="0">
                <a:solidFill>
                  <a:srgbClr val="17324D"/>
                </a:solidFill>
              </a:rPr>
              <a:t>Shopkeeper</a:t>
            </a:r>
            <a:endParaRPr lang="en-US" sz="1100" dirty="0"/>
          </a:p>
        </p:txBody>
      </p:sp>
      <p:sp>
        <p:nvSpPr>
          <p:cNvPr id="11" name="Shopkeeper circle"/>
          <p:cNvSpPr/>
          <p:nvPr/>
        </p:nvSpPr>
        <p:spPr>
          <a:xfrm>
            <a:off x="6323076" y="1664208"/>
            <a:ext cx="612648" cy="612648"/>
          </a:xfrm>
          <a:prstGeom prst="ellipse">
            <a:avLst/>
          </a:prstGeom>
          <a:solidFill>
            <a:srgbClr val="EAF1F7"/>
          </a:solidFill>
          <a:ln w="12700">
            <a:solidFill>
              <a:srgbClr val="BFD4E6"/>
            </a:solidFill>
            <a:prstDash val="solid"/>
          </a:ln>
        </p:spPr>
      </p:sp>
      <p:pic>
        <p:nvPicPr>
          <p:cNvPr id="12" name="Shopkeeper icon" descr="preencoded.png">    </p:cNvPr>
          <p:cNvPicPr>
            <a:picLocks noChangeAspect="1"/>
          </p:cNvPicPr>
          <p:nvPr/>
        </p:nvPicPr>
        <p:blipFill>
          <a:blip r:embed="rId3"/>
          <a:stretch>
            <a:fillRect/>
          </a:stretch>
        </p:blipFill>
        <p:spPr>
          <a:xfrm>
            <a:off x="6445606" y="1786738"/>
            <a:ext cx="367589" cy="367589"/>
          </a:xfrm>
          <a:prstGeom prst="rect">
            <a:avLst/>
          </a:prstGeom>
        </p:spPr>
      </p:pic>
      <p:sp>
        <p:nvSpPr>
          <p:cNvPr id="13" name="Money: at the shop arrow 1"/>
          <p:cNvSpPr/>
          <p:nvPr/>
        </p:nvSpPr>
        <p:spPr>
          <a:xfrm flipV="1">
            <a:off x="1874520" y="1805940"/>
            <a:ext cx="1280160" cy="1028700"/>
          </a:xfrm>
          <a:prstGeom prst="line">
            <a:avLst/>
          </a:prstGeom>
          <a:noFill/>
          <a:ln w="22225">
            <a:solidFill>
              <a:srgbClr val="5B6777"/>
            </a:solidFill>
            <a:prstDash val="solid"/>
            <a:tailEnd type="triangle"/>
          </a:ln>
        </p:spPr>
      </p:sp>
      <p:sp>
        <p:nvSpPr>
          <p:cNvPr id="14" name="Arrow label: receives change"/>
          <p:cNvSpPr txBox="1"/>
          <p:nvPr/>
        </p:nvSpPr>
        <p:spPr>
          <a:xfrm>
            <a:off x="1920240" y="1508760"/>
            <a:ext cx="1234440" cy="274320"/>
          </a:xfrm>
          <a:prstGeom prst="rect">
            <a:avLst/>
          </a:prstGeom>
          <a:noFill/>
          <a:ln/>
        </p:spPr>
        <p:txBody>
          <a:bodyPr wrap="square" lIns="0" tIns="0" rIns="0" bIns="0" rtlCol="0" anchor="ctr"/>
          <a:lstStyle/>
          <a:p>
            <a:pPr algn="l" indent="0" marL="0">
              <a:buNone/>
            </a:pPr>
            <a:r>
              <a:rPr lang="en-US" sz="1100" i="1" dirty="0">
                <a:solidFill>
                  <a:srgbClr val="1B2430"/>
                </a:solidFill>
              </a:rPr>
              <a:t>receives change</a:t>
            </a:r>
            <a:endParaRPr lang="en-US" sz="1100" dirty="0"/>
          </a:p>
        </p:txBody>
      </p:sp>
      <p:sp>
        <p:nvSpPr>
          <p:cNvPr id="15" name="Money: at the shop arrow 2"/>
          <p:cNvSpPr/>
          <p:nvPr/>
        </p:nvSpPr>
        <p:spPr>
          <a:xfrm>
            <a:off x="4983480" y="1805940"/>
            <a:ext cx="914400" cy="0"/>
          </a:xfrm>
          <a:prstGeom prst="line">
            <a:avLst/>
          </a:prstGeom>
          <a:noFill/>
          <a:ln w="22225">
            <a:solidFill>
              <a:srgbClr val="5B6777"/>
            </a:solidFill>
            <a:prstDash val="solid"/>
            <a:tailEnd type="triangle"/>
          </a:ln>
        </p:spPr>
      </p:sp>
      <p:sp>
        <p:nvSpPr>
          <p:cNvPr id="16" name="Arrow label: must trust"/>
          <p:cNvSpPr txBox="1"/>
          <p:nvPr/>
        </p:nvSpPr>
        <p:spPr>
          <a:xfrm>
            <a:off x="4983480" y="1495044"/>
            <a:ext cx="914400" cy="274320"/>
          </a:xfrm>
          <a:prstGeom prst="rect">
            <a:avLst/>
          </a:prstGeom>
          <a:noFill/>
          <a:ln/>
        </p:spPr>
        <p:txBody>
          <a:bodyPr wrap="square" lIns="0" tIns="0" rIns="0" bIns="0" rtlCol="0" anchor="ctr"/>
          <a:lstStyle/>
          <a:p>
            <a:pPr algn="ctr" indent="0" marL="0">
              <a:buNone/>
            </a:pPr>
            <a:r>
              <a:rPr lang="en-US" sz="1100" i="1" dirty="0">
                <a:solidFill>
                  <a:srgbClr val="1B2430"/>
                </a:solidFill>
              </a:rPr>
              <a:t>must trust</a:t>
            </a:r>
            <a:endParaRPr lang="en-US" sz="1100" dirty="0"/>
          </a:p>
        </p:txBody>
      </p:sp>
      <p:sp>
        <p:nvSpPr>
          <p:cNvPr id="17" name="Money: at the shop arrow 3"/>
          <p:cNvSpPr/>
          <p:nvPr/>
        </p:nvSpPr>
        <p:spPr>
          <a:xfrm>
            <a:off x="7360920" y="1805940"/>
            <a:ext cx="960120" cy="1097280"/>
          </a:xfrm>
          <a:prstGeom prst="line">
            <a:avLst/>
          </a:prstGeom>
          <a:noFill/>
          <a:ln w="22225">
            <a:solidFill>
              <a:srgbClr val="5B6777"/>
            </a:solidFill>
            <a:prstDash val="solid"/>
            <a:tailEnd type="triangle"/>
          </a:ln>
        </p:spPr>
      </p:sp>
      <p:sp>
        <p:nvSpPr>
          <p:cNvPr id="18" name="Reading: at the pharmacy box"/>
          <p:cNvSpPr/>
          <p:nvPr/>
        </p:nvSpPr>
        <p:spPr>
          <a:xfrm>
            <a:off x="3154680" y="2377440"/>
            <a:ext cx="1828800" cy="1051560"/>
          </a:xfrm>
          <a:prstGeom prst="roundRect">
            <a:avLst>
              <a:gd name="adj" fmla="val 5217"/>
            </a:avLst>
          </a:prstGeom>
          <a:solidFill>
            <a:srgbClr val="FFFFFF"/>
          </a:solidFill>
          <a:ln w="12700">
            <a:solidFill>
              <a:srgbClr val="BFD4E6"/>
            </a:solidFill>
            <a:prstDash val="solid"/>
          </a:ln>
        </p:spPr>
      </p:sp>
      <p:sp>
        <p:nvSpPr>
          <p:cNvPr id="19" name="Reading: at the pharmacy label"/>
          <p:cNvSpPr txBox="1"/>
          <p:nvPr/>
        </p:nvSpPr>
        <p:spPr>
          <a:xfrm>
            <a:off x="3209544" y="2432304"/>
            <a:ext cx="1719072" cy="27432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100" b="1" dirty="0">
                <a:solidFill>
                  <a:srgbClr val="17324D"/>
                </a:solidFill>
              </a:rPr>
              <a:t>Reading: at the pharmacy</a:t>
            </a:r>
            <a:endParaRPr lang="en-US" sz="1100" dirty="0"/>
          </a:p>
        </p:txBody>
      </p:sp>
      <p:pic>
        <p:nvPicPr>
          <p:cNvPr id="20" name="Reading: at the pharmacy picture" descr="E:\Final SP\Thesis Report and paper\tools\deck\assets/cartoon_problem_2.jpg">    </p:cNvPr>
          <p:cNvPicPr>
            <a:picLocks noChangeAspect="1"/>
          </p:cNvPicPr>
          <p:nvPr/>
        </p:nvPicPr>
        <p:blipFill>
          <a:blip r:embed="rId4"/>
          <a:srcRect l="0" r="0" t="0" b="0"/>
          <a:stretch/>
        </p:blipFill>
        <p:spPr>
          <a:xfrm>
            <a:off x="3209544" y="2761488"/>
            <a:ext cx="1719072" cy="612648"/>
          </a:xfrm>
          <a:prstGeom prst="rect">
            <a:avLst/>
          </a:prstGeom>
        </p:spPr>
      </p:pic>
      <p:sp>
        <p:nvSpPr>
          <p:cNvPr id="21" name="Family or pharmacist box"/>
          <p:cNvSpPr/>
          <p:nvPr/>
        </p:nvSpPr>
        <p:spPr>
          <a:xfrm>
            <a:off x="5897880" y="2377440"/>
            <a:ext cx="1463040" cy="1051560"/>
          </a:xfrm>
          <a:prstGeom prst="roundRect">
            <a:avLst>
              <a:gd name="adj" fmla="val 5217"/>
            </a:avLst>
          </a:prstGeom>
          <a:solidFill>
            <a:srgbClr val="FFFFFF"/>
          </a:solidFill>
          <a:ln w="12700">
            <a:solidFill>
              <a:srgbClr val="BFD4E6"/>
            </a:solidFill>
            <a:prstDash val="solid"/>
          </a:ln>
        </p:spPr>
      </p:sp>
      <p:sp>
        <p:nvSpPr>
          <p:cNvPr id="22" name="Family or pharmacist label"/>
          <p:cNvSpPr txBox="1"/>
          <p:nvPr/>
        </p:nvSpPr>
        <p:spPr>
          <a:xfrm>
            <a:off x="5952744" y="2432304"/>
            <a:ext cx="1353312" cy="27432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100" b="1" dirty="0">
                <a:solidFill>
                  <a:srgbClr val="17324D"/>
                </a:solidFill>
              </a:rPr>
              <a:t>Family or pharmacist</a:t>
            </a:r>
            <a:endParaRPr lang="en-US" sz="1100" dirty="0"/>
          </a:p>
        </p:txBody>
      </p:sp>
      <p:sp>
        <p:nvSpPr>
          <p:cNvPr id="23" name="Family or pharmacist circle"/>
          <p:cNvSpPr/>
          <p:nvPr/>
        </p:nvSpPr>
        <p:spPr>
          <a:xfrm>
            <a:off x="6323076" y="2761488"/>
            <a:ext cx="612648" cy="612648"/>
          </a:xfrm>
          <a:prstGeom prst="ellipse">
            <a:avLst/>
          </a:prstGeom>
          <a:solidFill>
            <a:srgbClr val="EAF1F7"/>
          </a:solidFill>
          <a:ln w="12700">
            <a:solidFill>
              <a:srgbClr val="BFD4E6"/>
            </a:solidFill>
            <a:prstDash val="solid"/>
          </a:ln>
        </p:spPr>
      </p:sp>
      <p:pic>
        <p:nvPicPr>
          <p:cNvPr id="24" name="Family or pharmacist icon" descr="preencoded.png">    </p:cNvPr>
          <p:cNvPicPr>
            <a:picLocks noChangeAspect="1"/>
          </p:cNvPicPr>
          <p:nvPr/>
        </p:nvPicPr>
        <p:blipFill>
          <a:blip r:embed="rId5"/>
          <a:stretch>
            <a:fillRect/>
          </a:stretch>
        </p:blipFill>
        <p:spPr>
          <a:xfrm>
            <a:off x="6445606" y="2884018"/>
            <a:ext cx="367589" cy="367589"/>
          </a:xfrm>
          <a:prstGeom prst="rect">
            <a:avLst/>
          </a:prstGeom>
        </p:spPr>
      </p:pic>
      <p:sp>
        <p:nvSpPr>
          <p:cNvPr id="25" name="Reading: at the pharmacy arrow 1"/>
          <p:cNvSpPr/>
          <p:nvPr/>
        </p:nvSpPr>
        <p:spPr>
          <a:xfrm>
            <a:off x="1874520" y="2834640"/>
            <a:ext cx="1280160" cy="68580"/>
          </a:xfrm>
          <a:prstGeom prst="line">
            <a:avLst/>
          </a:prstGeom>
          <a:noFill/>
          <a:ln w="22225">
            <a:solidFill>
              <a:srgbClr val="5B6777"/>
            </a:solidFill>
            <a:prstDash val="solid"/>
            <a:tailEnd type="triangle"/>
          </a:ln>
        </p:spPr>
      </p:sp>
      <p:sp>
        <p:nvSpPr>
          <p:cNvPr id="26" name="Arrow label: needs a label read"/>
          <p:cNvSpPr txBox="1"/>
          <p:nvPr/>
        </p:nvSpPr>
        <p:spPr>
          <a:xfrm>
            <a:off x="1920240" y="2487168"/>
            <a:ext cx="1234440" cy="274320"/>
          </a:xfrm>
          <a:prstGeom prst="rect">
            <a:avLst/>
          </a:prstGeom>
          <a:noFill/>
          <a:ln/>
        </p:spPr>
        <p:txBody>
          <a:bodyPr wrap="square" lIns="0" tIns="0" rIns="0" bIns="0" rtlCol="0" anchor="ctr"/>
          <a:lstStyle/>
          <a:p>
            <a:pPr algn="l" indent="0" marL="0">
              <a:buNone/>
            </a:pPr>
            <a:r>
              <a:rPr lang="en-US" sz="1100" i="1" dirty="0">
                <a:solidFill>
                  <a:srgbClr val="1B2430"/>
                </a:solidFill>
              </a:rPr>
              <a:t>needs a label read</a:t>
            </a:r>
            <a:endParaRPr lang="en-US" sz="1100" dirty="0"/>
          </a:p>
        </p:txBody>
      </p:sp>
      <p:sp>
        <p:nvSpPr>
          <p:cNvPr id="27" name="Reading: at the pharmacy arrow 2"/>
          <p:cNvSpPr/>
          <p:nvPr/>
        </p:nvSpPr>
        <p:spPr>
          <a:xfrm>
            <a:off x="4983480" y="2903220"/>
            <a:ext cx="914400" cy="0"/>
          </a:xfrm>
          <a:prstGeom prst="line">
            <a:avLst/>
          </a:prstGeom>
          <a:noFill/>
          <a:ln w="22225">
            <a:solidFill>
              <a:srgbClr val="5B6777"/>
            </a:solidFill>
            <a:prstDash val="solid"/>
            <a:tailEnd type="triangle"/>
          </a:ln>
        </p:spPr>
      </p:sp>
      <p:sp>
        <p:nvSpPr>
          <p:cNvPr id="28" name="Arrow label: asks"/>
          <p:cNvSpPr txBox="1"/>
          <p:nvPr/>
        </p:nvSpPr>
        <p:spPr>
          <a:xfrm>
            <a:off x="4983480" y="2592324"/>
            <a:ext cx="914400" cy="274320"/>
          </a:xfrm>
          <a:prstGeom prst="rect">
            <a:avLst/>
          </a:prstGeom>
          <a:noFill/>
          <a:ln/>
        </p:spPr>
        <p:txBody>
          <a:bodyPr wrap="square" lIns="0" tIns="0" rIns="0" bIns="0" rtlCol="0" anchor="ctr"/>
          <a:lstStyle/>
          <a:p>
            <a:pPr algn="ctr" indent="0" marL="0">
              <a:buNone/>
            </a:pPr>
            <a:r>
              <a:rPr lang="en-US" sz="1100" i="1" dirty="0">
                <a:solidFill>
                  <a:srgbClr val="1B2430"/>
                </a:solidFill>
              </a:rPr>
              <a:t>asks</a:t>
            </a:r>
            <a:endParaRPr lang="en-US" sz="1100" dirty="0"/>
          </a:p>
        </p:txBody>
      </p:sp>
      <p:sp>
        <p:nvSpPr>
          <p:cNvPr id="29" name="Reading: at the pharmacy arrow 3"/>
          <p:cNvSpPr/>
          <p:nvPr/>
        </p:nvSpPr>
        <p:spPr>
          <a:xfrm>
            <a:off x="7360920" y="2903220"/>
            <a:ext cx="960120" cy="0"/>
          </a:xfrm>
          <a:prstGeom prst="line">
            <a:avLst/>
          </a:prstGeom>
          <a:noFill/>
          <a:ln w="22225">
            <a:solidFill>
              <a:srgbClr val="5B6777"/>
            </a:solidFill>
            <a:prstDash val="solid"/>
            <a:tailEnd type="triangle"/>
          </a:ln>
        </p:spPr>
      </p:sp>
      <p:sp>
        <p:nvSpPr>
          <p:cNvPr id="30" name="Surroundings: on the street box"/>
          <p:cNvSpPr/>
          <p:nvPr/>
        </p:nvSpPr>
        <p:spPr>
          <a:xfrm>
            <a:off x="3154680" y="3474720"/>
            <a:ext cx="1828800" cy="1051560"/>
          </a:xfrm>
          <a:prstGeom prst="roundRect">
            <a:avLst>
              <a:gd name="adj" fmla="val 5217"/>
            </a:avLst>
          </a:prstGeom>
          <a:solidFill>
            <a:srgbClr val="FFFFFF"/>
          </a:solidFill>
          <a:ln w="12700">
            <a:solidFill>
              <a:srgbClr val="BFD4E6"/>
            </a:solidFill>
            <a:prstDash val="solid"/>
          </a:ln>
        </p:spPr>
      </p:sp>
      <p:sp>
        <p:nvSpPr>
          <p:cNvPr id="31" name="Surroundings: on the street label"/>
          <p:cNvSpPr txBox="1"/>
          <p:nvPr/>
        </p:nvSpPr>
        <p:spPr>
          <a:xfrm>
            <a:off x="3209544" y="3529584"/>
            <a:ext cx="1719072" cy="27432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100" b="1" dirty="0">
                <a:solidFill>
                  <a:srgbClr val="17324D"/>
                </a:solidFill>
              </a:rPr>
              <a:t>Surroundings: on the street</a:t>
            </a:r>
            <a:endParaRPr lang="en-US" sz="1100" dirty="0"/>
          </a:p>
        </p:txBody>
      </p:sp>
      <p:pic>
        <p:nvPicPr>
          <p:cNvPr id="32" name="Surroundings: on the street picture" descr="E:\Final SP\Thesis Report and paper\tools\deck\assets/cartoon_problem_3.jpg">    </p:cNvPr>
          <p:cNvPicPr>
            <a:picLocks noChangeAspect="1"/>
          </p:cNvPicPr>
          <p:nvPr/>
        </p:nvPicPr>
        <p:blipFill>
          <a:blip r:embed="rId6"/>
          <a:srcRect l="0" r="0" t="0" b="0"/>
          <a:stretch/>
        </p:blipFill>
        <p:spPr>
          <a:xfrm>
            <a:off x="3209544" y="3858768"/>
            <a:ext cx="1719072" cy="612648"/>
          </a:xfrm>
          <a:prstGeom prst="rect">
            <a:avLst/>
          </a:prstGeom>
        </p:spPr>
      </p:pic>
      <p:sp>
        <p:nvSpPr>
          <p:cNvPr id="33" name="A stranger box"/>
          <p:cNvSpPr/>
          <p:nvPr/>
        </p:nvSpPr>
        <p:spPr>
          <a:xfrm>
            <a:off x="5897880" y="3474720"/>
            <a:ext cx="1463040" cy="1051560"/>
          </a:xfrm>
          <a:prstGeom prst="roundRect">
            <a:avLst>
              <a:gd name="adj" fmla="val 5217"/>
            </a:avLst>
          </a:prstGeom>
          <a:solidFill>
            <a:srgbClr val="FFFFFF"/>
          </a:solidFill>
          <a:ln w="12700">
            <a:solidFill>
              <a:srgbClr val="BFD4E6"/>
            </a:solidFill>
            <a:prstDash val="solid"/>
          </a:ln>
        </p:spPr>
      </p:sp>
      <p:sp>
        <p:nvSpPr>
          <p:cNvPr id="34" name="A stranger label"/>
          <p:cNvSpPr txBox="1"/>
          <p:nvPr/>
        </p:nvSpPr>
        <p:spPr>
          <a:xfrm>
            <a:off x="5952744" y="3529584"/>
            <a:ext cx="1353312" cy="27432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100" b="1" dirty="0">
                <a:solidFill>
                  <a:srgbClr val="17324D"/>
                </a:solidFill>
              </a:rPr>
              <a:t>A stranger</a:t>
            </a:r>
            <a:endParaRPr lang="en-US" sz="1100" dirty="0"/>
          </a:p>
        </p:txBody>
      </p:sp>
      <p:sp>
        <p:nvSpPr>
          <p:cNvPr id="35" name="A stranger circle"/>
          <p:cNvSpPr/>
          <p:nvPr/>
        </p:nvSpPr>
        <p:spPr>
          <a:xfrm>
            <a:off x="6323076" y="3858768"/>
            <a:ext cx="612648" cy="612648"/>
          </a:xfrm>
          <a:prstGeom prst="ellipse">
            <a:avLst/>
          </a:prstGeom>
          <a:solidFill>
            <a:srgbClr val="EAF1F7"/>
          </a:solidFill>
          <a:ln w="12700">
            <a:solidFill>
              <a:srgbClr val="BFD4E6"/>
            </a:solidFill>
            <a:prstDash val="solid"/>
          </a:ln>
        </p:spPr>
      </p:sp>
      <p:pic>
        <p:nvPicPr>
          <p:cNvPr id="36" name="A stranger icon" descr="preencoded.png">    </p:cNvPr>
          <p:cNvPicPr>
            <a:picLocks noChangeAspect="1"/>
          </p:cNvPicPr>
          <p:nvPr/>
        </p:nvPicPr>
        <p:blipFill>
          <a:blip r:embed="rId7"/>
          <a:stretch>
            <a:fillRect/>
          </a:stretch>
        </p:blipFill>
        <p:spPr>
          <a:xfrm>
            <a:off x="6445606" y="3981298"/>
            <a:ext cx="367589" cy="367589"/>
          </a:xfrm>
          <a:prstGeom prst="rect">
            <a:avLst/>
          </a:prstGeom>
        </p:spPr>
      </p:pic>
      <p:sp>
        <p:nvSpPr>
          <p:cNvPr id="37" name="Surroundings: on the street arrow 1"/>
          <p:cNvSpPr/>
          <p:nvPr/>
        </p:nvSpPr>
        <p:spPr>
          <a:xfrm>
            <a:off x="1874520" y="2834640"/>
            <a:ext cx="1280160" cy="1165860"/>
          </a:xfrm>
          <a:prstGeom prst="line">
            <a:avLst/>
          </a:prstGeom>
          <a:noFill/>
          <a:ln w="22225">
            <a:solidFill>
              <a:srgbClr val="5B6777"/>
            </a:solidFill>
            <a:prstDash val="solid"/>
            <a:tailEnd type="triangle"/>
          </a:ln>
        </p:spPr>
      </p:sp>
      <p:sp>
        <p:nvSpPr>
          <p:cNvPr id="38" name="Arrow label: walks outside"/>
          <p:cNvSpPr txBox="1"/>
          <p:nvPr/>
        </p:nvSpPr>
        <p:spPr>
          <a:xfrm>
            <a:off x="1920240" y="3749040"/>
            <a:ext cx="1234440" cy="274320"/>
          </a:xfrm>
          <a:prstGeom prst="rect">
            <a:avLst/>
          </a:prstGeom>
          <a:noFill/>
          <a:ln/>
        </p:spPr>
        <p:txBody>
          <a:bodyPr wrap="square" lIns="0" tIns="0" rIns="0" bIns="0" rtlCol="0" anchor="ctr"/>
          <a:lstStyle/>
          <a:p>
            <a:pPr algn="l" indent="0" marL="0">
              <a:buNone/>
            </a:pPr>
            <a:r>
              <a:rPr lang="en-US" sz="1100" i="1" dirty="0">
                <a:solidFill>
                  <a:srgbClr val="1B2430"/>
                </a:solidFill>
              </a:rPr>
              <a:t>walks outside</a:t>
            </a:r>
            <a:endParaRPr lang="en-US" sz="1100" dirty="0"/>
          </a:p>
        </p:txBody>
      </p:sp>
      <p:sp>
        <p:nvSpPr>
          <p:cNvPr id="39" name="Surroundings: on the street arrow 2"/>
          <p:cNvSpPr/>
          <p:nvPr/>
        </p:nvSpPr>
        <p:spPr>
          <a:xfrm>
            <a:off x="4983480" y="4000500"/>
            <a:ext cx="914400" cy="0"/>
          </a:xfrm>
          <a:prstGeom prst="line">
            <a:avLst/>
          </a:prstGeom>
          <a:noFill/>
          <a:ln w="22225">
            <a:solidFill>
              <a:srgbClr val="5B6777"/>
            </a:solidFill>
            <a:prstDash val="solid"/>
            <a:tailEnd type="triangle"/>
          </a:ln>
        </p:spPr>
      </p:sp>
      <p:sp>
        <p:nvSpPr>
          <p:cNvPr id="40" name="Arrow label: asks the way"/>
          <p:cNvSpPr txBox="1"/>
          <p:nvPr/>
        </p:nvSpPr>
        <p:spPr>
          <a:xfrm>
            <a:off x="4983480" y="3689604"/>
            <a:ext cx="914400" cy="274320"/>
          </a:xfrm>
          <a:prstGeom prst="rect">
            <a:avLst/>
          </a:prstGeom>
          <a:noFill/>
          <a:ln/>
        </p:spPr>
        <p:txBody>
          <a:bodyPr wrap="square" lIns="0" tIns="0" rIns="0" bIns="0" rtlCol="0" anchor="ctr"/>
          <a:lstStyle/>
          <a:p>
            <a:pPr algn="ctr" indent="0" marL="0">
              <a:buNone/>
            </a:pPr>
            <a:r>
              <a:rPr lang="en-US" sz="1100" i="1" dirty="0">
                <a:solidFill>
                  <a:srgbClr val="1B2430"/>
                </a:solidFill>
              </a:rPr>
              <a:t>asks the way</a:t>
            </a:r>
            <a:endParaRPr lang="en-US" sz="1100" dirty="0"/>
          </a:p>
        </p:txBody>
      </p:sp>
      <p:sp>
        <p:nvSpPr>
          <p:cNvPr id="41" name="Surroundings: on the street arrow 3"/>
          <p:cNvSpPr/>
          <p:nvPr/>
        </p:nvSpPr>
        <p:spPr>
          <a:xfrm flipV="1">
            <a:off x="7360920" y="2903220"/>
            <a:ext cx="960120" cy="1097280"/>
          </a:xfrm>
          <a:prstGeom prst="line">
            <a:avLst/>
          </a:prstGeom>
          <a:noFill/>
          <a:ln w="22225">
            <a:solidFill>
              <a:srgbClr val="5B6777"/>
            </a:solidFill>
            <a:prstDash val="solid"/>
            <a:tailEnd type="triangle"/>
          </a:ln>
        </p:spPr>
      </p:sp>
      <p:sp>
        <p:nvSpPr>
          <p:cNvPr id="42" name="Arrow label: gives an answer"/>
          <p:cNvSpPr txBox="1"/>
          <p:nvPr/>
        </p:nvSpPr>
        <p:spPr>
          <a:xfrm>
            <a:off x="7360920" y="1325880"/>
            <a:ext cx="960120" cy="411480"/>
          </a:xfrm>
          <a:prstGeom prst="rect">
            <a:avLst/>
          </a:prstGeom>
          <a:noFill/>
          <a:ln/>
        </p:spPr>
        <p:txBody>
          <a:bodyPr wrap="square" lIns="0" tIns="0" rIns="0" bIns="0" rtlCol="0" anchor="ctr"/>
          <a:lstStyle/>
          <a:p>
            <a:pPr algn="ctr" indent="0" marL="0">
              <a:buNone/>
            </a:pPr>
            <a:r>
              <a:rPr lang="en-US" sz="1100" i="1" dirty="0">
                <a:solidFill>
                  <a:srgbClr val="1B2430"/>
                </a:solidFill>
              </a:rPr>
              <a:t>gives an answer</a:t>
            </a:r>
            <a:endParaRPr lang="en-US" sz="1100" dirty="0"/>
          </a:p>
        </p:txBody>
      </p:sp>
      <p:sp>
        <p:nvSpPr>
          <p:cNvPr id="43" name="Outcome box"/>
          <p:cNvSpPr/>
          <p:nvPr/>
        </p:nvSpPr>
        <p:spPr>
          <a:xfrm>
            <a:off x="8321040" y="1280160"/>
            <a:ext cx="3291840" cy="3246120"/>
          </a:xfrm>
          <a:prstGeom prst="roundRect">
            <a:avLst>
              <a:gd name="adj" fmla="val 1690"/>
            </a:avLst>
          </a:prstGeom>
          <a:solidFill>
            <a:srgbClr val="17324D"/>
          </a:solidFill>
          <a:ln w="12700">
            <a:solidFill>
              <a:srgbClr val="17324D"/>
            </a:solidFill>
            <a:prstDash val="solid"/>
          </a:ln>
        </p:spPr>
      </p:sp>
      <p:sp>
        <p:nvSpPr>
          <p:cNvPr id="44" name="Outcome circle"/>
          <p:cNvSpPr/>
          <p:nvPr/>
        </p:nvSpPr>
        <p:spPr>
          <a:xfrm>
            <a:off x="9601200" y="1417320"/>
            <a:ext cx="731520" cy="731520"/>
          </a:xfrm>
          <a:prstGeom prst="ellipse">
            <a:avLst/>
          </a:prstGeom>
          <a:solidFill>
            <a:srgbClr val="D7263D"/>
          </a:solidFill>
          <a:ln w="12700">
            <a:solidFill>
              <a:srgbClr val="D7263D"/>
            </a:solidFill>
            <a:prstDash val="solid"/>
          </a:ln>
        </p:spPr>
      </p:sp>
      <p:pic>
        <p:nvPicPr>
          <p:cNvPr id="45" name="Outcome icon" descr="preencoded.png">    </p:cNvPr>
          <p:cNvPicPr>
            <a:picLocks noChangeAspect="1"/>
          </p:cNvPicPr>
          <p:nvPr/>
        </p:nvPicPr>
        <p:blipFill>
          <a:blip r:embed="rId8"/>
          <a:stretch>
            <a:fillRect/>
          </a:stretch>
        </p:blipFill>
        <p:spPr>
          <a:xfrm>
            <a:off x="9776765" y="1592885"/>
            <a:ext cx="380390" cy="380390"/>
          </a:xfrm>
          <a:prstGeom prst="rect">
            <a:avLst/>
          </a:prstGeom>
        </p:spPr>
      </p:pic>
      <p:sp>
        <p:nvSpPr>
          <p:cNvPr id="46" name="Outcome text"/>
          <p:cNvSpPr txBox="1"/>
          <p:nvPr/>
        </p:nvSpPr>
        <p:spPr>
          <a:xfrm>
            <a:off x="8458200" y="2240280"/>
            <a:ext cx="3063240" cy="2194560"/>
          </a:xfrm>
          <a:prstGeom prst="rect">
            <a:avLst/>
          </a:prstGeom>
          <a:noFill/>
          <a:ln/>
        </p:spPr>
        <p:txBody>
          <a:bodyPr wrap="square" lIns="0" tIns="0" rIns="0" bIns="0" rtlCol="0" anchor="t"/>
          <a:lstStyle/>
          <a:p>
            <a:pPr indent="0" marL="0">
              <a:spcAft>
                <a:spcPts val="800"/>
              </a:spcAft>
              <a:buNone/>
            </a:pPr>
            <a:r>
              <a:rPr lang="en-US" sz="1900" b="1" dirty="0">
                <a:solidFill>
                  <a:srgbClr val="FFFFFF"/>
                </a:solidFill>
              </a:rPr>
              <a:t>An answer they cannot verify</a:t>
            </a:r>
            <a:endParaRPr lang="en-US" sz="1400" dirty="0"/>
          </a:p>
          <a:p>
            <a:pPr marL="177800" indent="-177800">
              <a:spcAft>
                <a:spcPts val="500"/>
              </a:spcAft>
              <a:buSzPct val="100000"/>
              <a:buChar char="•"/>
            </a:pPr>
            <a:r>
              <a:rPr lang="en-US" sz="1400" dirty="0">
                <a:solidFill>
                  <a:srgbClr val="FFFFFF"/>
                </a:solidFill>
              </a:rPr>
              <a:t>A wrong note or a fake note can go unnoticed</a:t>
            </a:r>
            <a:endParaRPr lang="en-US" sz="1400" dirty="0"/>
          </a:p>
          <a:p>
            <a:pPr marL="177800" indent="-177800">
              <a:spcAft>
                <a:spcPts val="500"/>
              </a:spcAft>
              <a:buSzPct val="100000"/>
              <a:buChar char="•"/>
            </a:pPr>
            <a:r>
              <a:rPr lang="en-US" sz="1400" dirty="0">
                <a:solidFill>
                  <a:srgbClr val="FFFFFF"/>
                </a:solidFill>
              </a:rPr>
              <a:t>A label or letter can be misread</a:t>
            </a:r>
            <a:endParaRPr lang="en-US" sz="1400" dirty="0"/>
          </a:p>
          <a:p>
            <a:pPr marL="177800" indent="-177800">
              <a:buSzPct val="100000"/>
              <a:buChar char="•"/>
            </a:pPr>
            <a:r>
              <a:rPr lang="en-US" sz="1400" dirty="0">
                <a:solidFill>
                  <a:srgbClr val="FFFFFF"/>
                </a:solidFill>
              </a:rPr>
              <a:t>Every task waits for someone else</a:t>
            </a:r>
            <a:endParaRPr lang="en-US" sz="1400" dirty="0"/>
          </a:p>
        </p:txBody>
      </p:sp>
      <p:sp>
        <p:nvSpPr>
          <p:cNvPr id="47" name="Aids heading"/>
          <p:cNvSpPr txBox="1"/>
          <p:nvPr/>
        </p:nvSpPr>
        <p:spPr>
          <a:xfrm>
            <a:off x="548640" y="4617720"/>
            <a:ext cx="7315200" cy="274320"/>
          </a:xfrm>
          <a:prstGeom prst="rect">
            <a:avLst/>
          </a:prstGeom>
          <a:noFill/>
          <a:ln/>
        </p:spPr>
        <p:txBody>
          <a:bodyPr wrap="square" lIns="0" tIns="0" rIns="0" bIns="0" rtlCol="0" anchor="ctr"/>
          <a:lstStyle/>
          <a:p>
            <a:pPr indent="0" marL="0">
              <a:buNone/>
            </a:pPr>
            <a:r>
              <a:rPr lang="en-US" sz="1500" b="1" dirty="0">
                <a:solidFill>
                  <a:schemeClr val="tx2"/>
                </a:solidFill>
                <a:latin typeface="Arial" pitchFamily="34" charset="0"/>
                <a:ea typeface="Arial" pitchFamily="34" charset="-122"/>
                <a:cs typeface="Arial" pitchFamily="34" charset="-120"/>
              </a:rPr>
              <a:t>Existing aids do not close this gap</a:t>
            </a:r>
            <a:endParaRPr lang="en-US" sz="1500" dirty="0"/>
          </a:p>
        </p:txBody>
      </p:sp>
      <p:sp>
        <p:nvSpPr>
          <p:cNvPr id="48" name="Aid 1 box"/>
          <p:cNvSpPr/>
          <p:nvPr/>
        </p:nvSpPr>
        <p:spPr>
          <a:xfrm>
            <a:off x="548640" y="4937760"/>
            <a:ext cx="2057400" cy="1097280"/>
          </a:xfrm>
          <a:prstGeom prst="roundRect">
            <a:avLst>
              <a:gd name="adj" fmla="val 5000"/>
            </a:avLst>
          </a:prstGeom>
          <a:solidFill>
            <a:srgbClr val="FFFFFF"/>
          </a:solidFill>
          <a:ln w="12700">
            <a:solidFill>
              <a:srgbClr val="BFD4E6"/>
            </a:solidFill>
            <a:prstDash val="solid"/>
          </a:ln>
        </p:spPr>
      </p:sp>
      <p:sp>
        <p:nvSpPr>
          <p:cNvPr id="49" name="Aid 1 label"/>
          <p:cNvSpPr txBox="1"/>
          <p:nvPr/>
        </p:nvSpPr>
        <p:spPr>
          <a:xfrm>
            <a:off x="603504" y="4992624"/>
            <a:ext cx="1947672" cy="27432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100" b="1" dirty="0">
                <a:solidFill>
                  <a:srgbClr val="17324D"/>
                </a:solidFill>
              </a:rPr>
              <a:t>OrCam MyEye [2]</a:t>
            </a:r>
            <a:endParaRPr lang="en-US" sz="1100" dirty="0"/>
          </a:p>
        </p:txBody>
      </p:sp>
      <p:pic>
        <p:nvPicPr>
          <p:cNvPr id="50" name="Aid 1 picture" descr="E:/Final SP/Thesis Report and paper/thesis report/My report/DIagram fig tab/dev_orcam.jpg">    </p:cNvPr>
          <p:cNvPicPr>
            <a:picLocks noChangeAspect="1"/>
          </p:cNvPicPr>
          <p:nvPr/>
        </p:nvPicPr>
        <p:blipFill>
          <a:blip r:embed="rId9"/>
          <a:srcRect l="0" r="0" t="0" b="0"/>
          <a:stretch/>
        </p:blipFill>
        <p:spPr>
          <a:xfrm>
            <a:off x="603504" y="5285232"/>
            <a:ext cx="868680" cy="694944"/>
          </a:xfrm>
          <a:prstGeom prst="rect">
            <a:avLst/>
          </a:prstGeom>
        </p:spPr>
      </p:pic>
      <p:sp>
        <p:nvSpPr>
          <p:cNvPr id="51" name="Aid 1 text"/>
          <p:cNvSpPr txBox="1"/>
          <p:nvPr/>
        </p:nvSpPr>
        <p:spPr>
          <a:xfrm>
            <a:off x="1527048" y="5285232"/>
            <a:ext cx="1024128" cy="694944"/>
          </a:xfrm>
          <a:prstGeom prst="rect">
            <a:avLst/>
          </a:prstGeom>
          <a:noFill/>
          <a:ln/>
        </p:spPr>
        <p:txBody>
          <a:bodyPr wrap="square" lIns="0" tIns="0" rIns="0" bIns="0" rtlCol="0" anchor="ctr"/>
          <a:lstStyle/>
          <a:p>
            <a:pPr indent="0" marL="0">
              <a:buNone/>
            </a:pPr>
            <a:r>
              <a:rPr lang="en-US" sz="1100" dirty="0">
                <a:solidFill>
                  <a:srgbClr val="1B2430"/>
                </a:solidFill>
              </a:rPr>
              <a:t>Offline, but no Bangla and no Taka</a:t>
            </a:r>
            <a:endParaRPr lang="en-US" sz="1100" dirty="0"/>
          </a:p>
        </p:txBody>
      </p:sp>
      <p:sp>
        <p:nvSpPr>
          <p:cNvPr id="52" name="Aid 2 box"/>
          <p:cNvSpPr/>
          <p:nvPr/>
        </p:nvSpPr>
        <p:spPr>
          <a:xfrm>
            <a:off x="2743200" y="4937760"/>
            <a:ext cx="2057400" cy="1097280"/>
          </a:xfrm>
          <a:prstGeom prst="roundRect">
            <a:avLst>
              <a:gd name="adj" fmla="val 5000"/>
            </a:avLst>
          </a:prstGeom>
          <a:solidFill>
            <a:srgbClr val="FFFFFF"/>
          </a:solidFill>
          <a:ln w="12700">
            <a:solidFill>
              <a:srgbClr val="BFD4E6"/>
            </a:solidFill>
            <a:prstDash val="solid"/>
          </a:ln>
        </p:spPr>
      </p:sp>
      <p:sp>
        <p:nvSpPr>
          <p:cNvPr id="53" name="Aid 2 label"/>
          <p:cNvSpPr txBox="1"/>
          <p:nvPr/>
        </p:nvSpPr>
        <p:spPr>
          <a:xfrm>
            <a:off x="2798064" y="4992624"/>
            <a:ext cx="1947672" cy="27432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100" b="1" dirty="0">
                <a:solidFill>
                  <a:srgbClr val="17324D"/>
                </a:solidFill>
              </a:rPr>
              <a:t>Research glasses [3, 4]</a:t>
            </a:r>
            <a:endParaRPr lang="en-US" sz="1100" dirty="0"/>
          </a:p>
        </p:txBody>
      </p:sp>
      <p:pic>
        <p:nvPicPr>
          <p:cNvPr id="54" name="Aid 2 picture" descr="E:/Final SP/Thesis Report and paper/thesis report/My report/DIagram fig tab/dev_googleglass.jpg">    </p:cNvPr>
          <p:cNvPicPr>
            <a:picLocks noChangeAspect="1"/>
          </p:cNvPicPr>
          <p:nvPr/>
        </p:nvPicPr>
        <p:blipFill>
          <a:blip r:embed="rId10"/>
          <a:srcRect l="0" r="0" t="0" b="0"/>
          <a:stretch/>
        </p:blipFill>
        <p:spPr>
          <a:xfrm>
            <a:off x="2798064" y="5285232"/>
            <a:ext cx="868680" cy="694944"/>
          </a:xfrm>
          <a:prstGeom prst="rect">
            <a:avLst/>
          </a:prstGeom>
        </p:spPr>
      </p:pic>
      <p:sp>
        <p:nvSpPr>
          <p:cNvPr id="55" name="Aid 2 text"/>
          <p:cNvSpPr txBox="1"/>
          <p:nvPr/>
        </p:nvSpPr>
        <p:spPr>
          <a:xfrm>
            <a:off x="3721608" y="5285232"/>
            <a:ext cx="1024128" cy="694944"/>
          </a:xfrm>
          <a:prstGeom prst="rect">
            <a:avLst/>
          </a:prstGeom>
          <a:noFill/>
          <a:ln/>
        </p:spPr>
        <p:txBody>
          <a:bodyPr wrap="square" lIns="0" tIns="0" rIns="0" bIns="0" rtlCol="0" anchor="ctr"/>
          <a:lstStyle/>
          <a:p>
            <a:pPr indent="0" marL="0">
              <a:buNone/>
            </a:pPr>
            <a:r>
              <a:rPr lang="en-US" sz="1100" dirty="0">
                <a:solidFill>
                  <a:srgbClr val="1B2430"/>
                </a:solidFill>
              </a:rPr>
              <a:t>Pictures go to a server</a:t>
            </a:r>
            <a:endParaRPr lang="en-US" sz="1100" dirty="0"/>
          </a:p>
        </p:txBody>
      </p:sp>
      <p:sp>
        <p:nvSpPr>
          <p:cNvPr id="56" name="Aid 3 box"/>
          <p:cNvSpPr/>
          <p:nvPr/>
        </p:nvSpPr>
        <p:spPr>
          <a:xfrm>
            <a:off x="4937760" y="4937760"/>
            <a:ext cx="2057400" cy="1097280"/>
          </a:xfrm>
          <a:prstGeom prst="roundRect">
            <a:avLst>
              <a:gd name="adj" fmla="val 5000"/>
            </a:avLst>
          </a:prstGeom>
          <a:solidFill>
            <a:srgbClr val="FFFFFF"/>
          </a:solidFill>
          <a:ln w="12700">
            <a:solidFill>
              <a:srgbClr val="BFD4E6"/>
            </a:solidFill>
            <a:prstDash val="solid"/>
          </a:ln>
        </p:spPr>
      </p:sp>
      <p:sp>
        <p:nvSpPr>
          <p:cNvPr id="57" name="Aid 3 label"/>
          <p:cNvSpPr txBox="1"/>
          <p:nvPr/>
        </p:nvSpPr>
        <p:spPr>
          <a:xfrm>
            <a:off x="4992624" y="4992624"/>
            <a:ext cx="1947672" cy="27432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100" b="1" dirty="0">
                <a:solidFill>
                  <a:srgbClr val="17324D"/>
                </a:solidFill>
              </a:rPr>
              <a:t>Pi reading aids [5]</a:t>
            </a:r>
            <a:endParaRPr lang="en-US" sz="1100" dirty="0"/>
          </a:p>
        </p:txBody>
      </p:sp>
      <p:pic>
        <p:nvPicPr>
          <p:cNvPr id="58" name="Aid 3 picture" descr="E:/Final SP/Thesis Report and paper/thesis report/My report/DIagram fig tab/hw_pi5.jpg">    </p:cNvPr>
          <p:cNvPicPr>
            <a:picLocks noChangeAspect="1"/>
          </p:cNvPicPr>
          <p:nvPr/>
        </p:nvPicPr>
        <p:blipFill>
          <a:blip r:embed="rId11"/>
          <a:srcRect l="0" r="0" t="0" b="0"/>
          <a:stretch/>
        </p:blipFill>
        <p:spPr>
          <a:xfrm>
            <a:off x="4992624" y="5285232"/>
            <a:ext cx="868680" cy="694944"/>
          </a:xfrm>
          <a:prstGeom prst="rect">
            <a:avLst/>
          </a:prstGeom>
        </p:spPr>
      </p:pic>
      <p:sp>
        <p:nvSpPr>
          <p:cNvPr id="59" name="Aid 3 text"/>
          <p:cNvSpPr txBox="1"/>
          <p:nvPr/>
        </p:nvSpPr>
        <p:spPr>
          <a:xfrm>
            <a:off x="5916168" y="5285232"/>
            <a:ext cx="1024128" cy="694944"/>
          </a:xfrm>
          <a:prstGeom prst="rect">
            <a:avLst/>
          </a:prstGeom>
          <a:noFill/>
          <a:ln/>
        </p:spPr>
        <p:txBody>
          <a:bodyPr wrap="square" lIns="0" tIns="0" rIns="0" bIns="0" rtlCol="0" anchor="ctr"/>
          <a:lstStyle/>
          <a:p>
            <a:pPr indent="0" marL="0">
              <a:buNone/>
            </a:pPr>
            <a:r>
              <a:rPr lang="en-US" sz="1100" dirty="0">
                <a:solidFill>
                  <a:srgbClr val="1B2430"/>
                </a:solidFill>
              </a:rPr>
              <a:t>Mostly English-only</a:t>
            </a:r>
            <a:endParaRPr lang="en-US" sz="1100" dirty="0"/>
          </a:p>
        </p:txBody>
      </p:sp>
      <p:sp>
        <p:nvSpPr>
          <p:cNvPr id="60" name="Aid 4 box"/>
          <p:cNvSpPr/>
          <p:nvPr/>
        </p:nvSpPr>
        <p:spPr>
          <a:xfrm>
            <a:off x="7132320" y="4937760"/>
            <a:ext cx="2057400" cy="1097280"/>
          </a:xfrm>
          <a:prstGeom prst="roundRect">
            <a:avLst>
              <a:gd name="adj" fmla="val 5000"/>
            </a:avLst>
          </a:prstGeom>
          <a:solidFill>
            <a:srgbClr val="FFFFFF"/>
          </a:solidFill>
          <a:ln w="12700">
            <a:solidFill>
              <a:srgbClr val="BFD4E6"/>
            </a:solidFill>
            <a:prstDash val="solid"/>
          </a:ln>
        </p:spPr>
      </p:sp>
      <p:sp>
        <p:nvSpPr>
          <p:cNvPr id="61" name="Aid 4 label"/>
          <p:cNvSpPr txBox="1"/>
          <p:nvPr/>
        </p:nvSpPr>
        <p:spPr>
          <a:xfrm>
            <a:off x="7187184" y="4992624"/>
            <a:ext cx="1947672" cy="274320"/>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100" b="1" dirty="0">
                <a:solidFill>
                  <a:srgbClr val="17324D"/>
                </a:solidFill>
              </a:rPr>
              <a:t>Counterfeit studies [6, 7, 8, 9, 10]</a:t>
            </a:r>
            <a:endParaRPr lang="en-US" sz="1100" dirty="0"/>
          </a:p>
        </p:txBody>
      </p:sp>
      <p:pic>
        <p:nvPicPr>
          <p:cNvPr id="62" name="Aid 4 picture" descr="E:/Final SP/Thesis Report and paper/thesis report/My report/DIagram fig tab/jaal_real_v1.jpg">    </p:cNvPr>
          <p:cNvPicPr>
            <a:picLocks noChangeAspect="1"/>
          </p:cNvPicPr>
          <p:nvPr/>
        </p:nvPicPr>
        <p:blipFill>
          <a:blip r:embed="rId12"/>
          <a:srcRect l="0" r="0" t="0" b="0"/>
          <a:stretch/>
        </p:blipFill>
        <p:spPr>
          <a:xfrm>
            <a:off x="7187184" y="5285232"/>
            <a:ext cx="868680" cy="694944"/>
          </a:xfrm>
          <a:prstGeom prst="rect">
            <a:avLst/>
          </a:prstGeom>
        </p:spPr>
      </p:pic>
      <p:sp>
        <p:nvSpPr>
          <p:cNvPr id="63" name="Aid 4 text"/>
          <p:cNvSpPr txBox="1"/>
          <p:nvPr/>
        </p:nvSpPr>
        <p:spPr>
          <a:xfrm>
            <a:off x="8110728" y="5285232"/>
            <a:ext cx="1024128" cy="694944"/>
          </a:xfrm>
          <a:prstGeom prst="rect">
            <a:avLst/>
          </a:prstGeom>
          <a:noFill/>
          <a:ln/>
        </p:spPr>
        <p:txBody>
          <a:bodyPr wrap="square" lIns="0" tIns="0" rIns="0" bIns="0" rtlCol="0" anchor="ctr"/>
          <a:lstStyle/>
          <a:p>
            <a:pPr indent="0" marL="0">
              <a:buNone/>
            </a:pPr>
            <a:r>
              <a:rPr lang="en-US" sz="1100" dirty="0">
                <a:solidFill>
                  <a:srgbClr val="1B2430"/>
                </a:solidFill>
              </a:rPr>
              <a:t>Not on a wearable</a:t>
            </a:r>
            <a:endParaRPr lang="en-US" sz="1100" dirty="0"/>
          </a:p>
        </p:txBody>
      </p:sp>
      <p:sp>
        <p:nvSpPr>
          <p:cNvPr id="64" name="Aids to gap"/>
          <p:cNvSpPr/>
          <p:nvPr/>
        </p:nvSpPr>
        <p:spPr>
          <a:xfrm>
            <a:off x="9281160" y="5257800"/>
            <a:ext cx="365760" cy="457200"/>
          </a:xfrm>
          <a:prstGeom prst="rightArrow">
            <a:avLst/>
          </a:prstGeom>
          <a:solidFill>
            <a:srgbClr val="5B6777"/>
          </a:solidFill>
          <a:ln w="12700">
            <a:solidFill>
              <a:srgbClr val="5B6777"/>
            </a:solidFill>
            <a:prstDash val="solid"/>
          </a:ln>
        </p:spPr>
      </p:sp>
      <p:sp>
        <p:nvSpPr>
          <p:cNvPr id="65" name="Gap"/>
          <p:cNvSpPr txBox="1"/>
          <p:nvPr/>
        </p:nvSpPr>
        <p:spPr>
          <a:xfrm>
            <a:off x="9738360" y="4937760"/>
            <a:ext cx="1874520" cy="1097280"/>
          </a:xfrm>
          <a:prstGeom prst="roundRect">
            <a:avLst>
              <a:gd name="adj" fmla="val 6667"/>
            </a:avLst>
          </a:prstGeom>
          <a:solidFill>
            <a:srgbClr val="D7263D"/>
          </a:solidFill>
          <a:ln>
            <a:solidFill>
              <a:srgbClr val="D7263D"/>
            </a:solidFill>
          </a:ln>
        </p:spPr>
        <p:txBody>
          <a:bodyPr wrap="square" lIns="1016" tIns="1016" rIns="1016" bIns="1016" rtlCol="0" anchor="ctr"/>
          <a:lstStyle/>
          <a:p>
            <a:pPr algn="ctr" indent="0" marL="0">
              <a:buNone/>
            </a:pPr>
            <a:r>
              <a:rPr lang="en-US" sz="1500" b="1" dirty="0">
                <a:solidFill>
                  <a:srgbClr val="FFFFFF"/>
                </a:solidFill>
              </a:rPr>
              <a:t>The gap</a:t>
            </a:r>
            <a:endParaRPr lang="en-US" sz="1200" dirty="0"/>
          </a:p>
          <a:p>
            <a:pPr algn="ctr" indent="0" marL="0">
              <a:buNone/>
            </a:pPr>
            <a:r>
              <a:rPr lang="en-US" sz="1200" dirty="0">
                <a:solidFill>
                  <a:srgbClr val="FFFFFF"/>
                </a:solidFill>
              </a:rPr>
              <a:t>No reviewed device is offline, speaks Bangla and names Taka notes</a:t>
            </a:r>
            <a:endParaRPr lang="en-US" sz="1200" dirty="0"/>
          </a:p>
        </p:txBody>
      </p:sp>
      <p:sp>
        <p:nvSpPr>
          <p:cNvPr id="66" name="Illustration note"/>
          <p:cNvSpPr txBox="1"/>
          <p:nvPr/>
        </p:nvSpPr>
        <p:spPr>
          <a:xfrm>
            <a:off x="10241280" y="6419088"/>
            <a:ext cx="868680" cy="256032"/>
          </a:xfrm>
          <a:prstGeom prst="rect">
            <a:avLst/>
          </a:prstGeom>
          <a:noFill/>
          <a:ln/>
        </p:spPr>
        <p:txBody>
          <a:bodyPr wrap="square" lIns="0" tIns="0" rIns="0" bIns="0" rtlCol="0" anchor="ctr"/>
          <a:lstStyle/>
          <a:p>
            <a:pPr algn="r" indent="0" marL="0">
              <a:buNone/>
            </a:pPr>
            <a:r>
              <a:rPr lang="en-US" sz="1000" i="1" dirty="0">
                <a:solidFill>
                  <a:schemeClr val="accent5"/>
                </a:solidFill>
              </a:rPr>
              <a:t>Illustration</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Proposed Solution: SARA</a:t>
            </a:r>
            <a:endParaRPr lang="en-US" sz="3000" dirty="0"/>
          </a:p>
        </p:txBody>
      </p:sp>
      <p:sp>
        <p:nvSpPr>
          <p:cNvPr id="3" name="User box"/>
          <p:cNvSpPr/>
          <p:nvPr/>
        </p:nvSpPr>
        <p:spPr>
          <a:xfrm>
            <a:off x="548640" y="1280160"/>
            <a:ext cx="2103120" cy="1325880"/>
          </a:xfrm>
          <a:prstGeom prst="roundRect">
            <a:avLst>
              <a:gd name="adj" fmla="val 4138"/>
            </a:avLst>
          </a:prstGeom>
          <a:solidFill>
            <a:srgbClr val="FFFFFF"/>
          </a:solidFill>
          <a:ln w="12700">
            <a:solidFill>
              <a:srgbClr val="BFD4E6"/>
            </a:solidFill>
            <a:prstDash val="solid"/>
          </a:ln>
        </p:spPr>
      </p:sp>
      <p:sp>
        <p:nvSpPr>
          <p:cNvPr id="4" name="User label"/>
          <p:cNvSpPr txBox="1"/>
          <p:nvPr/>
        </p:nvSpPr>
        <p:spPr>
          <a:xfrm>
            <a:off x="603504" y="1335024"/>
            <a:ext cx="1993392" cy="292608"/>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200" b="1" dirty="0">
                <a:solidFill>
                  <a:srgbClr val="17324D"/>
                </a:solidFill>
              </a:rPr>
              <a:t>User wearing SARA (staged)</a:t>
            </a:r>
            <a:endParaRPr lang="en-US" sz="1200" dirty="0"/>
          </a:p>
        </p:txBody>
      </p:sp>
      <p:pic>
        <p:nvPicPr>
          <p:cNvPr id="5" name="User picture" descr="E:\Final SP\Thesis Report and paper\tools\deck\assets/flow_exchange.jpg">    </p:cNvPr>
          <p:cNvPicPr>
            <a:picLocks noChangeAspect="1"/>
          </p:cNvPicPr>
          <p:nvPr/>
        </p:nvPicPr>
        <p:blipFill>
          <a:blip r:embed="rId1"/>
          <a:srcRect l="0" r="0" t="0" b="0"/>
          <a:stretch/>
        </p:blipFill>
        <p:spPr>
          <a:xfrm>
            <a:off x="603504" y="1682496"/>
            <a:ext cx="1993392" cy="868680"/>
          </a:xfrm>
          <a:prstGeom prst="rect">
            <a:avLst/>
          </a:prstGeom>
        </p:spPr>
      </p:pic>
      <p:sp>
        <p:nvSpPr>
          <p:cNvPr id="6" name="Ask arrow"/>
          <p:cNvSpPr/>
          <p:nvPr/>
        </p:nvSpPr>
        <p:spPr>
          <a:xfrm>
            <a:off x="2651760" y="2011680"/>
            <a:ext cx="1234440" cy="0"/>
          </a:xfrm>
          <a:prstGeom prst="line">
            <a:avLst/>
          </a:prstGeom>
          <a:noFill/>
          <a:ln w="22225">
            <a:solidFill>
              <a:srgbClr val="5B6777"/>
            </a:solidFill>
            <a:prstDash val="solid"/>
            <a:tailEnd type="triangle"/>
          </a:ln>
        </p:spPr>
      </p:sp>
      <p:sp>
        <p:nvSpPr>
          <p:cNvPr id="7" name="Arrow label: button, or &amp;quot;Glass, check money&amp;quot; [11]"/>
          <p:cNvSpPr txBox="1"/>
          <p:nvPr/>
        </p:nvSpPr>
        <p:spPr>
          <a:xfrm>
            <a:off x="2651760" y="1417320"/>
            <a:ext cx="1234440" cy="548640"/>
          </a:xfrm>
          <a:prstGeom prst="rect">
            <a:avLst/>
          </a:prstGeom>
          <a:noFill/>
          <a:ln/>
        </p:spPr>
        <p:txBody>
          <a:bodyPr wrap="square" lIns="0" tIns="0" rIns="0" bIns="0" rtlCol="0" anchor="ctr"/>
          <a:lstStyle/>
          <a:p>
            <a:pPr algn="ctr" indent="0" marL="0">
              <a:buNone/>
            </a:pPr>
            <a:r>
              <a:rPr lang="en-US" sz="1100" i="1" dirty="0">
                <a:solidFill>
                  <a:srgbClr val="1B2430"/>
                </a:solidFill>
              </a:rPr>
              <a:t>button, or "Glass, check money" [11]</a:t>
            </a:r>
            <a:endParaRPr lang="en-US" sz="1100" dirty="0"/>
          </a:p>
        </p:txBody>
      </p:sp>
      <p:sp>
        <p:nvSpPr>
          <p:cNvPr id="8" name="Camera box"/>
          <p:cNvSpPr/>
          <p:nvPr/>
        </p:nvSpPr>
        <p:spPr>
          <a:xfrm>
            <a:off x="3886200" y="1280160"/>
            <a:ext cx="1920240" cy="1325880"/>
          </a:xfrm>
          <a:prstGeom prst="roundRect">
            <a:avLst>
              <a:gd name="adj" fmla="val 4138"/>
            </a:avLst>
          </a:prstGeom>
          <a:solidFill>
            <a:srgbClr val="FFFFFF"/>
          </a:solidFill>
          <a:ln w="12700">
            <a:solidFill>
              <a:srgbClr val="BFD4E6"/>
            </a:solidFill>
            <a:prstDash val="solid"/>
          </a:ln>
        </p:spPr>
      </p:sp>
      <p:sp>
        <p:nvSpPr>
          <p:cNvPr id="9" name="Camera label"/>
          <p:cNvSpPr txBox="1"/>
          <p:nvPr/>
        </p:nvSpPr>
        <p:spPr>
          <a:xfrm>
            <a:off x="3941064" y="1335024"/>
            <a:ext cx="1810512" cy="292608"/>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200" b="1" dirty="0">
                <a:solidFill>
                  <a:srgbClr val="17324D"/>
                </a:solidFill>
              </a:rPr>
              <a:t>Glass camera</a:t>
            </a:r>
            <a:endParaRPr lang="en-US" sz="1200" dirty="0"/>
          </a:p>
        </p:txBody>
      </p:sp>
      <p:pic>
        <p:nvPicPr>
          <p:cNvPr id="10" name="Camera picture" descr="E:/Final SP/Thesis Report and paper/thesis report/My report/DIagram fig tab/v2_frame.jpg">    </p:cNvPr>
          <p:cNvPicPr>
            <a:picLocks noChangeAspect="1"/>
          </p:cNvPicPr>
          <p:nvPr/>
        </p:nvPicPr>
        <p:blipFill>
          <a:blip r:embed="rId2"/>
          <a:srcRect l="0" r="0" t="0" b="0"/>
          <a:stretch/>
        </p:blipFill>
        <p:spPr>
          <a:xfrm>
            <a:off x="3941064" y="1682496"/>
            <a:ext cx="1810512" cy="868680"/>
          </a:xfrm>
          <a:prstGeom prst="rect">
            <a:avLst/>
          </a:prstGeom>
        </p:spPr>
      </p:pic>
      <p:sp>
        <p:nvSpPr>
          <p:cNvPr id="11" name="Capture arrow"/>
          <p:cNvSpPr/>
          <p:nvPr/>
        </p:nvSpPr>
        <p:spPr>
          <a:xfrm>
            <a:off x="5806440" y="2011680"/>
            <a:ext cx="1051560" cy="0"/>
          </a:xfrm>
          <a:prstGeom prst="line">
            <a:avLst/>
          </a:prstGeom>
          <a:noFill/>
          <a:ln w="22225">
            <a:solidFill>
              <a:srgbClr val="5B6777"/>
            </a:solidFill>
            <a:prstDash val="solid"/>
            <a:tailEnd type="triangle"/>
          </a:ln>
        </p:spPr>
      </p:sp>
      <p:sp>
        <p:nvSpPr>
          <p:cNvPr id="12" name="Arrow label: captures a picture"/>
          <p:cNvSpPr txBox="1"/>
          <p:nvPr/>
        </p:nvSpPr>
        <p:spPr>
          <a:xfrm>
            <a:off x="5806440" y="1463040"/>
            <a:ext cx="1051560" cy="502920"/>
          </a:xfrm>
          <a:prstGeom prst="rect">
            <a:avLst/>
          </a:prstGeom>
          <a:noFill/>
          <a:ln/>
        </p:spPr>
        <p:txBody>
          <a:bodyPr wrap="square" lIns="0" tIns="0" rIns="0" bIns="0" rtlCol="0" anchor="ctr"/>
          <a:lstStyle/>
          <a:p>
            <a:pPr algn="ctr" indent="0" marL="0">
              <a:buNone/>
            </a:pPr>
            <a:r>
              <a:rPr lang="en-US" sz="1100" i="1" dirty="0">
                <a:solidFill>
                  <a:srgbClr val="1B2430"/>
                </a:solidFill>
              </a:rPr>
              <a:t>captures a picture</a:t>
            </a:r>
            <a:endParaRPr lang="en-US" sz="1100" dirty="0"/>
          </a:p>
        </p:txBody>
      </p:sp>
      <p:sp>
        <p:nvSpPr>
          <p:cNvPr id="13" name="Pi 5 box"/>
          <p:cNvSpPr/>
          <p:nvPr/>
        </p:nvSpPr>
        <p:spPr>
          <a:xfrm>
            <a:off x="6858000" y="1280160"/>
            <a:ext cx="1920240" cy="1325880"/>
          </a:xfrm>
          <a:prstGeom prst="roundRect">
            <a:avLst>
              <a:gd name="adj" fmla="val 4138"/>
            </a:avLst>
          </a:prstGeom>
          <a:solidFill>
            <a:srgbClr val="FFFFFF"/>
          </a:solidFill>
          <a:ln w="12700">
            <a:solidFill>
              <a:srgbClr val="BFD4E6"/>
            </a:solidFill>
            <a:prstDash val="solid"/>
          </a:ln>
        </p:spPr>
      </p:sp>
      <p:sp>
        <p:nvSpPr>
          <p:cNvPr id="14" name="Pi 5 label"/>
          <p:cNvSpPr txBox="1"/>
          <p:nvPr/>
        </p:nvSpPr>
        <p:spPr>
          <a:xfrm>
            <a:off x="6912864" y="1335024"/>
            <a:ext cx="1810512" cy="292608"/>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200" b="1" dirty="0">
                <a:solidFill>
                  <a:srgbClr val="17324D"/>
                </a:solidFill>
              </a:rPr>
              <a:t>Raspberry Pi 5 [12]</a:t>
            </a:r>
            <a:endParaRPr lang="en-US" sz="1200" dirty="0"/>
          </a:p>
        </p:txBody>
      </p:sp>
      <p:pic>
        <p:nvPicPr>
          <p:cNvPr id="15" name="Pi 5 picture" descr="E:/Final SP/Thesis Report and paper/thesis report/My report/DIagram fig tab/hw_pi5.jpg">    </p:cNvPr>
          <p:cNvPicPr>
            <a:picLocks noChangeAspect="1"/>
          </p:cNvPicPr>
          <p:nvPr/>
        </p:nvPicPr>
        <p:blipFill>
          <a:blip r:embed="rId3"/>
          <a:srcRect l="0" r="0" t="0" b="0"/>
          <a:stretch/>
        </p:blipFill>
        <p:spPr>
          <a:xfrm>
            <a:off x="6912864" y="1682496"/>
            <a:ext cx="1810512" cy="868680"/>
          </a:xfrm>
          <a:prstGeom prst="rect">
            <a:avLst/>
          </a:prstGeom>
        </p:spPr>
      </p:pic>
      <p:sp>
        <p:nvSpPr>
          <p:cNvPr id="16" name="Offline note"/>
          <p:cNvSpPr txBox="1"/>
          <p:nvPr/>
        </p:nvSpPr>
        <p:spPr>
          <a:xfrm>
            <a:off x="9235440" y="1463040"/>
            <a:ext cx="2377440" cy="960120"/>
          </a:xfrm>
          <a:prstGeom prst="roundRect">
            <a:avLst>
              <a:gd name="adj" fmla="val 7619"/>
            </a:avLst>
          </a:prstGeom>
          <a:solidFill>
            <a:srgbClr val="EAF1F7"/>
          </a:solidFill>
          <a:ln>
            <a:solidFill>
              <a:srgbClr val="BFD4E6"/>
            </a:solidFill>
          </a:ln>
        </p:spPr>
        <p:txBody>
          <a:bodyPr wrap="square" lIns="1270" tIns="1270" rIns="1270" bIns="1270" rtlCol="0" anchor="ctr"/>
          <a:lstStyle/>
          <a:p>
            <a:pPr indent="0" marL="0">
              <a:buNone/>
            </a:pPr>
            <a:r>
              <a:rPr lang="en-US" sz="1200" b="1" dirty="0">
                <a:solidFill>
                  <a:srgbClr val="1F5F8B"/>
                </a:solidFill>
              </a:rPr>
              <a:t>Offline: </a:t>
            </a:r>
            <a:pPr indent="0" marL="0">
              <a:buNone/>
            </a:pPr>
            <a:r>
              <a:rPr lang="en-US" sz="1200" dirty="0">
                <a:solidFill>
                  <a:srgbClr val="1B2430"/>
                </a:solidFill>
              </a:rPr>
              <a:t>text, objects, Taka, emotion</a:t>
            </a:r>
            <a:endParaRPr lang="en-US" sz="1200" dirty="0"/>
          </a:p>
          <a:p>
            <a:pPr indent="0" marL="0">
              <a:buNone/>
            </a:pPr>
            <a:r>
              <a:rPr lang="en-US" sz="1200" b="1" dirty="0">
                <a:solidFill>
                  <a:srgbClr val="5B6777"/>
                </a:solidFill>
              </a:rPr>
              <a:t>Online (optional): </a:t>
            </a:r>
            <a:pPr indent="0" marL="0">
              <a:buNone/>
            </a:pPr>
            <a:r>
              <a:rPr lang="en-US" sz="1200" dirty="0">
                <a:solidFill>
                  <a:srgbClr val="1B2430"/>
                </a:solidFill>
              </a:rPr>
              <a:t>scene description only</a:t>
            </a:r>
            <a:endParaRPr lang="en-US" sz="1200" dirty="0"/>
          </a:p>
        </p:txBody>
      </p:sp>
      <p:sp>
        <p:nvSpPr>
          <p:cNvPr id="17" name="Pi to modes"/>
          <p:cNvSpPr/>
          <p:nvPr/>
        </p:nvSpPr>
        <p:spPr>
          <a:xfrm>
            <a:off x="7818120" y="2606040"/>
            <a:ext cx="9144" cy="182880"/>
          </a:xfrm>
          <a:prstGeom prst="line">
            <a:avLst/>
          </a:prstGeom>
          <a:noFill/>
          <a:ln w="22225">
            <a:solidFill>
              <a:srgbClr val="5B6777"/>
            </a:solidFill>
            <a:prstDash val="solid"/>
          </a:ln>
        </p:spPr>
      </p:sp>
      <p:sp>
        <p:nvSpPr>
          <p:cNvPr id="18" name="Arrow label: processes offline"/>
          <p:cNvSpPr txBox="1"/>
          <p:nvPr/>
        </p:nvSpPr>
        <p:spPr>
          <a:xfrm>
            <a:off x="7909560" y="2615184"/>
            <a:ext cx="1371600" cy="201168"/>
          </a:xfrm>
          <a:prstGeom prst="rect">
            <a:avLst/>
          </a:prstGeom>
          <a:noFill/>
          <a:ln/>
        </p:spPr>
        <p:txBody>
          <a:bodyPr wrap="square" lIns="0" tIns="0" rIns="0" bIns="0" rtlCol="0" anchor="ctr"/>
          <a:lstStyle/>
          <a:p>
            <a:pPr algn="l" indent="0" marL="0">
              <a:buNone/>
            </a:pPr>
            <a:r>
              <a:rPr lang="en-US" sz="1100" i="1" dirty="0">
                <a:solidFill>
                  <a:srgbClr val="1B2430"/>
                </a:solidFill>
              </a:rPr>
              <a:t>processes offline</a:t>
            </a:r>
            <a:endParaRPr lang="en-US" sz="1100" dirty="0"/>
          </a:p>
        </p:txBody>
      </p:sp>
      <p:sp>
        <p:nvSpPr>
          <p:cNvPr id="19" name="Mode bus"/>
          <p:cNvSpPr/>
          <p:nvPr/>
        </p:nvSpPr>
        <p:spPr>
          <a:xfrm>
            <a:off x="1645920" y="2788920"/>
            <a:ext cx="8868766" cy="0"/>
          </a:xfrm>
          <a:prstGeom prst="line">
            <a:avLst/>
          </a:prstGeom>
          <a:noFill/>
          <a:ln w="22225">
            <a:solidFill>
              <a:srgbClr val="5B6777"/>
            </a:solidFill>
            <a:prstDash val="solid"/>
          </a:ln>
        </p:spPr>
      </p:sp>
      <p:sp>
        <p:nvSpPr>
          <p:cNvPr id="20" name="Mode 1 box"/>
          <p:cNvSpPr/>
          <p:nvPr/>
        </p:nvSpPr>
        <p:spPr>
          <a:xfrm>
            <a:off x="548640" y="2971800"/>
            <a:ext cx="2194560" cy="1325880"/>
          </a:xfrm>
          <a:prstGeom prst="roundRect">
            <a:avLst>
              <a:gd name="adj" fmla="val 4138"/>
            </a:avLst>
          </a:prstGeom>
          <a:solidFill>
            <a:srgbClr val="FFFFFF"/>
          </a:solidFill>
          <a:ln w="12700">
            <a:solidFill>
              <a:srgbClr val="BFD4E6"/>
            </a:solidFill>
            <a:prstDash val="solid"/>
          </a:ln>
        </p:spPr>
      </p:sp>
      <p:sp>
        <p:nvSpPr>
          <p:cNvPr id="21" name="Mode 1 label"/>
          <p:cNvSpPr txBox="1"/>
          <p:nvPr/>
        </p:nvSpPr>
        <p:spPr>
          <a:xfrm>
            <a:off x="603504" y="3026664"/>
            <a:ext cx="2084832" cy="292608"/>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200" b="1" dirty="0">
                <a:solidFill>
                  <a:srgbClr val="17324D"/>
                </a:solidFill>
              </a:rPr>
              <a:t>Taka recognition [13]</a:t>
            </a:r>
            <a:endParaRPr lang="en-US" sz="1200" dirty="0"/>
          </a:p>
        </p:txBody>
      </p:sp>
      <p:pic>
        <p:nvPicPr>
          <p:cNvPr id="22" name="Mode 1 picture" descr="E:/Final SP/Thesis Report and paper/thesis report/My report/DIagram fig tab/live_1000_500.jpg">    </p:cNvPr>
          <p:cNvPicPr>
            <a:picLocks noChangeAspect="1"/>
          </p:cNvPicPr>
          <p:nvPr/>
        </p:nvPicPr>
        <p:blipFill>
          <a:blip r:embed="rId4"/>
          <a:srcRect l="0" r="0" t="0" b="0"/>
          <a:stretch/>
        </p:blipFill>
        <p:spPr>
          <a:xfrm>
            <a:off x="603504" y="3374136"/>
            <a:ext cx="2084832" cy="868680"/>
          </a:xfrm>
          <a:prstGeom prst="rect">
            <a:avLst/>
          </a:prstGeom>
        </p:spPr>
      </p:pic>
      <p:sp>
        <p:nvSpPr>
          <p:cNvPr id="23" name="Mode 1 arrow in"/>
          <p:cNvSpPr/>
          <p:nvPr/>
        </p:nvSpPr>
        <p:spPr>
          <a:xfrm>
            <a:off x="1645920" y="2788920"/>
            <a:ext cx="9144" cy="182880"/>
          </a:xfrm>
          <a:prstGeom prst="line">
            <a:avLst/>
          </a:prstGeom>
          <a:noFill/>
          <a:ln w="22225">
            <a:solidFill>
              <a:srgbClr val="5B6777"/>
            </a:solidFill>
            <a:prstDash val="solid"/>
            <a:tailEnd type="triangle"/>
          </a:ln>
        </p:spPr>
      </p:sp>
      <p:sp>
        <p:nvSpPr>
          <p:cNvPr id="24" name="Mode 1 arrow out"/>
          <p:cNvSpPr/>
          <p:nvPr/>
        </p:nvSpPr>
        <p:spPr>
          <a:xfrm>
            <a:off x="1645920" y="4297680"/>
            <a:ext cx="9144" cy="320040"/>
          </a:xfrm>
          <a:prstGeom prst="line">
            <a:avLst/>
          </a:prstGeom>
          <a:noFill/>
          <a:ln w="22225">
            <a:solidFill>
              <a:srgbClr val="5B6777"/>
            </a:solidFill>
            <a:prstDash val="solid"/>
            <a:tailEnd type="triangle"/>
          </a:ln>
        </p:spPr>
      </p:sp>
      <p:sp>
        <p:nvSpPr>
          <p:cNvPr id="25" name="Mode 2 box"/>
          <p:cNvSpPr/>
          <p:nvPr/>
        </p:nvSpPr>
        <p:spPr>
          <a:xfrm>
            <a:off x="3504895" y="2971800"/>
            <a:ext cx="2194560" cy="1325880"/>
          </a:xfrm>
          <a:prstGeom prst="roundRect">
            <a:avLst>
              <a:gd name="adj" fmla="val 4138"/>
            </a:avLst>
          </a:prstGeom>
          <a:solidFill>
            <a:srgbClr val="FFFFFF"/>
          </a:solidFill>
          <a:ln w="12700">
            <a:solidFill>
              <a:srgbClr val="BFD4E6"/>
            </a:solidFill>
            <a:prstDash val="solid"/>
          </a:ln>
        </p:spPr>
      </p:sp>
      <p:sp>
        <p:nvSpPr>
          <p:cNvPr id="26" name="Mode 2 label"/>
          <p:cNvSpPr txBox="1"/>
          <p:nvPr/>
        </p:nvSpPr>
        <p:spPr>
          <a:xfrm>
            <a:off x="3559759" y="3026664"/>
            <a:ext cx="2084832" cy="292608"/>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200" b="1" dirty="0">
                <a:solidFill>
                  <a:srgbClr val="17324D"/>
                </a:solidFill>
              </a:rPr>
              <a:t>Authenticity: watermark + UV</a:t>
            </a:r>
            <a:endParaRPr lang="en-US" sz="1200" dirty="0"/>
          </a:p>
        </p:txBody>
      </p:sp>
      <p:pic>
        <p:nvPicPr>
          <p:cNvPr id="27" name="Mode 2 picture" descr="E:/Final SP/Thesis Report and paper/thesis report/My report/DIagram fig tab/fig_uv_fibres.jpg">    </p:cNvPr>
          <p:cNvPicPr>
            <a:picLocks noChangeAspect="1"/>
          </p:cNvPicPr>
          <p:nvPr/>
        </p:nvPicPr>
        <p:blipFill>
          <a:blip r:embed="rId5"/>
          <a:srcRect l="0" r="0" t="0" b="0"/>
          <a:stretch/>
        </p:blipFill>
        <p:spPr>
          <a:xfrm>
            <a:off x="3559759" y="3374136"/>
            <a:ext cx="2084832" cy="868680"/>
          </a:xfrm>
          <a:prstGeom prst="rect">
            <a:avLst/>
          </a:prstGeom>
        </p:spPr>
      </p:pic>
      <p:sp>
        <p:nvSpPr>
          <p:cNvPr id="28" name="Mode 2 arrow in"/>
          <p:cNvSpPr/>
          <p:nvPr/>
        </p:nvSpPr>
        <p:spPr>
          <a:xfrm>
            <a:off x="4602175" y="2788920"/>
            <a:ext cx="9144" cy="182880"/>
          </a:xfrm>
          <a:prstGeom prst="line">
            <a:avLst/>
          </a:prstGeom>
          <a:noFill/>
          <a:ln w="22225">
            <a:solidFill>
              <a:srgbClr val="5B6777"/>
            </a:solidFill>
            <a:prstDash val="solid"/>
            <a:tailEnd type="triangle"/>
          </a:ln>
        </p:spPr>
      </p:sp>
      <p:sp>
        <p:nvSpPr>
          <p:cNvPr id="29" name="Mode 2 arrow out"/>
          <p:cNvSpPr/>
          <p:nvPr/>
        </p:nvSpPr>
        <p:spPr>
          <a:xfrm>
            <a:off x="4602175" y="4297680"/>
            <a:ext cx="9144" cy="320040"/>
          </a:xfrm>
          <a:prstGeom prst="line">
            <a:avLst/>
          </a:prstGeom>
          <a:noFill/>
          <a:ln w="22225">
            <a:solidFill>
              <a:srgbClr val="5B6777"/>
            </a:solidFill>
            <a:prstDash val="solid"/>
            <a:tailEnd type="triangle"/>
          </a:ln>
        </p:spPr>
      </p:sp>
      <p:sp>
        <p:nvSpPr>
          <p:cNvPr id="30" name="Mode 3 box"/>
          <p:cNvSpPr/>
          <p:nvPr/>
        </p:nvSpPr>
        <p:spPr>
          <a:xfrm>
            <a:off x="6461150" y="2971800"/>
            <a:ext cx="2194560" cy="1325880"/>
          </a:xfrm>
          <a:prstGeom prst="roundRect">
            <a:avLst>
              <a:gd name="adj" fmla="val 4138"/>
            </a:avLst>
          </a:prstGeom>
          <a:solidFill>
            <a:srgbClr val="FFFFFF"/>
          </a:solidFill>
          <a:ln w="12700">
            <a:solidFill>
              <a:srgbClr val="BFD4E6"/>
            </a:solidFill>
            <a:prstDash val="solid"/>
          </a:ln>
        </p:spPr>
      </p:sp>
      <p:sp>
        <p:nvSpPr>
          <p:cNvPr id="31" name="Mode 3 label"/>
          <p:cNvSpPr txBox="1"/>
          <p:nvPr/>
        </p:nvSpPr>
        <p:spPr>
          <a:xfrm>
            <a:off x="6516014" y="3026664"/>
            <a:ext cx="2084832" cy="292608"/>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200" b="1" dirty="0">
                <a:solidFill>
                  <a:srgbClr val="17324D"/>
                </a:solidFill>
              </a:rPr>
              <a:t>Text reading [14, 15]</a:t>
            </a:r>
            <a:endParaRPr lang="en-US" sz="1200" dirty="0"/>
          </a:p>
        </p:txBody>
      </p:sp>
      <p:pic>
        <p:nvPicPr>
          <p:cNvPr id="32" name="Mode 3 picture" descr="E:\Final SP\Thesis Report and paper\tools\deck\assets/cartoon_sara_2.jpg">    </p:cNvPr>
          <p:cNvPicPr>
            <a:picLocks noChangeAspect="1"/>
          </p:cNvPicPr>
          <p:nvPr/>
        </p:nvPicPr>
        <p:blipFill>
          <a:blip r:embed="rId6"/>
          <a:srcRect l="0" r="0" t="0" b="0"/>
          <a:stretch/>
        </p:blipFill>
        <p:spPr>
          <a:xfrm>
            <a:off x="6516014" y="3374136"/>
            <a:ext cx="2084832" cy="868680"/>
          </a:xfrm>
          <a:prstGeom prst="rect">
            <a:avLst/>
          </a:prstGeom>
        </p:spPr>
      </p:pic>
      <p:sp>
        <p:nvSpPr>
          <p:cNvPr id="33" name="Mode 3 arrow in"/>
          <p:cNvSpPr/>
          <p:nvPr/>
        </p:nvSpPr>
        <p:spPr>
          <a:xfrm>
            <a:off x="7558430" y="2788920"/>
            <a:ext cx="9144" cy="182880"/>
          </a:xfrm>
          <a:prstGeom prst="line">
            <a:avLst/>
          </a:prstGeom>
          <a:noFill/>
          <a:ln w="22225">
            <a:solidFill>
              <a:srgbClr val="5B6777"/>
            </a:solidFill>
            <a:prstDash val="solid"/>
            <a:tailEnd type="triangle"/>
          </a:ln>
        </p:spPr>
      </p:sp>
      <p:sp>
        <p:nvSpPr>
          <p:cNvPr id="34" name="Mode 3 arrow out"/>
          <p:cNvSpPr/>
          <p:nvPr/>
        </p:nvSpPr>
        <p:spPr>
          <a:xfrm>
            <a:off x="7558430" y="4297680"/>
            <a:ext cx="9144" cy="320040"/>
          </a:xfrm>
          <a:prstGeom prst="line">
            <a:avLst/>
          </a:prstGeom>
          <a:noFill/>
          <a:ln w="22225">
            <a:solidFill>
              <a:srgbClr val="5B6777"/>
            </a:solidFill>
            <a:prstDash val="solid"/>
            <a:tailEnd type="triangle"/>
          </a:ln>
        </p:spPr>
      </p:sp>
      <p:sp>
        <p:nvSpPr>
          <p:cNvPr id="35" name="Mode 4 box"/>
          <p:cNvSpPr/>
          <p:nvPr/>
        </p:nvSpPr>
        <p:spPr>
          <a:xfrm>
            <a:off x="9417406" y="2971800"/>
            <a:ext cx="2194560" cy="1325880"/>
          </a:xfrm>
          <a:prstGeom prst="roundRect">
            <a:avLst>
              <a:gd name="adj" fmla="val 4138"/>
            </a:avLst>
          </a:prstGeom>
          <a:solidFill>
            <a:srgbClr val="FFFFFF"/>
          </a:solidFill>
          <a:ln w="12700">
            <a:solidFill>
              <a:srgbClr val="BFD4E6"/>
            </a:solidFill>
            <a:prstDash val="solid"/>
          </a:ln>
        </p:spPr>
      </p:sp>
      <p:sp>
        <p:nvSpPr>
          <p:cNvPr id="36" name="Mode 4 label"/>
          <p:cNvSpPr txBox="1"/>
          <p:nvPr/>
        </p:nvSpPr>
        <p:spPr>
          <a:xfrm>
            <a:off x="9472270" y="3026664"/>
            <a:ext cx="2084832" cy="292608"/>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200" b="1" dirty="0">
                <a:solidFill>
                  <a:srgbClr val="17324D"/>
                </a:solidFill>
              </a:rPr>
              <a:t>Objects and people [13, 16]</a:t>
            </a:r>
            <a:endParaRPr lang="en-US" sz="1200" dirty="0"/>
          </a:p>
        </p:txBody>
      </p:sp>
      <p:pic>
        <p:nvPicPr>
          <p:cNvPr id="37" name="Mode 4 picture" descr="E:\Final SP\Thesis Report and paper\tools\deck\assets/cartoon_sara_3.jpg">    </p:cNvPr>
          <p:cNvPicPr>
            <a:picLocks noChangeAspect="1"/>
          </p:cNvPicPr>
          <p:nvPr/>
        </p:nvPicPr>
        <p:blipFill>
          <a:blip r:embed="rId7"/>
          <a:srcRect l="0" r="0" t="0" b="0"/>
          <a:stretch/>
        </p:blipFill>
        <p:spPr>
          <a:xfrm>
            <a:off x="9472270" y="3374136"/>
            <a:ext cx="2084832" cy="868680"/>
          </a:xfrm>
          <a:prstGeom prst="rect">
            <a:avLst/>
          </a:prstGeom>
        </p:spPr>
      </p:pic>
      <p:sp>
        <p:nvSpPr>
          <p:cNvPr id="38" name="Mode 4 arrow in"/>
          <p:cNvSpPr/>
          <p:nvPr/>
        </p:nvSpPr>
        <p:spPr>
          <a:xfrm>
            <a:off x="10514686" y="2788920"/>
            <a:ext cx="9144" cy="182880"/>
          </a:xfrm>
          <a:prstGeom prst="line">
            <a:avLst/>
          </a:prstGeom>
          <a:noFill/>
          <a:ln w="22225">
            <a:solidFill>
              <a:srgbClr val="5B6777"/>
            </a:solidFill>
            <a:prstDash val="solid"/>
            <a:tailEnd type="triangle"/>
          </a:ln>
        </p:spPr>
      </p:sp>
      <p:sp>
        <p:nvSpPr>
          <p:cNvPr id="39" name="Mode 4 arrow out"/>
          <p:cNvSpPr/>
          <p:nvPr/>
        </p:nvSpPr>
        <p:spPr>
          <a:xfrm>
            <a:off x="10514686" y="4297680"/>
            <a:ext cx="9144" cy="320040"/>
          </a:xfrm>
          <a:prstGeom prst="line">
            <a:avLst/>
          </a:prstGeom>
          <a:noFill/>
          <a:ln w="22225">
            <a:solidFill>
              <a:srgbClr val="5B6777"/>
            </a:solidFill>
            <a:prstDash val="solid"/>
            <a:tailEnd type="triangle"/>
          </a:ln>
        </p:spPr>
      </p:sp>
      <p:sp>
        <p:nvSpPr>
          <p:cNvPr id="40" name="Verdict box"/>
          <p:cNvSpPr/>
          <p:nvPr/>
        </p:nvSpPr>
        <p:spPr>
          <a:xfrm>
            <a:off x="548640" y="4617720"/>
            <a:ext cx="5150815" cy="1371600"/>
          </a:xfrm>
          <a:prstGeom prst="roundRect">
            <a:avLst>
              <a:gd name="adj" fmla="val 4000"/>
            </a:avLst>
          </a:prstGeom>
          <a:solidFill>
            <a:srgbClr val="FFFFFF"/>
          </a:solidFill>
          <a:ln w="12700">
            <a:solidFill>
              <a:srgbClr val="BFD4E6"/>
            </a:solidFill>
            <a:prstDash val="solid"/>
          </a:ln>
        </p:spPr>
      </p:sp>
      <p:sp>
        <p:nvSpPr>
          <p:cNvPr id="41" name="Verdict label"/>
          <p:cNvSpPr txBox="1"/>
          <p:nvPr/>
        </p:nvSpPr>
        <p:spPr>
          <a:xfrm>
            <a:off x="603504" y="4672584"/>
            <a:ext cx="5041087" cy="292608"/>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200" b="1" dirty="0">
                <a:solidFill>
                  <a:srgbClr val="17324D"/>
                </a:solidFill>
              </a:rPr>
              <a:t>Safe verdict (money)</a:t>
            </a:r>
            <a:endParaRPr lang="en-US" sz="1200" dirty="0"/>
          </a:p>
        </p:txBody>
      </p:sp>
      <p:sp>
        <p:nvSpPr>
          <p:cNvPr id="42" name="Verdict circle"/>
          <p:cNvSpPr/>
          <p:nvPr/>
        </p:nvSpPr>
        <p:spPr>
          <a:xfrm>
            <a:off x="731520" y="5029200"/>
            <a:ext cx="777240" cy="777240"/>
          </a:xfrm>
          <a:prstGeom prst="ellipse">
            <a:avLst/>
          </a:prstGeom>
          <a:solidFill>
            <a:srgbClr val="4A87B5"/>
          </a:solidFill>
          <a:ln w="12700">
            <a:solidFill>
              <a:srgbClr val="4A87B5"/>
            </a:solidFill>
            <a:prstDash val="solid"/>
          </a:ln>
        </p:spPr>
      </p:sp>
      <p:pic>
        <p:nvPicPr>
          <p:cNvPr id="43" name="Verdict icon" descr="preencoded.png">    </p:cNvPr>
          <p:cNvPicPr>
            <a:picLocks noChangeAspect="1"/>
          </p:cNvPicPr>
          <p:nvPr/>
        </p:nvPicPr>
        <p:blipFill>
          <a:blip r:embed="rId8"/>
          <a:stretch>
            <a:fillRect/>
          </a:stretch>
        </p:blipFill>
        <p:spPr>
          <a:xfrm>
            <a:off x="918058" y="5215738"/>
            <a:ext cx="404165" cy="404165"/>
          </a:xfrm>
          <a:prstGeom prst="rect">
            <a:avLst/>
          </a:prstGeom>
        </p:spPr>
      </p:pic>
      <p:sp>
        <p:nvSpPr>
          <p:cNvPr id="44" name="Verdict text"/>
          <p:cNvSpPr txBox="1"/>
          <p:nvPr/>
        </p:nvSpPr>
        <p:spPr>
          <a:xfrm>
            <a:off x="1645920" y="4983480"/>
            <a:ext cx="3931920" cy="914400"/>
          </a:xfrm>
          <a:prstGeom prst="rect">
            <a:avLst/>
          </a:prstGeom>
          <a:noFill/>
          <a:ln/>
        </p:spPr>
        <p:txBody>
          <a:bodyPr wrap="square" lIns="0" tIns="0" rIns="0" bIns="0" rtlCol="0" anchor="ctr"/>
          <a:lstStyle/>
          <a:p>
            <a:pPr indent="0" marL="0">
              <a:buNone/>
            </a:pPr>
            <a:r>
              <a:rPr lang="en-US" sz="1400" dirty="0">
                <a:solidFill>
                  <a:srgbClr val="1B2430"/>
                </a:solidFill>
              </a:rPr>
              <a:t>"Likely genuine" or "check by hand whether it is genuine"; it never says "counterfeit"</a:t>
            </a:r>
            <a:endParaRPr lang="en-US" sz="1400" dirty="0"/>
          </a:p>
        </p:txBody>
      </p:sp>
      <p:sp>
        <p:nvSpPr>
          <p:cNvPr id="45" name="Verdict to answer"/>
          <p:cNvSpPr/>
          <p:nvPr/>
        </p:nvSpPr>
        <p:spPr>
          <a:xfrm>
            <a:off x="5699455" y="5303520"/>
            <a:ext cx="761695" cy="0"/>
          </a:xfrm>
          <a:prstGeom prst="line">
            <a:avLst/>
          </a:prstGeom>
          <a:noFill/>
          <a:ln w="22225">
            <a:solidFill>
              <a:srgbClr val="5B6777"/>
            </a:solidFill>
            <a:prstDash val="solid"/>
            <a:tailEnd type="triangle"/>
          </a:ln>
        </p:spPr>
      </p:sp>
      <p:sp>
        <p:nvSpPr>
          <p:cNvPr id="46" name="Answer box"/>
          <p:cNvSpPr/>
          <p:nvPr/>
        </p:nvSpPr>
        <p:spPr>
          <a:xfrm>
            <a:off x="6461150" y="4617720"/>
            <a:ext cx="5150815" cy="1371600"/>
          </a:xfrm>
          <a:prstGeom prst="roundRect">
            <a:avLst>
              <a:gd name="adj" fmla="val 4000"/>
            </a:avLst>
          </a:prstGeom>
          <a:solidFill>
            <a:srgbClr val="FFFFFF"/>
          </a:solidFill>
          <a:ln w="12700">
            <a:solidFill>
              <a:srgbClr val="BFD4E6"/>
            </a:solidFill>
            <a:prstDash val="solid"/>
          </a:ln>
        </p:spPr>
      </p:sp>
      <p:sp>
        <p:nvSpPr>
          <p:cNvPr id="47" name="Answer label"/>
          <p:cNvSpPr txBox="1"/>
          <p:nvPr/>
        </p:nvSpPr>
        <p:spPr>
          <a:xfrm>
            <a:off x="6516014" y="4672584"/>
            <a:ext cx="5041087" cy="292608"/>
          </a:xfrm>
          <a:prstGeom prst="rect">
            <a:avLst/>
          </a:prstGeom>
          <a:solidFill>
            <a:srgbClr val="EAF1F7"/>
          </a:solidFill>
          <a:ln w="9525">
            <a:solidFill>
              <a:srgbClr val="4A87B5"/>
            </a:solidFill>
          </a:ln>
        </p:spPr>
        <p:txBody>
          <a:bodyPr wrap="square" lIns="254" tIns="254" rIns="254" bIns="254" rtlCol="0" anchor="ctr"/>
          <a:lstStyle/>
          <a:p>
            <a:pPr algn="ctr" indent="0" marL="0">
              <a:buNone/>
            </a:pPr>
            <a:r>
              <a:rPr lang="en-US" sz="1200" b="1" dirty="0">
                <a:solidFill>
                  <a:srgbClr val="17324D"/>
                </a:solidFill>
              </a:rPr>
              <a:t>Spoken answer in Bangla or English [17] + a short vibration</a:t>
            </a:r>
            <a:endParaRPr lang="en-US" sz="1200" dirty="0"/>
          </a:p>
        </p:txBody>
      </p:sp>
      <p:pic>
        <p:nvPicPr>
          <p:cNvPr id="48" name="Headphone" descr="E:/Final SP/Thesis Report and paper/thesis report/My report/DIagram fig tab/hw_earphone.jpg">    </p:cNvPr>
          <p:cNvPicPr>
            <a:picLocks noChangeAspect="1"/>
          </p:cNvPicPr>
          <p:nvPr/>
        </p:nvPicPr>
        <p:blipFill>
          <a:blip r:embed="rId9"/>
          <a:srcRect l="0" r="0" t="0" b="0"/>
          <a:stretch/>
        </p:blipFill>
        <p:spPr>
          <a:xfrm>
            <a:off x="6516014" y="4965192"/>
            <a:ext cx="914400" cy="969264"/>
          </a:xfrm>
          <a:prstGeom prst="rect">
            <a:avLst/>
          </a:prstGeom>
        </p:spPr>
      </p:pic>
      <p:pic>
        <p:nvPicPr>
          <p:cNvPr id="49" name="Hearing the answer" descr="E:\Final SP\Thesis Report and paper\tools\deck\assets/cartoon_sara_1.jpg">    </p:cNvPr>
          <p:cNvPicPr>
            <a:picLocks noChangeAspect="1"/>
          </p:cNvPicPr>
          <p:nvPr/>
        </p:nvPicPr>
        <p:blipFill>
          <a:blip r:embed="rId10"/>
          <a:srcRect l="0" r="0" t="0" b="0"/>
          <a:stretch/>
        </p:blipFill>
        <p:spPr>
          <a:xfrm>
            <a:off x="7503566" y="4965192"/>
            <a:ext cx="1773936" cy="969264"/>
          </a:xfrm>
          <a:prstGeom prst="rect">
            <a:avLst/>
          </a:prstGeom>
        </p:spPr>
      </p:pic>
      <p:sp>
        <p:nvSpPr>
          <p:cNvPr id="50" name="Spoken example"/>
          <p:cNvSpPr txBox="1"/>
          <p:nvPr/>
        </p:nvSpPr>
        <p:spPr>
          <a:xfrm>
            <a:off x="9368942" y="4965192"/>
            <a:ext cx="2188159" cy="969264"/>
          </a:xfrm>
          <a:prstGeom prst="rect">
            <a:avLst/>
          </a:prstGeom>
          <a:noFill/>
          <a:ln/>
        </p:spPr>
        <p:txBody>
          <a:bodyPr wrap="square" lIns="0" tIns="0" rIns="0" bIns="0" rtlCol="0" anchor="ctr"/>
          <a:lstStyle/>
          <a:p>
            <a:pPr indent="0" marL="0">
              <a:buNone/>
            </a:pPr>
            <a:r>
              <a:rPr lang="en-US" sz="1600" b="1" dirty="0">
                <a:solidFill>
                  <a:srgbClr val="1F5F8B"/>
                </a:solidFill>
                <a:latin typeface="Nirmala UI" pitchFamily="34" charset="0"/>
                <a:ea typeface="Nirmala UI" pitchFamily="34" charset="-122"/>
                <a:cs typeface="Nirmala UI" pitchFamily="34" charset="-120"/>
              </a:rPr>
              <a:t>পাঁচশত টাকার নোট</a:t>
            </a:r>
            <a:endParaRPr lang="en-US" sz="1600" dirty="0"/>
          </a:p>
          <a:p>
            <a:pPr indent="0" marL="0">
              <a:buNone/>
            </a:pPr>
            <a:r>
              <a:rPr lang="en-US" sz="1100" dirty="0">
                <a:solidFill>
                  <a:srgbClr val="1B2430"/>
                </a:solidFill>
              </a:rPr>
              <a:t>"500 Taka note": known without asking anyone</a:t>
            </a:r>
            <a:endParaRPr lang="en-US" sz="16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System Features</a:t>
            </a:r>
            <a:endParaRPr lang="en-US" sz="3000" dirty="0"/>
          </a:p>
        </p:txBody>
      </p:sp>
      <p:pic>
        <p:nvPicPr>
          <p:cNvPr id="3" name="Prototype version 2 hardware" descr="E:\Final SP\Thesis Report and paper\tools\deck\assets/v2_hardware_collage.jpg">    </p:cNvPr>
          <p:cNvPicPr>
            <a:picLocks noChangeAspect="1"/>
          </p:cNvPicPr>
          <p:nvPr/>
        </p:nvPicPr>
        <p:blipFill>
          <a:blip r:embed="rId1"/>
          <a:stretch>
            <a:fillRect/>
          </a:stretch>
        </p:blipFill>
        <p:spPr>
          <a:xfrm>
            <a:off x="548640" y="1325880"/>
            <a:ext cx="4663440" cy="3116694"/>
          </a:xfrm>
          <a:prstGeom prst="rect">
            <a:avLst/>
          </a:prstGeom>
        </p:spPr>
      </p:pic>
      <p:sp>
        <p:nvSpPr>
          <p:cNvPr id="4" name="Hardware caption"/>
          <p:cNvSpPr txBox="1"/>
          <p:nvPr/>
        </p:nvSpPr>
        <p:spPr>
          <a:xfrm>
            <a:off x="548640" y="4572000"/>
            <a:ext cx="4663440" cy="640080"/>
          </a:xfrm>
          <a:prstGeom prst="rect">
            <a:avLst/>
          </a:prstGeom>
          <a:noFill/>
          <a:ln/>
        </p:spPr>
        <p:txBody>
          <a:bodyPr wrap="square" lIns="0" tIns="0" rIns="0" bIns="0" rtlCol="0" anchor="t"/>
          <a:lstStyle/>
          <a:p>
            <a:pPr indent="0" marL="0">
              <a:buNone/>
            </a:pPr>
            <a:r>
              <a:rPr lang="en-US" sz="1200" i="1" dirty="0">
                <a:solidFill>
                  <a:schemeClr val="accent5"/>
                </a:solidFill>
              </a:rPr>
              <a:t>Prototype version 2: the complete unit, the UV light on, the Pi 5 in the rear enclosure, buttons and power bank</a:t>
            </a:r>
            <a:endParaRPr lang="en-US" sz="1200" dirty="0"/>
          </a:p>
        </p:txBody>
      </p:sp>
      <p:sp>
        <p:nvSpPr>
          <p:cNvPr id="5" name="Text reading card"/>
          <p:cNvSpPr/>
          <p:nvPr/>
        </p:nvSpPr>
        <p:spPr>
          <a:xfrm>
            <a:off x="5486400" y="1325880"/>
            <a:ext cx="1920240" cy="1645920"/>
          </a:xfrm>
          <a:prstGeom prst="roundRect">
            <a:avLst>
              <a:gd name="adj" fmla="val 6667"/>
            </a:avLst>
          </a:prstGeom>
          <a:solidFill>
            <a:schemeClr val="bg2"/>
          </a:solidFill>
          <a:ln w="12700">
            <a:solidFill>
              <a:schemeClr val="bg2"/>
            </a:solidFill>
            <a:prstDash val="solid"/>
          </a:ln>
        </p:spPr>
      </p:sp>
      <p:sp>
        <p:nvSpPr>
          <p:cNvPr id="6" name="Text reading circle"/>
          <p:cNvSpPr/>
          <p:nvPr/>
        </p:nvSpPr>
        <p:spPr>
          <a:xfrm>
            <a:off x="6126480" y="1463040"/>
            <a:ext cx="640080" cy="640080"/>
          </a:xfrm>
          <a:prstGeom prst="ellipse">
            <a:avLst/>
          </a:prstGeom>
          <a:solidFill>
            <a:srgbClr val="1F5F8B"/>
          </a:solidFill>
          <a:ln w="12700">
            <a:solidFill>
              <a:srgbClr val="1F5F8B"/>
            </a:solidFill>
            <a:prstDash val="solid"/>
          </a:ln>
        </p:spPr>
      </p:sp>
      <p:pic>
        <p:nvPicPr>
          <p:cNvPr id="7" name="Text reading icon" descr="preencoded.png">    </p:cNvPr>
          <p:cNvPicPr>
            <a:picLocks noChangeAspect="1"/>
          </p:cNvPicPr>
          <p:nvPr/>
        </p:nvPicPr>
        <p:blipFill>
          <a:blip r:embed="rId2"/>
          <a:stretch>
            <a:fillRect/>
          </a:stretch>
        </p:blipFill>
        <p:spPr>
          <a:xfrm>
            <a:off x="6280099" y="1616659"/>
            <a:ext cx="332842" cy="332842"/>
          </a:xfrm>
          <a:prstGeom prst="rect">
            <a:avLst/>
          </a:prstGeom>
        </p:spPr>
      </p:pic>
      <p:sp>
        <p:nvSpPr>
          <p:cNvPr id="8" name="Text reading heading"/>
          <p:cNvSpPr txBox="1"/>
          <p:nvPr/>
        </p:nvSpPr>
        <p:spPr>
          <a:xfrm>
            <a:off x="5532120" y="214884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Text reading</a:t>
            </a:r>
            <a:endParaRPr lang="en-US" sz="1700" dirty="0"/>
          </a:p>
        </p:txBody>
      </p:sp>
      <p:sp>
        <p:nvSpPr>
          <p:cNvPr id="9" name="Text reading text"/>
          <p:cNvSpPr txBox="1"/>
          <p:nvPr/>
        </p:nvSpPr>
        <p:spPr>
          <a:xfrm>
            <a:off x="5532120" y="251460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Bangla and English</a:t>
            </a:r>
            <a:endParaRPr lang="en-US" sz="1400" dirty="0"/>
          </a:p>
        </p:txBody>
      </p:sp>
      <p:sp>
        <p:nvSpPr>
          <p:cNvPr id="10" name="Objects card"/>
          <p:cNvSpPr/>
          <p:nvPr/>
        </p:nvSpPr>
        <p:spPr>
          <a:xfrm>
            <a:off x="7589520" y="1325880"/>
            <a:ext cx="1920240" cy="1645920"/>
          </a:xfrm>
          <a:prstGeom prst="roundRect">
            <a:avLst>
              <a:gd name="adj" fmla="val 6667"/>
            </a:avLst>
          </a:prstGeom>
          <a:solidFill>
            <a:schemeClr val="bg2"/>
          </a:solidFill>
          <a:ln w="12700">
            <a:solidFill>
              <a:schemeClr val="bg2"/>
            </a:solidFill>
            <a:prstDash val="solid"/>
          </a:ln>
        </p:spPr>
      </p:sp>
      <p:sp>
        <p:nvSpPr>
          <p:cNvPr id="11" name="Objects circle"/>
          <p:cNvSpPr/>
          <p:nvPr/>
        </p:nvSpPr>
        <p:spPr>
          <a:xfrm>
            <a:off x="8229600" y="1463040"/>
            <a:ext cx="640080" cy="640080"/>
          </a:xfrm>
          <a:prstGeom prst="ellipse">
            <a:avLst/>
          </a:prstGeom>
          <a:solidFill>
            <a:srgbClr val="1F5F8B"/>
          </a:solidFill>
          <a:ln w="12700">
            <a:solidFill>
              <a:srgbClr val="1F5F8B"/>
            </a:solidFill>
            <a:prstDash val="solid"/>
          </a:ln>
        </p:spPr>
      </p:sp>
      <p:pic>
        <p:nvPicPr>
          <p:cNvPr id="12" name="Objects icon" descr="preencoded.png">    </p:cNvPr>
          <p:cNvPicPr>
            <a:picLocks noChangeAspect="1"/>
          </p:cNvPicPr>
          <p:nvPr/>
        </p:nvPicPr>
        <p:blipFill>
          <a:blip r:embed="rId3"/>
          <a:stretch>
            <a:fillRect/>
          </a:stretch>
        </p:blipFill>
        <p:spPr>
          <a:xfrm>
            <a:off x="8383219" y="1616659"/>
            <a:ext cx="332842" cy="332842"/>
          </a:xfrm>
          <a:prstGeom prst="rect">
            <a:avLst/>
          </a:prstGeom>
        </p:spPr>
      </p:pic>
      <p:sp>
        <p:nvSpPr>
          <p:cNvPr id="13" name="Objects heading"/>
          <p:cNvSpPr txBox="1"/>
          <p:nvPr/>
        </p:nvSpPr>
        <p:spPr>
          <a:xfrm>
            <a:off x="7635240" y="214884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Objects</a:t>
            </a:r>
            <a:endParaRPr lang="en-US" sz="1700" dirty="0"/>
          </a:p>
        </p:txBody>
      </p:sp>
      <p:sp>
        <p:nvSpPr>
          <p:cNvPr id="14" name="Objects text"/>
          <p:cNvSpPr txBox="1"/>
          <p:nvPr/>
        </p:nvSpPr>
        <p:spPr>
          <a:xfrm>
            <a:off x="7635240" y="251460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Named in Bangla</a:t>
            </a:r>
            <a:endParaRPr lang="en-US" sz="1400" dirty="0"/>
          </a:p>
        </p:txBody>
      </p:sp>
      <p:sp>
        <p:nvSpPr>
          <p:cNvPr id="15" name="Taka notes card"/>
          <p:cNvSpPr/>
          <p:nvPr/>
        </p:nvSpPr>
        <p:spPr>
          <a:xfrm>
            <a:off x="9692640" y="1325880"/>
            <a:ext cx="1920240" cy="1645920"/>
          </a:xfrm>
          <a:prstGeom prst="roundRect">
            <a:avLst>
              <a:gd name="adj" fmla="val 6667"/>
            </a:avLst>
          </a:prstGeom>
          <a:solidFill>
            <a:schemeClr val="bg2"/>
          </a:solidFill>
          <a:ln w="12700">
            <a:solidFill>
              <a:schemeClr val="bg2"/>
            </a:solidFill>
            <a:prstDash val="solid"/>
          </a:ln>
        </p:spPr>
      </p:sp>
      <p:sp>
        <p:nvSpPr>
          <p:cNvPr id="16" name="Taka notes circle"/>
          <p:cNvSpPr/>
          <p:nvPr/>
        </p:nvSpPr>
        <p:spPr>
          <a:xfrm>
            <a:off x="10332720" y="1463040"/>
            <a:ext cx="640080" cy="640080"/>
          </a:xfrm>
          <a:prstGeom prst="ellipse">
            <a:avLst/>
          </a:prstGeom>
          <a:solidFill>
            <a:srgbClr val="1F5F8B"/>
          </a:solidFill>
          <a:ln w="12700">
            <a:solidFill>
              <a:srgbClr val="1F5F8B"/>
            </a:solidFill>
            <a:prstDash val="solid"/>
          </a:ln>
        </p:spPr>
      </p:sp>
      <p:pic>
        <p:nvPicPr>
          <p:cNvPr id="17" name="Taka notes icon" descr="preencoded.png">    </p:cNvPr>
          <p:cNvPicPr>
            <a:picLocks noChangeAspect="1"/>
          </p:cNvPicPr>
          <p:nvPr/>
        </p:nvPicPr>
        <p:blipFill>
          <a:blip r:embed="rId4"/>
          <a:stretch>
            <a:fillRect/>
          </a:stretch>
        </p:blipFill>
        <p:spPr>
          <a:xfrm>
            <a:off x="10486339" y="1616659"/>
            <a:ext cx="332842" cy="332842"/>
          </a:xfrm>
          <a:prstGeom prst="rect">
            <a:avLst/>
          </a:prstGeom>
        </p:spPr>
      </p:pic>
      <p:sp>
        <p:nvSpPr>
          <p:cNvPr id="18" name="Taka notes heading"/>
          <p:cNvSpPr txBox="1"/>
          <p:nvPr/>
        </p:nvSpPr>
        <p:spPr>
          <a:xfrm>
            <a:off x="9738360" y="214884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Taka notes</a:t>
            </a:r>
            <a:endParaRPr lang="en-US" sz="1700" dirty="0"/>
          </a:p>
        </p:txBody>
      </p:sp>
      <p:sp>
        <p:nvSpPr>
          <p:cNvPr id="19" name="Taka notes text"/>
          <p:cNvSpPr txBox="1"/>
          <p:nvPr/>
        </p:nvSpPr>
        <p:spPr>
          <a:xfrm>
            <a:off x="9738360" y="251460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Value + safe check</a:t>
            </a:r>
            <a:endParaRPr lang="en-US" sz="1400" dirty="0"/>
          </a:p>
        </p:txBody>
      </p:sp>
      <p:sp>
        <p:nvSpPr>
          <p:cNvPr id="20" name="Emotion card"/>
          <p:cNvSpPr/>
          <p:nvPr/>
        </p:nvSpPr>
        <p:spPr>
          <a:xfrm>
            <a:off x="6537960" y="3108960"/>
            <a:ext cx="1920240" cy="1645920"/>
          </a:xfrm>
          <a:prstGeom prst="roundRect">
            <a:avLst>
              <a:gd name="adj" fmla="val 6667"/>
            </a:avLst>
          </a:prstGeom>
          <a:solidFill>
            <a:schemeClr val="bg2"/>
          </a:solidFill>
          <a:ln w="12700">
            <a:solidFill>
              <a:schemeClr val="bg2"/>
            </a:solidFill>
            <a:prstDash val="solid"/>
          </a:ln>
        </p:spPr>
      </p:sp>
      <p:sp>
        <p:nvSpPr>
          <p:cNvPr id="21" name="Emotion circle"/>
          <p:cNvSpPr/>
          <p:nvPr/>
        </p:nvSpPr>
        <p:spPr>
          <a:xfrm>
            <a:off x="7178040" y="3246120"/>
            <a:ext cx="640080" cy="640080"/>
          </a:xfrm>
          <a:prstGeom prst="ellipse">
            <a:avLst/>
          </a:prstGeom>
          <a:solidFill>
            <a:srgbClr val="1F5F8B"/>
          </a:solidFill>
          <a:ln w="12700">
            <a:solidFill>
              <a:srgbClr val="1F5F8B"/>
            </a:solidFill>
            <a:prstDash val="solid"/>
          </a:ln>
        </p:spPr>
      </p:sp>
      <p:pic>
        <p:nvPicPr>
          <p:cNvPr id="22" name="Emotion icon" descr="preencoded.png">    </p:cNvPr>
          <p:cNvPicPr>
            <a:picLocks noChangeAspect="1"/>
          </p:cNvPicPr>
          <p:nvPr/>
        </p:nvPicPr>
        <p:blipFill>
          <a:blip r:embed="rId5"/>
          <a:stretch>
            <a:fillRect/>
          </a:stretch>
        </p:blipFill>
        <p:spPr>
          <a:xfrm>
            <a:off x="7331659" y="3399739"/>
            <a:ext cx="332842" cy="332842"/>
          </a:xfrm>
          <a:prstGeom prst="rect">
            <a:avLst/>
          </a:prstGeom>
        </p:spPr>
      </p:pic>
      <p:sp>
        <p:nvSpPr>
          <p:cNvPr id="23" name="Emotion heading"/>
          <p:cNvSpPr txBox="1"/>
          <p:nvPr/>
        </p:nvSpPr>
        <p:spPr>
          <a:xfrm>
            <a:off x="6583680" y="393192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Emotion</a:t>
            </a:r>
            <a:endParaRPr lang="en-US" sz="1700" dirty="0"/>
          </a:p>
        </p:txBody>
      </p:sp>
      <p:sp>
        <p:nvSpPr>
          <p:cNvPr id="24" name="Emotion text"/>
          <p:cNvSpPr txBox="1"/>
          <p:nvPr/>
        </p:nvSpPr>
        <p:spPr>
          <a:xfrm>
            <a:off x="6583680" y="429768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Face in front</a:t>
            </a:r>
            <a:endParaRPr lang="en-US" sz="1400" dirty="0"/>
          </a:p>
        </p:txBody>
      </p:sp>
      <p:sp>
        <p:nvSpPr>
          <p:cNvPr id="25" name="Online description card"/>
          <p:cNvSpPr/>
          <p:nvPr/>
        </p:nvSpPr>
        <p:spPr>
          <a:xfrm>
            <a:off x="8641080" y="3108960"/>
            <a:ext cx="1920240" cy="1645920"/>
          </a:xfrm>
          <a:prstGeom prst="roundRect">
            <a:avLst>
              <a:gd name="adj" fmla="val 6667"/>
            </a:avLst>
          </a:prstGeom>
          <a:solidFill>
            <a:schemeClr val="bg2"/>
          </a:solidFill>
          <a:ln w="12700">
            <a:solidFill>
              <a:schemeClr val="bg2"/>
            </a:solidFill>
            <a:prstDash val="solid"/>
          </a:ln>
        </p:spPr>
      </p:sp>
      <p:sp>
        <p:nvSpPr>
          <p:cNvPr id="26" name="Online description circle"/>
          <p:cNvSpPr/>
          <p:nvPr/>
        </p:nvSpPr>
        <p:spPr>
          <a:xfrm>
            <a:off x="9281160" y="3246120"/>
            <a:ext cx="640080" cy="640080"/>
          </a:xfrm>
          <a:prstGeom prst="ellipse">
            <a:avLst/>
          </a:prstGeom>
          <a:solidFill>
            <a:srgbClr val="1F5F8B"/>
          </a:solidFill>
          <a:ln w="12700">
            <a:solidFill>
              <a:srgbClr val="1F5F8B"/>
            </a:solidFill>
            <a:prstDash val="solid"/>
          </a:ln>
        </p:spPr>
      </p:sp>
      <p:pic>
        <p:nvPicPr>
          <p:cNvPr id="27" name="Online description icon" descr="preencoded.png">    </p:cNvPr>
          <p:cNvPicPr>
            <a:picLocks noChangeAspect="1"/>
          </p:cNvPicPr>
          <p:nvPr/>
        </p:nvPicPr>
        <p:blipFill>
          <a:blip r:embed="rId6"/>
          <a:stretch>
            <a:fillRect/>
          </a:stretch>
        </p:blipFill>
        <p:spPr>
          <a:xfrm>
            <a:off x="9434779" y="3399739"/>
            <a:ext cx="332842" cy="332842"/>
          </a:xfrm>
          <a:prstGeom prst="rect">
            <a:avLst/>
          </a:prstGeom>
        </p:spPr>
      </p:pic>
      <p:sp>
        <p:nvSpPr>
          <p:cNvPr id="28" name="Online description heading"/>
          <p:cNvSpPr txBox="1"/>
          <p:nvPr/>
        </p:nvSpPr>
        <p:spPr>
          <a:xfrm>
            <a:off x="8686800" y="393192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Online description</a:t>
            </a:r>
            <a:endParaRPr lang="en-US" sz="1700" dirty="0"/>
          </a:p>
        </p:txBody>
      </p:sp>
      <p:sp>
        <p:nvSpPr>
          <p:cNvPr id="29" name="Online description text"/>
          <p:cNvSpPr txBox="1"/>
          <p:nvPr/>
        </p:nvSpPr>
        <p:spPr>
          <a:xfrm>
            <a:off x="8686800" y="429768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Optional; needs internet</a:t>
            </a:r>
            <a:endParaRPr lang="en-US" sz="1400" dirty="0"/>
          </a:p>
        </p:txBody>
      </p:sp>
      <p:sp>
        <p:nvSpPr>
          <p:cNvPr id="30" name="Interaction bar"/>
          <p:cNvSpPr/>
          <p:nvPr/>
        </p:nvSpPr>
        <p:spPr>
          <a:xfrm>
            <a:off x="5486400" y="4983480"/>
            <a:ext cx="6126480" cy="960120"/>
          </a:xfrm>
          <a:prstGeom prst="roundRect">
            <a:avLst>
              <a:gd name="adj" fmla="val 11429"/>
            </a:avLst>
          </a:prstGeom>
          <a:solidFill>
            <a:schemeClr val="tx2"/>
          </a:solidFill>
          <a:ln w="12700">
            <a:solidFill>
              <a:schemeClr val="tx2"/>
            </a:solidFill>
            <a:prstDash val="solid"/>
          </a:ln>
        </p:spPr>
      </p:sp>
      <p:sp>
        <p:nvSpPr>
          <p:cNvPr id="31" name="Buttons circle"/>
          <p:cNvSpPr/>
          <p:nvPr/>
        </p:nvSpPr>
        <p:spPr>
          <a:xfrm>
            <a:off x="5669280" y="5120640"/>
            <a:ext cx="685800" cy="685800"/>
          </a:xfrm>
          <a:prstGeom prst="ellipse">
            <a:avLst/>
          </a:prstGeom>
          <a:solidFill>
            <a:srgbClr val="4A87B5"/>
          </a:solidFill>
          <a:ln w="12700">
            <a:solidFill>
              <a:srgbClr val="4A87B5"/>
            </a:solidFill>
            <a:prstDash val="solid"/>
          </a:ln>
        </p:spPr>
      </p:sp>
      <p:pic>
        <p:nvPicPr>
          <p:cNvPr id="32" name="Buttons icon" descr="preencoded.png">    </p:cNvPr>
          <p:cNvPicPr>
            <a:picLocks noChangeAspect="1"/>
          </p:cNvPicPr>
          <p:nvPr/>
        </p:nvPicPr>
        <p:blipFill>
          <a:blip r:embed="rId7"/>
          <a:stretch>
            <a:fillRect/>
          </a:stretch>
        </p:blipFill>
        <p:spPr>
          <a:xfrm>
            <a:off x="5833872" y="5285232"/>
            <a:ext cx="356616" cy="356616"/>
          </a:xfrm>
          <a:prstGeom prst="rect">
            <a:avLst/>
          </a:prstGeom>
        </p:spPr>
      </p:pic>
      <p:sp>
        <p:nvSpPr>
          <p:cNvPr id="33" name="Voice circle"/>
          <p:cNvSpPr/>
          <p:nvPr/>
        </p:nvSpPr>
        <p:spPr>
          <a:xfrm>
            <a:off x="6446520" y="5120640"/>
            <a:ext cx="685800" cy="685800"/>
          </a:xfrm>
          <a:prstGeom prst="ellipse">
            <a:avLst/>
          </a:prstGeom>
          <a:solidFill>
            <a:srgbClr val="D7263D"/>
          </a:solidFill>
          <a:ln w="12700">
            <a:solidFill>
              <a:srgbClr val="D7263D"/>
            </a:solidFill>
            <a:prstDash val="solid"/>
          </a:ln>
        </p:spPr>
      </p:sp>
      <p:pic>
        <p:nvPicPr>
          <p:cNvPr id="34" name="Voice icon" descr="preencoded.png">    </p:cNvPr>
          <p:cNvPicPr>
            <a:picLocks noChangeAspect="1"/>
          </p:cNvPicPr>
          <p:nvPr/>
        </p:nvPicPr>
        <p:blipFill>
          <a:blip r:embed="rId8"/>
          <a:stretch>
            <a:fillRect/>
          </a:stretch>
        </p:blipFill>
        <p:spPr>
          <a:xfrm>
            <a:off x="6611112" y="5285232"/>
            <a:ext cx="356616" cy="356616"/>
          </a:xfrm>
          <a:prstGeom prst="rect">
            <a:avLst/>
          </a:prstGeom>
        </p:spPr>
      </p:pic>
      <p:sp>
        <p:nvSpPr>
          <p:cNvPr id="35" name="Interaction text"/>
          <p:cNvSpPr txBox="1"/>
          <p:nvPr/>
        </p:nvSpPr>
        <p:spPr>
          <a:xfrm>
            <a:off x="7315200" y="5029200"/>
            <a:ext cx="4160520" cy="868680"/>
          </a:xfrm>
          <a:prstGeom prst="rect">
            <a:avLst/>
          </a:prstGeom>
          <a:noFill/>
          <a:ln/>
        </p:spPr>
        <p:txBody>
          <a:bodyPr wrap="square" lIns="0" tIns="0" rIns="0" bIns="0" rtlCol="0" anchor="ctr"/>
          <a:lstStyle/>
          <a:p>
            <a:pPr indent="0" marL="0">
              <a:buNone/>
            </a:pPr>
            <a:r>
              <a:rPr lang="en-US" sz="1500" b="1" dirty="0">
                <a:solidFill>
                  <a:srgbClr val="FFFFFF"/>
                </a:solidFill>
              </a:rPr>
              <a:t>How the user starts a mode: </a:t>
            </a:r>
            <a:pPr indent="0" marL="0">
              <a:buNone/>
            </a:pPr>
            <a:r>
              <a:rPr lang="en-US" sz="1500" dirty="0">
                <a:solidFill>
                  <a:srgbClr val="FFFFFF"/>
                </a:solidFill>
              </a:rPr>
              <a:t>five buttons on the frame, or a voice command: "Glass, read text"</a:t>
            </a:r>
            <a:endParaRPr lang="en-US" sz="1500" dirty="0"/>
          </a:p>
        </p:txBody>
      </p:sp>
      <p:sp>
        <p:nvSpPr>
          <p:cNvPr id="36"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Models: text [14, 15] CRAFT + EasyOCR; objects [13, 16] YOLOv8 on COCO; emotion [18] RAF-DB; voice commands [11] Vosk.</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Research Questions</a:t>
            </a:r>
            <a:endParaRPr lang="en-US" sz="3000" dirty="0"/>
          </a:p>
        </p:txBody>
      </p:sp>
      <p:sp>
        <p:nvSpPr>
          <p:cNvPr id="3" name="RQ1"/>
          <p:cNvSpPr/>
          <p:nvPr/>
        </p:nvSpPr>
        <p:spPr>
          <a:xfrm>
            <a:off x="548640" y="1417320"/>
            <a:ext cx="3520440" cy="2011680"/>
          </a:xfrm>
          <a:prstGeom prst="roundRect">
            <a:avLst>
              <a:gd name="adj" fmla="val 5455"/>
            </a:avLst>
          </a:prstGeom>
          <a:solidFill>
            <a:schemeClr val="bg2"/>
          </a:solidFill>
          <a:ln w="12700">
            <a:solidFill>
              <a:schemeClr val="bg2"/>
            </a:solidFill>
            <a:prstDash val="solid"/>
          </a:ln>
        </p:spPr>
      </p:sp>
      <p:sp>
        <p:nvSpPr>
          <p:cNvPr id="4" name="RQ1 number"/>
          <p:cNvSpPr txBox="1"/>
          <p:nvPr/>
        </p:nvSpPr>
        <p:spPr>
          <a:xfrm>
            <a:off x="777240" y="164592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RQ1 heading"/>
          <p:cNvSpPr txBox="1"/>
          <p:nvPr/>
        </p:nvSpPr>
        <p:spPr>
          <a:xfrm>
            <a:off x="1463040" y="169164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System</a:t>
            </a:r>
            <a:endParaRPr lang="en-US" sz="2000" dirty="0"/>
          </a:p>
        </p:txBody>
      </p:sp>
      <p:sp>
        <p:nvSpPr>
          <p:cNvPr id="6" name="RQ1 text"/>
          <p:cNvSpPr txBox="1"/>
          <p:nvPr/>
        </p:nvSpPr>
        <p:spPr>
          <a:xfrm>
            <a:off x="777240" y="237744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it all run on a Raspberry Pi 5?</a:t>
            </a:r>
            <a:endParaRPr lang="en-US" sz="2000" dirty="0"/>
          </a:p>
        </p:txBody>
      </p:sp>
      <p:sp>
        <p:nvSpPr>
          <p:cNvPr id="7" name="RQ2"/>
          <p:cNvSpPr/>
          <p:nvPr/>
        </p:nvSpPr>
        <p:spPr>
          <a:xfrm>
            <a:off x="4297680" y="1417320"/>
            <a:ext cx="3520440" cy="2011680"/>
          </a:xfrm>
          <a:prstGeom prst="roundRect">
            <a:avLst>
              <a:gd name="adj" fmla="val 5455"/>
            </a:avLst>
          </a:prstGeom>
          <a:solidFill>
            <a:schemeClr val="bg2"/>
          </a:solidFill>
          <a:ln w="12700">
            <a:solidFill>
              <a:schemeClr val="bg2"/>
            </a:solidFill>
            <a:prstDash val="solid"/>
          </a:ln>
        </p:spPr>
      </p:sp>
      <p:sp>
        <p:nvSpPr>
          <p:cNvPr id="8" name="RQ2 number"/>
          <p:cNvSpPr txBox="1"/>
          <p:nvPr/>
        </p:nvSpPr>
        <p:spPr>
          <a:xfrm>
            <a:off x="4526280" y="164592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RQ2 heading"/>
          <p:cNvSpPr txBox="1"/>
          <p:nvPr/>
        </p:nvSpPr>
        <p:spPr>
          <a:xfrm>
            <a:off x="5212080" y="169164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Synthetic data</a:t>
            </a:r>
            <a:endParaRPr lang="en-US" sz="2000" dirty="0"/>
          </a:p>
        </p:txBody>
      </p:sp>
      <p:sp>
        <p:nvSpPr>
          <p:cNvPr id="10" name="RQ2 text"/>
          <p:cNvSpPr txBox="1"/>
          <p:nvPr/>
        </p:nvSpPr>
        <p:spPr>
          <a:xfrm>
            <a:off x="4526280" y="237744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unlabelled training data detect real notes?</a:t>
            </a:r>
            <a:endParaRPr lang="en-US" sz="2000" dirty="0"/>
          </a:p>
        </p:txBody>
      </p:sp>
      <p:sp>
        <p:nvSpPr>
          <p:cNvPr id="11" name="RQ3"/>
          <p:cNvSpPr/>
          <p:nvPr/>
        </p:nvSpPr>
        <p:spPr>
          <a:xfrm>
            <a:off x="8046720" y="1417320"/>
            <a:ext cx="3520440" cy="2011680"/>
          </a:xfrm>
          <a:prstGeom prst="roundRect">
            <a:avLst>
              <a:gd name="adj" fmla="val 5455"/>
            </a:avLst>
          </a:prstGeom>
          <a:solidFill>
            <a:schemeClr val="bg2"/>
          </a:solidFill>
          <a:ln w="12700">
            <a:solidFill>
              <a:schemeClr val="bg2"/>
            </a:solidFill>
            <a:prstDash val="solid"/>
          </a:ln>
        </p:spPr>
      </p:sp>
      <p:sp>
        <p:nvSpPr>
          <p:cNvPr id="12" name="RQ3 number"/>
          <p:cNvSpPr txBox="1"/>
          <p:nvPr/>
        </p:nvSpPr>
        <p:spPr>
          <a:xfrm>
            <a:off x="8275320" y="164592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3" name="RQ3 heading"/>
          <p:cNvSpPr txBox="1"/>
          <p:nvPr/>
        </p:nvSpPr>
        <p:spPr>
          <a:xfrm>
            <a:off x="8961120" y="169164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Number of views</a:t>
            </a:r>
            <a:endParaRPr lang="en-US" sz="2000" dirty="0"/>
          </a:p>
        </p:txBody>
      </p:sp>
      <p:sp>
        <p:nvSpPr>
          <p:cNvPr id="14" name="RQ3 text"/>
          <p:cNvSpPr txBox="1"/>
          <p:nvPr/>
        </p:nvSpPr>
        <p:spPr>
          <a:xfrm>
            <a:off x="8275320" y="237744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one view of a note be enough?</a:t>
            </a:r>
            <a:endParaRPr lang="en-US" sz="2000" dirty="0"/>
          </a:p>
        </p:txBody>
      </p:sp>
      <p:sp>
        <p:nvSpPr>
          <p:cNvPr id="15" name="RQ4"/>
          <p:cNvSpPr/>
          <p:nvPr/>
        </p:nvSpPr>
        <p:spPr>
          <a:xfrm>
            <a:off x="548640" y="3657600"/>
            <a:ext cx="3520440" cy="2011680"/>
          </a:xfrm>
          <a:prstGeom prst="roundRect">
            <a:avLst>
              <a:gd name="adj" fmla="val 5455"/>
            </a:avLst>
          </a:prstGeom>
          <a:solidFill>
            <a:schemeClr val="bg2"/>
          </a:solidFill>
          <a:ln w="12700">
            <a:solidFill>
              <a:schemeClr val="bg2"/>
            </a:solidFill>
            <a:prstDash val="solid"/>
          </a:ln>
        </p:spPr>
      </p:sp>
      <p:sp>
        <p:nvSpPr>
          <p:cNvPr id="16" name="RQ4 number"/>
          <p:cNvSpPr txBox="1"/>
          <p:nvPr/>
        </p:nvSpPr>
        <p:spPr>
          <a:xfrm>
            <a:off x="777240" y="388620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7" name="RQ4 heading"/>
          <p:cNvSpPr txBox="1"/>
          <p:nvPr/>
        </p:nvSpPr>
        <p:spPr>
          <a:xfrm>
            <a:off x="1463040" y="393192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Unseen prints</a:t>
            </a:r>
            <a:endParaRPr lang="en-US" sz="2000" dirty="0"/>
          </a:p>
        </p:txBody>
      </p:sp>
      <p:sp>
        <p:nvSpPr>
          <p:cNvPr id="18" name="RQ4 text"/>
          <p:cNvSpPr txBox="1"/>
          <p:nvPr/>
        </p:nvSpPr>
        <p:spPr>
          <a:xfrm>
            <a:off x="777240" y="4617720"/>
            <a:ext cx="3108960" cy="868680"/>
          </a:xfrm>
          <a:prstGeom prst="rect">
            <a:avLst/>
          </a:prstGeom>
          <a:noFill/>
          <a:ln/>
        </p:spPr>
        <p:txBody>
          <a:bodyPr wrap="square" lIns="0" tIns="0" rIns="0" bIns="0" rtlCol="0" anchor="t"/>
          <a:lstStyle/>
          <a:p>
            <a:pPr indent="0" marL="0">
              <a:buNone/>
            </a:pPr>
            <a:r>
              <a:rPr lang="en-US" sz="2000" dirty="0">
                <a:solidFill>
                  <a:schemeClr val="tx1"/>
                </a:solidFill>
              </a:rPr>
              <a:t>Does the check hold on new counterfeit prints?</a:t>
            </a:r>
            <a:endParaRPr lang="en-US" sz="2000" dirty="0"/>
          </a:p>
        </p:txBody>
      </p:sp>
      <p:sp>
        <p:nvSpPr>
          <p:cNvPr id="19" name="RQ5"/>
          <p:cNvSpPr/>
          <p:nvPr/>
        </p:nvSpPr>
        <p:spPr>
          <a:xfrm>
            <a:off x="4297680" y="3657600"/>
            <a:ext cx="3520440" cy="2011680"/>
          </a:xfrm>
          <a:prstGeom prst="roundRect">
            <a:avLst>
              <a:gd name="adj" fmla="val 5455"/>
            </a:avLst>
          </a:prstGeom>
          <a:solidFill>
            <a:schemeClr val="bg2"/>
          </a:solidFill>
          <a:ln w="12700">
            <a:solidFill>
              <a:schemeClr val="bg2"/>
            </a:solidFill>
            <a:prstDash val="solid"/>
          </a:ln>
        </p:spPr>
      </p:sp>
      <p:sp>
        <p:nvSpPr>
          <p:cNvPr id="20" name="RQ5 number"/>
          <p:cNvSpPr txBox="1"/>
          <p:nvPr/>
        </p:nvSpPr>
        <p:spPr>
          <a:xfrm>
            <a:off x="4526280" y="388620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1" name="RQ5 heading"/>
          <p:cNvSpPr txBox="1"/>
          <p:nvPr/>
        </p:nvSpPr>
        <p:spPr>
          <a:xfrm>
            <a:off x="5212080" y="393192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Safety</a:t>
            </a:r>
            <a:endParaRPr lang="en-US" sz="2000" dirty="0"/>
          </a:p>
        </p:txBody>
      </p:sp>
      <p:sp>
        <p:nvSpPr>
          <p:cNvPr id="22" name="RQ5 text"/>
          <p:cNvSpPr txBox="1"/>
          <p:nvPr/>
        </p:nvSpPr>
        <p:spPr>
          <a:xfrm>
            <a:off x="4526280" y="461772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it never accuse a genuine note?</a:t>
            </a:r>
            <a:endParaRPr lang="en-US" sz="2000" dirty="0"/>
          </a:p>
        </p:txBody>
      </p:sp>
      <p:sp>
        <p:nvSpPr>
          <p:cNvPr id="23" name="RQ6"/>
          <p:cNvSpPr/>
          <p:nvPr/>
        </p:nvSpPr>
        <p:spPr>
          <a:xfrm>
            <a:off x="8046720" y="3657600"/>
            <a:ext cx="3520440" cy="2011680"/>
          </a:xfrm>
          <a:prstGeom prst="roundRect">
            <a:avLst>
              <a:gd name="adj" fmla="val 5455"/>
            </a:avLst>
          </a:prstGeom>
          <a:solidFill>
            <a:schemeClr val="bg2"/>
          </a:solidFill>
          <a:ln w="12700">
            <a:solidFill>
              <a:schemeClr val="bg2"/>
            </a:solidFill>
            <a:prstDash val="solid"/>
          </a:ln>
        </p:spPr>
      </p:sp>
      <p:sp>
        <p:nvSpPr>
          <p:cNvPr id="24" name="RQ6 number"/>
          <p:cNvSpPr txBox="1"/>
          <p:nvPr/>
        </p:nvSpPr>
        <p:spPr>
          <a:xfrm>
            <a:off x="8275320" y="388620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25" name="RQ6 heading"/>
          <p:cNvSpPr txBox="1"/>
          <p:nvPr/>
        </p:nvSpPr>
        <p:spPr>
          <a:xfrm>
            <a:off x="8961120" y="393192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Bangla OCR</a:t>
            </a:r>
            <a:endParaRPr lang="en-US" sz="2000" dirty="0"/>
          </a:p>
        </p:txBody>
      </p:sp>
      <p:sp>
        <p:nvSpPr>
          <p:cNvPr id="26" name="RQ6 text"/>
          <p:cNvSpPr txBox="1"/>
          <p:nvPr/>
        </p:nvSpPr>
        <p:spPr>
          <a:xfrm>
            <a:off x="8275320" y="4617720"/>
            <a:ext cx="3108960" cy="868680"/>
          </a:xfrm>
          <a:prstGeom prst="rect">
            <a:avLst/>
          </a:prstGeom>
          <a:noFill/>
          <a:ln/>
        </p:spPr>
        <p:txBody>
          <a:bodyPr wrap="square" lIns="0" tIns="0" rIns="0" bIns="0" rtlCol="0" anchor="t"/>
          <a:lstStyle/>
          <a:p>
            <a:pPr indent="0" marL="0">
              <a:buNone/>
            </a:pPr>
            <a:r>
              <a:rPr lang="en-US" sz="2000" dirty="0">
                <a:solidFill>
                  <a:schemeClr val="tx1"/>
                </a:solidFill>
              </a:rPr>
              <a:t>What matters most for reading Bangla?</a:t>
            </a:r>
            <a:endParaRPr lang="en-US" sz="2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Literature Review: Existing Assistive Devices</a:t>
            </a:r>
            <a:endParaRPr lang="en-US" sz="3000" dirty="0"/>
          </a:p>
        </p:txBody>
      </p:sp>
      <p:pic>
        <p:nvPicPr>
          <p:cNvPr id="3" name="OrCam MyEye [2]" descr="E:/Final SP/Thesis Report and paper/thesis report/My report/DIagram fig tab/dev_orcam.jpg">    </p:cNvPr>
          <p:cNvPicPr>
            <a:picLocks noChangeAspect="1"/>
          </p:cNvPicPr>
          <p:nvPr/>
        </p:nvPicPr>
        <p:blipFill>
          <a:blip r:embed="rId1"/>
          <a:srcRect l="0" r="0" t="0" b="0"/>
          <a:stretch/>
        </p:blipFill>
        <p:spPr>
          <a:xfrm>
            <a:off x="548640" y="4434840"/>
            <a:ext cx="2331720" cy="1234440"/>
          </a:xfrm>
          <a:prstGeom prst="rect">
            <a:avLst/>
          </a:prstGeom>
        </p:spPr>
      </p:pic>
      <p:sp>
        <p:nvSpPr>
          <p:cNvPr id="4" name="Caption 1"/>
          <p:cNvSpPr txBox="1"/>
          <p:nvPr/>
        </p:nvSpPr>
        <p:spPr>
          <a:xfrm>
            <a:off x="548640" y="5705856"/>
            <a:ext cx="2331720" cy="274320"/>
          </a:xfrm>
          <a:prstGeom prst="rect">
            <a:avLst/>
          </a:prstGeom>
          <a:noFill/>
          <a:ln/>
        </p:spPr>
        <p:txBody>
          <a:bodyPr wrap="square" lIns="0" tIns="0" rIns="0" bIns="0" rtlCol="0" anchor="ctr"/>
          <a:lstStyle/>
          <a:p>
            <a:pPr algn="ctr" indent="0" marL="0">
              <a:buNone/>
            </a:pPr>
            <a:r>
              <a:rPr lang="en-US" sz="1200" dirty="0">
                <a:solidFill>
                  <a:schemeClr val="accent5"/>
                </a:solidFill>
              </a:rPr>
              <a:t>OrCam MyEye [2]</a:t>
            </a:r>
            <a:endParaRPr lang="en-US" sz="1200" dirty="0"/>
          </a:p>
        </p:txBody>
      </p:sp>
      <p:pic>
        <p:nvPicPr>
          <p:cNvPr id="5" name="Google Glass analysis [3]" descr="E:/Final SP/Thesis Report and paper/thesis report/My report/DIagram fig tab/dev_googleglass.jpg">    </p:cNvPr>
          <p:cNvPicPr>
            <a:picLocks noChangeAspect="1"/>
          </p:cNvPicPr>
          <p:nvPr/>
        </p:nvPicPr>
        <p:blipFill>
          <a:blip r:embed="rId2"/>
          <a:srcRect l="0" r="0" t="0" b="0"/>
          <a:stretch/>
        </p:blipFill>
        <p:spPr>
          <a:xfrm>
            <a:off x="3063240" y="4434840"/>
            <a:ext cx="2331720" cy="1234440"/>
          </a:xfrm>
          <a:prstGeom prst="rect">
            <a:avLst/>
          </a:prstGeom>
        </p:spPr>
      </p:pic>
      <p:sp>
        <p:nvSpPr>
          <p:cNvPr id="6" name="Caption 2"/>
          <p:cNvSpPr txBox="1"/>
          <p:nvPr/>
        </p:nvSpPr>
        <p:spPr>
          <a:xfrm>
            <a:off x="3063240" y="5705856"/>
            <a:ext cx="2331720" cy="274320"/>
          </a:xfrm>
          <a:prstGeom prst="rect">
            <a:avLst/>
          </a:prstGeom>
          <a:noFill/>
          <a:ln/>
        </p:spPr>
        <p:txBody>
          <a:bodyPr wrap="square" lIns="0" tIns="0" rIns="0" bIns="0" rtlCol="0" anchor="ctr"/>
          <a:lstStyle/>
          <a:p>
            <a:pPr algn="ctr" indent="0" marL="0">
              <a:buNone/>
            </a:pPr>
            <a:r>
              <a:rPr lang="en-US" sz="1200" dirty="0">
                <a:solidFill>
                  <a:schemeClr val="accent5"/>
                </a:solidFill>
              </a:rPr>
              <a:t>Google Glass analysis [3]</a:t>
            </a:r>
            <a:endParaRPr lang="en-US" sz="1200" dirty="0"/>
          </a:p>
        </p:txBody>
      </p:sp>
      <p:pic>
        <p:nvPicPr>
          <p:cNvPr id="7" name="AIris [4]" descr="E:/Final SP/Thesis Report and paper/thesis report/My report/DIagram fig tab/dev_airis.jpg">    </p:cNvPr>
          <p:cNvPicPr>
            <a:picLocks noChangeAspect="1"/>
          </p:cNvPicPr>
          <p:nvPr/>
        </p:nvPicPr>
        <p:blipFill>
          <a:blip r:embed="rId3"/>
          <a:srcRect l="0" r="0" t="0" b="0"/>
          <a:stretch/>
        </p:blipFill>
        <p:spPr>
          <a:xfrm>
            <a:off x="5577840" y="4434840"/>
            <a:ext cx="2331720" cy="1234440"/>
          </a:xfrm>
          <a:prstGeom prst="rect">
            <a:avLst/>
          </a:prstGeom>
        </p:spPr>
      </p:pic>
      <p:sp>
        <p:nvSpPr>
          <p:cNvPr id="8" name="Caption 3"/>
          <p:cNvSpPr txBox="1"/>
          <p:nvPr/>
        </p:nvSpPr>
        <p:spPr>
          <a:xfrm>
            <a:off x="5577840" y="5705856"/>
            <a:ext cx="2331720" cy="274320"/>
          </a:xfrm>
          <a:prstGeom prst="rect">
            <a:avLst/>
          </a:prstGeom>
          <a:noFill/>
          <a:ln/>
        </p:spPr>
        <p:txBody>
          <a:bodyPr wrap="square" lIns="0" tIns="0" rIns="0" bIns="0" rtlCol="0" anchor="ctr"/>
          <a:lstStyle/>
          <a:p>
            <a:pPr algn="ctr" indent="0" marL="0">
              <a:buNone/>
            </a:pPr>
            <a:r>
              <a:rPr lang="en-US" sz="1200" dirty="0">
                <a:solidFill>
                  <a:schemeClr val="accent5"/>
                </a:solidFill>
              </a:rPr>
              <a:t>AIris [4]</a:t>
            </a:r>
            <a:endParaRPr lang="en-US" sz="12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7360920" cy="914400"/>
        </p:xfrm>
        <a:graphic>
          <a:graphicData uri="http://schemas.openxmlformats.org/drawingml/2006/table">
            <a:tbl>
              <a:tblPr/>
              <a:tblGrid>
                <a:gridCol w="2971800"/>
                <a:gridCol w="1097280"/>
                <a:gridCol w="1097280"/>
                <a:gridCol w="1097280"/>
                <a:gridCol w="1097280"/>
              </a:tblGrid>
              <a:tr h="475488">
                <a:tc>
                  <a:txBody>
                    <a:bodyPr/>
                    <a:lstStyle/>
                    <a:p>
                      <a:pPr algn="ctr" indent="0" marL="0">
                        <a:buNone/>
                      </a:pPr>
                      <a:r>
                        <a:rPr lang="en-US" sz="1600" b="1" dirty="0">
                          <a:solidFill>
                            <a:srgbClr val="FFFFFF"/>
                          </a:solidFill>
                        </a:rPr>
                        <a:t>System</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17324D"/>
                    </a:solidFill>
                  </a:tcPr>
                </a:tc>
                <a:tc>
                  <a:txBody>
                    <a:bodyPr/>
                    <a:lstStyle/>
                    <a:p>
                      <a:pPr algn="ctr" indent="0" marL="0">
                        <a:buNone/>
                      </a:pPr>
                      <a:r>
                        <a:rPr lang="en-US" sz="1600" b="1" dirty="0">
                          <a:solidFill>
                            <a:srgbClr val="FFFFFF"/>
                          </a:solidFill>
                        </a:rPr>
                        <a:t>Reads Bangla</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17324D"/>
                    </a:solidFill>
                  </a:tcPr>
                </a:tc>
                <a:tc>
                  <a:txBody>
                    <a:bodyPr/>
                    <a:lstStyle/>
                    <a:p>
                      <a:pPr algn="ctr" indent="0" marL="0">
                        <a:buNone/>
                      </a:pPr>
                      <a:r>
                        <a:rPr lang="en-US" sz="1600" b="1" dirty="0">
                          <a:solidFill>
                            <a:srgbClr val="FFFFFF"/>
                          </a:solidFill>
                        </a:rPr>
                        <a:t>Knows Taka</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17324D"/>
                    </a:solidFill>
                  </a:tcPr>
                </a:tc>
                <a:tc>
                  <a:txBody>
                    <a:bodyPr/>
                    <a:lstStyle/>
                    <a:p>
                      <a:pPr algn="ctr" indent="0" marL="0">
                        <a:buNone/>
                      </a:pPr>
                      <a:r>
                        <a:rPr lang="en-US" sz="1600" b="1" dirty="0">
                          <a:solidFill>
                            <a:srgbClr val="FFFFFF"/>
                          </a:solidFill>
                        </a:rPr>
                        <a:t>Works offline</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17324D"/>
                    </a:solidFill>
                  </a:tcPr>
                </a:tc>
                <a:tc>
                  <a:txBody>
                    <a:bodyPr/>
                    <a:lstStyle/>
                    <a:p>
                      <a:pPr algn="ctr" indent="0" marL="0">
                        <a:buNone/>
                      </a:pPr>
                      <a:r>
                        <a:rPr lang="en-US" sz="1600" b="1" dirty="0">
                          <a:solidFill>
                            <a:srgbClr val="FFFFFF"/>
                          </a:solidFill>
                        </a:rPr>
                        <a:t>Wearable</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17324D"/>
                    </a:solidFill>
                  </a:tcPr>
                </a:tc>
              </a:tr>
              <a:tr h="475488">
                <a:tc>
                  <a:txBody>
                    <a:bodyPr/>
                    <a:lstStyle/>
                    <a:p>
                      <a:pPr indent="0" marL="0">
                        <a:buNone/>
                      </a:pPr>
                      <a:r>
                        <a:rPr lang="en-US" sz="1600" dirty="0">
                          <a:solidFill>
                            <a:srgbClr val="1B2430"/>
                          </a:solidFill>
                        </a:rPr>
                        <a:t>OrCam MyEye [2]</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dirty="0">
                          <a:solidFill>
                            <a:srgbClr val="1B2430"/>
                          </a:solidFill>
                        </a:rPr>
                        <a:t>Google Glass scene analysis [3]</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dirty="0">
                          <a:solidFill>
                            <a:srgbClr val="1B2430"/>
                          </a:solidFill>
                        </a:rPr>
                        <a:t>AIris (2024) [4]</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dirty="0">
                          <a:solidFill>
                            <a:srgbClr val="1B2430"/>
                          </a:solidFill>
                        </a:rPr>
                        <a:t>Raspberry Pi reading aids *</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5B6777"/>
                          </a:solidFill>
                        </a:rPr>
                        <a:t>Partly</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5B6777"/>
                          </a:solidFill>
                        </a:rPr>
                        <a:t>Partly</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b="1" dirty="0">
                          <a:solidFill>
                            <a:srgbClr val="1B2430"/>
                          </a:solidFill>
                        </a:rPr>
                        <a:t>SARA (ours)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AF1F7"/>
                    </a:solidFill>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AF1F7"/>
                    </a:solidFill>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AF1F7"/>
                    </a:solidFill>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AF1F7"/>
                    </a:solidFill>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AF1F7"/>
                    </a:solidFill>
                  </a:tcPr>
                </a:tc>
              </a:tr>
            </a:tbl>
          </a:graphicData>
        </a:graphic>
      </p:graphicFrame>
      <p:sp>
        <p:nvSpPr>
          <p:cNvPr id="10" name="Gap card"/>
          <p:cNvSpPr/>
          <p:nvPr/>
        </p:nvSpPr>
        <p:spPr>
          <a:xfrm>
            <a:off x="8183880" y="1325880"/>
            <a:ext cx="3429000" cy="4526280"/>
          </a:xfrm>
          <a:prstGeom prst="roundRect">
            <a:avLst>
              <a:gd name="adj" fmla="val 3200"/>
            </a:avLst>
          </a:prstGeom>
          <a:solidFill>
            <a:schemeClr val="tx2"/>
          </a:solidFill>
          <a:ln w="12700">
            <a:solidFill>
              <a:schemeClr val="tx2"/>
            </a:solidFill>
            <a:prstDash val="solid"/>
          </a:ln>
        </p:spPr>
      </p:sp>
      <p:sp>
        <p:nvSpPr>
          <p:cNvPr id="11" name="Gap heading"/>
          <p:cNvSpPr txBox="1"/>
          <p:nvPr/>
        </p:nvSpPr>
        <p:spPr>
          <a:xfrm>
            <a:off x="8412480" y="1554480"/>
            <a:ext cx="301752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The research gap</a:t>
            </a:r>
            <a:endParaRPr lang="en-US" sz="2400" dirty="0"/>
          </a:p>
        </p:txBody>
      </p:sp>
      <p:sp>
        <p:nvSpPr>
          <p:cNvPr id="12" name="Gap main"/>
          <p:cNvSpPr txBox="1"/>
          <p:nvPr/>
        </p:nvSpPr>
        <p:spPr>
          <a:xfrm>
            <a:off x="8412480" y="2148840"/>
            <a:ext cx="3017520" cy="1371600"/>
          </a:xfrm>
          <a:prstGeom prst="rect">
            <a:avLst/>
          </a:prstGeom>
          <a:noFill/>
          <a:ln/>
        </p:spPr>
        <p:txBody>
          <a:bodyPr wrap="square" lIns="0" tIns="0" rIns="0" bIns="0" rtlCol="0" anchor="t"/>
          <a:lstStyle/>
          <a:p>
            <a:pPr indent="0" marL="0">
              <a:buNone/>
            </a:pPr>
            <a:r>
              <a:rPr lang="en-US" sz="2000" b="1" dirty="0">
                <a:solidFill>
                  <a:srgbClr val="FFFFFF"/>
                </a:solidFill>
              </a:rPr>
              <a:t>None of the systems we reviewed combines Bangla, Taka and offline use.</a:t>
            </a:r>
            <a:endParaRPr lang="en-US" sz="2000" dirty="0"/>
          </a:p>
        </p:txBody>
      </p:sp>
      <p:sp>
        <p:nvSpPr>
          <p:cNvPr id="13" name="Gap list"/>
          <p:cNvSpPr txBox="1"/>
          <p:nvPr/>
        </p:nvSpPr>
        <p:spPr>
          <a:xfrm>
            <a:off x="8412480" y="3657600"/>
            <a:ext cx="301752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EF6"/>
                </a:solidFill>
              </a:rPr>
              <a:t>Counterfeit tests reuse the same prints</a:t>
            </a:r>
            <a:endParaRPr lang="en-US" sz="1600" dirty="0"/>
          </a:p>
          <a:p>
            <a:pPr marL="342900" indent="-342900">
              <a:spcAft>
                <a:spcPts val="800"/>
              </a:spcAft>
              <a:buSzPct val="100000"/>
              <a:buChar char="•"/>
            </a:pPr>
            <a:r>
              <a:rPr lang="en-US" sz="1600" dirty="0">
                <a:solidFill>
                  <a:srgbClr val="E6EEF6"/>
                </a:solidFill>
              </a:rPr>
              <a:t>Few report speed on the real device</a:t>
            </a:r>
            <a:endParaRPr lang="en-US" sz="1600" dirty="0"/>
          </a:p>
        </p:txBody>
      </p:sp>
      <p:sp>
        <p:nvSpPr>
          <p:cNvPr id="14" name="Table note"/>
          <p:cNvSpPr txBox="1"/>
          <p:nvPr/>
        </p:nvSpPr>
        <p:spPr>
          <a:xfrm>
            <a:off x="548640" y="4206240"/>
            <a:ext cx="7360920" cy="228600"/>
          </a:xfrm>
          <a:prstGeom prst="rect">
            <a:avLst/>
          </a:prstGeom>
          <a:noFill/>
          <a:ln/>
        </p:spPr>
        <p:txBody>
          <a:bodyPr wrap="square" lIns="0" tIns="0" rIns="0" bIns="0" rtlCol="0" anchor="ctr"/>
          <a:lstStyle/>
          <a:p>
            <a:pPr indent="0" marL="0">
              <a:buNone/>
            </a:pPr>
            <a:r>
              <a:rPr lang="en-US" sz="1100" i="1" dirty="0">
                <a:solidFill>
                  <a:schemeClr val="accent5"/>
                </a:solidFill>
              </a:rPr>
              <a:t>Rows with a reference: from the cited source. * Our assessment of typical hobby builds, not a cited result.</a:t>
            </a:r>
            <a:endParaRPr lang="en-US" sz="1100" dirty="0"/>
          </a:p>
        </p:txBody>
      </p:sp>
      <p:sp>
        <p:nvSpPr>
          <p:cNvPr id="15"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Photos: OrCam MyEye by Ylip, CC BY-SA 4.0; Google Glass by Ted Eytan, CC BY-SA 2.0 (Wikimedia Commons); AIris from [4]. Comparison from [2, 3, 4].</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System Architecture</a:t>
            </a:r>
            <a:endParaRPr lang="en-US" sz="3000" dirty="0"/>
          </a:p>
        </p:txBody>
      </p:sp>
      <p:sp>
        <p:nvSpPr>
          <p:cNvPr id="3" name="Input heading"/>
          <p:cNvSpPr txBox="1"/>
          <p:nvPr/>
        </p:nvSpPr>
        <p:spPr>
          <a:xfrm>
            <a:off x="365760" y="1234440"/>
            <a:ext cx="1737360" cy="502920"/>
          </a:xfrm>
          <a:prstGeom prst="rect">
            <a:avLst/>
          </a:prstGeom>
          <a:noFill/>
          <a:ln/>
        </p:spPr>
        <p:txBody>
          <a:bodyPr wrap="square" lIns="0" tIns="0" rIns="0" bIns="0" rtlCol="0" anchor="ctr"/>
          <a:lstStyle/>
          <a:p>
            <a:pPr algn="ctr" indent="0" marL="0">
              <a:buNone/>
            </a:pPr>
            <a:r>
              <a:rPr lang="en-US" sz="1600" b="1" dirty="0">
                <a:solidFill>
                  <a:srgbClr val="1B2430"/>
                </a:solidFill>
              </a:rPr>
              <a:t>Input</a:t>
            </a:r>
            <a:endParaRPr lang="en-US" sz="1600" dirty="0"/>
          </a:p>
          <a:p>
            <a:pPr algn="ctr" indent="0" marL="0">
              <a:buNone/>
            </a:pPr>
            <a:r>
              <a:rPr lang="en-US" sz="1100" dirty="0">
                <a:solidFill>
                  <a:srgbClr val="1B2430"/>
                </a:solidFill>
              </a:rPr>
              <a:t>camera frame, 640×480</a:t>
            </a:r>
            <a:endParaRPr lang="en-US" sz="1600" dirty="0"/>
          </a:p>
        </p:txBody>
      </p:sp>
      <p:pic>
        <p:nvPicPr>
          <p:cNvPr id="4" name="Input frame 1" descr="E:/Final SP/Thesis Report and paper/thesis report/My report/DIagram fig tab/live_100.jpg">    </p:cNvPr>
          <p:cNvPicPr>
            <a:picLocks noChangeAspect="1"/>
          </p:cNvPicPr>
          <p:nvPr/>
        </p:nvPicPr>
        <p:blipFill>
          <a:blip r:embed="rId1"/>
          <a:srcRect l="0" r="0" t="0" b="0"/>
          <a:stretch/>
        </p:blipFill>
        <p:spPr>
          <a:xfrm>
            <a:off x="411480" y="1828800"/>
            <a:ext cx="1417320" cy="1097280"/>
          </a:xfrm>
          <a:prstGeom prst="rect">
            <a:avLst/>
          </a:prstGeom>
        </p:spPr>
      </p:pic>
      <p:pic>
        <p:nvPicPr>
          <p:cNvPr id="5" name="Input frame 2" descr="E:/Final SP/Thesis Report and paper/thesis report/My report/DIagram fig tab/live_three.jpg">    </p:cNvPr>
          <p:cNvPicPr>
            <a:picLocks noChangeAspect="1"/>
          </p:cNvPicPr>
          <p:nvPr/>
        </p:nvPicPr>
        <p:blipFill>
          <a:blip r:embed="rId2"/>
          <a:srcRect l="0" r="0" t="0" b="0"/>
          <a:stretch/>
        </p:blipFill>
        <p:spPr>
          <a:xfrm>
            <a:off x="539496" y="1975104"/>
            <a:ext cx="1417320" cy="1097280"/>
          </a:xfrm>
          <a:prstGeom prst="rect">
            <a:avLst/>
          </a:prstGeom>
        </p:spPr>
      </p:pic>
      <p:pic>
        <p:nvPicPr>
          <p:cNvPr id="6" name="Input frame 3" descr="E:/Final SP/Thesis Report and paper/thesis report/My report/DIagram fig tab/live_1000_500.jpg">    </p:cNvPr>
          <p:cNvPicPr>
            <a:picLocks noChangeAspect="1"/>
          </p:cNvPicPr>
          <p:nvPr/>
        </p:nvPicPr>
        <p:blipFill>
          <a:blip r:embed="rId3"/>
          <a:srcRect l="0" r="0" t="0" b="0"/>
          <a:stretch/>
        </p:blipFill>
        <p:spPr>
          <a:xfrm>
            <a:off x="667512" y="2121408"/>
            <a:ext cx="1417320" cy="1097280"/>
          </a:xfrm>
          <a:prstGeom prst="rect">
            <a:avLst/>
          </a:prstGeom>
        </p:spPr>
      </p:pic>
      <p:sp>
        <p:nvSpPr>
          <p:cNvPr id="7" name="Trigger"/>
          <p:cNvSpPr txBox="1"/>
          <p:nvPr/>
        </p:nvSpPr>
        <p:spPr>
          <a:xfrm>
            <a:off x="411480" y="3703320"/>
            <a:ext cx="1691640" cy="822960"/>
          </a:xfrm>
          <a:prstGeom prst="rect">
            <a:avLst/>
          </a:prstGeom>
          <a:solidFill>
            <a:srgbClr val="FFFFFF"/>
          </a:solidFill>
          <a:ln w="12700">
            <a:solidFill>
              <a:srgbClr val="8A96A3"/>
            </a:solidFill>
          </a:ln>
        </p:spPr>
        <p:txBody>
          <a:bodyPr wrap="square" lIns="635" tIns="635" rIns="635" bIns="635" rtlCol="0" anchor="ctr"/>
          <a:lstStyle/>
          <a:p>
            <a:pPr algn="ctr" indent="0" marL="0">
              <a:buNone/>
            </a:pPr>
            <a:r>
              <a:rPr lang="en-US" sz="1100" b="1" dirty="0">
                <a:solidFill>
                  <a:srgbClr val="1B2430"/>
                </a:solidFill>
              </a:rPr>
              <a:t>Trigger</a:t>
            </a:r>
            <a:endParaRPr lang="en-US" sz="1100" dirty="0"/>
          </a:p>
          <a:p>
            <a:pPr algn="ctr" indent="0" marL="0">
              <a:buNone/>
            </a:pPr>
            <a:r>
              <a:rPr lang="en-US" sz="1100" dirty="0">
                <a:solidFill>
                  <a:srgbClr val="1B2430"/>
                </a:solidFill>
              </a:rPr>
              <a:t>5 buttons, or voice: "glass, …" [11]</a:t>
            </a:r>
            <a:endParaRPr lang="en-US" sz="1100" dirty="0"/>
          </a:p>
        </p:txBody>
      </p:sp>
      <p:sp>
        <p:nvSpPr>
          <p:cNvPr id="8" name="Input to manager"/>
          <p:cNvSpPr/>
          <p:nvPr/>
        </p:nvSpPr>
        <p:spPr>
          <a:xfrm>
            <a:off x="2130552" y="2697480"/>
            <a:ext cx="109728" cy="0"/>
          </a:xfrm>
          <a:prstGeom prst="line">
            <a:avLst/>
          </a:prstGeom>
          <a:noFill/>
          <a:ln w="22225">
            <a:solidFill>
              <a:srgbClr val="5B6777"/>
            </a:solidFill>
            <a:prstDash val="solid"/>
            <a:tailEnd type="triangle"/>
          </a:ln>
        </p:spPr>
      </p:sp>
      <p:sp>
        <p:nvSpPr>
          <p:cNvPr id="9" name="Trigger to manager"/>
          <p:cNvSpPr/>
          <p:nvPr/>
        </p:nvSpPr>
        <p:spPr>
          <a:xfrm>
            <a:off x="2103120" y="4114800"/>
            <a:ext cx="137160" cy="0"/>
          </a:xfrm>
          <a:prstGeom prst="line">
            <a:avLst/>
          </a:prstGeom>
          <a:noFill/>
          <a:ln w="22225">
            <a:solidFill>
              <a:srgbClr val="5B6777"/>
            </a:solidFill>
            <a:prstDash val="solid"/>
            <a:tailEnd type="triangle"/>
          </a:ln>
        </p:spPr>
      </p:sp>
      <p:sp>
        <p:nvSpPr>
          <p:cNvPr id="10" name="Mode manager"/>
          <p:cNvSpPr txBox="1"/>
          <p:nvPr/>
        </p:nvSpPr>
        <p:spPr>
          <a:xfrm>
            <a:off x="2240280" y="1371600"/>
            <a:ext cx="548640" cy="4251960"/>
          </a:xfrm>
          <a:prstGeom prst="cube">
            <a:avLst/>
          </a:prstGeom>
          <a:solidFill>
            <a:srgbClr val="E3E7EC"/>
          </a:solidFill>
          <a:ln w="12700">
            <a:solidFill>
              <a:srgbClr val="8A96A3"/>
            </a:solidFill>
          </a:ln>
        </p:spPr>
        <p:txBody>
          <a:bodyPr wrap="square" lIns="0" tIns="0" rIns="0" bIns="0" rtlCol="0" anchor="ctr" vert="vert270"/>
          <a:lstStyle/>
          <a:p>
            <a:pPr algn="ctr" indent="0" marL="0">
              <a:buNone/>
            </a:pPr>
            <a:r>
              <a:rPr lang="en-US" sz="1200" b="1" dirty="0">
                <a:solidFill>
                  <a:srgbClr val="1B2430"/>
                </a:solidFill>
              </a:rPr>
              <a:t>Mode manager: starts one stream</a:t>
            </a:r>
            <a:endParaRPr lang="en-US" sz="1200" dirty="0"/>
          </a:p>
        </p:txBody>
      </p:sp>
      <p:sp>
        <p:nvSpPr>
          <p:cNvPr id="11" name="Text-reading stream"/>
          <p:cNvSpPr txBox="1"/>
          <p:nvPr/>
        </p:nvSpPr>
        <p:spPr>
          <a:xfrm>
            <a:off x="2926080" y="1325880"/>
            <a:ext cx="2743200" cy="228600"/>
          </a:xfrm>
          <a:prstGeom prst="rect">
            <a:avLst/>
          </a:prstGeom>
          <a:noFill/>
          <a:ln/>
        </p:spPr>
        <p:txBody>
          <a:bodyPr wrap="square" lIns="0" tIns="0" rIns="0" bIns="0" rtlCol="0" anchor="ctr"/>
          <a:lstStyle/>
          <a:p>
            <a:pPr indent="0" marL="0">
              <a:buNone/>
            </a:pPr>
            <a:r>
              <a:rPr lang="en-US" sz="1200" b="1" dirty="0">
                <a:solidFill>
                  <a:srgbClr val="17324D"/>
                </a:solidFill>
                <a:latin typeface="Arial" pitchFamily="34" charset="0"/>
                <a:ea typeface="Arial" pitchFamily="34" charset="-122"/>
                <a:cs typeface="Arial" pitchFamily="34" charset="-120"/>
              </a:rPr>
              <a:t>Text-reading stream</a:t>
            </a:r>
            <a:endParaRPr lang="en-US" sz="1200" dirty="0"/>
          </a:p>
        </p:txBody>
      </p:sp>
      <p:sp>
        <p:nvSpPr>
          <p:cNvPr id="12" name="Text-reading stream in"/>
          <p:cNvSpPr/>
          <p:nvPr/>
        </p:nvSpPr>
        <p:spPr>
          <a:xfrm>
            <a:off x="2788920" y="1874520"/>
            <a:ext cx="137160" cy="0"/>
          </a:xfrm>
          <a:prstGeom prst="line">
            <a:avLst/>
          </a:prstGeom>
          <a:noFill/>
          <a:ln w="22225">
            <a:solidFill>
              <a:srgbClr val="5B6777"/>
            </a:solidFill>
            <a:prstDash val="solid"/>
            <a:tailEnd type="triangle"/>
          </a:ln>
        </p:spPr>
      </p:sp>
      <p:sp>
        <p:nvSpPr>
          <p:cNvPr id="13" name="Text-reading stream resize"/>
          <p:cNvSpPr txBox="1"/>
          <p:nvPr/>
        </p:nvSpPr>
        <p:spPr>
          <a:xfrm>
            <a:off x="2926080" y="1645920"/>
            <a:ext cx="777240" cy="457200"/>
          </a:xfrm>
          <a:prstGeom prst="rect">
            <a:avLst/>
          </a:prstGeom>
          <a:solidFill>
            <a:srgbClr val="FFFFFF"/>
          </a:solidFill>
          <a:ln w="12700">
            <a:solidFill>
              <a:srgbClr val="8A96A3"/>
            </a:solidFill>
          </a:ln>
        </p:spPr>
        <p:txBody>
          <a:bodyPr wrap="square" lIns="0" tIns="0" rIns="0" bIns="0" rtlCol="0" anchor="ctr"/>
          <a:lstStyle/>
          <a:p>
            <a:pPr algn="ctr" indent="0" marL="0">
              <a:buNone/>
            </a:pPr>
            <a:r>
              <a:rPr lang="en-US" sz="1100" b="1" dirty="0">
                <a:solidFill>
                  <a:srgbClr val="1B2430"/>
                </a:solidFill>
              </a:rPr>
              <a:t>Resize</a:t>
            </a:r>
            <a:endParaRPr lang="en-US" sz="1100" dirty="0"/>
          </a:p>
        </p:txBody>
      </p:sp>
      <p:sp>
        <p:nvSpPr>
          <p:cNvPr id="14" name="Text-reading stream resize size"/>
          <p:cNvSpPr txBox="1"/>
          <p:nvPr/>
        </p:nvSpPr>
        <p:spPr>
          <a:xfrm>
            <a:off x="2788920" y="2130552"/>
            <a:ext cx="1051560" cy="228600"/>
          </a:xfrm>
          <a:prstGeom prst="rect">
            <a:avLst/>
          </a:prstGeom>
          <a:noFill/>
          <a:ln/>
        </p:spPr>
        <p:txBody>
          <a:bodyPr wrap="square" lIns="0" tIns="0" rIns="0" bIns="0" rtlCol="0" anchor="ctr"/>
          <a:lstStyle/>
          <a:p>
            <a:pPr algn="ctr" indent="0" marL="0">
              <a:buNone/>
            </a:pPr>
            <a:r>
              <a:rPr lang="en-US" sz="1050" dirty="0">
                <a:solidFill>
                  <a:srgbClr val="1B2430"/>
                </a:solidFill>
              </a:rPr>
              <a:t>[canvas 2560]</a:t>
            </a:r>
            <a:endParaRPr lang="en-US" sz="1050" dirty="0"/>
          </a:p>
        </p:txBody>
      </p:sp>
      <p:sp>
        <p:nvSpPr>
          <p:cNvPr id="15" name="Text-reading stream arrow 1"/>
          <p:cNvSpPr/>
          <p:nvPr/>
        </p:nvSpPr>
        <p:spPr>
          <a:xfrm>
            <a:off x="3703320" y="1874520"/>
            <a:ext cx="274320" cy="0"/>
          </a:xfrm>
          <a:prstGeom prst="line">
            <a:avLst/>
          </a:prstGeom>
          <a:noFill/>
          <a:ln w="22225">
            <a:solidFill>
              <a:srgbClr val="5B6777"/>
            </a:solidFill>
            <a:prstDash val="solid"/>
            <a:tailEnd type="triangle"/>
          </a:ln>
        </p:spPr>
      </p:sp>
      <p:sp>
        <p:nvSpPr>
          <p:cNvPr id="16" name="Text-reading stream block 1"/>
          <p:cNvSpPr txBox="1"/>
          <p:nvPr/>
        </p:nvSpPr>
        <p:spPr>
          <a:xfrm>
            <a:off x="3977640" y="1600200"/>
            <a:ext cx="1188720" cy="548640"/>
          </a:xfrm>
          <a:prstGeom prst="cube">
            <a:avLst/>
          </a:prstGeom>
          <a:solidFill>
            <a:srgbClr val="F2B8B0"/>
          </a:solidFill>
          <a:ln w="9525">
            <a:solidFill>
              <a:srgbClr val="8A96A3"/>
            </a:solidFill>
          </a:ln>
        </p:spPr>
        <p:txBody>
          <a:bodyPr wrap="square" lIns="0" tIns="0" rIns="0" bIns="0" rtlCol="0" anchor="ctr"/>
          <a:lstStyle/>
          <a:p>
            <a:pPr algn="ctr" indent="0" marL="0">
              <a:buNone/>
            </a:pPr>
            <a:r>
              <a:rPr lang="en-US" sz="1100" b="1" dirty="0">
                <a:solidFill>
                  <a:srgbClr val="1B2430"/>
                </a:solidFill>
              </a:rPr>
              <a:t>CRAFT</a:t>
            </a:r>
            <a:endParaRPr lang="en-US" sz="1100" dirty="0"/>
          </a:p>
        </p:txBody>
      </p:sp>
      <p:sp>
        <p:nvSpPr>
          <p:cNvPr id="17" name="Text-reading stream block 1 label"/>
          <p:cNvSpPr txBox="1"/>
          <p:nvPr/>
        </p:nvSpPr>
        <p:spPr>
          <a:xfrm>
            <a:off x="3886200" y="2148840"/>
            <a:ext cx="1371600" cy="228600"/>
          </a:xfrm>
          <a:prstGeom prst="rect">
            <a:avLst/>
          </a:prstGeom>
          <a:noFill/>
          <a:ln/>
        </p:spPr>
        <p:txBody>
          <a:bodyPr wrap="square" lIns="0" tIns="0" rIns="0" bIns="0" rtlCol="0" anchor="ctr"/>
          <a:lstStyle/>
          <a:p>
            <a:pPr algn="ctr" indent="0" marL="0">
              <a:buNone/>
            </a:pPr>
            <a:r>
              <a:rPr lang="en-US" sz="1050" dirty="0">
                <a:solidFill>
                  <a:srgbClr val="1B2430"/>
                </a:solidFill>
              </a:rPr>
              <a:t>text detector [14]</a:t>
            </a:r>
            <a:endParaRPr lang="en-US" sz="1050" dirty="0"/>
          </a:p>
        </p:txBody>
      </p:sp>
      <p:sp>
        <p:nvSpPr>
          <p:cNvPr id="18" name="Text-reading stream arrow 2"/>
          <p:cNvSpPr/>
          <p:nvPr/>
        </p:nvSpPr>
        <p:spPr>
          <a:xfrm>
            <a:off x="5166360" y="1874520"/>
            <a:ext cx="274320" cy="0"/>
          </a:xfrm>
          <a:prstGeom prst="line">
            <a:avLst/>
          </a:prstGeom>
          <a:noFill/>
          <a:ln w="22225">
            <a:solidFill>
              <a:srgbClr val="5B6777"/>
            </a:solidFill>
            <a:prstDash val="solid"/>
            <a:tailEnd type="triangle"/>
          </a:ln>
        </p:spPr>
      </p:sp>
      <p:sp>
        <p:nvSpPr>
          <p:cNvPr id="19" name="Text-reading stream block 2"/>
          <p:cNvSpPr txBox="1"/>
          <p:nvPr/>
        </p:nvSpPr>
        <p:spPr>
          <a:xfrm>
            <a:off x="5440680" y="1600200"/>
            <a:ext cx="1188720" cy="548640"/>
          </a:xfrm>
          <a:prstGeom prst="cube">
            <a:avLst/>
          </a:prstGeom>
          <a:solidFill>
            <a:srgbClr val="F2B8B0"/>
          </a:solidFill>
          <a:ln w="9525">
            <a:solidFill>
              <a:srgbClr val="8A96A3"/>
            </a:solidFill>
          </a:ln>
        </p:spPr>
        <p:txBody>
          <a:bodyPr wrap="square" lIns="0" tIns="0" rIns="0" bIns="0" rtlCol="0" anchor="ctr"/>
          <a:lstStyle/>
          <a:p>
            <a:pPr algn="ctr" indent="0" marL="0">
              <a:buNone/>
            </a:pPr>
            <a:r>
              <a:rPr lang="en-US" sz="1100" b="1" dirty="0">
                <a:solidFill>
                  <a:srgbClr val="1B2430"/>
                </a:solidFill>
              </a:rPr>
              <a:t>Text block</a:t>
            </a:r>
            <a:endParaRPr lang="en-US" sz="1100" dirty="0"/>
          </a:p>
        </p:txBody>
      </p:sp>
      <p:sp>
        <p:nvSpPr>
          <p:cNvPr id="20" name="Text-reading stream block 2 label"/>
          <p:cNvSpPr txBox="1"/>
          <p:nvPr/>
        </p:nvSpPr>
        <p:spPr>
          <a:xfrm>
            <a:off x="5349240" y="2148840"/>
            <a:ext cx="1371600" cy="228600"/>
          </a:xfrm>
          <a:prstGeom prst="rect">
            <a:avLst/>
          </a:prstGeom>
          <a:noFill/>
          <a:ln/>
        </p:spPr>
        <p:txBody>
          <a:bodyPr wrap="square" lIns="0" tIns="0" rIns="0" bIns="0" rtlCol="0" anchor="ctr"/>
          <a:lstStyle/>
          <a:p>
            <a:pPr algn="ctr" indent="0" marL="0">
              <a:buNone/>
            </a:pPr>
            <a:r>
              <a:rPr lang="en-US" sz="1050" dirty="0">
                <a:solidFill>
                  <a:srgbClr val="1B2430"/>
                </a:solidFill>
              </a:rPr>
              <a:t>main block + clean-up</a:t>
            </a:r>
            <a:endParaRPr lang="en-US" sz="1050" dirty="0"/>
          </a:p>
        </p:txBody>
      </p:sp>
      <p:sp>
        <p:nvSpPr>
          <p:cNvPr id="21" name="Text-reading stream arrow 3"/>
          <p:cNvSpPr/>
          <p:nvPr/>
        </p:nvSpPr>
        <p:spPr>
          <a:xfrm>
            <a:off x="6629400" y="1874520"/>
            <a:ext cx="274320" cy="0"/>
          </a:xfrm>
          <a:prstGeom prst="line">
            <a:avLst/>
          </a:prstGeom>
          <a:noFill/>
          <a:ln w="22225">
            <a:solidFill>
              <a:srgbClr val="5B6777"/>
            </a:solidFill>
            <a:prstDash val="solid"/>
            <a:tailEnd type="triangle"/>
          </a:ln>
        </p:spPr>
      </p:sp>
      <p:sp>
        <p:nvSpPr>
          <p:cNvPr id="22" name="Text-reading stream block 3"/>
          <p:cNvSpPr txBox="1"/>
          <p:nvPr/>
        </p:nvSpPr>
        <p:spPr>
          <a:xfrm>
            <a:off x="6903720" y="1600200"/>
            <a:ext cx="1188720" cy="548640"/>
          </a:xfrm>
          <a:prstGeom prst="cube">
            <a:avLst/>
          </a:prstGeom>
          <a:solidFill>
            <a:srgbClr val="F2B8B0"/>
          </a:solidFill>
          <a:ln w="9525">
            <a:solidFill>
              <a:srgbClr val="8A96A3"/>
            </a:solidFill>
          </a:ln>
        </p:spPr>
        <p:txBody>
          <a:bodyPr wrap="square" lIns="0" tIns="0" rIns="0" bIns="0" rtlCol="0" anchor="ctr"/>
          <a:lstStyle/>
          <a:p>
            <a:pPr algn="ctr" indent="0" marL="0">
              <a:buNone/>
            </a:pPr>
            <a:r>
              <a:rPr lang="en-US" sz="1100" b="1" dirty="0">
                <a:solidFill>
                  <a:srgbClr val="1B2430"/>
                </a:solidFill>
              </a:rPr>
              <a:t>EasyOCR</a:t>
            </a:r>
            <a:endParaRPr lang="en-US" sz="1100" dirty="0"/>
          </a:p>
        </p:txBody>
      </p:sp>
      <p:sp>
        <p:nvSpPr>
          <p:cNvPr id="23" name="Text-reading stream block 3 label"/>
          <p:cNvSpPr txBox="1"/>
          <p:nvPr/>
        </p:nvSpPr>
        <p:spPr>
          <a:xfrm>
            <a:off x="6812280" y="2148840"/>
            <a:ext cx="1371600" cy="228600"/>
          </a:xfrm>
          <a:prstGeom prst="rect">
            <a:avLst/>
          </a:prstGeom>
          <a:noFill/>
          <a:ln/>
        </p:spPr>
        <p:txBody>
          <a:bodyPr wrap="square" lIns="0" tIns="0" rIns="0" bIns="0" rtlCol="0" anchor="ctr"/>
          <a:lstStyle/>
          <a:p>
            <a:pPr algn="ctr" indent="0" marL="0">
              <a:buNone/>
            </a:pPr>
            <a:r>
              <a:rPr lang="en-US" sz="1050" dirty="0">
                <a:solidFill>
                  <a:srgbClr val="1B2430"/>
                </a:solidFill>
              </a:rPr>
              <a:t>fine-tuned, blended [15]</a:t>
            </a:r>
            <a:endParaRPr lang="en-US" sz="1050" dirty="0"/>
          </a:p>
        </p:txBody>
      </p:sp>
      <p:sp>
        <p:nvSpPr>
          <p:cNvPr id="24" name="Text-reading stream out"/>
          <p:cNvSpPr/>
          <p:nvPr/>
        </p:nvSpPr>
        <p:spPr>
          <a:xfrm>
            <a:off x="8092440" y="1874520"/>
            <a:ext cx="320040" cy="0"/>
          </a:xfrm>
          <a:prstGeom prst="line">
            <a:avLst/>
          </a:prstGeom>
          <a:noFill/>
          <a:ln w="22225">
            <a:solidFill>
              <a:srgbClr val="5B6777"/>
            </a:solidFill>
            <a:prstDash val="solid"/>
          </a:ln>
        </p:spPr>
      </p:sp>
      <p:sp>
        <p:nvSpPr>
          <p:cNvPr id="25" name="Taka stream"/>
          <p:cNvSpPr txBox="1"/>
          <p:nvPr/>
        </p:nvSpPr>
        <p:spPr>
          <a:xfrm>
            <a:off x="2926080" y="2377440"/>
            <a:ext cx="2743200" cy="228600"/>
          </a:xfrm>
          <a:prstGeom prst="rect">
            <a:avLst/>
          </a:prstGeom>
          <a:noFill/>
          <a:ln/>
        </p:spPr>
        <p:txBody>
          <a:bodyPr wrap="square" lIns="0" tIns="0" rIns="0" bIns="0" rtlCol="0" anchor="ctr"/>
          <a:lstStyle/>
          <a:p>
            <a:pPr indent="0" marL="0">
              <a:buNone/>
            </a:pPr>
            <a:r>
              <a:rPr lang="en-US" sz="1200" b="1" dirty="0">
                <a:solidFill>
                  <a:srgbClr val="17324D"/>
                </a:solidFill>
                <a:latin typeface="Arial" pitchFamily="34" charset="0"/>
                <a:ea typeface="Arial" pitchFamily="34" charset="-122"/>
                <a:cs typeface="Arial" pitchFamily="34" charset="-120"/>
              </a:rPr>
              <a:t>Taka stream</a:t>
            </a:r>
            <a:endParaRPr lang="en-US" sz="1200" dirty="0"/>
          </a:p>
        </p:txBody>
      </p:sp>
      <p:sp>
        <p:nvSpPr>
          <p:cNvPr id="26" name="Taka stream in"/>
          <p:cNvSpPr/>
          <p:nvPr/>
        </p:nvSpPr>
        <p:spPr>
          <a:xfrm>
            <a:off x="2788920" y="2926080"/>
            <a:ext cx="137160" cy="0"/>
          </a:xfrm>
          <a:prstGeom prst="line">
            <a:avLst/>
          </a:prstGeom>
          <a:noFill/>
          <a:ln w="22225">
            <a:solidFill>
              <a:srgbClr val="5B6777"/>
            </a:solidFill>
            <a:prstDash val="solid"/>
            <a:tailEnd type="triangle"/>
          </a:ln>
        </p:spPr>
      </p:sp>
      <p:sp>
        <p:nvSpPr>
          <p:cNvPr id="27" name="Taka stream resize"/>
          <p:cNvSpPr txBox="1"/>
          <p:nvPr/>
        </p:nvSpPr>
        <p:spPr>
          <a:xfrm>
            <a:off x="2926080" y="2697480"/>
            <a:ext cx="777240" cy="457200"/>
          </a:xfrm>
          <a:prstGeom prst="rect">
            <a:avLst/>
          </a:prstGeom>
          <a:solidFill>
            <a:srgbClr val="FFFFFF"/>
          </a:solidFill>
          <a:ln w="12700">
            <a:solidFill>
              <a:srgbClr val="8A96A3"/>
            </a:solidFill>
          </a:ln>
        </p:spPr>
        <p:txBody>
          <a:bodyPr wrap="square" lIns="0" tIns="0" rIns="0" bIns="0" rtlCol="0" anchor="ctr"/>
          <a:lstStyle/>
          <a:p>
            <a:pPr algn="ctr" indent="0" marL="0">
              <a:buNone/>
            </a:pPr>
            <a:r>
              <a:rPr lang="en-US" sz="1100" b="1" dirty="0">
                <a:solidFill>
                  <a:srgbClr val="1B2430"/>
                </a:solidFill>
              </a:rPr>
              <a:t>Resize</a:t>
            </a:r>
            <a:endParaRPr lang="en-US" sz="1100" dirty="0"/>
          </a:p>
        </p:txBody>
      </p:sp>
      <p:sp>
        <p:nvSpPr>
          <p:cNvPr id="28" name="Taka stream resize size"/>
          <p:cNvSpPr txBox="1"/>
          <p:nvPr/>
        </p:nvSpPr>
        <p:spPr>
          <a:xfrm>
            <a:off x="2788920" y="3182112"/>
            <a:ext cx="1051560" cy="228600"/>
          </a:xfrm>
          <a:prstGeom prst="rect">
            <a:avLst/>
          </a:prstGeom>
          <a:noFill/>
          <a:ln/>
        </p:spPr>
        <p:txBody>
          <a:bodyPr wrap="square" lIns="0" tIns="0" rIns="0" bIns="0" rtlCol="0" anchor="ctr"/>
          <a:lstStyle/>
          <a:p>
            <a:pPr algn="ctr" indent="0" marL="0">
              <a:buNone/>
            </a:pPr>
            <a:r>
              <a:rPr lang="en-US" sz="1050" dirty="0">
                <a:solidFill>
                  <a:srgbClr val="1B2430"/>
                </a:solidFill>
              </a:rPr>
              <a:t>[640]</a:t>
            </a:r>
            <a:endParaRPr lang="en-US" sz="1050" dirty="0"/>
          </a:p>
        </p:txBody>
      </p:sp>
      <p:sp>
        <p:nvSpPr>
          <p:cNvPr id="29" name="Taka stream arrow 1"/>
          <p:cNvSpPr/>
          <p:nvPr/>
        </p:nvSpPr>
        <p:spPr>
          <a:xfrm>
            <a:off x="3703320" y="2926080"/>
            <a:ext cx="274320" cy="0"/>
          </a:xfrm>
          <a:prstGeom prst="line">
            <a:avLst/>
          </a:prstGeom>
          <a:noFill/>
          <a:ln w="22225">
            <a:solidFill>
              <a:srgbClr val="5B6777"/>
            </a:solidFill>
            <a:prstDash val="solid"/>
            <a:tailEnd type="triangle"/>
          </a:ln>
        </p:spPr>
      </p:sp>
      <p:sp>
        <p:nvSpPr>
          <p:cNvPr id="30" name="Taka stream block 1"/>
          <p:cNvSpPr txBox="1"/>
          <p:nvPr/>
        </p:nvSpPr>
        <p:spPr>
          <a:xfrm>
            <a:off x="3977640" y="2651760"/>
            <a:ext cx="1188720" cy="548640"/>
          </a:xfrm>
          <a:prstGeom prst="cube">
            <a:avLst/>
          </a:prstGeom>
          <a:solidFill>
            <a:srgbClr val="F7CB9B"/>
          </a:solidFill>
          <a:ln w="9525">
            <a:solidFill>
              <a:srgbClr val="8A96A3"/>
            </a:solidFill>
          </a:ln>
        </p:spPr>
        <p:txBody>
          <a:bodyPr wrap="square" lIns="0" tIns="0" rIns="0" bIns="0" rtlCol="0" anchor="ctr"/>
          <a:lstStyle/>
          <a:p>
            <a:pPr algn="ctr" indent="0" marL="0">
              <a:buNone/>
            </a:pPr>
            <a:r>
              <a:rPr lang="en-US" sz="1100" b="1" dirty="0">
                <a:solidFill>
                  <a:srgbClr val="1B2430"/>
                </a:solidFill>
              </a:rPr>
              <a:t>YOLOv8s</a:t>
            </a:r>
            <a:endParaRPr lang="en-US" sz="1100" dirty="0"/>
          </a:p>
        </p:txBody>
      </p:sp>
      <p:sp>
        <p:nvSpPr>
          <p:cNvPr id="31" name="Taka stream block 1 label"/>
          <p:cNvSpPr txBox="1"/>
          <p:nvPr/>
        </p:nvSpPr>
        <p:spPr>
          <a:xfrm>
            <a:off x="3886200" y="3200400"/>
            <a:ext cx="1371600" cy="228600"/>
          </a:xfrm>
          <a:prstGeom prst="rect">
            <a:avLst/>
          </a:prstGeom>
          <a:noFill/>
          <a:ln/>
        </p:spPr>
        <p:txBody>
          <a:bodyPr wrap="square" lIns="0" tIns="0" rIns="0" bIns="0" rtlCol="0" anchor="ctr"/>
          <a:lstStyle/>
          <a:p>
            <a:pPr algn="ctr" indent="0" marL="0">
              <a:buNone/>
            </a:pPr>
            <a:r>
              <a:rPr lang="en-US" sz="1050" dirty="0">
                <a:solidFill>
                  <a:srgbClr val="1B2430"/>
                </a:solidFill>
              </a:rPr>
              <a:t>Taka detector [13]</a:t>
            </a:r>
            <a:endParaRPr lang="en-US" sz="1050" dirty="0"/>
          </a:p>
        </p:txBody>
      </p:sp>
      <p:sp>
        <p:nvSpPr>
          <p:cNvPr id="32" name="Taka stream arrow 2"/>
          <p:cNvSpPr/>
          <p:nvPr/>
        </p:nvSpPr>
        <p:spPr>
          <a:xfrm>
            <a:off x="5166360" y="2926080"/>
            <a:ext cx="274320" cy="0"/>
          </a:xfrm>
          <a:prstGeom prst="line">
            <a:avLst/>
          </a:prstGeom>
          <a:noFill/>
          <a:ln w="22225">
            <a:solidFill>
              <a:srgbClr val="5B6777"/>
            </a:solidFill>
            <a:prstDash val="solid"/>
            <a:tailEnd type="triangle"/>
          </a:ln>
        </p:spPr>
      </p:sp>
      <p:sp>
        <p:nvSpPr>
          <p:cNvPr id="33" name="Taka stream block 2"/>
          <p:cNvSpPr txBox="1"/>
          <p:nvPr/>
        </p:nvSpPr>
        <p:spPr>
          <a:xfrm>
            <a:off x="5440680" y="2651760"/>
            <a:ext cx="1188720" cy="548640"/>
          </a:xfrm>
          <a:prstGeom prst="cube">
            <a:avLst/>
          </a:prstGeom>
          <a:solidFill>
            <a:srgbClr val="F7CB9B"/>
          </a:solidFill>
          <a:ln w="9525">
            <a:solidFill>
              <a:srgbClr val="8A96A3"/>
            </a:solidFill>
          </a:ln>
        </p:spPr>
        <p:txBody>
          <a:bodyPr wrap="square" lIns="0" tIns="0" rIns="0" bIns="0" rtlCol="0" anchor="ctr"/>
          <a:lstStyle/>
          <a:p>
            <a:pPr algn="ctr" indent="0" marL="0">
              <a:buNone/>
            </a:pPr>
            <a:r>
              <a:rPr lang="en-US" sz="1100" b="1" dirty="0">
                <a:solidFill>
                  <a:srgbClr val="1B2430"/>
                </a:solidFill>
              </a:rPr>
              <a:t>Watermark</a:t>
            </a:r>
            <a:endParaRPr lang="en-US" sz="1100" dirty="0"/>
          </a:p>
        </p:txBody>
      </p:sp>
      <p:sp>
        <p:nvSpPr>
          <p:cNvPr id="34" name="Taka stream block 2 label"/>
          <p:cNvSpPr txBox="1"/>
          <p:nvPr/>
        </p:nvSpPr>
        <p:spPr>
          <a:xfrm>
            <a:off x="5349240" y="3200400"/>
            <a:ext cx="1371600" cy="228600"/>
          </a:xfrm>
          <a:prstGeom prst="rect">
            <a:avLst/>
          </a:prstGeom>
          <a:noFill/>
          <a:ln/>
        </p:spPr>
        <p:txBody>
          <a:bodyPr wrap="square" lIns="0" tIns="0" rIns="0" bIns="0" rtlCol="0" anchor="ctr"/>
          <a:lstStyle/>
          <a:p>
            <a:pPr algn="ctr" indent="0" marL="0">
              <a:buNone/>
            </a:pPr>
            <a:r>
              <a:rPr lang="en-US" sz="1050" dirty="0">
                <a:solidFill>
                  <a:srgbClr val="1B2430"/>
                </a:solidFill>
              </a:rPr>
              <a:t>4 windows + DMWR</a:t>
            </a:r>
            <a:endParaRPr lang="en-US" sz="1050" dirty="0"/>
          </a:p>
        </p:txBody>
      </p:sp>
      <p:sp>
        <p:nvSpPr>
          <p:cNvPr id="35" name="Taka stream arrow 3"/>
          <p:cNvSpPr/>
          <p:nvPr/>
        </p:nvSpPr>
        <p:spPr>
          <a:xfrm>
            <a:off x="6629400" y="2926080"/>
            <a:ext cx="274320" cy="0"/>
          </a:xfrm>
          <a:prstGeom prst="line">
            <a:avLst/>
          </a:prstGeom>
          <a:noFill/>
          <a:ln w="22225">
            <a:solidFill>
              <a:srgbClr val="5B6777"/>
            </a:solidFill>
            <a:prstDash val="solid"/>
            <a:tailEnd type="triangle"/>
          </a:ln>
        </p:spPr>
      </p:sp>
      <p:sp>
        <p:nvSpPr>
          <p:cNvPr id="36" name="Taka stream block 3"/>
          <p:cNvSpPr txBox="1"/>
          <p:nvPr/>
        </p:nvSpPr>
        <p:spPr>
          <a:xfrm>
            <a:off x="6903720" y="2651760"/>
            <a:ext cx="1188720" cy="548640"/>
          </a:xfrm>
          <a:prstGeom prst="cube">
            <a:avLst/>
          </a:prstGeom>
          <a:solidFill>
            <a:srgbClr val="F7CB9B"/>
          </a:solidFill>
          <a:ln w="9525">
            <a:solidFill>
              <a:srgbClr val="8A96A3"/>
            </a:solidFill>
          </a:ln>
        </p:spPr>
        <p:txBody>
          <a:bodyPr wrap="square" lIns="0" tIns="0" rIns="0" bIns="0" rtlCol="0" anchor="ctr"/>
          <a:lstStyle/>
          <a:p>
            <a:pPr algn="ctr" indent="0" marL="0">
              <a:buNone/>
            </a:pPr>
            <a:r>
              <a:rPr lang="en-US" sz="1100" b="1" dirty="0">
                <a:solidFill>
                  <a:srgbClr val="1B2430"/>
                </a:solidFill>
              </a:rPr>
              <a:t>UV check</a:t>
            </a:r>
            <a:endParaRPr lang="en-US" sz="1100" dirty="0"/>
          </a:p>
        </p:txBody>
      </p:sp>
      <p:sp>
        <p:nvSpPr>
          <p:cNvPr id="37" name="Taka stream block 3 label"/>
          <p:cNvSpPr txBox="1"/>
          <p:nvPr/>
        </p:nvSpPr>
        <p:spPr>
          <a:xfrm>
            <a:off x="6812280" y="3200400"/>
            <a:ext cx="1371600" cy="228600"/>
          </a:xfrm>
          <a:prstGeom prst="rect">
            <a:avLst/>
          </a:prstGeom>
          <a:noFill/>
          <a:ln/>
        </p:spPr>
        <p:txBody>
          <a:bodyPr wrap="square" lIns="0" tIns="0" rIns="0" bIns="0" rtlCol="0" anchor="ctr"/>
          <a:lstStyle/>
          <a:p>
            <a:pPr algn="ctr" indent="0" marL="0">
              <a:buNone/>
            </a:pPr>
            <a:r>
              <a:rPr lang="en-US" sz="1050" dirty="0">
                <a:solidFill>
                  <a:srgbClr val="1B2430"/>
                </a:solidFill>
              </a:rPr>
              <a:t>security fibres</a:t>
            </a:r>
            <a:endParaRPr lang="en-US" sz="1050" dirty="0"/>
          </a:p>
        </p:txBody>
      </p:sp>
      <p:sp>
        <p:nvSpPr>
          <p:cNvPr id="38" name="Taka stream out"/>
          <p:cNvSpPr/>
          <p:nvPr/>
        </p:nvSpPr>
        <p:spPr>
          <a:xfrm>
            <a:off x="8092440" y="2926080"/>
            <a:ext cx="320040" cy="0"/>
          </a:xfrm>
          <a:prstGeom prst="line">
            <a:avLst/>
          </a:prstGeom>
          <a:noFill/>
          <a:ln w="22225">
            <a:solidFill>
              <a:srgbClr val="5B6777"/>
            </a:solidFill>
            <a:prstDash val="solid"/>
          </a:ln>
        </p:spPr>
      </p:sp>
      <p:sp>
        <p:nvSpPr>
          <p:cNvPr id="39" name="Object stream"/>
          <p:cNvSpPr txBox="1"/>
          <p:nvPr/>
        </p:nvSpPr>
        <p:spPr>
          <a:xfrm>
            <a:off x="2926080" y="3429000"/>
            <a:ext cx="2743200" cy="228600"/>
          </a:xfrm>
          <a:prstGeom prst="rect">
            <a:avLst/>
          </a:prstGeom>
          <a:noFill/>
          <a:ln/>
        </p:spPr>
        <p:txBody>
          <a:bodyPr wrap="square" lIns="0" tIns="0" rIns="0" bIns="0" rtlCol="0" anchor="ctr"/>
          <a:lstStyle/>
          <a:p>
            <a:pPr indent="0" marL="0">
              <a:buNone/>
            </a:pPr>
            <a:r>
              <a:rPr lang="en-US" sz="1200" b="1" dirty="0">
                <a:solidFill>
                  <a:srgbClr val="17324D"/>
                </a:solidFill>
                <a:latin typeface="Arial" pitchFamily="34" charset="0"/>
                <a:ea typeface="Arial" pitchFamily="34" charset="-122"/>
                <a:cs typeface="Arial" pitchFamily="34" charset="-120"/>
              </a:rPr>
              <a:t>Object stream</a:t>
            </a:r>
            <a:endParaRPr lang="en-US" sz="1200" dirty="0"/>
          </a:p>
        </p:txBody>
      </p:sp>
      <p:sp>
        <p:nvSpPr>
          <p:cNvPr id="40" name="Object stream in"/>
          <p:cNvSpPr/>
          <p:nvPr/>
        </p:nvSpPr>
        <p:spPr>
          <a:xfrm>
            <a:off x="2788920" y="3977640"/>
            <a:ext cx="137160" cy="0"/>
          </a:xfrm>
          <a:prstGeom prst="line">
            <a:avLst/>
          </a:prstGeom>
          <a:noFill/>
          <a:ln w="22225">
            <a:solidFill>
              <a:srgbClr val="5B6777"/>
            </a:solidFill>
            <a:prstDash val="solid"/>
            <a:tailEnd type="triangle"/>
          </a:ln>
        </p:spPr>
      </p:sp>
      <p:sp>
        <p:nvSpPr>
          <p:cNvPr id="41" name="Object stream resize"/>
          <p:cNvSpPr txBox="1"/>
          <p:nvPr/>
        </p:nvSpPr>
        <p:spPr>
          <a:xfrm>
            <a:off x="2926080" y="3749040"/>
            <a:ext cx="777240" cy="457200"/>
          </a:xfrm>
          <a:prstGeom prst="rect">
            <a:avLst/>
          </a:prstGeom>
          <a:solidFill>
            <a:srgbClr val="FFFFFF"/>
          </a:solidFill>
          <a:ln w="12700">
            <a:solidFill>
              <a:srgbClr val="8A96A3"/>
            </a:solidFill>
          </a:ln>
        </p:spPr>
        <p:txBody>
          <a:bodyPr wrap="square" lIns="0" tIns="0" rIns="0" bIns="0" rtlCol="0" anchor="ctr"/>
          <a:lstStyle/>
          <a:p>
            <a:pPr algn="ctr" indent="0" marL="0">
              <a:buNone/>
            </a:pPr>
            <a:r>
              <a:rPr lang="en-US" sz="1100" b="1" dirty="0">
                <a:solidFill>
                  <a:srgbClr val="1B2430"/>
                </a:solidFill>
              </a:rPr>
              <a:t>Resize</a:t>
            </a:r>
            <a:endParaRPr lang="en-US" sz="1100" dirty="0"/>
          </a:p>
        </p:txBody>
      </p:sp>
      <p:sp>
        <p:nvSpPr>
          <p:cNvPr id="42" name="Object stream resize size"/>
          <p:cNvSpPr txBox="1"/>
          <p:nvPr/>
        </p:nvSpPr>
        <p:spPr>
          <a:xfrm>
            <a:off x="2788920" y="4233672"/>
            <a:ext cx="1051560" cy="228600"/>
          </a:xfrm>
          <a:prstGeom prst="rect">
            <a:avLst/>
          </a:prstGeom>
          <a:noFill/>
          <a:ln/>
        </p:spPr>
        <p:txBody>
          <a:bodyPr wrap="square" lIns="0" tIns="0" rIns="0" bIns="0" rtlCol="0" anchor="ctr"/>
          <a:lstStyle/>
          <a:p>
            <a:pPr algn="ctr" indent="0" marL="0">
              <a:buNone/>
            </a:pPr>
            <a:r>
              <a:rPr lang="en-US" sz="1050" dirty="0">
                <a:solidFill>
                  <a:srgbClr val="1B2430"/>
                </a:solidFill>
              </a:rPr>
              <a:t>[640]</a:t>
            </a:r>
            <a:endParaRPr lang="en-US" sz="1050" dirty="0"/>
          </a:p>
        </p:txBody>
      </p:sp>
      <p:sp>
        <p:nvSpPr>
          <p:cNvPr id="43" name="Object stream arrow 1"/>
          <p:cNvSpPr/>
          <p:nvPr/>
        </p:nvSpPr>
        <p:spPr>
          <a:xfrm>
            <a:off x="3703320" y="3977640"/>
            <a:ext cx="274320" cy="0"/>
          </a:xfrm>
          <a:prstGeom prst="line">
            <a:avLst/>
          </a:prstGeom>
          <a:noFill/>
          <a:ln w="22225">
            <a:solidFill>
              <a:srgbClr val="5B6777"/>
            </a:solidFill>
            <a:prstDash val="solid"/>
            <a:tailEnd type="triangle"/>
          </a:ln>
        </p:spPr>
      </p:sp>
      <p:sp>
        <p:nvSpPr>
          <p:cNvPr id="44" name="Object stream block 1"/>
          <p:cNvSpPr txBox="1"/>
          <p:nvPr/>
        </p:nvSpPr>
        <p:spPr>
          <a:xfrm>
            <a:off x="3977640" y="3703320"/>
            <a:ext cx="1188720" cy="548640"/>
          </a:xfrm>
          <a:prstGeom prst="cube">
            <a:avLst/>
          </a:prstGeom>
          <a:solidFill>
            <a:srgbClr val="AFCBEB"/>
          </a:solidFill>
          <a:ln w="9525">
            <a:solidFill>
              <a:srgbClr val="8A96A3"/>
            </a:solidFill>
          </a:ln>
        </p:spPr>
        <p:txBody>
          <a:bodyPr wrap="square" lIns="0" tIns="0" rIns="0" bIns="0" rtlCol="0" anchor="ctr"/>
          <a:lstStyle/>
          <a:p>
            <a:pPr algn="ctr" indent="0" marL="0">
              <a:buNone/>
            </a:pPr>
            <a:r>
              <a:rPr lang="en-US" sz="1100" b="1" dirty="0">
                <a:solidFill>
                  <a:srgbClr val="1B2430"/>
                </a:solidFill>
              </a:rPr>
              <a:t>YOLOv8s</a:t>
            </a:r>
            <a:endParaRPr lang="en-US" sz="1100" dirty="0"/>
          </a:p>
        </p:txBody>
      </p:sp>
      <p:sp>
        <p:nvSpPr>
          <p:cNvPr id="45" name="Object stream block 1 label"/>
          <p:cNvSpPr txBox="1"/>
          <p:nvPr/>
        </p:nvSpPr>
        <p:spPr>
          <a:xfrm>
            <a:off x="3886200" y="4251960"/>
            <a:ext cx="1371600" cy="228600"/>
          </a:xfrm>
          <a:prstGeom prst="rect">
            <a:avLst/>
          </a:prstGeom>
          <a:noFill/>
          <a:ln/>
        </p:spPr>
        <p:txBody>
          <a:bodyPr wrap="square" lIns="0" tIns="0" rIns="0" bIns="0" rtlCol="0" anchor="ctr"/>
          <a:lstStyle/>
          <a:p>
            <a:pPr algn="ctr" indent="0" marL="0">
              <a:buNone/>
            </a:pPr>
            <a:r>
              <a:rPr lang="en-US" sz="1050" dirty="0">
                <a:solidFill>
                  <a:srgbClr val="1B2430"/>
                </a:solidFill>
              </a:rPr>
              <a:t>COCO objects [13, 16]</a:t>
            </a:r>
            <a:endParaRPr lang="en-US" sz="1050" dirty="0"/>
          </a:p>
        </p:txBody>
      </p:sp>
      <p:sp>
        <p:nvSpPr>
          <p:cNvPr id="46" name="Object stream arrow 2"/>
          <p:cNvSpPr/>
          <p:nvPr/>
        </p:nvSpPr>
        <p:spPr>
          <a:xfrm>
            <a:off x="5166360" y="3977640"/>
            <a:ext cx="274320" cy="0"/>
          </a:xfrm>
          <a:prstGeom prst="line">
            <a:avLst/>
          </a:prstGeom>
          <a:noFill/>
          <a:ln w="22225">
            <a:solidFill>
              <a:srgbClr val="5B6777"/>
            </a:solidFill>
            <a:prstDash val="solid"/>
            <a:tailEnd type="triangle"/>
          </a:ln>
        </p:spPr>
      </p:sp>
      <p:sp>
        <p:nvSpPr>
          <p:cNvPr id="47" name="Object stream block 2"/>
          <p:cNvSpPr txBox="1"/>
          <p:nvPr/>
        </p:nvSpPr>
        <p:spPr>
          <a:xfrm>
            <a:off x="5440680" y="3703320"/>
            <a:ext cx="1188720" cy="548640"/>
          </a:xfrm>
          <a:prstGeom prst="cube">
            <a:avLst/>
          </a:prstGeom>
          <a:solidFill>
            <a:srgbClr val="AFCBEB"/>
          </a:solidFill>
          <a:ln w="9525">
            <a:solidFill>
              <a:srgbClr val="8A96A3"/>
            </a:solidFill>
          </a:ln>
        </p:spPr>
        <p:txBody>
          <a:bodyPr wrap="square" lIns="0" tIns="0" rIns="0" bIns="0" rtlCol="0" anchor="ctr"/>
          <a:lstStyle/>
          <a:p>
            <a:pPr algn="ctr" indent="0" marL="0">
              <a:buNone/>
            </a:pPr>
            <a:r>
              <a:rPr lang="en-US" sz="1100" b="1" dirty="0">
                <a:solidFill>
                  <a:srgbClr val="1B2430"/>
                </a:solidFill>
              </a:rPr>
              <a:t>Announce</a:t>
            </a:r>
            <a:endParaRPr lang="en-US" sz="1100" dirty="0"/>
          </a:p>
        </p:txBody>
      </p:sp>
      <p:sp>
        <p:nvSpPr>
          <p:cNvPr id="48" name="Object stream block 2 label"/>
          <p:cNvSpPr txBox="1"/>
          <p:nvPr/>
        </p:nvSpPr>
        <p:spPr>
          <a:xfrm>
            <a:off x="5349240" y="4251960"/>
            <a:ext cx="1371600" cy="228600"/>
          </a:xfrm>
          <a:prstGeom prst="rect">
            <a:avLst/>
          </a:prstGeom>
          <a:noFill/>
          <a:ln/>
        </p:spPr>
        <p:txBody>
          <a:bodyPr wrap="square" lIns="0" tIns="0" rIns="0" bIns="0" rtlCol="0" anchor="ctr"/>
          <a:lstStyle/>
          <a:p>
            <a:pPr algn="ctr" indent="0" marL="0">
              <a:buNone/>
            </a:pPr>
            <a:r>
              <a:rPr lang="en-US" sz="1050" dirty="0">
                <a:solidFill>
                  <a:srgbClr val="1B2430"/>
                </a:solidFill>
              </a:rPr>
              <a:t>names new objects</a:t>
            </a:r>
            <a:endParaRPr lang="en-US" sz="1050" dirty="0"/>
          </a:p>
        </p:txBody>
      </p:sp>
      <p:sp>
        <p:nvSpPr>
          <p:cNvPr id="49" name="Object stream out"/>
          <p:cNvSpPr/>
          <p:nvPr/>
        </p:nvSpPr>
        <p:spPr>
          <a:xfrm>
            <a:off x="6629400" y="3977640"/>
            <a:ext cx="1783080" cy="0"/>
          </a:xfrm>
          <a:prstGeom prst="line">
            <a:avLst/>
          </a:prstGeom>
          <a:noFill/>
          <a:ln w="22225">
            <a:solidFill>
              <a:srgbClr val="5B6777"/>
            </a:solidFill>
            <a:prstDash val="solid"/>
          </a:ln>
        </p:spPr>
      </p:sp>
      <p:sp>
        <p:nvSpPr>
          <p:cNvPr id="50" name="Emotion stream"/>
          <p:cNvSpPr txBox="1"/>
          <p:nvPr/>
        </p:nvSpPr>
        <p:spPr>
          <a:xfrm>
            <a:off x="2926080" y="4480560"/>
            <a:ext cx="2743200" cy="228600"/>
          </a:xfrm>
          <a:prstGeom prst="rect">
            <a:avLst/>
          </a:prstGeom>
          <a:noFill/>
          <a:ln/>
        </p:spPr>
        <p:txBody>
          <a:bodyPr wrap="square" lIns="0" tIns="0" rIns="0" bIns="0" rtlCol="0" anchor="ctr"/>
          <a:lstStyle/>
          <a:p>
            <a:pPr indent="0" marL="0">
              <a:buNone/>
            </a:pPr>
            <a:r>
              <a:rPr lang="en-US" sz="1200" b="1" dirty="0">
                <a:solidFill>
                  <a:srgbClr val="17324D"/>
                </a:solidFill>
                <a:latin typeface="Arial" pitchFamily="34" charset="0"/>
                <a:ea typeface="Arial" pitchFamily="34" charset="-122"/>
                <a:cs typeface="Arial" pitchFamily="34" charset="-120"/>
              </a:rPr>
              <a:t>Emotion stream</a:t>
            </a:r>
            <a:endParaRPr lang="en-US" sz="1200" dirty="0"/>
          </a:p>
        </p:txBody>
      </p:sp>
      <p:sp>
        <p:nvSpPr>
          <p:cNvPr id="51" name="Emotion stream in"/>
          <p:cNvSpPr/>
          <p:nvPr/>
        </p:nvSpPr>
        <p:spPr>
          <a:xfrm>
            <a:off x="2788920" y="5029200"/>
            <a:ext cx="137160" cy="0"/>
          </a:xfrm>
          <a:prstGeom prst="line">
            <a:avLst/>
          </a:prstGeom>
          <a:noFill/>
          <a:ln w="22225">
            <a:solidFill>
              <a:srgbClr val="5B6777"/>
            </a:solidFill>
            <a:prstDash val="solid"/>
            <a:tailEnd type="triangle"/>
          </a:ln>
        </p:spPr>
      </p:sp>
      <p:sp>
        <p:nvSpPr>
          <p:cNvPr id="52" name="Emotion stream resize"/>
          <p:cNvSpPr txBox="1"/>
          <p:nvPr/>
        </p:nvSpPr>
        <p:spPr>
          <a:xfrm>
            <a:off x="2926080" y="4800600"/>
            <a:ext cx="777240" cy="457200"/>
          </a:xfrm>
          <a:prstGeom prst="rect">
            <a:avLst/>
          </a:prstGeom>
          <a:solidFill>
            <a:srgbClr val="FFFFFF"/>
          </a:solidFill>
          <a:ln w="12700">
            <a:solidFill>
              <a:srgbClr val="8A96A3"/>
            </a:solidFill>
          </a:ln>
        </p:spPr>
        <p:txBody>
          <a:bodyPr wrap="square" lIns="0" tIns="0" rIns="0" bIns="0" rtlCol="0" anchor="ctr"/>
          <a:lstStyle/>
          <a:p>
            <a:pPr algn="ctr" indent="0" marL="0">
              <a:buNone/>
            </a:pPr>
            <a:r>
              <a:rPr lang="en-US" sz="1100" b="1" dirty="0">
                <a:solidFill>
                  <a:srgbClr val="1B2430"/>
                </a:solidFill>
              </a:rPr>
              <a:t>Face</a:t>
            </a:r>
            <a:endParaRPr lang="en-US" sz="1100" dirty="0"/>
          </a:p>
        </p:txBody>
      </p:sp>
      <p:sp>
        <p:nvSpPr>
          <p:cNvPr id="53" name="Emotion stream resize size"/>
          <p:cNvSpPr txBox="1"/>
          <p:nvPr/>
        </p:nvSpPr>
        <p:spPr>
          <a:xfrm>
            <a:off x="2788920" y="5285232"/>
            <a:ext cx="1051560" cy="228600"/>
          </a:xfrm>
          <a:prstGeom prst="rect">
            <a:avLst/>
          </a:prstGeom>
          <a:noFill/>
          <a:ln/>
        </p:spPr>
        <p:txBody>
          <a:bodyPr wrap="square" lIns="0" tIns="0" rIns="0" bIns="0" rtlCol="0" anchor="ctr"/>
          <a:lstStyle/>
          <a:p>
            <a:pPr algn="ctr" indent="0" marL="0">
              <a:buNone/>
            </a:pPr>
            <a:r>
              <a:rPr lang="en-US" sz="1050" dirty="0">
                <a:solidFill>
                  <a:srgbClr val="1B2430"/>
                </a:solidFill>
              </a:rPr>
              <a:t>[YuNet detector]</a:t>
            </a:r>
            <a:endParaRPr lang="en-US" sz="1050" dirty="0"/>
          </a:p>
        </p:txBody>
      </p:sp>
      <p:sp>
        <p:nvSpPr>
          <p:cNvPr id="54" name="Emotion stream arrow 1"/>
          <p:cNvSpPr/>
          <p:nvPr/>
        </p:nvSpPr>
        <p:spPr>
          <a:xfrm>
            <a:off x="3703320" y="5029200"/>
            <a:ext cx="274320" cy="0"/>
          </a:xfrm>
          <a:prstGeom prst="line">
            <a:avLst/>
          </a:prstGeom>
          <a:noFill/>
          <a:ln w="22225">
            <a:solidFill>
              <a:srgbClr val="5B6777"/>
            </a:solidFill>
            <a:prstDash val="solid"/>
            <a:tailEnd type="triangle"/>
          </a:ln>
        </p:spPr>
      </p:sp>
      <p:sp>
        <p:nvSpPr>
          <p:cNvPr id="55" name="Emotion stream block 1"/>
          <p:cNvSpPr txBox="1"/>
          <p:nvPr/>
        </p:nvSpPr>
        <p:spPr>
          <a:xfrm>
            <a:off x="3977640" y="4754880"/>
            <a:ext cx="1188720" cy="548640"/>
          </a:xfrm>
          <a:prstGeom prst="cube">
            <a:avLst/>
          </a:prstGeom>
          <a:solidFill>
            <a:srgbClr val="BFE0B6"/>
          </a:solidFill>
          <a:ln w="9525">
            <a:solidFill>
              <a:srgbClr val="8A96A3"/>
            </a:solidFill>
          </a:ln>
        </p:spPr>
        <p:txBody>
          <a:bodyPr wrap="square" lIns="0" tIns="0" rIns="0" bIns="0" rtlCol="0" anchor="ctr"/>
          <a:lstStyle/>
          <a:p>
            <a:pPr algn="ctr" indent="0" marL="0">
              <a:buNone/>
            </a:pPr>
            <a:r>
              <a:rPr lang="en-US" sz="950" b="1" dirty="0">
                <a:solidFill>
                  <a:srgbClr val="1B2430"/>
                </a:solidFill>
              </a:rPr>
              <a:t>EfficientNet-V2-S</a:t>
            </a:r>
            <a:endParaRPr lang="en-US" sz="950" dirty="0"/>
          </a:p>
        </p:txBody>
      </p:sp>
      <p:sp>
        <p:nvSpPr>
          <p:cNvPr id="56" name="Emotion stream block 1 label"/>
          <p:cNvSpPr txBox="1"/>
          <p:nvPr/>
        </p:nvSpPr>
        <p:spPr>
          <a:xfrm>
            <a:off x="3886200" y="5303520"/>
            <a:ext cx="1371600" cy="228600"/>
          </a:xfrm>
          <a:prstGeom prst="rect">
            <a:avLst/>
          </a:prstGeom>
          <a:noFill/>
          <a:ln/>
        </p:spPr>
        <p:txBody>
          <a:bodyPr wrap="square" lIns="0" tIns="0" rIns="0" bIns="0" rtlCol="0" anchor="ctr"/>
          <a:lstStyle/>
          <a:p>
            <a:pPr algn="ctr" indent="0" marL="0">
              <a:buNone/>
            </a:pPr>
            <a:r>
              <a:rPr lang="en-US" sz="1050" dirty="0">
                <a:solidFill>
                  <a:srgbClr val="1B2430"/>
                </a:solidFill>
              </a:rPr>
              <a:t>RAF-DB [18]</a:t>
            </a:r>
            <a:endParaRPr lang="en-US" sz="1050" dirty="0"/>
          </a:p>
        </p:txBody>
      </p:sp>
      <p:sp>
        <p:nvSpPr>
          <p:cNvPr id="57" name="Emotion stream arrow 2"/>
          <p:cNvSpPr/>
          <p:nvPr/>
        </p:nvSpPr>
        <p:spPr>
          <a:xfrm>
            <a:off x="5166360" y="5029200"/>
            <a:ext cx="274320" cy="0"/>
          </a:xfrm>
          <a:prstGeom prst="line">
            <a:avLst/>
          </a:prstGeom>
          <a:noFill/>
          <a:ln w="22225">
            <a:solidFill>
              <a:srgbClr val="5B6777"/>
            </a:solidFill>
            <a:prstDash val="solid"/>
            <a:tailEnd type="triangle"/>
          </a:ln>
        </p:spPr>
      </p:sp>
      <p:sp>
        <p:nvSpPr>
          <p:cNvPr id="58" name="Emotion stream block 2"/>
          <p:cNvSpPr txBox="1"/>
          <p:nvPr/>
        </p:nvSpPr>
        <p:spPr>
          <a:xfrm>
            <a:off x="5440680" y="4754880"/>
            <a:ext cx="1188720" cy="548640"/>
          </a:xfrm>
          <a:prstGeom prst="cube">
            <a:avLst/>
          </a:prstGeom>
          <a:solidFill>
            <a:srgbClr val="BFE0B6"/>
          </a:solidFill>
          <a:ln w="9525">
            <a:solidFill>
              <a:srgbClr val="8A96A3"/>
            </a:solidFill>
          </a:ln>
        </p:spPr>
        <p:txBody>
          <a:bodyPr wrap="square" lIns="0" tIns="0" rIns="0" bIns="0" rtlCol="0" anchor="ctr"/>
          <a:lstStyle/>
          <a:p>
            <a:pPr algn="ctr" indent="0" marL="0">
              <a:buNone/>
            </a:pPr>
            <a:r>
              <a:rPr lang="en-US" sz="1100" b="1" dirty="0">
                <a:solidFill>
                  <a:srgbClr val="1B2430"/>
                </a:solidFill>
              </a:rPr>
              <a:t>Expression</a:t>
            </a:r>
            <a:endParaRPr lang="en-US" sz="1100" dirty="0"/>
          </a:p>
        </p:txBody>
      </p:sp>
      <p:sp>
        <p:nvSpPr>
          <p:cNvPr id="59" name="Emotion stream block 2 label"/>
          <p:cNvSpPr txBox="1"/>
          <p:nvPr/>
        </p:nvSpPr>
        <p:spPr>
          <a:xfrm>
            <a:off x="5349240" y="5303520"/>
            <a:ext cx="1371600" cy="228600"/>
          </a:xfrm>
          <a:prstGeom prst="rect">
            <a:avLst/>
          </a:prstGeom>
          <a:noFill/>
          <a:ln/>
        </p:spPr>
        <p:txBody>
          <a:bodyPr wrap="square" lIns="0" tIns="0" rIns="0" bIns="0" rtlCol="0" anchor="ctr"/>
          <a:lstStyle/>
          <a:p>
            <a:pPr algn="ctr" indent="0" marL="0">
              <a:buNone/>
            </a:pPr>
            <a:r>
              <a:rPr lang="en-US" sz="1050" dirty="0">
                <a:solidFill>
                  <a:srgbClr val="1B2430"/>
                </a:solidFill>
              </a:rPr>
              <a:t>facial expression</a:t>
            </a:r>
            <a:endParaRPr lang="en-US" sz="1050" dirty="0"/>
          </a:p>
        </p:txBody>
      </p:sp>
      <p:sp>
        <p:nvSpPr>
          <p:cNvPr id="60" name="Emotion stream out"/>
          <p:cNvSpPr/>
          <p:nvPr/>
        </p:nvSpPr>
        <p:spPr>
          <a:xfrm>
            <a:off x="6629400" y="5029200"/>
            <a:ext cx="1783080" cy="0"/>
          </a:xfrm>
          <a:prstGeom prst="line">
            <a:avLst/>
          </a:prstGeom>
          <a:noFill/>
          <a:ln w="22225">
            <a:solidFill>
              <a:srgbClr val="5B6777"/>
            </a:solidFill>
            <a:prstDash val="solid"/>
          </a:ln>
        </p:spPr>
      </p:sp>
      <p:sp>
        <p:nvSpPr>
          <p:cNvPr id="61" name="Collector"/>
          <p:cNvSpPr/>
          <p:nvPr/>
        </p:nvSpPr>
        <p:spPr>
          <a:xfrm>
            <a:off x="8412480" y="1874520"/>
            <a:ext cx="9144" cy="3154680"/>
          </a:xfrm>
          <a:prstGeom prst="line">
            <a:avLst/>
          </a:prstGeom>
          <a:noFill/>
          <a:ln w="22225">
            <a:solidFill>
              <a:srgbClr val="5B6777"/>
            </a:solidFill>
            <a:prstDash val="solid"/>
          </a:ln>
        </p:spPr>
      </p:sp>
      <p:sp>
        <p:nvSpPr>
          <p:cNvPr id="62" name="Collector dot"/>
          <p:cNvSpPr/>
          <p:nvPr/>
        </p:nvSpPr>
        <p:spPr>
          <a:xfrm>
            <a:off x="8339328" y="3383280"/>
            <a:ext cx="146304" cy="146304"/>
          </a:xfrm>
          <a:prstGeom prst="ellipse">
            <a:avLst/>
          </a:prstGeom>
          <a:solidFill>
            <a:srgbClr val="8A96A3"/>
          </a:solidFill>
          <a:ln w="12700">
            <a:solidFill>
              <a:srgbClr val="8A96A3"/>
            </a:solidFill>
            <a:prstDash val="solid"/>
          </a:ln>
        </p:spPr>
      </p:sp>
      <p:sp>
        <p:nvSpPr>
          <p:cNvPr id="63" name="To answer"/>
          <p:cNvSpPr/>
          <p:nvPr/>
        </p:nvSpPr>
        <p:spPr>
          <a:xfrm>
            <a:off x="8485632" y="3456432"/>
            <a:ext cx="155448" cy="0"/>
          </a:xfrm>
          <a:prstGeom prst="line">
            <a:avLst/>
          </a:prstGeom>
          <a:noFill/>
          <a:ln w="22225">
            <a:solidFill>
              <a:srgbClr val="5B6777"/>
            </a:solidFill>
            <a:prstDash val="solid"/>
            <a:tailEnd type="triangle"/>
          </a:ln>
        </p:spPr>
      </p:sp>
      <p:sp>
        <p:nvSpPr>
          <p:cNvPr id="64" name="Slab 1"/>
          <p:cNvSpPr txBox="1"/>
          <p:nvPr/>
        </p:nvSpPr>
        <p:spPr>
          <a:xfrm>
            <a:off x="8641080" y="1600200"/>
            <a:ext cx="502920" cy="3749040"/>
          </a:xfrm>
          <a:prstGeom prst="cube">
            <a:avLst/>
          </a:prstGeom>
          <a:solidFill>
            <a:srgbClr val="E3E7EC"/>
          </a:solidFill>
          <a:ln w="12700">
            <a:solidFill>
              <a:srgbClr val="8A96A3"/>
            </a:solidFill>
          </a:ln>
        </p:spPr>
        <p:txBody>
          <a:bodyPr wrap="square" lIns="0" tIns="0" rIns="0" bIns="0" rtlCol="0" anchor="ctr" vert="vert270"/>
          <a:lstStyle/>
          <a:p>
            <a:pPr algn="ctr" indent="0" marL="0">
              <a:buNone/>
            </a:pPr>
            <a:r>
              <a:rPr lang="en-US" sz="1200" b="1" dirty="0">
                <a:solidFill>
                  <a:srgbClr val="1B2430"/>
                </a:solidFill>
              </a:rPr>
              <a:t>Answer sentence: Bangla or English</a:t>
            </a:r>
            <a:endParaRPr lang="en-US" sz="1200" dirty="0"/>
          </a:p>
        </p:txBody>
      </p:sp>
      <p:sp>
        <p:nvSpPr>
          <p:cNvPr id="65" name="Answer to speech"/>
          <p:cNvSpPr/>
          <p:nvPr/>
        </p:nvSpPr>
        <p:spPr>
          <a:xfrm>
            <a:off x="9144000" y="3456432"/>
            <a:ext cx="182880" cy="0"/>
          </a:xfrm>
          <a:prstGeom prst="line">
            <a:avLst/>
          </a:prstGeom>
          <a:noFill/>
          <a:ln w="22225">
            <a:solidFill>
              <a:srgbClr val="5B6777"/>
            </a:solidFill>
            <a:prstDash val="solid"/>
            <a:tailEnd type="triangle"/>
          </a:ln>
        </p:spPr>
      </p:sp>
      <p:sp>
        <p:nvSpPr>
          <p:cNvPr id="66" name="Slab 2"/>
          <p:cNvSpPr txBox="1"/>
          <p:nvPr/>
        </p:nvSpPr>
        <p:spPr>
          <a:xfrm>
            <a:off x="9326880" y="1600200"/>
            <a:ext cx="502920" cy="3749040"/>
          </a:xfrm>
          <a:prstGeom prst="cube">
            <a:avLst/>
          </a:prstGeom>
          <a:solidFill>
            <a:srgbClr val="F5E6A8"/>
          </a:solidFill>
          <a:ln w="12700">
            <a:solidFill>
              <a:srgbClr val="8A96A3"/>
            </a:solidFill>
          </a:ln>
        </p:spPr>
        <p:txBody>
          <a:bodyPr wrap="square" lIns="0" tIns="0" rIns="0" bIns="0" rtlCol="0" anchor="ctr" vert="vert270"/>
          <a:lstStyle/>
          <a:p>
            <a:pPr algn="ctr" indent="0" marL="0">
              <a:buNone/>
            </a:pPr>
            <a:r>
              <a:rPr lang="en-US" sz="1200" b="1" dirty="0">
                <a:solidFill>
                  <a:srgbClr val="1B2430"/>
                </a:solidFill>
              </a:rPr>
              <a:t>Speech: Piper [17], eSpeak NG [19]</a:t>
            </a:r>
            <a:endParaRPr lang="en-US" sz="1200" dirty="0"/>
          </a:p>
        </p:txBody>
      </p:sp>
      <p:sp>
        <p:nvSpPr>
          <p:cNvPr id="67" name="Speech to output"/>
          <p:cNvSpPr/>
          <p:nvPr/>
        </p:nvSpPr>
        <p:spPr>
          <a:xfrm>
            <a:off x="9829800" y="3456432"/>
            <a:ext cx="182880" cy="0"/>
          </a:xfrm>
          <a:prstGeom prst="line">
            <a:avLst/>
          </a:prstGeom>
          <a:noFill/>
          <a:ln w="22225">
            <a:solidFill>
              <a:srgbClr val="5B6777"/>
            </a:solidFill>
            <a:prstDash val="solid"/>
            <a:tailEnd type="triangle"/>
          </a:ln>
        </p:spPr>
      </p:sp>
      <p:sp>
        <p:nvSpPr>
          <p:cNvPr id="68" name="Output heading"/>
          <p:cNvSpPr txBox="1"/>
          <p:nvPr/>
        </p:nvSpPr>
        <p:spPr>
          <a:xfrm>
            <a:off x="10012680" y="1234440"/>
            <a:ext cx="1783080" cy="320040"/>
          </a:xfrm>
          <a:prstGeom prst="rect">
            <a:avLst/>
          </a:prstGeom>
          <a:noFill/>
          <a:ln/>
        </p:spPr>
        <p:txBody>
          <a:bodyPr wrap="square" lIns="0" tIns="0" rIns="0" bIns="0" rtlCol="0" anchor="ctr"/>
          <a:lstStyle/>
          <a:p>
            <a:pPr algn="ctr" indent="0" marL="0">
              <a:buNone/>
            </a:pPr>
            <a:r>
              <a:rPr lang="en-US" sz="1500" b="1" dirty="0">
                <a:solidFill>
                  <a:srgbClr val="1B2430"/>
                </a:solidFill>
                <a:latin typeface="Arial" pitchFamily="34" charset="0"/>
                <a:ea typeface="Arial" pitchFamily="34" charset="-122"/>
                <a:cs typeface="Arial" pitchFamily="34" charset="-120"/>
              </a:rPr>
              <a:t>Spoken Output</a:t>
            </a:r>
            <a:endParaRPr lang="en-US" sz="1500" dirty="0"/>
          </a:p>
        </p:txBody>
      </p:sp>
      <p:sp>
        <p:nvSpPr>
          <p:cNvPr id="69" name="Output panel"/>
          <p:cNvSpPr/>
          <p:nvPr/>
        </p:nvSpPr>
        <p:spPr>
          <a:xfrm>
            <a:off x="10012680" y="1600200"/>
            <a:ext cx="1783080" cy="3749040"/>
          </a:xfrm>
          <a:prstGeom prst="rect">
            <a:avLst/>
          </a:prstGeom>
          <a:solidFill>
            <a:srgbClr val="FFFFFF"/>
          </a:solidFill>
          <a:ln w="12700">
            <a:solidFill>
              <a:srgbClr val="8A96A3"/>
            </a:solidFill>
            <a:prstDash val="solid"/>
          </a:ln>
        </p:spPr>
      </p:sp>
      <p:sp>
        <p:nvSpPr>
          <p:cNvPr id="70" name="Output 1"/>
          <p:cNvSpPr txBox="1"/>
          <p:nvPr/>
        </p:nvSpPr>
        <p:spPr>
          <a:xfrm>
            <a:off x="10104120" y="1691640"/>
            <a:ext cx="1600200" cy="512064"/>
          </a:xfrm>
          <a:prstGeom prst="rect">
            <a:avLst/>
          </a:prstGeom>
          <a:solidFill>
            <a:srgbClr val="EAF1F7"/>
          </a:solidFill>
          <a:ln w="9525">
            <a:solidFill>
              <a:srgbClr val="BFD4E6"/>
            </a:solidFill>
          </a:ln>
        </p:spPr>
        <p:txBody>
          <a:bodyPr wrap="square" lIns="381" tIns="381" rIns="381" bIns="381" rtlCol="0" anchor="ctr"/>
          <a:lstStyle/>
          <a:p>
            <a:pPr algn="ctr" indent="0" marL="0">
              <a:buNone/>
            </a:pPr>
            <a:r>
              <a:rPr lang="en-US" sz="1300" b="1" dirty="0">
                <a:solidFill>
                  <a:srgbClr val="1F5F8B"/>
                </a:solidFill>
                <a:latin typeface="Nirmala UI" pitchFamily="34" charset="0"/>
                <a:ea typeface="Nirmala UI" pitchFamily="34" charset="-122"/>
                <a:cs typeface="Nirmala UI" pitchFamily="34" charset="-120"/>
              </a:rPr>
              <a:t>পাঁচশত টাকার নোট</a:t>
            </a:r>
            <a:endParaRPr lang="en-US" sz="1100" dirty="0"/>
          </a:p>
        </p:txBody>
      </p:sp>
      <p:sp>
        <p:nvSpPr>
          <p:cNvPr id="71" name="Output 2"/>
          <p:cNvSpPr txBox="1"/>
          <p:nvPr/>
        </p:nvSpPr>
        <p:spPr>
          <a:xfrm>
            <a:off x="10104120" y="2295144"/>
            <a:ext cx="1600200" cy="512064"/>
          </a:xfrm>
          <a:prstGeom prst="rect">
            <a:avLst/>
          </a:prstGeom>
          <a:solidFill>
            <a:srgbClr val="EAF1F7"/>
          </a:solidFill>
          <a:ln w="9525">
            <a:solidFill>
              <a:srgbClr val="BFD4E6"/>
            </a:solidFill>
          </a:ln>
        </p:spPr>
        <p:txBody>
          <a:bodyPr wrap="square" lIns="381" tIns="381" rIns="381" bIns="381" rtlCol="0" anchor="ctr"/>
          <a:lstStyle/>
          <a:p>
            <a:pPr algn="ctr" indent="0" marL="0">
              <a:buNone/>
            </a:pPr>
            <a:r>
              <a:rPr lang="en-US" sz="1100" dirty="0">
                <a:solidFill>
                  <a:srgbClr val="1B2430"/>
                </a:solidFill>
              </a:rPr>
              <a:t>"Likely genuine" or "check by hand"</a:t>
            </a:r>
            <a:endParaRPr lang="en-US" sz="1100" dirty="0"/>
          </a:p>
        </p:txBody>
      </p:sp>
      <p:sp>
        <p:nvSpPr>
          <p:cNvPr id="72" name="Output 3"/>
          <p:cNvSpPr txBox="1"/>
          <p:nvPr/>
        </p:nvSpPr>
        <p:spPr>
          <a:xfrm>
            <a:off x="10104120" y="2898648"/>
            <a:ext cx="1600200" cy="512064"/>
          </a:xfrm>
          <a:prstGeom prst="rect">
            <a:avLst/>
          </a:prstGeom>
          <a:solidFill>
            <a:srgbClr val="EAF1F7"/>
          </a:solidFill>
          <a:ln w="9525">
            <a:solidFill>
              <a:srgbClr val="BFD4E6"/>
            </a:solidFill>
          </a:ln>
        </p:spPr>
        <p:txBody>
          <a:bodyPr wrap="square" lIns="381" tIns="381" rIns="381" bIns="381" rtlCol="0" anchor="ctr"/>
          <a:lstStyle/>
          <a:p>
            <a:pPr algn="ctr" indent="0" marL="0">
              <a:buNone/>
            </a:pPr>
            <a:r>
              <a:rPr lang="en-US" sz="1100" dirty="0">
                <a:solidFill>
                  <a:srgbClr val="1B2430"/>
                </a:solidFill>
              </a:rPr>
              <a:t>Bangla or English text read aloud</a:t>
            </a:r>
            <a:endParaRPr lang="en-US" sz="1100" dirty="0"/>
          </a:p>
        </p:txBody>
      </p:sp>
      <p:sp>
        <p:nvSpPr>
          <p:cNvPr id="73" name="Output 4"/>
          <p:cNvSpPr txBox="1"/>
          <p:nvPr/>
        </p:nvSpPr>
        <p:spPr>
          <a:xfrm>
            <a:off x="10104120" y="3502152"/>
            <a:ext cx="1600200" cy="512064"/>
          </a:xfrm>
          <a:prstGeom prst="rect">
            <a:avLst/>
          </a:prstGeom>
          <a:solidFill>
            <a:srgbClr val="EAF1F7"/>
          </a:solidFill>
          <a:ln w="9525">
            <a:solidFill>
              <a:srgbClr val="BFD4E6"/>
            </a:solidFill>
          </a:ln>
        </p:spPr>
        <p:txBody>
          <a:bodyPr wrap="square" lIns="381" tIns="381" rIns="381" bIns="381" rtlCol="0" anchor="ctr"/>
          <a:lstStyle/>
          <a:p>
            <a:pPr algn="ctr" indent="0" marL="0">
              <a:buNone/>
            </a:pPr>
            <a:r>
              <a:rPr lang="en-US" sz="1100" dirty="0">
                <a:solidFill>
                  <a:srgbClr val="1B2430"/>
                </a:solidFill>
              </a:rPr>
              <a:t>Objects ahead named</a:t>
            </a:r>
            <a:endParaRPr lang="en-US" sz="1100" dirty="0"/>
          </a:p>
        </p:txBody>
      </p:sp>
      <p:sp>
        <p:nvSpPr>
          <p:cNvPr id="74" name="Output 5"/>
          <p:cNvSpPr txBox="1"/>
          <p:nvPr/>
        </p:nvSpPr>
        <p:spPr>
          <a:xfrm>
            <a:off x="10104120" y="4105656"/>
            <a:ext cx="1600200" cy="512064"/>
          </a:xfrm>
          <a:prstGeom prst="rect">
            <a:avLst/>
          </a:prstGeom>
          <a:solidFill>
            <a:srgbClr val="EAF1F7"/>
          </a:solidFill>
          <a:ln w="9525">
            <a:solidFill>
              <a:srgbClr val="BFD4E6"/>
            </a:solidFill>
          </a:ln>
        </p:spPr>
        <p:txBody>
          <a:bodyPr wrap="square" lIns="381" tIns="381" rIns="381" bIns="381" rtlCol="0" anchor="ctr"/>
          <a:lstStyle/>
          <a:p>
            <a:pPr algn="ctr" indent="0" marL="0">
              <a:buNone/>
            </a:pPr>
            <a:r>
              <a:rPr lang="en-US" sz="1100" dirty="0">
                <a:solidFill>
                  <a:srgbClr val="1B2430"/>
                </a:solidFill>
              </a:rPr>
              <a:t>Facial expression</a:t>
            </a:r>
            <a:endParaRPr lang="en-US" sz="1100" dirty="0"/>
          </a:p>
        </p:txBody>
      </p:sp>
      <p:sp>
        <p:nvSpPr>
          <p:cNvPr id="75" name="Output 6"/>
          <p:cNvSpPr txBox="1"/>
          <p:nvPr/>
        </p:nvSpPr>
        <p:spPr>
          <a:xfrm>
            <a:off x="10104120" y="4709160"/>
            <a:ext cx="1600200" cy="512064"/>
          </a:xfrm>
          <a:prstGeom prst="rect">
            <a:avLst/>
          </a:prstGeom>
          <a:solidFill>
            <a:srgbClr val="EAF1F7"/>
          </a:solidFill>
          <a:ln w="9525">
            <a:solidFill>
              <a:srgbClr val="BFD4E6"/>
            </a:solidFill>
          </a:ln>
        </p:spPr>
        <p:txBody>
          <a:bodyPr wrap="square" lIns="381" tIns="381" rIns="381" bIns="381" rtlCol="0" anchor="ctr"/>
          <a:lstStyle/>
          <a:p>
            <a:pPr algn="ctr" indent="0" marL="0">
              <a:buNone/>
            </a:pPr>
            <a:r>
              <a:rPr lang="en-US" sz="1100" i="1" dirty="0">
                <a:solidFill>
                  <a:srgbClr val="1B2430"/>
                </a:solidFill>
              </a:rPr>
              <a:t>Vibration for a note</a:t>
            </a:r>
            <a:endParaRPr lang="en-US" sz="1100" dirty="0"/>
          </a:p>
        </p:txBody>
      </p:sp>
      <p:sp>
        <p:nvSpPr>
          <p:cNvPr id="76" name="Architecture note"/>
          <p:cNvSpPr txBox="1"/>
          <p:nvPr/>
        </p:nvSpPr>
        <p:spPr>
          <a:xfrm>
            <a:off x="2926080" y="5669280"/>
            <a:ext cx="6949440" cy="320040"/>
          </a:xfrm>
          <a:prstGeom prst="rect">
            <a:avLst/>
          </a:prstGeom>
          <a:noFill/>
          <a:ln/>
        </p:spPr>
        <p:txBody>
          <a:bodyPr wrap="square" lIns="0" tIns="0" rIns="0" bIns="0" rtlCol="0" anchor="ctr"/>
          <a:lstStyle/>
          <a:p>
            <a:pPr indent="0" marL="0">
              <a:buNone/>
            </a:pPr>
            <a:r>
              <a:rPr lang="en-US" sz="1200" i="1" dirty="0">
                <a:solidFill>
                  <a:srgbClr val="1F5F8B"/>
                </a:solidFill>
              </a:rPr>
              <a:t>All streams run on the Raspberry Pi 5 CPU, offline. The optional online scene-description mode is not shown.</a:t>
            </a:r>
            <a:endParaRPr lang="en-US" sz="1200" dirty="0"/>
          </a:p>
        </p:txBody>
      </p:sp>
      <p:sp>
        <p:nvSpPr>
          <p:cNvPr id="77"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[11] Vosk; [13] Ultralytics YOLOv8; [14] Baek et al. 2019; [15] EasyOCR; [16] COCO; [17] Piper; [18] RAF-DB; [19] eSpeak NG.</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Hardware Design</a:t>
            </a:r>
            <a:endParaRPr lang="en-US" sz="3000" dirty="0"/>
          </a:p>
        </p:txBody>
      </p:sp>
      <p:pic>
        <p:nvPicPr>
          <p:cNvPr id="3" name="Raspberry Pi 5" descr="E:/Final SP/Thesis Report and paper/thesis report/My report/DIagram fig tab/hw_pi5.jpg">    </p:cNvPr>
          <p:cNvPicPr>
            <a:picLocks noChangeAspect="1"/>
          </p:cNvPicPr>
          <p:nvPr/>
        </p:nvPicPr>
        <p:blipFill>
          <a:blip r:embed="rId1"/>
          <a:stretch>
            <a:fillRect/>
          </a:stretch>
        </p:blipFill>
        <p:spPr>
          <a:xfrm>
            <a:off x="4434840" y="2514600"/>
            <a:ext cx="3291840" cy="2468880"/>
          </a:xfrm>
          <a:prstGeom prst="rect">
            <a:avLst/>
          </a:prstGeom>
        </p:spPr>
      </p:pic>
      <p:sp>
        <p:nvSpPr>
          <p:cNvPr id="4" name="Pi label"/>
          <p:cNvSpPr txBox="1"/>
          <p:nvPr/>
        </p:nvSpPr>
        <p:spPr>
          <a:xfrm>
            <a:off x="3977640" y="5010912"/>
            <a:ext cx="4206240" cy="274320"/>
          </a:xfrm>
          <a:prstGeom prst="rect">
            <a:avLst/>
          </a:prstGeom>
          <a:noFill/>
          <a:ln/>
        </p:spPr>
        <p:txBody>
          <a:bodyPr wrap="square" lIns="0" tIns="0" rIns="0" bIns="0" rtlCol="0" anchor="ctr"/>
          <a:lstStyle/>
          <a:p>
            <a:pPr algn="ctr" indent="0" marL="0">
              <a:buNone/>
            </a:pPr>
            <a:r>
              <a:rPr lang="en-US" sz="1300" b="1" dirty="0">
                <a:solidFill>
                  <a:srgbClr val="17324D"/>
                </a:solidFill>
              </a:rPr>
              <a:t>Raspberry Pi 5, 8 GB [12], in the rear enclosure</a:t>
            </a:r>
            <a:endParaRPr lang="en-US" sz="1300" dirty="0"/>
          </a:p>
        </p:txBody>
      </p:sp>
      <p:sp>
        <p:nvSpPr>
          <p:cNvPr id="5" name="Camera card"/>
          <p:cNvSpPr/>
          <p:nvPr/>
        </p:nvSpPr>
        <p:spPr>
          <a:xfrm>
            <a:off x="548640" y="1234440"/>
            <a:ext cx="1828800" cy="1417320"/>
          </a:xfrm>
          <a:prstGeom prst="roundRect">
            <a:avLst>
              <a:gd name="adj" fmla="val 3871"/>
            </a:avLst>
          </a:prstGeom>
          <a:solidFill>
            <a:srgbClr val="FFFFFF"/>
          </a:solidFill>
          <a:ln w="12700">
            <a:solidFill>
              <a:srgbClr val="BFD4E6"/>
            </a:solidFill>
            <a:prstDash val="solid"/>
          </a:ln>
        </p:spPr>
      </p:sp>
      <p:pic>
        <p:nvPicPr>
          <p:cNvPr id="6" name="Camera photo" descr="E:/Final SP/Thesis Report and paper/thesis report/My report/DIagram fig tab/hw_webcam.jpg">    </p:cNvPr>
          <p:cNvPicPr>
            <a:picLocks noChangeAspect="1"/>
          </p:cNvPicPr>
          <p:nvPr/>
        </p:nvPicPr>
        <p:blipFill>
          <a:blip r:embed="rId2"/>
          <a:srcRect l="0" r="0" t="0" b="0"/>
          <a:stretch/>
        </p:blipFill>
        <p:spPr>
          <a:xfrm>
            <a:off x="621792" y="1307592"/>
            <a:ext cx="1682496" cy="914400"/>
          </a:xfrm>
          <a:prstGeom prst="rect">
            <a:avLst/>
          </a:prstGeom>
        </p:spPr>
      </p:pic>
      <p:sp>
        <p:nvSpPr>
          <p:cNvPr id="7" name="Camera label"/>
          <p:cNvSpPr txBox="1"/>
          <p:nvPr/>
        </p:nvSpPr>
        <p:spPr>
          <a:xfrm>
            <a:off x="594360" y="2240280"/>
            <a:ext cx="1737360" cy="365760"/>
          </a:xfrm>
          <a:prstGeom prst="rect">
            <a:avLst/>
          </a:prstGeom>
          <a:noFill/>
          <a:ln/>
        </p:spPr>
        <p:txBody>
          <a:bodyPr wrap="square" lIns="0" tIns="0" rIns="0" bIns="0" rtlCol="0" anchor="ctr"/>
          <a:lstStyle/>
          <a:p>
            <a:pPr algn="ctr" indent="0" marL="0">
              <a:buNone/>
            </a:pPr>
            <a:r>
              <a:rPr lang="en-US" sz="1100" b="1" dirty="0">
                <a:solidFill>
                  <a:srgbClr val="17324D"/>
                </a:solidFill>
              </a:rPr>
              <a:t>USB webcam (our board)</a:t>
            </a:r>
            <a:endParaRPr lang="en-US" sz="1100" dirty="0"/>
          </a:p>
        </p:txBody>
      </p:sp>
      <p:sp>
        <p:nvSpPr>
          <p:cNvPr id="8" name="Webcam USB cable 1"/>
          <p:cNvSpPr/>
          <p:nvPr/>
        </p:nvSpPr>
        <p:spPr>
          <a:xfrm>
            <a:off x="2377440" y="1920240"/>
            <a:ext cx="1188720" cy="9144"/>
          </a:xfrm>
          <a:prstGeom prst="line">
            <a:avLst/>
          </a:prstGeom>
          <a:noFill/>
          <a:ln w="50800">
            <a:solidFill>
              <a:srgbClr val="5B6777"/>
            </a:solidFill>
            <a:prstDash val="solid"/>
          </a:ln>
        </p:spPr>
      </p:sp>
      <p:sp>
        <p:nvSpPr>
          <p:cNvPr id="9" name="Webcam USB cable 2"/>
          <p:cNvSpPr/>
          <p:nvPr/>
        </p:nvSpPr>
        <p:spPr>
          <a:xfrm>
            <a:off x="3566160" y="1920240"/>
            <a:ext cx="9144" cy="1371600"/>
          </a:xfrm>
          <a:prstGeom prst="line">
            <a:avLst/>
          </a:prstGeom>
          <a:noFill/>
          <a:ln w="50800">
            <a:solidFill>
              <a:srgbClr val="5B6777"/>
            </a:solidFill>
            <a:prstDash val="solid"/>
          </a:ln>
        </p:spPr>
      </p:sp>
      <p:sp>
        <p:nvSpPr>
          <p:cNvPr id="10" name="Webcam USB cable 3"/>
          <p:cNvSpPr/>
          <p:nvPr/>
        </p:nvSpPr>
        <p:spPr>
          <a:xfrm>
            <a:off x="3566160" y="3291840"/>
            <a:ext cx="868680" cy="9144"/>
          </a:xfrm>
          <a:prstGeom prst="line">
            <a:avLst/>
          </a:prstGeom>
          <a:noFill/>
          <a:ln w="50800">
            <a:solidFill>
              <a:srgbClr val="5B6777"/>
            </a:solidFill>
            <a:prstDash val="solid"/>
          </a:ln>
        </p:spPr>
      </p:sp>
      <p:sp>
        <p:nvSpPr>
          <p:cNvPr id="11" name="Wire label: USB cable"/>
          <p:cNvSpPr txBox="1"/>
          <p:nvPr/>
        </p:nvSpPr>
        <p:spPr>
          <a:xfrm>
            <a:off x="2468880" y="1691640"/>
            <a:ext cx="1097280" cy="201168"/>
          </a:xfrm>
          <a:prstGeom prst="rect">
            <a:avLst/>
          </a:prstGeom>
          <a:noFill/>
          <a:ln/>
        </p:spPr>
        <p:txBody>
          <a:bodyPr wrap="square" lIns="0" tIns="0" rIns="0" bIns="0" rtlCol="0" anchor="ctr"/>
          <a:lstStyle/>
          <a:p>
            <a:pPr algn="l" indent="0" marL="0">
              <a:buNone/>
            </a:pPr>
            <a:r>
              <a:rPr lang="en-US" sz="1000" dirty="0">
                <a:solidFill>
                  <a:srgbClr val="1B2430"/>
                </a:solidFill>
              </a:rPr>
              <a:t>USB cable</a:t>
            </a:r>
            <a:endParaRPr lang="en-US" sz="1000" dirty="0"/>
          </a:p>
        </p:txBody>
      </p:sp>
      <p:sp>
        <p:nvSpPr>
          <p:cNvPr id="12" name="Headphone card"/>
          <p:cNvSpPr/>
          <p:nvPr/>
        </p:nvSpPr>
        <p:spPr>
          <a:xfrm>
            <a:off x="548640" y="2834640"/>
            <a:ext cx="1828800" cy="1325880"/>
          </a:xfrm>
          <a:prstGeom prst="roundRect">
            <a:avLst>
              <a:gd name="adj" fmla="val 4138"/>
            </a:avLst>
          </a:prstGeom>
          <a:solidFill>
            <a:srgbClr val="FFFFFF"/>
          </a:solidFill>
          <a:ln w="12700">
            <a:solidFill>
              <a:srgbClr val="BFD4E6"/>
            </a:solidFill>
            <a:prstDash val="solid"/>
          </a:ln>
        </p:spPr>
      </p:sp>
      <p:pic>
        <p:nvPicPr>
          <p:cNvPr id="13" name="Headphone photo" descr="E:/Final SP/Thesis Report and paper/thesis report/My report/DIagram fig tab/v2_headphone.jpg">    </p:cNvPr>
          <p:cNvPicPr>
            <a:picLocks noChangeAspect="1"/>
          </p:cNvPicPr>
          <p:nvPr/>
        </p:nvPicPr>
        <p:blipFill>
          <a:blip r:embed="rId3"/>
          <a:srcRect l="0" r="0" t="0" b="0"/>
          <a:stretch/>
        </p:blipFill>
        <p:spPr>
          <a:xfrm>
            <a:off x="621792" y="2907792"/>
            <a:ext cx="1682496" cy="822960"/>
          </a:xfrm>
          <a:prstGeom prst="rect">
            <a:avLst/>
          </a:prstGeom>
        </p:spPr>
      </p:pic>
      <p:sp>
        <p:nvSpPr>
          <p:cNvPr id="14" name="Headphone label"/>
          <p:cNvSpPr txBox="1"/>
          <p:nvPr/>
        </p:nvSpPr>
        <p:spPr>
          <a:xfrm>
            <a:off x="594360" y="3749040"/>
            <a:ext cx="1737360" cy="365760"/>
          </a:xfrm>
          <a:prstGeom prst="rect">
            <a:avLst/>
          </a:prstGeom>
          <a:noFill/>
          <a:ln/>
        </p:spPr>
        <p:txBody>
          <a:bodyPr wrap="square" lIns="0" tIns="0" rIns="0" bIns="0" rtlCol="0" anchor="ctr"/>
          <a:lstStyle/>
          <a:p>
            <a:pPr algn="ctr" indent="0" marL="0">
              <a:buNone/>
            </a:pPr>
            <a:r>
              <a:rPr lang="en-US" sz="1100" b="1" dirty="0">
                <a:solidFill>
                  <a:srgbClr val="17324D"/>
                </a:solidFill>
              </a:rPr>
              <a:t>Bone-conduction headphone</a:t>
            </a:r>
            <a:endParaRPr lang="en-US" sz="1100" dirty="0"/>
          </a:p>
        </p:txBody>
      </p:sp>
      <p:sp>
        <p:nvSpPr>
          <p:cNvPr id="15" name="Audio 1"/>
          <p:cNvSpPr/>
          <p:nvPr/>
        </p:nvSpPr>
        <p:spPr>
          <a:xfrm>
            <a:off x="2377440" y="3520440"/>
            <a:ext cx="868680" cy="9144"/>
          </a:xfrm>
          <a:prstGeom prst="line">
            <a:avLst/>
          </a:prstGeom>
          <a:noFill/>
          <a:ln w="28575">
            <a:solidFill>
              <a:srgbClr val="7B4FA0"/>
            </a:solidFill>
            <a:prstDash val="dash"/>
          </a:ln>
        </p:spPr>
      </p:sp>
      <p:sp>
        <p:nvSpPr>
          <p:cNvPr id="16" name="Audio 2"/>
          <p:cNvSpPr/>
          <p:nvPr/>
        </p:nvSpPr>
        <p:spPr>
          <a:xfrm>
            <a:off x="3246120" y="3520440"/>
            <a:ext cx="9144" cy="411480"/>
          </a:xfrm>
          <a:prstGeom prst="line">
            <a:avLst/>
          </a:prstGeom>
          <a:noFill/>
          <a:ln w="28575">
            <a:solidFill>
              <a:srgbClr val="7B4FA0"/>
            </a:solidFill>
            <a:prstDash val="dash"/>
          </a:ln>
        </p:spPr>
      </p:sp>
      <p:sp>
        <p:nvSpPr>
          <p:cNvPr id="17" name="Audio 3"/>
          <p:cNvSpPr/>
          <p:nvPr/>
        </p:nvSpPr>
        <p:spPr>
          <a:xfrm>
            <a:off x="3246120" y="3931920"/>
            <a:ext cx="1188720" cy="9144"/>
          </a:xfrm>
          <a:prstGeom prst="line">
            <a:avLst/>
          </a:prstGeom>
          <a:noFill/>
          <a:ln w="28575">
            <a:solidFill>
              <a:srgbClr val="7B4FA0"/>
            </a:solidFill>
            <a:prstDash val="dash"/>
          </a:ln>
        </p:spPr>
      </p:sp>
      <p:sp>
        <p:nvSpPr>
          <p:cNvPr id="18" name="Wire label: audio out"/>
          <p:cNvSpPr txBox="1"/>
          <p:nvPr/>
        </p:nvSpPr>
        <p:spPr>
          <a:xfrm>
            <a:off x="2468880" y="3291840"/>
            <a:ext cx="914400" cy="201168"/>
          </a:xfrm>
          <a:prstGeom prst="rect">
            <a:avLst/>
          </a:prstGeom>
          <a:noFill/>
          <a:ln/>
        </p:spPr>
        <p:txBody>
          <a:bodyPr wrap="square" lIns="0" tIns="0" rIns="0" bIns="0" rtlCol="0" anchor="ctr"/>
          <a:lstStyle/>
          <a:p>
            <a:pPr algn="l" indent="0" marL="0">
              <a:buNone/>
            </a:pPr>
            <a:r>
              <a:rPr lang="en-US" sz="1000" dirty="0">
                <a:solidFill>
                  <a:srgbClr val="1B2430"/>
                </a:solidFill>
              </a:rPr>
              <a:t>audio out</a:t>
            </a:r>
            <a:endParaRPr lang="en-US" sz="1000" dirty="0"/>
          </a:p>
        </p:txBody>
      </p:sp>
      <p:sp>
        <p:nvSpPr>
          <p:cNvPr id="19" name="Power bank card"/>
          <p:cNvSpPr/>
          <p:nvPr/>
        </p:nvSpPr>
        <p:spPr>
          <a:xfrm>
            <a:off x="548640" y="4343400"/>
            <a:ext cx="1828800" cy="1325880"/>
          </a:xfrm>
          <a:prstGeom prst="roundRect">
            <a:avLst>
              <a:gd name="adj" fmla="val 4138"/>
            </a:avLst>
          </a:prstGeom>
          <a:solidFill>
            <a:srgbClr val="FFFFFF"/>
          </a:solidFill>
          <a:ln w="12700">
            <a:solidFill>
              <a:srgbClr val="BFD4E6"/>
            </a:solidFill>
            <a:prstDash val="solid"/>
          </a:ln>
        </p:spPr>
      </p:sp>
      <p:pic>
        <p:nvPicPr>
          <p:cNvPr id="20" name="Power bank photo" descr="E:/Final SP/Thesis Report and paper/thesis report/My report/DIagram fig tab/hw_powerbank.jpg">    </p:cNvPr>
          <p:cNvPicPr>
            <a:picLocks noChangeAspect="1"/>
          </p:cNvPicPr>
          <p:nvPr/>
        </p:nvPicPr>
        <p:blipFill>
          <a:blip r:embed="rId4"/>
          <a:srcRect l="0" r="0" t="0" b="0"/>
          <a:stretch/>
        </p:blipFill>
        <p:spPr>
          <a:xfrm>
            <a:off x="621792" y="4416552"/>
            <a:ext cx="1682496" cy="822960"/>
          </a:xfrm>
          <a:prstGeom prst="rect">
            <a:avLst/>
          </a:prstGeom>
        </p:spPr>
      </p:pic>
      <p:sp>
        <p:nvSpPr>
          <p:cNvPr id="21" name="Power bank label"/>
          <p:cNvSpPr txBox="1"/>
          <p:nvPr/>
        </p:nvSpPr>
        <p:spPr>
          <a:xfrm>
            <a:off x="594360" y="5257800"/>
            <a:ext cx="1737360" cy="365760"/>
          </a:xfrm>
          <a:prstGeom prst="rect">
            <a:avLst/>
          </a:prstGeom>
          <a:noFill/>
          <a:ln/>
        </p:spPr>
        <p:txBody>
          <a:bodyPr wrap="square" lIns="0" tIns="0" rIns="0" bIns="0" rtlCol="0" anchor="ctr"/>
          <a:lstStyle/>
          <a:p>
            <a:pPr algn="ctr" indent="0" marL="0">
              <a:buNone/>
            </a:pPr>
            <a:r>
              <a:rPr lang="en-US" sz="1100" b="1" dirty="0">
                <a:solidFill>
                  <a:srgbClr val="17324D"/>
                </a:solidFill>
              </a:rPr>
              <a:t>Power bank</a:t>
            </a:r>
            <a:endParaRPr lang="en-US" sz="1100" dirty="0"/>
          </a:p>
        </p:txBody>
      </p:sp>
      <p:sp>
        <p:nvSpPr>
          <p:cNvPr id="22" name="Power 1"/>
          <p:cNvSpPr/>
          <p:nvPr/>
        </p:nvSpPr>
        <p:spPr>
          <a:xfrm>
            <a:off x="2377440" y="4846320"/>
            <a:ext cx="1554480" cy="9144"/>
          </a:xfrm>
          <a:prstGeom prst="line">
            <a:avLst/>
          </a:prstGeom>
          <a:noFill/>
          <a:ln w="44450">
            <a:solidFill>
              <a:srgbClr val="D7263D"/>
            </a:solidFill>
            <a:prstDash val="solid"/>
          </a:ln>
        </p:spPr>
      </p:sp>
      <p:sp>
        <p:nvSpPr>
          <p:cNvPr id="23" name="Power 2"/>
          <p:cNvSpPr/>
          <p:nvPr/>
        </p:nvSpPr>
        <p:spPr>
          <a:xfrm>
            <a:off x="3931920" y="4572000"/>
            <a:ext cx="9144" cy="274320"/>
          </a:xfrm>
          <a:prstGeom prst="line">
            <a:avLst/>
          </a:prstGeom>
          <a:noFill/>
          <a:ln w="44450">
            <a:solidFill>
              <a:srgbClr val="D7263D"/>
            </a:solidFill>
            <a:prstDash val="solid"/>
          </a:ln>
        </p:spPr>
      </p:sp>
      <p:sp>
        <p:nvSpPr>
          <p:cNvPr id="24" name="Power 3"/>
          <p:cNvSpPr/>
          <p:nvPr/>
        </p:nvSpPr>
        <p:spPr>
          <a:xfrm>
            <a:off x="3931920" y="4572000"/>
            <a:ext cx="502920" cy="9144"/>
          </a:xfrm>
          <a:prstGeom prst="line">
            <a:avLst/>
          </a:prstGeom>
          <a:noFill/>
          <a:ln w="44450">
            <a:solidFill>
              <a:srgbClr val="D7263D"/>
            </a:solidFill>
            <a:prstDash val="solid"/>
          </a:ln>
        </p:spPr>
      </p:sp>
      <p:sp>
        <p:nvSpPr>
          <p:cNvPr id="25" name="Wire label: USB-C, 5 V"/>
          <p:cNvSpPr txBox="1"/>
          <p:nvPr/>
        </p:nvSpPr>
        <p:spPr>
          <a:xfrm>
            <a:off x="2468880" y="4617720"/>
            <a:ext cx="1280160" cy="201168"/>
          </a:xfrm>
          <a:prstGeom prst="rect">
            <a:avLst/>
          </a:prstGeom>
          <a:noFill/>
          <a:ln/>
        </p:spPr>
        <p:txBody>
          <a:bodyPr wrap="square" lIns="0" tIns="0" rIns="0" bIns="0" rtlCol="0" anchor="ctr"/>
          <a:lstStyle/>
          <a:p>
            <a:pPr algn="l" indent="0" marL="0">
              <a:buNone/>
            </a:pPr>
            <a:r>
              <a:rPr lang="en-US" sz="1000" dirty="0">
                <a:solidFill>
                  <a:srgbClr val="1B2430"/>
                </a:solidFill>
              </a:rPr>
              <a:t>USB-C, 5 V</a:t>
            </a:r>
            <a:endParaRPr lang="en-US" sz="1000" dirty="0"/>
          </a:p>
        </p:txBody>
      </p:sp>
      <p:sp>
        <p:nvSpPr>
          <p:cNvPr id="26" name="Buttons card"/>
          <p:cNvSpPr/>
          <p:nvPr/>
        </p:nvSpPr>
        <p:spPr>
          <a:xfrm>
            <a:off x="9784080" y="1234440"/>
            <a:ext cx="1828800" cy="1691640"/>
          </a:xfrm>
          <a:prstGeom prst="roundRect">
            <a:avLst>
              <a:gd name="adj" fmla="val 3243"/>
            </a:avLst>
          </a:prstGeom>
          <a:solidFill>
            <a:srgbClr val="FFFFFF"/>
          </a:solidFill>
          <a:ln w="12700">
            <a:solidFill>
              <a:srgbClr val="BFD4E6"/>
            </a:solidFill>
            <a:prstDash val="solid"/>
          </a:ln>
        </p:spPr>
      </p:sp>
      <p:pic>
        <p:nvPicPr>
          <p:cNvPr id="27" name="Buttons photo" descr="E:/Final SP/Thesis Report and paper/thesis report/My report/DIagram fig tab/v2_buttons.jpg">    </p:cNvPr>
          <p:cNvPicPr>
            <a:picLocks noChangeAspect="1"/>
          </p:cNvPicPr>
          <p:nvPr/>
        </p:nvPicPr>
        <p:blipFill>
          <a:blip r:embed="rId5"/>
          <a:srcRect l="0" r="0" t="0" b="0"/>
          <a:stretch/>
        </p:blipFill>
        <p:spPr>
          <a:xfrm>
            <a:off x="9857232" y="1307592"/>
            <a:ext cx="1682496" cy="1188720"/>
          </a:xfrm>
          <a:prstGeom prst="rect">
            <a:avLst/>
          </a:prstGeom>
        </p:spPr>
      </p:pic>
      <p:sp>
        <p:nvSpPr>
          <p:cNvPr id="28" name="Buttons label"/>
          <p:cNvSpPr txBox="1"/>
          <p:nvPr/>
        </p:nvSpPr>
        <p:spPr>
          <a:xfrm>
            <a:off x="9829800" y="2514600"/>
            <a:ext cx="1737360" cy="365760"/>
          </a:xfrm>
          <a:prstGeom prst="rect">
            <a:avLst/>
          </a:prstGeom>
          <a:noFill/>
          <a:ln/>
        </p:spPr>
        <p:txBody>
          <a:bodyPr wrap="square" lIns="0" tIns="0" rIns="0" bIns="0" rtlCol="0" anchor="ctr"/>
          <a:lstStyle/>
          <a:p>
            <a:pPr algn="ctr" indent="0" marL="0">
              <a:buNone/>
            </a:pPr>
            <a:r>
              <a:rPr lang="en-US" sz="1100" b="1" dirty="0">
                <a:solidFill>
                  <a:srgbClr val="17324D"/>
                </a:solidFill>
              </a:rPr>
              <a:t>Five push-buttons</a:t>
            </a:r>
            <a:endParaRPr lang="en-US" sz="1100" dirty="0"/>
          </a:p>
        </p:txBody>
      </p:sp>
      <p:sp>
        <p:nvSpPr>
          <p:cNvPr id="29" name="MODE · BCM 17 wire 1"/>
          <p:cNvSpPr/>
          <p:nvPr/>
        </p:nvSpPr>
        <p:spPr>
          <a:xfrm>
            <a:off x="6400800" y="1371600"/>
            <a:ext cx="3383280" cy="9144"/>
          </a:xfrm>
          <a:prstGeom prst="line">
            <a:avLst/>
          </a:prstGeom>
          <a:noFill/>
          <a:ln w="25400">
            <a:solidFill>
              <a:srgbClr val="1F5F8B"/>
            </a:solidFill>
            <a:prstDash val="solid"/>
          </a:ln>
        </p:spPr>
      </p:sp>
      <p:sp>
        <p:nvSpPr>
          <p:cNvPr id="30" name="MODE · BCM 17 wire 2"/>
          <p:cNvSpPr/>
          <p:nvPr/>
        </p:nvSpPr>
        <p:spPr>
          <a:xfrm>
            <a:off x="6400800" y="1371600"/>
            <a:ext cx="9144" cy="1234440"/>
          </a:xfrm>
          <a:prstGeom prst="line">
            <a:avLst/>
          </a:prstGeom>
          <a:noFill/>
          <a:ln w="25400">
            <a:solidFill>
              <a:srgbClr val="1F5F8B"/>
            </a:solidFill>
            <a:prstDash val="solid"/>
          </a:ln>
        </p:spPr>
      </p:sp>
      <p:sp>
        <p:nvSpPr>
          <p:cNvPr id="31" name="Wire label: MODE · BCM 17"/>
          <p:cNvSpPr txBox="1"/>
          <p:nvPr/>
        </p:nvSpPr>
        <p:spPr>
          <a:xfrm>
            <a:off x="8183880" y="1179576"/>
            <a:ext cx="1554480" cy="201168"/>
          </a:xfrm>
          <a:prstGeom prst="rect">
            <a:avLst/>
          </a:prstGeom>
          <a:noFill/>
          <a:ln/>
        </p:spPr>
        <p:txBody>
          <a:bodyPr wrap="square" lIns="0" tIns="0" rIns="0" bIns="0" rtlCol="0" anchor="ctr"/>
          <a:lstStyle/>
          <a:p>
            <a:pPr algn="r" indent="0" marL="0">
              <a:buNone/>
            </a:pPr>
            <a:r>
              <a:rPr lang="en-US" sz="1000" dirty="0">
                <a:solidFill>
                  <a:srgbClr val="1B2430"/>
                </a:solidFill>
              </a:rPr>
              <a:t>MODE · BCM 17</a:t>
            </a:r>
            <a:endParaRPr lang="en-US" sz="1000" dirty="0"/>
          </a:p>
        </p:txBody>
      </p:sp>
      <p:sp>
        <p:nvSpPr>
          <p:cNvPr id="32" name="ACTION · BCM 27 wire 1"/>
          <p:cNvSpPr/>
          <p:nvPr/>
        </p:nvSpPr>
        <p:spPr>
          <a:xfrm>
            <a:off x="6583680" y="1572768"/>
            <a:ext cx="3200400" cy="9144"/>
          </a:xfrm>
          <a:prstGeom prst="line">
            <a:avLst/>
          </a:prstGeom>
          <a:noFill/>
          <a:ln w="25400">
            <a:solidFill>
              <a:srgbClr val="2E9E5B"/>
            </a:solidFill>
            <a:prstDash val="solid"/>
          </a:ln>
        </p:spPr>
      </p:sp>
      <p:sp>
        <p:nvSpPr>
          <p:cNvPr id="33" name="ACTION · BCM 27 wire 2"/>
          <p:cNvSpPr/>
          <p:nvPr/>
        </p:nvSpPr>
        <p:spPr>
          <a:xfrm>
            <a:off x="6583680" y="1572768"/>
            <a:ext cx="9144" cy="1033272"/>
          </a:xfrm>
          <a:prstGeom prst="line">
            <a:avLst/>
          </a:prstGeom>
          <a:noFill/>
          <a:ln w="25400">
            <a:solidFill>
              <a:srgbClr val="2E9E5B"/>
            </a:solidFill>
            <a:prstDash val="solid"/>
          </a:ln>
        </p:spPr>
      </p:sp>
      <p:sp>
        <p:nvSpPr>
          <p:cNvPr id="34" name="Wire label: ACTION · BCM 27"/>
          <p:cNvSpPr txBox="1"/>
          <p:nvPr/>
        </p:nvSpPr>
        <p:spPr>
          <a:xfrm>
            <a:off x="8183880" y="1380744"/>
            <a:ext cx="1554480" cy="201168"/>
          </a:xfrm>
          <a:prstGeom prst="rect">
            <a:avLst/>
          </a:prstGeom>
          <a:noFill/>
          <a:ln/>
        </p:spPr>
        <p:txBody>
          <a:bodyPr wrap="square" lIns="0" tIns="0" rIns="0" bIns="0" rtlCol="0" anchor="ctr"/>
          <a:lstStyle/>
          <a:p>
            <a:pPr algn="r" indent="0" marL="0">
              <a:buNone/>
            </a:pPr>
            <a:r>
              <a:rPr lang="en-US" sz="1000" dirty="0">
                <a:solidFill>
                  <a:srgbClr val="1B2430"/>
                </a:solidFill>
              </a:rPr>
              <a:t>ACTION · BCM 27</a:t>
            </a:r>
            <a:endParaRPr lang="en-US" sz="1000" dirty="0"/>
          </a:p>
        </p:txBody>
      </p:sp>
      <p:sp>
        <p:nvSpPr>
          <p:cNvPr id="35" name="READ · BCM 24 wire 1"/>
          <p:cNvSpPr/>
          <p:nvPr/>
        </p:nvSpPr>
        <p:spPr>
          <a:xfrm>
            <a:off x="6766560" y="1773936"/>
            <a:ext cx="3017520" cy="9144"/>
          </a:xfrm>
          <a:prstGeom prst="line">
            <a:avLst/>
          </a:prstGeom>
          <a:noFill/>
          <a:ln w="25400">
            <a:solidFill>
              <a:srgbClr val="E6A817"/>
            </a:solidFill>
            <a:prstDash val="solid"/>
          </a:ln>
        </p:spPr>
      </p:sp>
      <p:sp>
        <p:nvSpPr>
          <p:cNvPr id="36" name="READ · BCM 24 wire 2"/>
          <p:cNvSpPr/>
          <p:nvPr/>
        </p:nvSpPr>
        <p:spPr>
          <a:xfrm>
            <a:off x="6766560" y="1773936"/>
            <a:ext cx="9144" cy="832104"/>
          </a:xfrm>
          <a:prstGeom prst="line">
            <a:avLst/>
          </a:prstGeom>
          <a:noFill/>
          <a:ln w="25400">
            <a:solidFill>
              <a:srgbClr val="E6A817"/>
            </a:solidFill>
            <a:prstDash val="solid"/>
          </a:ln>
        </p:spPr>
      </p:sp>
      <p:sp>
        <p:nvSpPr>
          <p:cNvPr id="37" name="Wire label: READ · BCM 24"/>
          <p:cNvSpPr txBox="1"/>
          <p:nvPr/>
        </p:nvSpPr>
        <p:spPr>
          <a:xfrm>
            <a:off x="8183880" y="1581912"/>
            <a:ext cx="1554480" cy="201168"/>
          </a:xfrm>
          <a:prstGeom prst="rect">
            <a:avLst/>
          </a:prstGeom>
          <a:noFill/>
          <a:ln/>
        </p:spPr>
        <p:txBody>
          <a:bodyPr wrap="square" lIns="0" tIns="0" rIns="0" bIns="0" rtlCol="0" anchor="ctr"/>
          <a:lstStyle/>
          <a:p>
            <a:pPr algn="r" indent="0" marL="0">
              <a:buNone/>
            </a:pPr>
            <a:r>
              <a:rPr lang="en-US" sz="1000" dirty="0">
                <a:solidFill>
                  <a:srgbClr val="1B2430"/>
                </a:solidFill>
              </a:rPr>
              <a:t>READ · BCM 24</a:t>
            </a:r>
            <a:endParaRPr lang="en-US" sz="1000" dirty="0"/>
          </a:p>
        </p:txBody>
      </p:sp>
      <p:sp>
        <p:nvSpPr>
          <p:cNvPr id="38" name="VOL+ · BCM 22 wire 1"/>
          <p:cNvSpPr/>
          <p:nvPr/>
        </p:nvSpPr>
        <p:spPr>
          <a:xfrm>
            <a:off x="6949440" y="1975104"/>
            <a:ext cx="2834640" cy="9144"/>
          </a:xfrm>
          <a:prstGeom prst="line">
            <a:avLst/>
          </a:prstGeom>
          <a:noFill/>
          <a:ln w="25400">
            <a:solidFill>
              <a:srgbClr val="4A87B5"/>
            </a:solidFill>
            <a:prstDash val="solid"/>
          </a:ln>
        </p:spPr>
      </p:sp>
      <p:sp>
        <p:nvSpPr>
          <p:cNvPr id="39" name="VOL+ · BCM 22 wire 2"/>
          <p:cNvSpPr/>
          <p:nvPr/>
        </p:nvSpPr>
        <p:spPr>
          <a:xfrm>
            <a:off x="6949440" y="1975104"/>
            <a:ext cx="9144" cy="630936"/>
          </a:xfrm>
          <a:prstGeom prst="line">
            <a:avLst/>
          </a:prstGeom>
          <a:noFill/>
          <a:ln w="25400">
            <a:solidFill>
              <a:srgbClr val="4A87B5"/>
            </a:solidFill>
            <a:prstDash val="solid"/>
          </a:ln>
        </p:spPr>
      </p:sp>
      <p:sp>
        <p:nvSpPr>
          <p:cNvPr id="40" name="Wire label: VOL+ · BCM 22"/>
          <p:cNvSpPr txBox="1"/>
          <p:nvPr/>
        </p:nvSpPr>
        <p:spPr>
          <a:xfrm>
            <a:off x="8183880" y="1783080"/>
            <a:ext cx="1554480" cy="201168"/>
          </a:xfrm>
          <a:prstGeom prst="rect">
            <a:avLst/>
          </a:prstGeom>
          <a:noFill/>
          <a:ln/>
        </p:spPr>
        <p:txBody>
          <a:bodyPr wrap="square" lIns="0" tIns="0" rIns="0" bIns="0" rtlCol="0" anchor="ctr"/>
          <a:lstStyle/>
          <a:p>
            <a:pPr algn="r" indent="0" marL="0">
              <a:buNone/>
            </a:pPr>
            <a:r>
              <a:rPr lang="en-US" sz="1000" dirty="0">
                <a:solidFill>
                  <a:srgbClr val="1B2430"/>
                </a:solidFill>
              </a:rPr>
              <a:t>VOL+ · BCM 22</a:t>
            </a:r>
            <a:endParaRPr lang="en-US" sz="1000" dirty="0"/>
          </a:p>
        </p:txBody>
      </p:sp>
      <p:sp>
        <p:nvSpPr>
          <p:cNvPr id="41" name="VOL− · BCM 23 wire 1"/>
          <p:cNvSpPr/>
          <p:nvPr/>
        </p:nvSpPr>
        <p:spPr>
          <a:xfrm>
            <a:off x="7132320" y="2176272"/>
            <a:ext cx="2651760" cy="9144"/>
          </a:xfrm>
          <a:prstGeom prst="line">
            <a:avLst/>
          </a:prstGeom>
          <a:noFill/>
          <a:ln w="25400">
            <a:solidFill>
              <a:srgbClr val="B5651D"/>
            </a:solidFill>
            <a:prstDash val="solid"/>
          </a:ln>
        </p:spPr>
      </p:sp>
      <p:sp>
        <p:nvSpPr>
          <p:cNvPr id="42" name="VOL− · BCM 23 wire 2"/>
          <p:cNvSpPr/>
          <p:nvPr/>
        </p:nvSpPr>
        <p:spPr>
          <a:xfrm>
            <a:off x="7132320" y="2176272"/>
            <a:ext cx="9144" cy="429768"/>
          </a:xfrm>
          <a:prstGeom prst="line">
            <a:avLst/>
          </a:prstGeom>
          <a:noFill/>
          <a:ln w="25400">
            <a:solidFill>
              <a:srgbClr val="B5651D"/>
            </a:solidFill>
            <a:prstDash val="solid"/>
          </a:ln>
        </p:spPr>
      </p:sp>
      <p:sp>
        <p:nvSpPr>
          <p:cNvPr id="43" name="Wire label: VOL− · BCM 23"/>
          <p:cNvSpPr txBox="1"/>
          <p:nvPr/>
        </p:nvSpPr>
        <p:spPr>
          <a:xfrm>
            <a:off x="8183880" y="1984248"/>
            <a:ext cx="1554480" cy="201168"/>
          </a:xfrm>
          <a:prstGeom prst="rect">
            <a:avLst/>
          </a:prstGeom>
          <a:noFill/>
          <a:ln/>
        </p:spPr>
        <p:txBody>
          <a:bodyPr wrap="square" lIns="0" tIns="0" rIns="0" bIns="0" rtlCol="0" anchor="ctr"/>
          <a:lstStyle/>
          <a:p>
            <a:pPr algn="r" indent="0" marL="0">
              <a:buNone/>
            </a:pPr>
            <a:r>
              <a:rPr lang="en-US" sz="1000" dirty="0">
                <a:solidFill>
                  <a:srgbClr val="1B2430"/>
                </a:solidFill>
              </a:rPr>
              <a:t>VOL− · BCM 23</a:t>
            </a:r>
            <a:endParaRPr lang="en-US" sz="1000" dirty="0"/>
          </a:p>
        </p:txBody>
      </p:sp>
      <p:sp>
        <p:nvSpPr>
          <p:cNvPr id="44" name="Ground 1"/>
          <p:cNvSpPr/>
          <p:nvPr/>
        </p:nvSpPr>
        <p:spPr>
          <a:xfrm>
            <a:off x="6172200" y="2395728"/>
            <a:ext cx="3611880" cy="9144"/>
          </a:xfrm>
          <a:prstGeom prst="line">
            <a:avLst/>
          </a:prstGeom>
          <a:noFill/>
          <a:ln w="25400">
            <a:solidFill>
              <a:srgbClr val="1B2430"/>
            </a:solidFill>
            <a:prstDash val="solid"/>
          </a:ln>
        </p:spPr>
      </p:sp>
      <p:sp>
        <p:nvSpPr>
          <p:cNvPr id="45" name="Ground 2"/>
          <p:cNvSpPr/>
          <p:nvPr/>
        </p:nvSpPr>
        <p:spPr>
          <a:xfrm>
            <a:off x="6172200" y="2395728"/>
            <a:ext cx="9144" cy="210312"/>
          </a:xfrm>
          <a:prstGeom prst="line">
            <a:avLst/>
          </a:prstGeom>
          <a:noFill/>
          <a:ln w="25400">
            <a:solidFill>
              <a:srgbClr val="1B2430"/>
            </a:solidFill>
            <a:prstDash val="solid"/>
          </a:ln>
        </p:spPr>
      </p:sp>
      <p:sp>
        <p:nvSpPr>
          <p:cNvPr id="46" name="Wire label: GND"/>
          <p:cNvSpPr txBox="1"/>
          <p:nvPr/>
        </p:nvSpPr>
        <p:spPr>
          <a:xfrm>
            <a:off x="8778240" y="2194560"/>
            <a:ext cx="960120" cy="201168"/>
          </a:xfrm>
          <a:prstGeom prst="rect">
            <a:avLst/>
          </a:prstGeom>
          <a:noFill/>
          <a:ln/>
        </p:spPr>
        <p:txBody>
          <a:bodyPr wrap="square" lIns="0" tIns="0" rIns="0" bIns="0" rtlCol="0" anchor="ctr"/>
          <a:lstStyle/>
          <a:p>
            <a:pPr algn="r" indent="0" marL="0">
              <a:buNone/>
            </a:pPr>
            <a:r>
              <a:rPr lang="en-US" sz="1000" dirty="0">
                <a:solidFill>
                  <a:srgbClr val="1B2430"/>
                </a:solidFill>
              </a:rPr>
              <a:t>GND</a:t>
            </a:r>
            <a:endParaRPr lang="en-US" sz="1000" dirty="0"/>
          </a:p>
        </p:txBody>
      </p:sp>
      <p:sp>
        <p:nvSpPr>
          <p:cNvPr id="47" name="Motor card"/>
          <p:cNvSpPr/>
          <p:nvPr/>
        </p:nvSpPr>
        <p:spPr>
          <a:xfrm>
            <a:off x="9784080" y="3108960"/>
            <a:ext cx="1828800" cy="1234440"/>
          </a:xfrm>
          <a:prstGeom prst="roundRect">
            <a:avLst>
              <a:gd name="adj" fmla="val 4444"/>
            </a:avLst>
          </a:prstGeom>
          <a:solidFill>
            <a:srgbClr val="FFFFFF"/>
          </a:solidFill>
          <a:ln w="12700">
            <a:solidFill>
              <a:srgbClr val="BFD4E6"/>
            </a:solidFill>
            <a:prstDash val="solid"/>
          </a:ln>
        </p:spPr>
      </p:sp>
      <p:pic>
        <p:nvPicPr>
          <p:cNvPr id="48" name="Motor photo" descr="E:/Final SP/Thesis Report and paper/thesis report/My report/DIagram fig tab/hw_motor.jpg">    </p:cNvPr>
          <p:cNvPicPr>
            <a:picLocks noChangeAspect="1"/>
          </p:cNvPicPr>
          <p:nvPr/>
        </p:nvPicPr>
        <p:blipFill>
          <a:blip r:embed="rId6"/>
          <a:srcRect l="0" r="0" t="0" b="0"/>
          <a:stretch/>
        </p:blipFill>
        <p:spPr>
          <a:xfrm>
            <a:off x="9857232" y="3182112"/>
            <a:ext cx="1682496" cy="731520"/>
          </a:xfrm>
          <a:prstGeom prst="rect">
            <a:avLst/>
          </a:prstGeom>
        </p:spPr>
      </p:pic>
      <p:sp>
        <p:nvSpPr>
          <p:cNvPr id="49" name="Motor label"/>
          <p:cNvSpPr txBox="1"/>
          <p:nvPr/>
        </p:nvSpPr>
        <p:spPr>
          <a:xfrm>
            <a:off x="9829800" y="3931920"/>
            <a:ext cx="1737360" cy="365760"/>
          </a:xfrm>
          <a:prstGeom prst="rect">
            <a:avLst/>
          </a:prstGeom>
          <a:noFill/>
          <a:ln/>
        </p:spPr>
        <p:txBody>
          <a:bodyPr wrap="square" lIns="0" tIns="0" rIns="0" bIns="0" rtlCol="0" anchor="ctr"/>
          <a:lstStyle/>
          <a:p>
            <a:pPr algn="ctr" indent="0" marL="0">
              <a:buNone/>
            </a:pPr>
            <a:r>
              <a:rPr lang="en-US" sz="1100" b="1" dirty="0">
                <a:solidFill>
                  <a:srgbClr val="17324D"/>
                </a:solidFill>
              </a:rPr>
              <a:t>Vibration motor</a:t>
            </a:r>
            <a:endParaRPr lang="en-US" sz="1100" dirty="0"/>
          </a:p>
        </p:txBody>
      </p:sp>
      <p:sp>
        <p:nvSpPr>
          <p:cNvPr id="50" name="Motor signal 1"/>
          <p:cNvSpPr/>
          <p:nvPr/>
        </p:nvSpPr>
        <p:spPr>
          <a:xfrm>
            <a:off x="8503920" y="3611880"/>
            <a:ext cx="1280160" cy="9144"/>
          </a:xfrm>
          <a:prstGeom prst="line">
            <a:avLst/>
          </a:prstGeom>
          <a:noFill/>
          <a:ln w="25400">
            <a:solidFill>
              <a:srgbClr val="C2185B"/>
            </a:solidFill>
            <a:prstDash val="solid"/>
          </a:ln>
        </p:spPr>
      </p:sp>
      <p:sp>
        <p:nvSpPr>
          <p:cNvPr id="51" name="Motor signal 2"/>
          <p:cNvSpPr/>
          <p:nvPr/>
        </p:nvSpPr>
        <p:spPr>
          <a:xfrm>
            <a:off x="8503920" y="2505456"/>
            <a:ext cx="9144" cy="1106424"/>
          </a:xfrm>
          <a:prstGeom prst="line">
            <a:avLst/>
          </a:prstGeom>
          <a:noFill/>
          <a:ln w="25400">
            <a:solidFill>
              <a:srgbClr val="C2185B"/>
            </a:solidFill>
            <a:prstDash val="solid"/>
          </a:ln>
        </p:spPr>
      </p:sp>
      <p:sp>
        <p:nvSpPr>
          <p:cNvPr id="52" name="Motor signal 3"/>
          <p:cNvSpPr/>
          <p:nvPr/>
        </p:nvSpPr>
        <p:spPr>
          <a:xfrm>
            <a:off x="7498080" y="2505456"/>
            <a:ext cx="1005840" cy="9144"/>
          </a:xfrm>
          <a:prstGeom prst="line">
            <a:avLst/>
          </a:prstGeom>
          <a:noFill/>
          <a:ln w="25400">
            <a:solidFill>
              <a:srgbClr val="C2185B"/>
            </a:solidFill>
            <a:prstDash val="solid"/>
          </a:ln>
        </p:spPr>
      </p:sp>
      <p:sp>
        <p:nvSpPr>
          <p:cNvPr id="53" name="Motor signal 4"/>
          <p:cNvSpPr/>
          <p:nvPr/>
        </p:nvSpPr>
        <p:spPr>
          <a:xfrm>
            <a:off x="7498080" y="2505456"/>
            <a:ext cx="9144" cy="100584"/>
          </a:xfrm>
          <a:prstGeom prst="line">
            <a:avLst/>
          </a:prstGeom>
          <a:noFill/>
          <a:ln w="25400">
            <a:solidFill>
              <a:srgbClr val="C2185B"/>
            </a:solidFill>
            <a:prstDash val="solid"/>
          </a:ln>
        </p:spPr>
      </p:sp>
      <p:sp>
        <p:nvSpPr>
          <p:cNvPr id="54" name="Motor ground 1"/>
          <p:cNvSpPr/>
          <p:nvPr/>
        </p:nvSpPr>
        <p:spPr>
          <a:xfrm>
            <a:off x="8732520" y="3840480"/>
            <a:ext cx="1051560" cy="9144"/>
          </a:xfrm>
          <a:prstGeom prst="line">
            <a:avLst/>
          </a:prstGeom>
          <a:noFill/>
          <a:ln w="25400">
            <a:solidFill>
              <a:srgbClr val="1B2430"/>
            </a:solidFill>
            <a:prstDash val="solid"/>
          </a:ln>
        </p:spPr>
      </p:sp>
      <p:sp>
        <p:nvSpPr>
          <p:cNvPr id="55" name="Motor ground 2"/>
          <p:cNvSpPr/>
          <p:nvPr/>
        </p:nvSpPr>
        <p:spPr>
          <a:xfrm>
            <a:off x="8732520" y="2395728"/>
            <a:ext cx="9144" cy="1444752"/>
          </a:xfrm>
          <a:prstGeom prst="line">
            <a:avLst/>
          </a:prstGeom>
          <a:noFill/>
          <a:ln w="25400">
            <a:solidFill>
              <a:srgbClr val="1B2430"/>
            </a:solidFill>
            <a:prstDash val="solid"/>
          </a:ln>
        </p:spPr>
      </p:sp>
      <p:sp>
        <p:nvSpPr>
          <p:cNvPr id="56" name="Ground junction"/>
          <p:cNvSpPr/>
          <p:nvPr/>
        </p:nvSpPr>
        <p:spPr>
          <a:xfrm>
            <a:off x="8686800" y="2350008"/>
            <a:ext cx="91440" cy="91440"/>
          </a:xfrm>
          <a:prstGeom prst="ellipse">
            <a:avLst/>
          </a:prstGeom>
          <a:solidFill>
            <a:srgbClr val="1B2430"/>
          </a:solidFill>
          <a:ln w="12700">
            <a:solidFill>
              <a:srgbClr val="1B2430"/>
            </a:solidFill>
            <a:prstDash val="solid"/>
          </a:ln>
        </p:spPr>
      </p:sp>
      <p:sp>
        <p:nvSpPr>
          <p:cNvPr id="57" name="Wire label: BCM 13 (PWM)"/>
          <p:cNvSpPr txBox="1"/>
          <p:nvPr/>
        </p:nvSpPr>
        <p:spPr>
          <a:xfrm>
            <a:off x="8778240" y="3383280"/>
            <a:ext cx="960120" cy="201168"/>
          </a:xfrm>
          <a:prstGeom prst="rect">
            <a:avLst/>
          </a:prstGeom>
          <a:noFill/>
          <a:ln/>
        </p:spPr>
        <p:txBody>
          <a:bodyPr wrap="square" lIns="0" tIns="0" rIns="0" bIns="0" rtlCol="0" anchor="ctr"/>
          <a:lstStyle/>
          <a:p>
            <a:pPr algn="r" indent="0" marL="0">
              <a:buNone/>
            </a:pPr>
            <a:r>
              <a:rPr lang="en-US" sz="1000" dirty="0">
                <a:solidFill>
                  <a:srgbClr val="1B2430"/>
                </a:solidFill>
              </a:rPr>
              <a:t>BCM 13 (PWM)</a:t>
            </a:r>
            <a:endParaRPr lang="en-US" sz="1000" dirty="0"/>
          </a:p>
        </p:txBody>
      </p:sp>
      <p:sp>
        <p:nvSpPr>
          <p:cNvPr id="58" name="USB 1"/>
          <p:cNvSpPr/>
          <p:nvPr/>
        </p:nvSpPr>
        <p:spPr>
          <a:xfrm>
            <a:off x="7726680" y="4343400"/>
            <a:ext cx="822960" cy="9144"/>
          </a:xfrm>
          <a:prstGeom prst="line">
            <a:avLst/>
          </a:prstGeom>
          <a:noFill/>
          <a:ln w="50800">
            <a:solidFill>
              <a:srgbClr val="5B6777"/>
            </a:solidFill>
            <a:prstDash val="solid"/>
          </a:ln>
        </p:spPr>
      </p:sp>
      <p:sp>
        <p:nvSpPr>
          <p:cNvPr id="59" name="Microphone"/>
          <p:cNvSpPr txBox="1"/>
          <p:nvPr/>
        </p:nvSpPr>
        <p:spPr>
          <a:xfrm>
            <a:off x="8549640" y="4114800"/>
            <a:ext cx="1097280" cy="457200"/>
          </a:xfrm>
          <a:prstGeom prst="roundRect">
            <a:avLst>
              <a:gd name="adj" fmla="val 10000"/>
            </a:avLst>
          </a:prstGeom>
          <a:solidFill>
            <a:srgbClr val="FFFFFF"/>
          </a:solidFill>
          <a:ln>
            <a:solidFill>
              <a:srgbClr val="BFD4E6"/>
            </a:solidFill>
          </a:ln>
        </p:spPr>
        <p:txBody>
          <a:bodyPr wrap="square" lIns="381" tIns="381" rIns="381" bIns="381" rtlCol="0" anchor="ctr"/>
          <a:lstStyle/>
          <a:p>
            <a:pPr algn="ctr" indent="0" marL="0">
              <a:buNone/>
            </a:pPr>
            <a:r>
              <a:rPr lang="en-US" sz="1000" dirty="0">
                <a:solidFill>
                  <a:srgbClr val="1B2430"/>
                </a:solidFill>
              </a:rPr>
              <a:t>USB microphone (optional)</a:t>
            </a:r>
            <a:endParaRPr lang="en-US" sz="1000" dirty="0"/>
          </a:p>
        </p:txBody>
      </p:sp>
      <p:sp>
        <p:nvSpPr>
          <p:cNvPr id="60" name="Frame card"/>
          <p:cNvSpPr/>
          <p:nvPr/>
        </p:nvSpPr>
        <p:spPr>
          <a:xfrm>
            <a:off x="9784080" y="4526280"/>
            <a:ext cx="1828800" cy="1188720"/>
          </a:xfrm>
          <a:prstGeom prst="roundRect">
            <a:avLst>
              <a:gd name="adj" fmla="val 4615"/>
            </a:avLst>
          </a:prstGeom>
          <a:solidFill>
            <a:srgbClr val="FFFFFF"/>
          </a:solidFill>
          <a:ln w="12700">
            <a:solidFill>
              <a:srgbClr val="BFD4E6"/>
            </a:solidFill>
            <a:prstDash val="solid"/>
          </a:ln>
        </p:spPr>
      </p:sp>
      <p:pic>
        <p:nvPicPr>
          <p:cNvPr id="61" name="Frame photo" descr="E:/Final SP/Thesis Report and paper/thesis report/My report/DIagram fig tab/v2_frame.jpg">    </p:cNvPr>
          <p:cNvPicPr>
            <a:picLocks noChangeAspect="1"/>
          </p:cNvPicPr>
          <p:nvPr/>
        </p:nvPicPr>
        <p:blipFill>
          <a:blip r:embed="rId7"/>
          <a:srcRect l="0" r="0" t="0" b="0"/>
          <a:stretch/>
        </p:blipFill>
        <p:spPr>
          <a:xfrm>
            <a:off x="9857232" y="4599432"/>
            <a:ext cx="1682496" cy="685800"/>
          </a:xfrm>
          <a:prstGeom prst="rect">
            <a:avLst/>
          </a:prstGeom>
        </p:spPr>
      </p:pic>
      <p:sp>
        <p:nvSpPr>
          <p:cNvPr id="62" name="Frame label"/>
          <p:cNvSpPr txBox="1"/>
          <p:nvPr/>
        </p:nvSpPr>
        <p:spPr>
          <a:xfrm>
            <a:off x="9829800" y="5303520"/>
            <a:ext cx="1737360" cy="365760"/>
          </a:xfrm>
          <a:prstGeom prst="rect">
            <a:avLst/>
          </a:prstGeom>
          <a:noFill/>
          <a:ln/>
        </p:spPr>
        <p:txBody>
          <a:bodyPr wrap="square" lIns="0" tIns="0" rIns="0" bIns="0" rtlCol="0" anchor="ctr"/>
          <a:lstStyle/>
          <a:p>
            <a:pPr algn="ctr" indent="0" marL="0">
              <a:buNone/>
            </a:pPr>
            <a:r>
              <a:rPr lang="en-US" sz="1100" b="1" dirty="0">
                <a:solidFill>
                  <a:srgbClr val="17324D"/>
                </a:solidFill>
              </a:rPr>
              <a:t>Frame + UV-A lamp</a:t>
            </a:r>
            <a:endParaRPr lang="en-US" sz="1100" dirty="0"/>
          </a:p>
        </p:txBody>
      </p:sp>
      <p:sp>
        <p:nvSpPr>
          <p:cNvPr id="63" name="Lamp note"/>
          <p:cNvSpPr txBox="1"/>
          <p:nvPr/>
        </p:nvSpPr>
        <p:spPr>
          <a:xfrm>
            <a:off x="8001000" y="4846320"/>
            <a:ext cx="1691640" cy="594360"/>
          </a:xfrm>
          <a:prstGeom prst="rect">
            <a:avLst/>
          </a:prstGeom>
          <a:noFill/>
          <a:ln/>
        </p:spPr>
        <p:txBody>
          <a:bodyPr wrap="square" lIns="0" tIns="0" rIns="0" bIns="0" rtlCol="0" anchor="ctr"/>
          <a:lstStyle/>
          <a:p>
            <a:pPr algn="r" indent="0" marL="0">
              <a:buNone/>
            </a:pPr>
            <a:r>
              <a:rPr lang="en-US" sz="1000" i="1" dirty="0">
                <a:solidFill>
                  <a:srgbClr val="1B2430"/>
                </a:solidFill>
              </a:rPr>
              <a:t>Lamp 360–395 nm, switched by hand; not wired to the Pi</a:t>
            </a:r>
            <a:endParaRPr lang="en-US" sz="1000" dirty="0"/>
          </a:p>
        </p:txBody>
      </p:sp>
      <p:sp>
        <p:nvSpPr>
          <p:cNvPr id="64" name="Legend line 1"/>
          <p:cNvSpPr/>
          <p:nvPr/>
        </p:nvSpPr>
        <p:spPr>
          <a:xfrm>
            <a:off x="2743200" y="5486400"/>
            <a:ext cx="320040" cy="0"/>
          </a:xfrm>
          <a:prstGeom prst="line">
            <a:avLst/>
          </a:prstGeom>
          <a:noFill/>
          <a:ln w="44450">
            <a:solidFill>
              <a:srgbClr val="D7263D"/>
            </a:solidFill>
            <a:prstDash val="solid"/>
          </a:ln>
        </p:spPr>
      </p:sp>
      <p:sp>
        <p:nvSpPr>
          <p:cNvPr id="65" name="Legend 1"/>
          <p:cNvSpPr txBox="1"/>
          <p:nvPr/>
        </p:nvSpPr>
        <p:spPr>
          <a:xfrm>
            <a:off x="3127248" y="5376672"/>
            <a:ext cx="1188720" cy="228600"/>
          </a:xfrm>
          <a:prstGeom prst="rect">
            <a:avLst/>
          </a:prstGeom>
          <a:noFill/>
          <a:ln/>
        </p:spPr>
        <p:txBody>
          <a:bodyPr wrap="square" lIns="0" tIns="0" rIns="0" bIns="0" rtlCol="0" anchor="ctr"/>
          <a:lstStyle/>
          <a:p>
            <a:pPr indent="0" marL="0">
              <a:buNone/>
            </a:pPr>
            <a:r>
              <a:rPr lang="en-US" sz="1000" dirty="0">
                <a:solidFill>
                  <a:srgbClr val="1B2430"/>
                </a:solidFill>
              </a:rPr>
              <a:t>5 V power</a:t>
            </a:r>
            <a:endParaRPr lang="en-US" sz="1000" dirty="0"/>
          </a:p>
        </p:txBody>
      </p:sp>
      <p:sp>
        <p:nvSpPr>
          <p:cNvPr id="66" name="Legend line 2"/>
          <p:cNvSpPr/>
          <p:nvPr/>
        </p:nvSpPr>
        <p:spPr>
          <a:xfrm>
            <a:off x="4160520" y="5486400"/>
            <a:ext cx="320040" cy="0"/>
          </a:xfrm>
          <a:prstGeom prst="line">
            <a:avLst/>
          </a:prstGeom>
          <a:noFill/>
          <a:ln w="50800">
            <a:solidFill>
              <a:srgbClr val="5B6777"/>
            </a:solidFill>
            <a:prstDash val="solid"/>
          </a:ln>
        </p:spPr>
      </p:sp>
      <p:sp>
        <p:nvSpPr>
          <p:cNvPr id="67" name="Legend 2"/>
          <p:cNvSpPr txBox="1"/>
          <p:nvPr/>
        </p:nvSpPr>
        <p:spPr>
          <a:xfrm>
            <a:off x="4544568" y="5376672"/>
            <a:ext cx="1188720" cy="228600"/>
          </a:xfrm>
          <a:prstGeom prst="rect">
            <a:avLst/>
          </a:prstGeom>
          <a:noFill/>
          <a:ln/>
        </p:spPr>
        <p:txBody>
          <a:bodyPr wrap="square" lIns="0" tIns="0" rIns="0" bIns="0" rtlCol="0" anchor="ctr"/>
          <a:lstStyle/>
          <a:p>
            <a:pPr indent="0" marL="0">
              <a:buNone/>
            </a:pPr>
            <a:r>
              <a:rPr lang="en-US" sz="1000" dirty="0">
                <a:solidFill>
                  <a:srgbClr val="1B2430"/>
                </a:solidFill>
              </a:rPr>
              <a:t>USB</a:t>
            </a:r>
            <a:endParaRPr lang="en-US" sz="1000" dirty="0"/>
          </a:p>
        </p:txBody>
      </p:sp>
      <p:sp>
        <p:nvSpPr>
          <p:cNvPr id="68" name="Legend line 3"/>
          <p:cNvSpPr/>
          <p:nvPr/>
        </p:nvSpPr>
        <p:spPr>
          <a:xfrm>
            <a:off x="5760720" y="5486400"/>
            <a:ext cx="320040" cy="0"/>
          </a:xfrm>
          <a:prstGeom prst="line">
            <a:avLst/>
          </a:prstGeom>
          <a:noFill/>
          <a:ln w="25400">
            <a:solidFill>
              <a:srgbClr val="1F5F8B"/>
            </a:solidFill>
            <a:prstDash val="solid"/>
          </a:ln>
        </p:spPr>
      </p:sp>
      <p:sp>
        <p:nvSpPr>
          <p:cNvPr id="69" name="Legend 3"/>
          <p:cNvSpPr txBox="1"/>
          <p:nvPr/>
        </p:nvSpPr>
        <p:spPr>
          <a:xfrm>
            <a:off x="6144768" y="5376672"/>
            <a:ext cx="2194560" cy="228600"/>
          </a:xfrm>
          <a:prstGeom prst="rect">
            <a:avLst/>
          </a:prstGeom>
          <a:noFill/>
          <a:ln/>
        </p:spPr>
        <p:txBody>
          <a:bodyPr wrap="square" lIns="0" tIns="0" rIns="0" bIns="0" rtlCol="0" anchor="ctr"/>
          <a:lstStyle/>
          <a:p>
            <a:pPr indent="0" marL="0">
              <a:buNone/>
            </a:pPr>
            <a:r>
              <a:rPr lang="en-US" sz="1000" dirty="0">
                <a:solidFill>
                  <a:srgbClr val="1B2430"/>
                </a:solidFill>
              </a:rPr>
              <a:t>GPIO input, to GND with pull-up</a:t>
            </a:r>
            <a:endParaRPr lang="en-US" sz="1000" dirty="0"/>
          </a:p>
        </p:txBody>
      </p:sp>
      <p:sp>
        <p:nvSpPr>
          <p:cNvPr id="70" name="Legend line 4"/>
          <p:cNvSpPr/>
          <p:nvPr/>
        </p:nvSpPr>
        <p:spPr>
          <a:xfrm>
            <a:off x="8321040" y="5486400"/>
            <a:ext cx="320040" cy="0"/>
          </a:xfrm>
          <a:prstGeom prst="line">
            <a:avLst/>
          </a:prstGeom>
          <a:noFill/>
          <a:ln w="25400">
            <a:solidFill>
              <a:srgbClr val="1B2430"/>
            </a:solidFill>
            <a:prstDash val="solid"/>
          </a:ln>
        </p:spPr>
      </p:sp>
      <p:sp>
        <p:nvSpPr>
          <p:cNvPr id="71" name="Legend 4"/>
          <p:cNvSpPr txBox="1"/>
          <p:nvPr/>
        </p:nvSpPr>
        <p:spPr>
          <a:xfrm>
            <a:off x="8705088" y="5376672"/>
            <a:ext cx="1188720" cy="228600"/>
          </a:xfrm>
          <a:prstGeom prst="rect">
            <a:avLst/>
          </a:prstGeom>
          <a:noFill/>
          <a:ln/>
        </p:spPr>
        <p:txBody>
          <a:bodyPr wrap="square" lIns="0" tIns="0" rIns="0" bIns="0" rtlCol="0" anchor="ctr"/>
          <a:lstStyle/>
          <a:p>
            <a:pPr indent="0" marL="0">
              <a:buNone/>
            </a:pPr>
            <a:r>
              <a:rPr lang="en-US" sz="1000" dirty="0">
                <a:solidFill>
                  <a:srgbClr val="1B2430"/>
                </a:solidFill>
              </a:rPr>
              <a:t>ground</a:t>
            </a:r>
            <a:endParaRPr lang="en-US" sz="1000" dirty="0"/>
          </a:p>
        </p:txBody>
      </p:sp>
      <p:sp>
        <p:nvSpPr>
          <p:cNvPr id="72" name="Schematic note"/>
          <p:cNvSpPr txBox="1"/>
          <p:nvPr/>
        </p:nvSpPr>
        <p:spPr>
          <a:xfrm>
            <a:off x="2743200" y="5669280"/>
            <a:ext cx="5486400" cy="228600"/>
          </a:xfrm>
          <a:prstGeom prst="rect">
            <a:avLst/>
          </a:prstGeom>
          <a:noFill/>
          <a:ln/>
        </p:spPr>
        <p:txBody>
          <a:bodyPr wrap="square" lIns="0" tIns="0" rIns="0" bIns="0" rtlCol="0" anchor="ctr"/>
          <a:lstStyle/>
          <a:p>
            <a:pPr indent="0" marL="0">
              <a:buNone/>
            </a:pPr>
            <a:r>
              <a:rPr lang="en-US" sz="1000" i="1" dirty="0">
                <a:solidFill>
                  <a:schemeClr val="accent5"/>
                </a:solidFill>
              </a:rPr>
              <a:t>Schematic, not to scale; pin numbers are those set in the code.</a:t>
            </a:r>
            <a:endParaRPr lang="en-US" sz="1000" dirty="0"/>
          </a:p>
        </p:txBody>
      </p:sp>
      <p:sp>
        <p:nvSpPr>
          <p:cNvPr id="73"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Pictures (Wikimedia Commons): Raspberry Pi 5 by SimonWaldherr, CC BY 4.0; vibration motor by Raimond Spekking, CC BY-SA 4.0; power bank by Pinguinguy, CC0. Webcam board, buttons, headphone and frame: our prototype.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Evolution of the Prototype</a:t>
            </a:r>
            <a:endParaRPr lang="en-US" sz="3000" dirty="0"/>
          </a:p>
        </p:txBody>
      </p:sp>
      <p:pic>
        <p:nvPicPr>
          <p:cNvPr id="3" name="Prototype version 1" descr="E:\Final SP\Thesis Report and paper\tools\deck\assets/test_10.jpg">    </p:cNvPr>
          <p:cNvPicPr>
            <a:picLocks noChangeAspect="1"/>
          </p:cNvPicPr>
          <p:nvPr/>
        </p:nvPicPr>
        <p:blipFill>
          <a:blip r:embed="rId1"/>
          <a:srcRect l="0" r="0" t="0" b="0"/>
          <a:stretch/>
        </p:blipFill>
        <p:spPr>
          <a:xfrm>
            <a:off x="548640" y="1325880"/>
            <a:ext cx="2596896" cy="4224528"/>
          </a:xfrm>
          <a:prstGeom prst="rect">
            <a:avLst/>
          </a:prstGeom>
        </p:spPr>
      </p:pic>
      <p:sp>
        <p:nvSpPr>
          <p:cNvPr id="4" name="V1 caption"/>
          <p:cNvSpPr txBox="1"/>
          <p:nvPr/>
        </p:nvSpPr>
        <p:spPr>
          <a:xfrm>
            <a:off x="548640" y="5596128"/>
            <a:ext cx="2596896" cy="548640"/>
          </a:xfrm>
          <a:prstGeom prst="rect">
            <a:avLst/>
          </a:prstGeom>
          <a:noFill/>
          <a:ln/>
        </p:spPr>
        <p:txBody>
          <a:bodyPr wrap="square" lIns="0" tIns="0" rIns="0" bIns="0" rtlCol="0" anchor="t"/>
          <a:lstStyle/>
          <a:p>
            <a:pPr indent="0" marL="0">
              <a:buNone/>
            </a:pPr>
            <a:r>
              <a:rPr lang="en-US" sz="1600" b="1" dirty="0">
                <a:solidFill>
                  <a:srgbClr val="17324D"/>
                </a:solidFill>
              </a:rPr>
              <a:t>Version 1</a:t>
            </a:r>
            <a:endParaRPr lang="en-US" sz="1600" dirty="0"/>
          </a:p>
          <a:p>
            <a:pPr indent="0" marL="0">
              <a:buNone/>
            </a:pPr>
            <a:r>
              <a:rPr lang="en-US" sz="1300" dirty="0">
                <a:solidFill>
                  <a:srgbClr val="5B6777"/>
                </a:solidFill>
              </a:rPr>
              <a:t>Board on one temple</a:t>
            </a:r>
            <a:endParaRPr lang="en-US" sz="1600" dirty="0"/>
          </a:p>
        </p:txBody>
      </p:sp>
      <p:pic>
        <p:nvPicPr>
          <p:cNvPr id="5" name="Front: Camera + UV lamp" descr="E:\Final SP\Thesis Report and paper\tools\deck\assets/1_20.jpg">    </p:cNvPr>
          <p:cNvPicPr>
            <a:picLocks noChangeAspect="1"/>
          </p:cNvPicPr>
          <p:nvPr/>
        </p:nvPicPr>
        <p:blipFill>
          <a:blip r:embed="rId2"/>
          <a:srcRect l="0" r="0" t="0" b="0"/>
          <a:stretch/>
        </p:blipFill>
        <p:spPr>
          <a:xfrm>
            <a:off x="3374136" y="1325880"/>
            <a:ext cx="2596896" cy="4224528"/>
          </a:xfrm>
          <a:prstGeom prst="rect">
            <a:avLst/>
          </a:prstGeom>
        </p:spPr>
      </p:pic>
      <p:sp>
        <p:nvSpPr>
          <p:cNvPr id="6" name="V2 caption 1"/>
          <p:cNvSpPr txBox="1"/>
          <p:nvPr/>
        </p:nvSpPr>
        <p:spPr>
          <a:xfrm>
            <a:off x="3374136" y="5596128"/>
            <a:ext cx="2596896" cy="548640"/>
          </a:xfrm>
          <a:prstGeom prst="rect">
            <a:avLst/>
          </a:prstGeom>
          <a:noFill/>
          <a:ln/>
        </p:spPr>
        <p:txBody>
          <a:bodyPr wrap="square" lIns="0" tIns="0" rIns="0" bIns="0" rtlCol="0" anchor="t"/>
          <a:lstStyle/>
          <a:p>
            <a:pPr indent="0" marL="0">
              <a:buNone/>
            </a:pPr>
            <a:r>
              <a:rPr lang="en-US" sz="1600" b="1" dirty="0">
                <a:solidFill>
                  <a:srgbClr val="17324D"/>
                </a:solidFill>
              </a:rPr>
              <a:t>Front</a:t>
            </a:r>
            <a:endParaRPr lang="en-US" sz="1600" dirty="0"/>
          </a:p>
          <a:p>
            <a:pPr indent="0" marL="0">
              <a:buNone/>
            </a:pPr>
            <a:r>
              <a:rPr lang="en-US" sz="1300" dirty="0">
                <a:solidFill>
                  <a:srgbClr val="5B6777"/>
                </a:solidFill>
              </a:rPr>
              <a:t>Camera + UV lamp</a:t>
            </a:r>
            <a:endParaRPr lang="en-US" sz="1600" dirty="0"/>
          </a:p>
        </p:txBody>
      </p:sp>
      <p:pic>
        <p:nvPicPr>
          <p:cNvPr id="7" name="Side: 5 buttons, bone-conduction earphone" descr="E:\Final SP\Thesis Report and paper\tools\deck\assets/v2_side_portrait.jpg">    </p:cNvPr>
          <p:cNvPicPr>
            <a:picLocks noChangeAspect="1"/>
          </p:cNvPicPr>
          <p:nvPr/>
        </p:nvPicPr>
        <p:blipFill>
          <a:blip r:embed="rId3"/>
          <a:srcRect l="0" r="0" t="0" b="0"/>
          <a:stretch/>
        </p:blipFill>
        <p:spPr>
          <a:xfrm>
            <a:off x="6199632" y="1325880"/>
            <a:ext cx="2596896" cy="4224528"/>
          </a:xfrm>
          <a:prstGeom prst="rect">
            <a:avLst/>
          </a:prstGeom>
        </p:spPr>
      </p:pic>
      <p:sp>
        <p:nvSpPr>
          <p:cNvPr id="8" name="V2 caption 2"/>
          <p:cNvSpPr txBox="1"/>
          <p:nvPr/>
        </p:nvSpPr>
        <p:spPr>
          <a:xfrm>
            <a:off x="6199632" y="5596128"/>
            <a:ext cx="2596896" cy="548640"/>
          </a:xfrm>
          <a:prstGeom prst="rect">
            <a:avLst/>
          </a:prstGeom>
          <a:noFill/>
          <a:ln/>
        </p:spPr>
        <p:txBody>
          <a:bodyPr wrap="square" lIns="0" tIns="0" rIns="0" bIns="0" rtlCol="0" anchor="t"/>
          <a:lstStyle/>
          <a:p>
            <a:pPr indent="0" marL="0">
              <a:buNone/>
            </a:pPr>
            <a:r>
              <a:rPr lang="en-US" sz="1600" b="1" dirty="0">
                <a:solidFill>
                  <a:srgbClr val="17324D"/>
                </a:solidFill>
              </a:rPr>
              <a:t>Side</a:t>
            </a:r>
            <a:endParaRPr lang="en-US" sz="1600" dirty="0"/>
          </a:p>
          <a:p>
            <a:pPr indent="0" marL="0">
              <a:buNone/>
            </a:pPr>
            <a:r>
              <a:rPr lang="en-US" sz="1300" dirty="0">
                <a:solidFill>
                  <a:srgbClr val="5B6777"/>
                </a:solidFill>
              </a:rPr>
              <a:t>5 buttons, bone-conduction earphone</a:t>
            </a:r>
            <a:endParaRPr lang="en-US" sz="1600" dirty="0"/>
          </a:p>
        </p:txBody>
      </p:sp>
      <p:pic>
        <p:nvPicPr>
          <p:cNvPr id="9" name="Rear: Pi 5 in a ventilated case" descr="E:\Final SP\Thesis Report and paper\tools\deck\assets/1_23.jpg">    </p:cNvPr>
          <p:cNvPicPr>
            <a:picLocks noChangeAspect="1"/>
          </p:cNvPicPr>
          <p:nvPr/>
        </p:nvPicPr>
        <p:blipFill>
          <a:blip r:embed="rId4"/>
          <a:srcRect l="0" r="0" t="0" b="0"/>
          <a:stretch/>
        </p:blipFill>
        <p:spPr>
          <a:xfrm>
            <a:off x="9025128" y="1325880"/>
            <a:ext cx="2596896" cy="4224528"/>
          </a:xfrm>
          <a:prstGeom prst="rect">
            <a:avLst/>
          </a:prstGeom>
        </p:spPr>
      </p:pic>
      <p:sp>
        <p:nvSpPr>
          <p:cNvPr id="10" name="V2 caption 3"/>
          <p:cNvSpPr txBox="1"/>
          <p:nvPr/>
        </p:nvSpPr>
        <p:spPr>
          <a:xfrm>
            <a:off x="9025128" y="5596128"/>
            <a:ext cx="2596896" cy="548640"/>
          </a:xfrm>
          <a:prstGeom prst="rect">
            <a:avLst/>
          </a:prstGeom>
          <a:noFill/>
          <a:ln/>
        </p:spPr>
        <p:txBody>
          <a:bodyPr wrap="square" lIns="0" tIns="0" rIns="0" bIns="0" rtlCol="0" anchor="t"/>
          <a:lstStyle/>
          <a:p>
            <a:pPr indent="0" marL="0">
              <a:buNone/>
            </a:pPr>
            <a:r>
              <a:rPr lang="en-US" sz="1600" b="1" dirty="0">
                <a:solidFill>
                  <a:srgbClr val="17324D"/>
                </a:solidFill>
              </a:rPr>
              <a:t>Rear</a:t>
            </a:r>
            <a:endParaRPr lang="en-US" sz="1600" dirty="0"/>
          </a:p>
          <a:p>
            <a:pPr indent="0" marL="0">
              <a:buNone/>
            </a:pPr>
            <a:r>
              <a:rPr lang="en-US" sz="1300" dirty="0">
                <a:solidFill>
                  <a:srgbClr val="5B6777"/>
                </a:solidFill>
              </a:rPr>
              <a:t>Pi 5 in a ventilated case</a:t>
            </a:r>
            <a:endParaRPr lang="en-US" sz="1600" dirty="0"/>
          </a:p>
        </p:txBody>
      </p:sp>
      <p:sp>
        <p:nvSpPr>
          <p:cNvPr id="11" name="V2 tag"/>
          <p:cNvSpPr txBox="1"/>
          <p:nvPr/>
        </p:nvSpPr>
        <p:spPr>
          <a:xfrm>
            <a:off x="3511296" y="1463040"/>
            <a:ext cx="1097280" cy="365760"/>
          </a:xfrm>
          <a:prstGeom prst="roundRect">
            <a:avLst>
              <a:gd name="adj" fmla="val 20000"/>
            </a:avLst>
          </a:prstGeom>
          <a:solidFill>
            <a:srgbClr val="1F5F8B"/>
          </a:solidFill>
          <a:ln>
            <a:solidFill>
              <a:srgbClr val="1F5F8B"/>
            </a:solidFill>
          </a:ln>
        </p:spPr>
        <p:txBody>
          <a:bodyPr wrap="square" lIns="0" tIns="0" rIns="0" bIns="0" rtlCol="0" anchor="ctr"/>
          <a:lstStyle/>
          <a:p>
            <a:pPr algn="ctr" indent="0" marL="0">
              <a:buNone/>
            </a:pPr>
            <a:r>
              <a:rPr lang="en-US" sz="1300" b="1" dirty="0">
                <a:solidFill>
                  <a:srgbClr val="FFFFFF"/>
                </a:solidFill>
              </a:rPr>
              <a:t>Version 2</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Banknote Detection: Synthetic Training Data</a:t>
            </a:r>
            <a:endParaRPr lang="en-US" sz="3000" dirty="0"/>
          </a:p>
        </p:txBody>
      </p:sp>
      <p:pic>
        <p:nvPicPr>
          <p:cNvPr id="3" name="Compositing pipeline" descr="E:/Final SP/Thesis Report and paper/thesis report/My report/DIagram fig tab/fig_compositing.jpg">    </p:cNvPr>
          <p:cNvPicPr>
            <a:picLocks noChangeAspect="1"/>
          </p:cNvPicPr>
          <p:nvPr/>
        </p:nvPicPr>
        <p:blipFill>
          <a:blip r:embed="rId1"/>
          <a:stretch>
            <a:fillRect/>
          </a:stretch>
        </p:blipFill>
        <p:spPr>
          <a:xfrm>
            <a:off x="548640" y="1371600"/>
            <a:ext cx="7498080" cy="2183816"/>
          </a:xfrm>
          <a:prstGeom prst="rect">
            <a:avLst/>
          </a:prstGeom>
        </p:spPr>
      </p:pic>
      <p:sp>
        <p:nvSpPr>
          <p:cNvPr id="4" name="Compositing text"/>
          <p:cNvSpPr txBox="1"/>
          <p:nvPr/>
        </p:nvSpPr>
        <p:spPr>
          <a:xfrm>
            <a:off x="548640" y="3840480"/>
            <a:ext cx="7498080" cy="822960"/>
          </a:xfrm>
          <a:prstGeom prst="rect">
            <a:avLst/>
          </a:prstGeom>
          <a:noFill/>
          <a:ln/>
        </p:spPr>
        <p:txBody>
          <a:bodyPr wrap="square" lIns="0" tIns="0" rIns="0" bIns="0" rtlCol="0" anchor="t"/>
          <a:lstStyle/>
          <a:p>
            <a:pPr indent="0" marL="0">
              <a:buNone/>
            </a:pPr>
            <a:r>
              <a:rPr lang="en-US" sz="2000" dirty="0">
                <a:solidFill>
                  <a:schemeClr val="tx1"/>
                </a:solidFill>
              </a:rPr>
              <a:t>Note photos [20] are pasted onto real scenes [16], and the program writes every label itself.</a:t>
            </a:r>
            <a:endParaRPr lang="en-US" sz="2000" dirty="0"/>
          </a:p>
        </p:txBody>
      </p:sp>
      <p:sp>
        <p:nvSpPr>
          <p:cNvPr id="5" name="Synthetic card"/>
          <p:cNvSpPr/>
          <p:nvPr/>
        </p:nvSpPr>
        <p:spPr>
          <a:xfrm>
            <a:off x="8412480" y="1371600"/>
            <a:ext cx="3200400" cy="2103120"/>
          </a:xfrm>
          <a:prstGeom prst="roundRect">
            <a:avLst>
              <a:gd name="adj" fmla="val 5217"/>
            </a:avLst>
          </a:prstGeom>
          <a:solidFill>
            <a:schemeClr val="bg2"/>
          </a:solidFill>
          <a:ln w="12700">
            <a:solidFill>
              <a:schemeClr val="bg2"/>
            </a:solidFill>
            <a:prstDash val="solid"/>
          </a:ln>
        </p:spPr>
      </p:sp>
      <p:sp>
        <p:nvSpPr>
          <p:cNvPr id="6" name="Synthetic tag"/>
          <p:cNvSpPr txBox="1"/>
          <p:nvPr/>
        </p:nvSpPr>
        <p:spPr>
          <a:xfrm>
            <a:off x="8641080" y="1554480"/>
            <a:ext cx="2377440" cy="329184"/>
          </a:xfrm>
          <a:prstGeom prst="roundRect">
            <a:avLst>
              <a:gd name="adj" fmla="val 16667"/>
            </a:avLst>
          </a:prstGeom>
          <a:solidFill>
            <a:srgbClr val="BFD4E6"/>
          </a:solidFill>
          <a:ln>
            <a:solidFill>
              <a:srgbClr val="BFD4E6"/>
            </a:solidFill>
          </a:ln>
        </p:spPr>
        <p:txBody>
          <a:bodyPr wrap="square" lIns="0" tIns="0" rIns="0" bIns="0" rtlCol="0" anchor="ctr"/>
          <a:lstStyle/>
          <a:p>
            <a:pPr algn="ctr" indent="0" marL="0">
              <a:buNone/>
            </a:pPr>
            <a:r>
              <a:rPr lang="en-US" sz="1200" b="1" dirty="0">
                <a:solidFill>
                  <a:srgbClr val="17324D"/>
                </a:solidFill>
              </a:rPr>
              <a:t>SYNTHETIC COMPOSITES</a:t>
            </a:r>
            <a:endParaRPr lang="en-US" sz="1200" dirty="0"/>
          </a:p>
        </p:txBody>
      </p:sp>
      <p:sp>
        <p:nvSpPr>
          <p:cNvPr id="7" name="mAP value"/>
          <p:cNvSpPr txBox="1"/>
          <p:nvPr/>
        </p:nvSpPr>
        <p:spPr>
          <a:xfrm>
            <a:off x="8641080" y="2011680"/>
            <a:ext cx="274320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0.995</a:t>
            </a:r>
            <a:endParaRPr lang="en-US" sz="3600" dirty="0"/>
          </a:p>
        </p:txBody>
      </p:sp>
      <p:sp>
        <p:nvSpPr>
          <p:cNvPr id="8" name="mAP label"/>
          <p:cNvSpPr txBox="1"/>
          <p:nvPr/>
        </p:nvSpPr>
        <p:spPr>
          <a:xfrm>
            <a:off x="8641080" y="2697480"/>
            <a:ext cx="2743200" cy="685800"/>
          </a:xfrm>
          <a:prstGeom prst="rect">
            <a:avLst/>
          </a:prstGeom>
          <a:noFill/>
          <a:ln/>
        </p:spPr>
        <p:txBody>
          <a:bodyPr wrap="square" lIns="0" tIns="0" rIns="0" bIns="0" rtlCol="0" anchor="t"/>
          <a:lstStyle/>
          <a:p>
            <a:pPr indent="0" marL="0">
              <a:buNone/>
            </a:pPr>
            <a:r>
              <a:rPr lang="en-US" sz="1500" dirty="0">
                <a:solidFill>
                  <a:schemeClr val="tx1"/>
                </a:solidFill>
              </a:rPr>
              <a:t>mAP@0.5 on 2,282 held-out composites</a:t>
            </a:r>
            <a:endParaRPr lang="en-US" sz="1500" dirty="0"/>
          </a:p>
        </p:txBody>
      </p:sp>
      <p:sp>
        <p:nvSpPr>
          <p:cNvPr id="9" name="Real card"/>
          <p:cNvSpPr/>
          <p:nvPr/>
        </p:nvSpPr>
        <p:spPr>
          <a:xfrm>
            <a:off x="8412480" y="3657600"/>
            <a:ext cx="3200400" cy="2194560"/>
          </a:xfrm>
          <a:prstGeom prst="roundRect">
            <a:avLst>
              <a:gd name="adj" fmla="val 5000"/>
            </a:avLst>
          </a:prstGeom>
          <a:solidFill>
            <a:schemeClr val="tx2"/>
          </a:solidFill>
          <a:ln w="12700">
            <a:solidFill>
              <a:schemeClr val="tx2"/>
            </a:solidFill>
            <a:prstDash val="solid"/>
          </a:ln>
        </p:spPr>
      </p:sp>
      <p:sp>
        <p:nvSpPr>
          <p:cNvPr id="10" name="Real tag"/>
          <p:cNvSpPr txBox="1"/>
          <p:nvPr/>
        </p:nvSpPr>
        <p:spPr>
          <a:xfrm>
            <a:off x="8641080" y="3840480"/>
            <a:ext cx="1554480" cy="329184"/>
          </a:xfrm>
          <a:prstGeom prst="roundRect">
            <a:avLst>
              <a:gd name="adj" fmla="val 16667"/>
            </a:avLst>
          </a:prstGeom>
          <a:solidFill>
            <a:srgbClr val="E6A817"/>
          </a:solidFill>
          <a:ln>
            <a:solidFill>
              <a:srgbClr val="E6A817"/>
            </a:solidFill>
          </a:ln>
        </p:spPr>
        <p:txBody>
          <a:bodyPr wrap="square" lIns="0" tIns="0" rIns="0" bIns="0" rtlCol="0" anchor="ctr"/>
          <a:lstStyle/>
          <a:p>
            <a:pPr algn="ctr" indent="0" marL="0">
              <a:buNone/>
            </a:pPr>
            <a:r>
              <a:rPr lang="en-US" sz="1200" b="1" dirty="0">
                <a:solidFill>
                  <a:srgbClr val="1B2430"/>
                </a:solidFill>
              </a:rPr>
              <a:t>REAL PHOTOS</a:t>
            </a:r>
            <a:endParaRPr lang="en-US" sz="1200" dirty="0"/>
          </a:p>
        </p:txBody>
      </p:sp>
      <p:sp>
        <p:nvSpPr>
          <p:cNvPr id="11" name="Real value"/>
          <p:cNvSpPr txBox="1"/>
          <p:nvPr/>
        </p:nvSpPr>
        <p:spPr>
          <a:xfrm>
            <a:off x="8641080" y="4297680"/>
            <a:ext cx="2743200" cy="6858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94.1%</a:t>
            </a:r>
            <a:endParaRPr lang="en-US" sz="4000" dirty="0"/>
          </a:p>
        </p:txBody>
      </p:sp>
      <p:sp>
        <p:nvSpPr>
          <p:cNvPr id="12" name="Real label"/>
          <p:cNvSpPr txBox="1"/>
          <p:nvPr/>
        </p:nvSpPr>
        <p:spPr>
          <a:xfrm>
            <a:off x="8641080" y="4983480"/>
            <a:ext cx="2743200" cy="731520"/>
          </a:xfrm>
          <a:prstGeom prst="rect">
            <a:avLst/>
          </a:prstGeom>
          <a:noFill/>
          <a:ln/>
        </p:spPr>
        <p:txBody>
          <a:bodyPr wrap="square" lIns="0" tIns="0" rIns="0" bIns="0" rtlCol="0" anchor="t"/>
          <a:lstStyle/>
          <a:p>
            <a:pPr indent="0" marL="0">
              <a:buNone/>
            </a:pPr>
            <a:r>
              <a:rPr lang="en-US" sz="1400" dirty="0">
                <a:solidFill>
                  <a:srgbClr val="E6EEF6"/>
                </a:solidFill>
              </a:rPr>
              <a:t>right note value on 1,536 photos taken by other people (laptop)</a:t>
            </a:r>
            <a:endParaRPr lang="en-US" sz="1400" dirty="0"/>
          </a:p>
        </p:txBody>
      </p:sp>
      <p:sp>
        <p:nvSpPr>
          <p:cNvPr id="13"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[20] BanglaTaka (Mendeley); [16] Lin et al., COCO, ECCV 2014; detector [13] Ultralytics YOLOv8. 94.1% with the hand-held detector (next slide).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Banknote Detection: Hand-Held Notes</a:t>
            </a:r>
            <a:endParaRPr lang="en-US" sz="3000" dirty="0"/>
          </a:p>
        </p:txBody>
      </p:sp>
      <p:sp>
        <p:nvSpPr>
          <p:cNvPr id="3" name="Training tag"/>
          <p:cNvSpPr txBox="1"/>
          <p:nvPr/>
        </p:nvSpPr>
        <p:spPr>
          <a:xfrm>
            <a:off x="548640" y="1325880"/>
            <a:ext cx="3566160" cy="329184"/>
          </a:xfrm>
          <a:prstGeom prst="roundRect">
            <a:avLst>
              <a:gd name="adj" fmla="val 16667"/>
            </a:avLst>
          </a:prstGeom>
          <a:solidFill>
            <a:srgbClr val="BFD4E6"/>
          </a:solidFill>
          <a:ln>
            <a:solidFill>
              <a:srgbClr val="BFD4E6"/>
            </a:solidFill>
          </a:ln>
        </p:spPr>
        <p:txBody>
          <a:bodyPr wrap="square" lIns="0" tIns="0" rIns="0" bIns="0" rtlCol="0" anchor="ctr"/>
          <a:lstStyle/>
          <a:p>
            <a:pPr algn="ctr" indent="0" marL="0">
              <a:buNone/>
            </a:pPr>
            <a:r>
              <a:rPr lang="en-US" sz="1200" b="1" dirty="0">
                <a:solidFill>
                  <a:srgbClr val="17324D"/>
                </a:solidFill>
              </a:rPr>
              <a:t>TRAINING: 6,000 SYNTHETIC CLOSE-UPS</a:t>
            </a:r>
            <a:endParaRPr lang="en-US" sz="1200" dirty="0"/>
          </a:p>
        </p:txBody>
      </p:sp>
      <p:pic>
        <p:nvPicPr>
          <p:cNvPr id="4" name="Synthetic close-ups" descr="E:/Final SP/Thesis Report and paper/thesis report/My report/fig58_handheld_closeups.png">    </p:cNvPr>
          <p:cNvPicPr>
            <a:picLocks noChangeAspect="1"/>
          </p:cNvPicPr>
          <p:nvPr/>
        </p:nvPicPr>
        <p:blipFill>
          <a:blip r:embed="rId1"/>
          <a:stretch>
            <a:fillRect/>
          </a:stretch>
        </p:blipFill>
        <p:spPr>
          <a:xfrm>
            <a:off x="548640" y="1737360"/>
            <a:ext cx="5029200" cy="2011680"/>
          </a:xfrm>
          <a:prstGeom prst="rect">
            <a:avLst/>
          </a:prstGeom>
        </p:spPr>
      </p:pic>
      <p:sp>
        <p:nvSpPr>
          <p:cNvPr id="5" name="Test tag"/>
          <p:cNvSpPr txBox="1"/>
          <p:nvPr/>
        </p:nvSpPr>
        <p:spPr>
          <a:xfrm>
            <a:off x="548640" y="3931920"/>
            <a:ext cx="3017520" cy="329184"/>
          </a:xfrm>
          <a:prstGeom prst="roundRect">
            <a:avLst>
              <a:gd name="adj" fmla="val 16667"/>
            </a:avLst>
          </a:prstGeom>
          <a:solidFill>
            <a:srgbClr val="E6A817"/>
          </a:solidFill>
          <a:ln>
            <a:solidFill>
              <a:srgbClr val="E6A817"/>
            </a:solidFill>
          </a:ln>
        </p:spPr>
        <p:txBody>
          <a:bodyPr wrap="square" lIns="0" tIns="0" rIns="0" bIns="0" rtlCol="0" anchor="ctr"/>
          <a:lstStyle/>
          <a:p>
            <a:pPr algn="ctr" indent="0" marL="0">
              <a:buNone/>
            </a:pPr>
            <a:r>
              <a:rPr lang="en-US" sz="1200" b="1" dirty="0">
                <a:solidFill>
                  <a:srgbClr val="1B2430"/>
                </a:solidFill>
              </a:rPr>
              <a:t>TEST: REAL HAND-HELD PHOTOS</a:t>
            </a:r>
            <a:endParaRPr lang="en-US" sz="1200" dirty="0"/>
          </a:p>
        </p:txBody>
      </p:sp>
      <p:sp>
        <p:nvSpPr>
          <p:cNvPr id="6" name="Hand-held takeaway"/>
          <p:cNvSpPr txBox="1"/>
          <p:nvPr/>
        </p:nvSpPr>
        <p:spPr>
          <a:xfrm>
            <a:off x="548640" y="4343400"/>
            <a:ext cx="640080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11.8% → 47.5%</a:t>
            </a:r>
            <a:endParaRPr lang="en-US" sz="4400" dirty="0"/>
          </a:p>
        </p:txBody>
      </p:sp>
      <p:graphicFrame>
        <p:nvGraphicFramePr>
          <p:cNvPr id="7" name="Hand-held chart" descr=""/>
          <p:cNvGraphicFramePr/>
          <p:nvPr/>
        </p:nvGraphicFramePr>
        <p:xfrm>
          <a:off x="7223760" y="1325880"/>
          <a:ext cx="4389120" cy="4023360"/>
        </p:xfrm>
        <a:graphic xmlns:a="http://schemas.openxmlformats.org/drawingml/2006/main">
          <a:graphicData uri="http://schemas.openxmlformats.org/drawingml/2006/chart">
            <c:chart xmlns:c="http://schemas.openxmlformats.org/drawingml/2006/chart" r:id="rId2"/>
          </a:graphicData>
        </a:graphic>
      </p:graphicFrame>
      <p:sp>
        <p:nvSpPr>
          <p:cNvPr id="8" name="Costs"/>
          <p:cNvSpPr txBox="1"/>
          <p:nvPr/>
        </p:nvSpPr>
        <p:spPr>
          <a:xfrm>
            <a:off x="548640" y="5166360"/>
            <a:ext cx="6400800" cy="731520"/>
          </a:xfrm>
          <a:prstGeom prst="rect">
            <a:avLst/>
          </a:prstGeom>
          <a:noFill/>
          <a:ln/>
        </p:spPr>
        <p:txBody>
          <a:bodyPr wrap="square" lIns="0" tIns="0" rIns="0" bIns="0" rtlCol="0" anchor="t"/>
          <a:lstStyle/>
          <a:p>
            <a:pPr indent="0" marL="0">
              <a:buNone/>
            </a:pPr>
            <a:r>
              <a:rPr lang="en-US" sz="1400" i="1" dirty="0">
                <a:solidFill>
                  <a:schemeClr val="accent2"/>
                </a:solidFill>
              </a:rPr>
              <a:t>Right note value on the laptop. Trade-off: with 3 notes in view, the total is right 97.0% (was 99.2%).</a:t>
            </a:r>
            <a:endParaRPr lang="en-US" sz="1400" dirty="0"/>
          </a:p>
        </p:txBody>
      </p:sp>
      <p:sp>
        <p:nvSpPr>
          <p:cNvPr id="9"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test photos [21] Rafi et al., NSTU-BDTAKA, Data in Brief 2024; detector [13] YOLOv8. Our results: paper_evidence/HANDHELD_FINETUNE.md.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Live Detection Tests</a:t>
            </a:r>
            <a:endParaRPr lang="en-US" sz="3000" dirty="0"/>
          </a:p>
        </p:txBody>
      </p:sp>
      <p:sp>
        <p:nvSpPr>
          <p:cNvPr id="3" name="Demo banner"/>
          <p:cNvSpPr txBox="1"/>
          <p:nvPr/>
        </p:nvSpPr>
        <p:spPr>
          <a:xfrm>
            <a:off x="548640" y="1234440"/>
            <a:ext cx="11064240" cy="384048"/>
          </a:xfrm>
          <a:prstGeom prst="roundRect">
            <a:avLst>
              <a:gd name="adj" fmla="val 19048"/>
            </a:avLst>
          </a:prstGeom>
          <a:solidFill>
            <a:srgbClr val="FFF4D6"/>
          </a:solidFill>
          <a:ln>
            <a:solidFill>
              <a:srgbClr val="E6A817"/>
            </a:solidFill>
          </a:ln>
        </p:spPr>
        <p:txBody>
          <a:bodyPr wrap="square" lIns="0" tIns="0" rIns="0" bIns="0" rtlCol="0" anchor="ctr"/>
          <a:lstStyle/>
          <a:p>
            <a:pPr algn="ctr" indent="0" marL="0">
              <a:buNone/>
            </a:pPr>
            <a:r>
              <a:rPr lang="en-US" sz="1500" b="1" dirty="0">
                <a:solidFill>
                  <a:srgbClr val="1B2430"/>
                </a:solidFill>
              </a:rPr>
              <a:t>Informal demonstrations, not a measured accuracy study</a:t>
            </a:r>
            <a:endParaRPr lang="en-US" sz="1500" dirty="0"/>
          </a:p>
        </p:txBody>
      </p:sp>
      <p:sp>
        <p:nvSpPr>
          <p:cNvPr id="4" name="Live row 1 label"/>
          <p:cNvSpPr txBox="1"/>
          <p:nvPr/>
        </p:nvSpPr>
        <p:spPr>
          <a:xfrm>
            <a:off x="548640" y="1719072"/>
            <a:ext cx="11064240" cy="274320"/>
          </a:xfrm>
          <a:prstGeom prst="rect">
            <a:avLst/>
          </a:prstGeom>
          <a:noFill/>
          <a:ln/>
        </p:spPr>
        <p:txBody>
          <a:bodyPr wrap="square" lIns="0" tIns="0" rIns="0" bIns="0" rtlCol="0" anchor="ctr"/>
          <a:lstStyle/>
          <a:p>
            <a:pPr indent="0" marL="0">
              <a:buNone/>
            </a:pPr>
            <a:r>
              <a:rPr lang="en-US" sz="1400" b="1" dirty="0">
                <a:solidFill>
                  <a:srgbClr val="17324D"/>
                </a:solidFill>
                <a:latin typeface="Arial" pitchFamily="34" charset="0"/>
                <a:ea typeface="Arial" pitchFamily="34" charset="-122"/>
                <a:cs typeface="Arial" pitchFamily="34" charset="-120"/>
              </a:rPr>
              <a:t>Software: live detection on a laptop webcam (detector output shown)</a:t>
            </a:r>
            <a:endParaRPr lang="en-US" sz="1400" dirty="0"/>
          </a:p>
        </p:txBody>
      </p:sp>
      <p:pic>
        <p:nvPicPr>
          <p:cNvPr id="5" name="Live row 1 photo 1" descr="E:\Final SP\Thesis Report and paper\tools\deck\assets/live_sw_1.jpg">    </p:cNvPr>
          <p:cNvPicPr>
            <a:picLocks noChangeAspect="1"/>
          </p:cNvPicPr>
          <p:nvPr/>
        </p:nvPicPr>
        <p:blipFill>
          <a:blip r:embed="rId1"/>
          <a:srcRect l="0" r="0" t="0" b="0"/>
          <a:stretch/>
        </p:blipFill>
        <p:spPr>
          <a:xfrm>
            <a:off x="548640" y="2020824"/>
            <a:ext cx="2670048" cy="1691640"/>
          </a:xfrm>
          <a:prstGeom prst="rect">
            <a:avLst/>
          </a:prstGeom>
        </p:spPr>
      </p:pic>
      <p:pic>
        <p:nvPicPr>
          <p:cNvPr id="6" name="Live row 1 photo 2" descr="E:\Final SP\Thesis Report and paper\tools\deck\assets/live_sw_3.jpg">    </p:cNvPr>
          <p:cNvPicPr>
            <a:picLocks noChangeAspect="1"/>
          </p:cNvPicPr>
          <p:nvPr/>
        </p:nvPicPr>
        <p:blipFill>
          <a:blip r:embed="rId2"/>
          <a:srcRect l="0" r="0" t="0" b="0"/>
          <a:stretch/>
        </p:blipFill>
        <p:spPr>
          <a:xfrm>
            <a:off x="3346704" y="2020824"/>
            <a:ext cx="2670048" cy="1691640"/>
          </a:xfrm>
          <a:prstGeom prst="rect">
            <a:avLst/>
          </a:prstGeom>
        </p:spPr>
      </p:pic>
      <p:pic>
        <p:nvPicPr>
          <p:cNvPr id="7" name="Live row 1 photo 3" descr="E:\Final SP\Thesis Report and paper\tools\deck\assets/live_sw_4.jpg">    </p:cNvPr>
          <p:cNvPicPr>
            <a:picLocks noChangeAspect="1"/>
          </p:cNvPicPr>
          <p:nvPr/>
        </p:nvPicPr>
        <p:blipFill>
          <a:blip r:embed="rId3"/>
          <a:srcRect l="0" r="0" t="0" b="0"/>
          <a:stretch/>
        </p:blipFill>
        <p:spPr>
          <a:xfrm>
            <a:off x="6144768" y="2020824"/>
            <a:ext cx="2670048" cy="1691640"/>
          </a:xfrm>
          <a:prstGeom prst="rect">
            <a:avLst/>
          </a:prstGeom>
        </p:spPr>
      </p:pic>
      <p:pic>
        <p:nvPicPr>
          <p:cNvPr id="8" name="Live row 1 photo 4" descr="E:\Final SP\Thesis Report and paper\tools\deck\assets/live_sw_5.jpg">    </p:cNvPr>
          <p:cNvPicPr>
            <a:picLocks noChangeAspect="1"/>
          </p:cNvPicPr>
          <p:nvPr/>
        </p:nvPicPr>
        <p:blipFill>
          <a:blip r:embed="rId4"/>
          <a:srcRect l="0" r="0" t="0" b="0"/>
          <a:stretch/>
        </p:blipFill>
        <p:spPr>
          <a:xfrm>
            <a:off x="8942832" y="2020824"/>
            <a:ext cx="2670048" cy="1691640"/>
          </a:xfrm>
          <a:prstGeom prst="rect">
            <a:avLst/>
          </a:prstGeom>
        </p:spPr>
      </p:pic>
      <p:sp>
        <p:nvSpPr>
          <p:cNvPr id="9" name="Live row 2 label"/>
          <p:cNvSpPr txBox="1"/>
          <p:nvPr/>
        </p:nvSpPr>
        <p:spPr>
          <a:xfrm>
            <a:off x="548640" y="3776472"/>
            <a:ext cx="11064240" cy="274320"/>
          </a:xfrm>
          <a:prstGeom prst="rect">
            <a:avLst/>
          </a:prstGeom>
          <a:noFill/>
          <a:ln/>
        </p:spPr>
        <p:txBody>
          <a:bodyPr wrap="square" lIns="0" tIns="0" rIns="0" bIns="0" rtlCol="0" anchor="ctr"/>
          <a:lstStyle/>
          <a:p>
            <a:pPr indent="0" marL="0">
              <a:buNone/>
            </a:pPr>
            <a:r>
              <a:rPr lang="en-US" sz="1400" b="1" dirty="0">
                <a:solidFill>
                  <a:srgbClr val="17324D"/>
                </a:solidFill>
                <a:latin typeface="Arial" pitchFamily="34" charset="0"/>
                <a:ea typeface="Arial" pitchFamily="34" charset="-122"/>
                <a:cs typeface="Arial" pitchFamily="34" charset="-120"/>
              </a:rPr>
              <a:t>Second prototype (v2): live tests with the glass (staged)</a:t>
            </a:r>
            <a:endParaRPr lang="en-US" sz="1400" dirty="0"/>
          </a:p>
        </p:txBody>
      </p:sp>
      <p:pic>
        <p:nvPicPr>
          <p:cNvPr id="10" name="Live row 2 photo 1" descr="E:\Final SP\Thesis Report and paper\tools\deck\assets/live_v2_16.jpg">    </p:cNvPr>
          <p:cNvPicPr>
            <a:picLocks noChangeAspect="1"/>
          </p:cNvPicPr>
          <p:nvPr/>
        </p:nvPicPr>
        <p:blipFill>
          <a:blip r:embed="rId5"/>
          <a:srcRect l="0" r="0" t="0" b="0"/>
          <a:stretch/>
        </p:blipFill>
        <p:spPr>
          <a:xfrm>
            <a:off x="548640" y="4078224"/>
            <a:ext cx="2670048" cy="1691640"/>
          </a:xfrm>
          <a:prstGeom prst="rect">
            <a:avLst/>
          </a:prstGeom>
        </p:spPr>
      </p:pic>
      <p:pic>
        <p:nvPicPr>
          <p:cNvPr id="11" name="Live row 2 photo 2" descr="E:\Final SP\Thesis Report and paper\tools\deck\assets/live_v2_18.jpg">    </p:cNvPr>
          <p:cNvPicPr>
            <a:picLocks noChangeAspect="1"/>
          </p:cNvPicPr>
          <p:nvPr/>
        </p:nvPicPr>
        <p:blipFill>
          <a:blip r:embed="rId6"/>
          <a:srcRect l="0" r="0" t="0" b="0"/>
          <a:stretch/>
        </p:blipFill>
        <p:spPr>
          <a:xfrm>
            <a:off x="3346704" y="4078224"/>
            <a:ext cx="2670048" cy="1691640"/>
          </a:xfrm>
          <a:prstGeom prst="rect">
            <a:avLst/>
          </a:prstGeom>
        </p:spPr>
      </p:pic>
      <p:pic>
        <p:nvPicPr>
          <p:cNvPr id="12" name="Live row 2 photo 3" descr="E:\Final SP\Thesis Report and paper\tools\deck\assets/live_v2_24.jpg">    </p:cNvPr>
          <p:cNvPicPr>
            <a:picLocks noChangeAspect="1"/>
          </p:cNvPicPr>
          <p:nvPr/>
        </p:nvPicPr>
        <p:blipFill>
          <a:blip r:embed="rId7"/>
          <a:srcRect l="0" r="0" t="0" b="0"/>
          <a:stretch/>
        </p:blipFill>
        <p:spPr>
          <a:xfrm>
            <a:off x="6144768" y="4078224"/>
            <a:ext cx="2670048" cy="1691640"/>
          </a:xfrm>
          <a:prstGeom prst="rect">
            <a:avLst/>
          </a:prstGeom>
        </p:spPr>
      </p:pic>
      <p:pic>
        <p:nvPicPr>
          <p:cNvPr id="13" name="Live row 2 photo 4" descr="E:\Final SP\Thesis Report and paper\tools\deck\assets/live_v2_29.jpg">    </p:cNvPr>
          <p:cNvPicPr>
            <a:picLocks noChangeAspect="1"/>
          </p:cNvPicPr>
          <p:nvPr/>
        </p:nvPicPr>
        <p:blipFill>
          <a:blip r:embed="rId8"/>
          <a:srcRect l="0" r="0" t="0" b="0"/>
          <a:stretch/>
        </p:blipFill>
        <p:spPr>
          <a:xfrm>
            <a:off x="8942832" y="4078224"/>
            <a:ext cx="2670048" cy="1691640"/>
          </a:xfrm>
          <a:prstGeom prst="rect">
            <a:avLst/>
          </a:prstGeom>
        </p:spPr>
      </p:pic>
      <p:sp>
        <p:nvSpPr>
          <p:cNvPr id="14" name="Live test note"/>
          <p:cNvSpPr txBox="1"/>
          <p:nvPr/>
        </p:nvSpPr>
        <p:spPr>
          <a:xfrm>
            <a:off x="548640" y="5870448"/>
            <a:ext cx="11064240" cy="365760"/>
          </a:xfrm>
          <a:prstGeom prst="rect">
            <a:avLst/>
          </a:prstGeom>
          <a:noFill/>
          <a:ln/>
        </p:spPr>
        <p:txBody>
          <a:bodyPr wrap="square" lIns="0" tIns="0" rIns="0" bIns="0" rtlCol="0" anchor="t"/>
          <a:lstStyle/>
          <a:p>
            <a:pPr indent="0" marL="0">
              <a:buNone/>
            </a:pPr>
            <a:r>
              <a:rPr lang="en-US" sz="1300" dirty="0">
                <a:solidFill>
                  <a:schemeClr val="tx1"/>
                </a:solidFill>
              </a:rPr>
              <a:t>Screenshots: 50, 200, 500 and 1,000 Taka named at 0.63–0.89 confidence, two or three notes at once. The v2 photos do not show the detector output.</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Counterfeit Screening: Prefix-Robust Multi-View Training</a:t>
            </a:r>
            <a:endParaRPr lang="en-US" sz="3000" dirty="0"/>
          </a:p>
        </p:txBody>
      </p:sp>
      <p:graphicFrame>
        <p:nvGraphicFramePr>
          <p:cNvPr id="3" name="Prefix chart" descr=""/>
          <p:cNvGraphicFramePr/>
          <p:nvPr/>
        </p:nvGraphicFramePr>
        <p:xfrm>
          <a:off x="548640" y="13258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Takeaway card"/>
          <p:cNvSpPr/>
          <p:nvPr/>
        </p:nvSpPr>
        <p:spPr>
          <a:xfrm>
            <a:off x="7863840" y="1325880"/>
            <a:ext cx="3749040" cy="4526280"/>
          </a:xfrm>
          <a:prstGeom prst="roundRect">
            <a:avLst>
              <a:gd name="adj" fmla="val 2927"/>
            </a:avLst>
          </a:prstGeom>
          <a:solidFill>
            <a:schemeClr val="tx2"/>
          </a:solidFill>
          <a:ln w="12700">
            <a:solidFill>
              <a:schemeClr val="tx2"/>
            </a:solidFill>
            <a:prstDash val="solid"/>
          </a:ln>
        </p:spPr>
      </p:sp>
      <p:sp>
        <p:nvSpPr>
          <p:cNvPr id="5" name="One view label"/>
          <p:cNvSpPr txBox="1"/>
          <p:nvPr/>
        </p:nvSpPr>
        <p:spPr>
          <a:xfrm>
            <a:off x="8138160" y="1600200"/>
            <a:ext cx="3200400" cy="411480"/>
          </a:xfrm>
          <a:prstGeom prst="rect">
            <a:avLst/>
          </a:prstGeom>
          <a:noFill/>
          <a:ln/>
        </p:spPr>
        <p:txBody>
          <a:bodyPr wrap="square" lIns="0" tIns="0" rIns="0" bIns="0" rtlCol="0" anchor="ctr"/>
          <a:lstStyle/>
          <a:p>
            <a:pPr indent="0" marL="0">
              <a:buNone/>
            </a:pPr>
            <a:r>
              <a:rPr lang="en-US" sz="1800" dirty="0">
                <a:solidFill>
                  <a:srgbClr val="D2E0EC"/>
                </a:solidFill>
              </a:rPr>
              <a:t>With a single view</a:t>
            </a:r>
            <a:endParaRPr lang="en-US" sz="1800" dirty="0"/>
          </a:p>
        </p:txBody>
      </p:sp>
      <p:sp>
        <p:nvSpPr>
          <p:cNvPr id="6" name="Before value"/>
          <p:cNvSpPr txBox="1"/>
          <p:nvPr/>
        </p:nvSpPr>
        <p:spPr>
          <a:xfrm>
            <a:off x="8138160" y="2057400"/>
            <a:ext cx="3200400" cy="640080"/>
          </a:xfrm>
          <a:prstGeom prst="rect">
            <a:avLst/>
          </a:prstGeom>
          <a:noFill/>
          <a:ln/>
        </p:spPr>
        <p:txBody>
          <a:bodyPr wrap="square" lIns="0" tIns="0" rIns="0" bIns="0" rtlCol="0" anchor="ctr"/>
          <a:lstStyle/>
          <a:p>
            <a:pPr indent="0" marL="0">
              <a:buNone/>
            </a:pPr>
            <a:r>
              <a:rPr lang="en-US" sz="3600" b="1" dirty="0">
                <a:solidFill>
                  <a:srgbClr val="B8C6D4"/>
                </a:solidFill>
                <a:latin typeface="Arial" pitchFamily="34" charset="0"/>
                <a:ea typeface="Arial" pitchFamily="34" charset="-122"/>
                <a:cs typeface="Arial" pitchFamily="34" charset="-120"/>
              </a:rPr>
              <a:t>71.2%</a:t>
            </a:r>
            <a:endParaRPr lang="en-US" sz="3600" dirty="0"/>
          </a:p>
        </p:txBody>
      </p:sp>
      <p:sp>
        <p:nvSpPr>
          <p:cNvPr id="7" name="Rises to"/>
          <p:cNvSpPr txBox="1"/>
          <p:nvPr/>
        </p:nvSpPr>
        <p:spPr>
          <a:xfrm>
            <a:off x="8138160" y="2697480"/>
            <a:ext cx="3200400" cy="411480"/>
          </a:xfrm>
          <a:prstGeom prst="rect">
            <a:avLst/>
          </a:prstGeom>
          <a:noFill/>
          <a:ln/>
        </p:spPr>
        <p:txBody>
          <a:bodyPr wrap="square" lIns="0" tIns="0" rIns="0" bIns="0" rtlCol="0" anchor="ctr"/>
          <a:lstStyle/>
          <a:p>
            <a:pPr indent="0" marL="0">
              <a:buNone/>
            </a:pPr>
            <a:r>
              <a:rPr lang="en-US" sz="1800" i="1" dirty="0">
                <a:solidFill>
                  <a:srgbClr val="D2E0EC"/>
                </a:solidFill>
              </a:rPr>
              <a:t>rises to</a:t>
            </a:r>
            <a:endParaRPr lang="en-US" sz="1800" dirty="0"/>
          </a:p>
        </p:txBody>
      </p:sp>
      <p:sp>
        <p:nvSpPr>
          <p:cNvPr id="8" name="After value"/>
          <p:cNvSpPr txBox="1"/>
          <p:nvPr/>
        </p:nvSpPr>
        <p:spPr>
          <a:xfrm>
            <a:off x="8138160" y="3108960"/>
            <a:ext cx="3200400" cy="8686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98.2%</a:t>
            </a:r>
            <a:endParaRPr lang="en-US" sz="5400" dirty="0"/>
          </a:p>
        </p:txBody>
      </p:sp>
      <p:sp>
        <p:nvSpPr>
          <p:cNvPr id="9" name="Split note"/>
          <p:cNvSpPr txBox="1"/>
          <p:nvPr/>
        </p:nvSpPr>
        <p:spPr>
          <a:xfrm>
            <a:off x="8138160" y="5074920"/>
            <a:ext cx="3200400" cy="640080"/>
          </a:xfrm>
          <a:prstGeom prst="rect">
            <a:avLst/>
          </a:prstGeom>
          <a:noFill/>
          <a:ln/>
        </p:spPr>
        <p:txBody>
          <a:bodyPr wrap="square" lIns="0" tIns="0" rIns="0" bIns="0" rtlCol="0" anchor="t"/>
          <a:lstStyle/>
          <a:p>
            <a:pPr indent="0" marL="0">
              <a:buNone/>
            </a:pPr>
            <a:r>
              <a:rPr lang="en-US" sz="1200" i="1" dirty="0">
                <a:solidFill>
                  <a:srgbClr val="D2E0EC"/>
                </a:solidFill>
              </a:rPr>
              <a:t>Held-out JaalTaka test notes, never used for training or for any choice</a:t>
            </a:r>
            <a:endParaRPr lang="en-US" sz="1200" dirty="0"/>
          </a:p>
        </p:txBody>
      </p:sp>
      <p:sp>
        <p:nvSpPr>
          <p:cNvPr id="10" name="Prefix takeaway"/>
          <p:cNvSpPr txBox="1"/>
          <p:nvPr/>
        </p:nvSpPr>
        <p:spPr>
          <a:xfrm>
            <a:off x="8138160" y="4114800"/>
            <a:ext cx="3200400" cy="914400"/>
          </a:xfrm>
          <a:prstGeom prst="rect">
            <a:avLst/>
          </a:prstGeom>
          <a:noFill/>
          <a:ln/>
        </p:spPr>
        <p:txBody>
          <a:bodyPr wrap="square" lIns="0" tIns="0" rIns="0" bIns="0" rtlCol="0" anchor="t"/>
          <a:lstStyle/>
          <a:p>
            <a:pPr indent="0" marL="0">
              <a:buNone/>
            </a:pPr>
            <a:r>
              <a:rPr lang="en-US" sz="1800" dirty="0">
                <a:solidFill>
                  <a:srgbClr val="E6EEF6"/>
                </a:solidFill>
              </a:rPr>
              <a:t>Training on random first views: one view is enough.</a:t>
            </a:r>
            <a:endParaRPr lang="en-US" sz="1800" dirty="0"/>
          </a:p>
        </p:txBody>
      </p:sp>
      <p:sp>
        <p:nvSpPr>
          <p:cNvPr id="11"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Data: [9, 10] Piyas et al., JaalTaka dataset and article, 2025-2026 (1,390 notes, six views each; counterfeits seized by the Rapid Action Battalion).</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Counterfeit Screening: Evaluation on Unseen Prints</a:t>
            </a:r>
            <a:endParaRPr lang="en-US" sz="3000" dirty="0"/>
          </a:p>
        </p:txBody>
      </p:sp>
      <p:graphicFrame>
        <p:nvGraphicFramePr>
          <p:cNvPr id="3" name="Unseen prints chart" descr=""/>
          <p:cNvGraphicFramePr/>
          <p:nvPr/>
        </p:nvGraphicFramePr>
        <p:xfrm>
          <a:off x="548640" y="13258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Main result"/>
          <p:cNvSpPr/>
          <p:nvPr/>
        </p:nvSpPr>
        <p:spPr>
          <a:xfrm>
            <a:off x="7863840" y="1325880"/>
            <a:ext cx="3749040" cy="2331720"/>
          </a:xfrm>
          <a:prstGeom prst="roundRect">
            <a:avLst>
              <a:gd name="adj" fmla="val 4706"/>
            </a:avLst>
          </a:prstGeom>
          <a:solidFill>
            <a:schemeClr val="tx2"/>
          </a:solidFill>
          <a:ln w="12700">
            <a:solidFill>
              <a:schemeClr val="tx2"/>
            </a:solidFill>
            <a:prstDash val="solid"/>
          </a:ln>
        </p:spPr>
      </p:sp>
      <p:sp>
        <p:nvSpPr>
          <p:cNvPr id="5" name="Unseen value"/>
          <p:cNvSpPr txBox="1"/>
          <p:nvPr/>
        </p:nvSpPr>
        <p:spPr>
          <a:xfrm>
            <a:off x="8138160" y="1508760"/>
            <a:ext cx="3200400" cy="9144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95.0%</a:t>
            </a:r>
            <a:endParaRPr lang="en-US" sz="5400" dirty="0"/>
          </a:p>
        </p:txBody>
      </p:sp>
      <p:sp>
        <p:nvSpPr>
          <p:cNvPr id="6" name="Unseen label"/>
          <p:cNvSpPr txBox="1"/>
          <p:nvPr/>
        </p:nvSpPr>
        <p:spPr>
          <a:xfrm>
            <a:off x="8138160" y="2468880"/>
            <a:ext cx="3200400" cy="1005840"/>
          </a:xfrm>
          <a:prstGeom prst="rect">
            <a:avLst/>
          </a:prstGeom>
          <a:noFill/>
          <a:ln/>
        </p:spPr>
        <p:txBody>
          <a:bodyPr wrap="square" lIns="0" tIns="0" rIns="0" bIns="0" rtlCol="0" anchor="t"/>
          <a:lstStyle/>
          <a:p>
            <a:pPr indent="0" marL="0">
              <a:buNone/>
            </a:pPr>
            <a:r>
              <a:rPr lang="en-US" sz="1600" dirty="0">
                <a:solidFill>
                  <a:srgbClr val="E6EEF6"/>
                </a:solidFill>
              </a:rPr>
              <a:t>on counterfeit prints never seen in training, with the watermark check</a:t>
            </a:r>
            <a:endParaRPr lang="en-US" sz="1600" dirty="0"/>
          </a:p>
        </p:txBody>
      </p:sp>
      <p:sp>
        <p:nvSpPr>
          <p:cNvPr id="7" name="Unseen text"/>
          <p:cNvSpPr txBox="1"/>
          <p:nvPr/>
        </p:nvSpPr>
        <p:spPr>
          <a:xfrm>
            <a:off x="7863840" y="3886200"/>
            <a:ext cx="3749040" cy="1920240"/>
          </a:xfrm>
          <a:prstGeom prst="rect">
            <a:avLst/>
          </a:prstGeom>
          <a:noFill/>
          <a:ln/>
        </p:spPr>
        <p:txBody>
          <a:bodyPr wrap="square" lIns="0" tIns="0" rIns="0" bIns="0" rtlCol="0" anchor="t"/>
          <a:lstStyle/>
          <a:p>
            <a:pPr indent="0" marL="0">
              <a:buNone/>
            </a:pPr>
            <a:r>
              <a:rPr lang="en-US" sz="1500" b="1" dirty="0">
                <a:solidFill>
                  <a:schemeClr val="tx1"/>
                </a:solidFill>
              </a:rPr>
              <a:t>Why a stricter split: </a:t>
            </a:r>
            <a:pPr indent="0" marL="0">
              <a:buNone/>
            </a:pPr>
            <a:r>
              <a:rPr lang="en-US" sz="1500" dirty="0">
                <a:solidFill>
                  <a:schemeClr val="tx1"/>
                </a:solidFill>
              </a:rPr>
              <a:t>279 of 322 readable 500 Taka counterfeits share one serial number, so the usual split tests copies of known prints.</a:t>
            </a:r>
            <a:endParaRPr lang="en-US" sz="1500" dirty="0"/>
          </a:p>
        </p:txBody>
      </p:sp>
      <p:sp>
        <p:nvSpPr>
          <p:cNvPr id="8"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Data: [9] JaalTaka; serial-number audit and print-disjoint split are ours. Earlier Taka counterfeit work: [6] SVM on security features; [7] CNNs; [8] UV flecks + RPN.</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Watermark Verification: DMWR</a:t>
            </a:r>
            <a:endParaRPr lang="en-US" sz="3000" dirty="0"/>
          </a:p>
        </p:txBody>
      </p:sp>
      <p:pic>
        <p:nvPicPr>
          <p:cNvPr id="3" name="DMWR steps" descr="E:/Final SP/Thesis Report and paper/thesis report/My report/DIagram fig tab/fig_dmwr_steps.png">    </p:cNvPr>
          <p:cNvPicPr>
            <a:picLocks noChangeAspect="1"/>
          </p:cNvPicPr>
          <p:nvPr/>
        </p:nvPicPr>
        <p:blipFill>
          <a:blip r:embed="rId1"/>
          <a:stretch>
            <a:fillRect/>
          </a:stretch>
        </p:blipFill>
        <p:spPr>
          <a:xfrm>
            <a:off x="548640" y="1325880"/>
            <a:ext cx="6949440" cy="3706368"/>
          </a:xfrm>
          <a:prstGeom prst="rect">
            <a:avLst/>
          </a:prstGeom>
        </p:spPr>
      </p:pic>
      <p:sp>
        <p:nvSpPr>
          <p:cNvPr id="4" name="DMWR steps text"/>
          <p:cNvSpPr txBox="1"/>
          <p:nvPr/>
        </p:nvSpPr>
        <p:spPr>
          <a:xfrm>
            <a:off x="548640" y="5120640"/>
            <a:ext cx="6949440" cy="868680"/>
          </a:xfrm>
          <a:prstGeom prst="rect">
            <a:avLst/>
          </a:prstGeom>
          <a:noFill/>
          <a:ln/>
        </p:spPr>
        <p:txBody>
          <a:bodyPr wrap="square" lIns="0" tIns="0" rIns="0" bIns="0" rtlCol="0" anchor="t"/>
          <a:lstStyle/>
          <a:p>
            <a:pPr indent="0" marL="0">
              <a:buNone/>
            </a:pPr>
            <a:r>
              <a:rPr lang="en-US" sz="1400" dirty="0">
                <a:solidFill>
                  <a:schemeClr val="tx1"/>
                </a:solidFill>
              </a:rPr>
              <a:t>1. Remove the lamp:  Q = I / (G∗I)</a:t>
            </a:r>
            <a:endParaRPr lang="en-US" sz="1400" dirty="0"/>
          </a:p>
          <a:p>
            <a:pPr indent="0" marL="0">
              <a:buNone/>
            </a:pPr>
            <a:r>
              <a:rPr lang="en-US" sz="1400" dirty="0">
                <a:solidFill>
                  <a:schemeClr val="tx1"/>
                </a:solidFill>
              </a:rPr>
              <a:t>2. Genuine portrait:  T = median of Q over genuine notes</a:t>
            </a:r>
            <a:endParaRPr lang="en-US" sz="1400" dirty="0"/>
          </a:p>
          <a:p>
            <a:pPr indent="0" marL="0">
              <a:buNone/>
            </a:pPr>
            <a:r>
              <a:rPr lang="en-US" sz="1400" dirty="0">
                <a:solidFill>
                  <a:schemeClr val="tx1"/>
                </a:solidFill>
              </a:rPr>
              <a:t>3. Residual R = Q − T → two small CNN streams → "watermark clear?"</a:t>
            </a:r>
            <a:endParaRPr lang="en-US" sz="1400" dirty="0"/>
          </a:p>
        </p:txBody>
      </p:sp>
      <p:sp>
        <p:nvSpPr>
          <p:cNvPr id="5" name="DMWR stats"/>
          <p:cNvSpPr/>
          <p:nvPr/>
        </p:nvSpPr>
        <p:spPr>
          <a:xfrm>
            <a:off x="7863840" y="1325880"/>
            <a:ext cx="3749040" cy="4572000"/>
          </a:xfrm>
          <a:prstGeom prst="roundRect">
            <a:avLst>
              <a:gd name="adj" fmla="val 2927"/>
            </a:avLst>
          </a:prstGeom>
          <a:solidFill>
            <a:schemeClr val="bg2"/>
          </a:solidFill>
          <a:ln w="12700">
            <a:solidFill>
              <a:schemeClr val="bg2"/>
            </a:solidFill>
            <a:prstDash val="solid"/>
          </a:ln>
        </p:spPr>
      </p:sp>
      <p:sp>
        <p:nvSpPr>
          <p:cNvPr id="6" name="DMWR value"/>
          <p:cNvSpPr txBox="1"/>
          <p:nvPr/>
        </p:nvSpPr>
        <p:spPr>
          <a:xfrm>
            <a:off x="8138160" y="1554480"/>
            <a:ext cx="3291840" cy="91440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91.5%</a:t>
            </a:r>
            <a:endParaRPr lang="en-US" sz="5400" dirty="0"/>
          </a:p>
        </p:txBody>
      </p:sp>
      <p:sp>
        <p:nvSpPr>
          <p:cNvPr id="7" name="DMWR value label"/>
          <p:cNvSpPr txBox="1"/>
          <p:nvPr/>
        </p:nvSpPr>
        <p:spPr>
          <a:xfrm>
            <a:off x="8138160" y="2468880"/>
            <a:ext cx="3291840" cy="640080"/>
          </a:xfrm>
          <a:prstGeom prst="rect">
            <a:avLst/>
          </a:prstGeom>
          <a:noFill/>
          <a:ln/>
        </p:spPr>
        <p:txBody>
          <a:bodyPr wrap="square" lIns="0" tIns="0" rIns="0" bIns="0" rtlCol="0" anchor="t"/>
          <a:lstStyle/>
          <a:p>
            <a:pPr indent="0" marL="0">
              <a:buNone/>
            </a:pPr>
            <a:r>
              <a:rPr lang="en-US" sz="1600" dirty="0">
                <a:solidFill>
                  <a:schemeClr val="tx1"/>
                </a:solidFill>
              </a:rPr>
              <a:t>on unseen counterfeit prints (3 seeds, ±0.3)</a:t>
            </a:r>
            <a:endParaRPr lang="en-US" sz="1600" dirty="0"/>
          </a:p>
        </p:txBody>
      </p:sp>
      <p:sp>
        <p:nvSpPr>
          <p:cNvPr id="8" name="DMWR size value"/>
          <p:cNvSpPr txBox="1"/>
          <p:nvPr/>
        </p:nvSpPr>
        <p:spPr>
          <a:xfrm>
            <a:off x="8138160" y="333756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46× smaller</a:t>
            </a:r>
            <a:endParaRPr lang="en-US" sz="3600" dirty="0"/>
          </a:p>
        </p:txBody>
      </p:sp>
      <p:sp>
        <p:nvSpPr>
          <p:cNvPr id="9" name="DMWR size label"/>
          <p:cNvSpPr txBox="1"/>
          <p:nvPr/>
        </p:nvSpPr>
        <p:spPr>
          <a:xfrm>
            <a:off x="8138160" y="4023360"/>
            <a:ext cx="3291840" cy="685800"/>
          </a:xfrm>
          <a:prstGeom prst="rect">
            <a:avLst/>
          </a:prstGeom>
          <a:noFill/>
          <a:ln/>
        </p:spPr>
        <p:txBody>
          <a:bodyPr wrap="square" lIns="0" tIns="0" rIns="0" bIns="0" rtlCol="0" anchor="t"/>
          <a:lstStyle/>
          <a:p>
            <a:pPr indent="0" marL="0">
              <a:buNone/>
            </a:pPr>
            <a:r>
              <a:rPr lang="en-US" sz="1500" dirty="0">
                <a:solidFill>
                  <a:schemeClr val="tx1"/>
                </a:solidFill>
              </a:rPr>
              <a:t>than MobileNetV2 [22] (47,818 parameters, 0.21 MB), and as accurate: 92.9%, p ≥ 0.375</a:t>
            </a:r>
            <a:endParaRPr lang="en-US" sz="1500" dirty="0"/>
          </a:p>
        </p:txBody>
      </p:sp>
      <p:sp>
        <p:nvSpPr>
          <p:cNvPr id="10"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Baseline [22] Sandler et al., MobileNetV2, CVPR 2018; data [9] JaalTaka. DMWR (denomination-matched watermark residual) is our method.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Safe Verdict Policy</a:t>
            </a:r>
            <a:endParaRPr lang="en-US" sz="3000" dirty="0"/>
          </a:p>
        </p:txBody>
      </p:sp>
      <p:sp>
        <p:nvSpPr>
          <p:cNvPr id="3" name="Note circle"/>
          <p:cNvSpPr/>
          <p:nvPr/>
        </p:nvSpPr>
        <p:spPr>
          <a:xfrm>
            <a:off x="731520" y="2240280"/>
            <a:ext cx="1097280" cy="1097280"/>
          </a:xfrm>
          <a:prstGeom prst="ellipse">
            <a:avLst/>
          </a:prstGeom>
          <a:solidFill>
            <a:srgbClr val="17324D"/>
          </a:solidFill>
          <a:ln w="12700">
            <a:solidFill>
              <a:srgbClr val="17324D"/>
            </a:solidFill>
            <a:prstDash val="solid"/>
          </a:ln>
        </p:spPr>
      </p:sp>
      <p:pic>
        <p:nvPicPr>
          <p:cNvPr id="4" name="Note icon" descr="preencoded.png">    </p:cNvPr>
          <p:cNvPicPr>
            <a:picLocks noChangeAspect="1"/>
          </p:cNvPicPr>
          <p:nvPr/>
        </p:nvPicPr>
        <p:blipFill>
          <a:blip r:embed="rId1"/>
          <a:stretch>
            <a:fillRect/>
          </a:stretch>
        </p:blipFill>
        <p:spPr>
          <a:xfrm>
            <a:off x="994867" y="2503627"/>
            <a:ext cx="570586" cy="570586"/>
          </a:xfrm>
          <a:prstGeom prst="rect">
            <a:avLst/>
          </a:prstGeom>
        </p:spPr>
      </p:pic>
      <p:sp>
        <p:nvSpPr>
          <p:cNvPr id="5" name="Note label"/>
          <p:cNvSpPr txBox="1"/>
          <p:nvPr/>
        </p:nvSpPr>
        <p:spPr>
          <a:xfrm>
            <a:off x="411480" y="3429000"/>
            <a:ext cx="1737360" cy="365760"/>
          </a:xfrm>
          <a:prstGeom prst="rect">
            <a:avLst/>
          </a:prstGeom>
          <a:noFill/>
          <a:ln/>
        </p:spPr>
        <p:txBody>
          <a:bodyPr wrap="square" lIns="0" tIns="0" rIns="0" bIns="0" rtlCol="0" anchor="ctr"/>
          <a:lstStyle/>
          <a:p>
            <a:pPr algn="ctr" indent="0" marL="0">
              <a:buNone/>
            </a:pPr>
            <a:r>
              <a:rPr lang="en-US" sz="1400" dirty="0">
                <a:solidFill>
                  <a:schemeClr val="tx1"/>
                </a:solidFill>
              </a:rPr>
              <a:t>Note captured</a:t>
            </a:r>
            <a:endParaRPr lang="en-US" sz="1400" dirty="0"/>
          </a:p>
        </p:txBody>
      </p:sp>
      <p:sp>
        <p:nvSpPr>
          <p:cNvPr id="6" name="Decision"/>
          <p:cNvSpPr txBox="1"/>
          <p:nvPr/>
        </p:nvSpPr>
        <p:spPr>
          <a:xfrm>
            <a:off x="2651760" y="1783080"/>
            <a:ext cx="2560320" cy="2011680"/>
          </a:xfrm>
          <a:prstGeom prst="diamond">
            <a:avLst/>
          </a:prstGeom>
          <a:solidFill>
            <a:srgbClr val="EAF1F7"/>
          </a:solidFill>
          <a:ln w="19050">
            <a:solidFill>
              <a:srgbClr val="1F5F8B"/>
            </a:solidFill>
          </a:ln>
        </p:spPr>
        <p:txBody>
          <a:bodyPr wrap="square" lIns="2540" tIns="2540" rIns="2540" bIns="2540" rtlCol="0" anchor="ctr"/>
          <a:lstStyle/>
          <a:p>
            <a:pPr algn="ctr" indent="0" marL="0">
              <a:buNone/>
            </a:pPr>
            <a:r>
              <a:rPr lang="en-US" sz="1500" b="1" dirty="0">
                <a:solidFill>
                  <a:srgbClr val="17324D"/>
                </a:solidFill>
              </a:rPr>
              <a:t>Score above the safe threshold?</a:t>
            </a:r>
            <a:endParaRPr lang="en-US" sz="1500" dirty="0"/>
          </a:p>
        </p:txBody>
      </p:sp>
      <p:sp>
        <p:nvSpPr>
          <p:cNvPr id="7" name="Arrow in"/>
          <p:cNvSpPr/>
          <p:nvPr/>
        </p:nvSpPr>
        <p:spPr>
          <a:xfrm>
            <a:off x="1828800" y="2788920"/>
            <a:ext cx="822960" cy="0"/>
          </a:xfrm>
          <a:prstGeom prst="line">
            <a:avLst/>
          </a:prstGeom>
          <a:noFill/>
          <a:ln w="15875">
            <a:solidFill>
              <a:srgbClr val="9DB3C8"/>
            </a:solidFill>
            <a:prstDash val="solid"/>
            <a:tailEnd type="triangle"/>
          </a:ln>
        </p:spPr>
      </p:sp>
      <p:sp>
        <p:nvSpPr>
          <p:cNvPr id="8" name="Genuine box"/>
          <p:cNvSpPr txBox="1"/>
          <p:nvPr/>
        </p:nvSpPr>
        <p:spPr>
          <a:xfrm>
            <a:off x="6035040" y="1463040"/>
            <a:ext cx="2743200" cy="822960"/>
          </a:xfrm>
          <a:prstGeom prst="roundRect">
            <a:avLst>
              <a:gd name="adj" fmla="val 11111"/>
            </a:avLst>
          </a:prstGeom>
          <a:solidFill>
            <a:srgbClr val="1F5F8B"/>
          </a:solidFill>
          <a:ln>
            <a:solidFill>
              <a:srgbClr val="1F5F8B"/>
            </a:solidFill>
          </a:ln>
        </p:spPr>
        <p:txBody>
          <a:bodyPr wrap="square" rtlCol="0" anchor="ctr"/>
          <a:lstStyle/>
          <a:p>
            <a:pPr algn="ctr" indent="0" marL="0">
              <a:buNone/>
            </a:pPr>
            <a:r>
              <a:rPr lang="en-US" sz="1800" b="1" dirty="0">
                <a:solidFill>
                  <a:srgbClr val="FFFFFF"/>
                </a:solidFill>
              </a:rPr>
              <a:t>"Likely genuine"</a:t>
            </a:r>
            <a:endParaRPr lang="en-US" sz="1800" dirty="0"/>
          </a:p>
        </p:txBody>
      </p:sp>
      <p:sp>
        <p:nvSpPr>
          <p:cNvPr id="9" name="Check box"/>
          <p:cNvSpPr txBox="1"/>
          <p:nvPr/>
        </p:nvSpPr>
        <p:spPr>
          <a:xfrm>
            <a:off x="6035040" y="3291840"/>
            <a:ext cx="2743200" cy="914400"/>
          </a:xfrm>
          <a:prstGeom prst="roundRect">
            <a:avLst>
              <a:gd name="adj" fmla="val 10000"/>
            </a:avLst>
          </a:prstGeom>
          <a:solidFill>
            <a:srgbClr val="E6A817"/>
          </a:solidFill>
          <a:ln>
            <a:solidFill>
              <a:srgbClr val="E6A817"/>
            </a:solidFill>
          </a:ln>
        </p:spPr>
        <p:txBody>
          <a:bodyPr wrap="square" rtlCol="0" anchor="ctr"/>
          <a:lstStyle/>
          <a:p>
            <a:pPr algn="ctr" indent="0" marL="0">
              <a:buNone/>
            </a:pPr>
            <a:r>
              <a:rPr lang="en-US" sz="1600" b="1" dirty="0">
                <a:solidFill>
                  <a:srgbClr val="1B2430"/>
                </a:solidFill>
              </a:rPr>
              <a:t>"Check by hand" + guided watermark check</a:t>
            </a:r>
            <a:endParaRPr lang="en-US" sz="1600" dirty="0"/>
          </a:p>
        </p:txBody>
      </p:sp>
      <p:sp>
        <p:nvSpPr>
          <p:cNvPr id="10" name="Arrow yes"/>
          <p:cNvSpPr/>
          <p:nvPr/>
        </p:nvSpPr>
        <p:spPr>
          <a:xfrm flipV="1">
            <a:off x="5212080" y="1874520"/>
            <a:ext cx="822960" cy="914400"/>
          </a:xfrm>
          <a:prstGeom prst="line">
            <a:avLst/>
          </a:prstGeom>
          <a:noFill/>
          <a:ln w="15875">
            <a:solidFill>
              <a:srgbClr val="9DB3C8"/>
            </a:solidFill>
            <a:prstDash val="solid"/>
            <a:tailEnd type="triangle"/>
          </a:ln>
        </p:spPr>
      </p:sp>
      <p:sp>
        <p:nvSpPr>
          <p:cNvPr id="11" name="Arrow no"/>
          <p:cNvSpPr/>
          <p:nvPr/>
        </p:nvSpPr>
        <p:spPr>
          <a:xfrm>
            <a:off x="5212080" y="2788920"/>
            <a:ext cx="822960" cy="960120"/>
          </a:xfrm>
          <a:prstGeom prst="line">
            <a:avLst/>
          </a:prstGeom>
          <a:noFill/>
          <a:ln w="15875">
            <a:solidFill>
              <a:srgbClr val="9DB3C8"/>
            </a:solidFill>
            <a:prstDash val="solid"/>
            <a:tailEnd type="triangle"/>
          </a:ln>
        </p:spPr>
      </p:sp>
      <p:sp>
        <p:nvSpPr>
          <p:cNvPr id="12" name="Yes label"/>
          <p:cNvSpPr txBox="1"/>
          <p:nvPr/>
        </p:nvSpPr>
        <p:spPr>
          <a:xfrm>
            <a:off x="5349240" y="1874520"/>
            <a:ext cx="548640" cy="274320"/>
          </a:xfrm>
          <a:prstGeom prst="rect">
            <a:avLst/>
          </a:prstGeom>
          <a:noFill/>
          <a:ln/>
        </p:spPr>
        <p:txBody>
          <a:bodyPr wrap="square" lIns="0" tIns="0" rIns="0" bIns="0" rtlCol="0" anchor="ctr"/>
          <a:lstStyle/>
          <a:p>
            <a:pPr indent="0" marL="0">
              <a:buNone/>
            </a:pPr>
            <a:r>
              <a:rPr lang="en-US" sz="1200" dirty="0">
                <a:solidFill>
                  <a:schemeClr val="accent5"/>
                </a:solidFill>
              </a:rPr>
              <a:t>yes</a:t>
            </a:r>
            <a:endParaRPr lang="en-US" sz="1200" dirty="0"/>
          </a:p>
        </p:txBody>
      </p:sp>
      <p:sp>
        <p:nvSpPr>
          <p:cNvPr id="13" name="No label"/>
          <p:cNvSpPr txBox="1"/>
          <p:nvPr/>
        </p:nvSpPr>
        <p:spPr>
          <a:xfrm>
            <a:off x="5349240" y="3429000"/>
            <a:ext cx="548640" cy="274320"/>
          </a:xfrm>
          <a:prstGeom prst="rect">
            <a:avLst/>
          </a:prstGeom>
          <a:noFill/>
          <a:ln/>
        </p:spPr>
        <p:txBody>
          <a:bodyPr wrap="square" lIns="0" tIns="0" rIns="0" bIns="0" rtlCol="0" anchor="ctr"/>
          <a:lstStyle/>
          <a:p>
            <a:pPr indent="0" marL="0">
              <a:buNone/>
            </a:pPr>
            <a:r>
              <a:rPr lang="en-US" sz="1200" dirty="0">
                <a:solidFill>
                  <a:schemeClr val="accent5"/>
                </a:solidFill>
              </a:rPr>
              <a:t>no</a:t>
            </a:r>
            <a:endParaRPr lang="en-US" sz="1200" dirty="0"/>
          </a:p>
        </p:txBody>
      </p:sp>
      <p:sp>
        <p:nvSpPr>
          <p:cNvPr id="14" name="Safety stat"/>
          <p:cNvSpPr/>
          <p:nvPr/>
        </p:nvSpPr>
        <p:spPr>
          <a:xfrm>
            <a:off x="9144000" y="1325880"/>
            <a:ext cx="2468880" cy="1783080"/>
          </a:xfrm>
          <a:prstGeom prst="roundRect">
            <a:avLst>
              <a:gd name="adj" fmla="val 6154"/>
            </a:avLst>
          </a:prstGeom>
          <a:solidFill>
            <a:schemeClr val="bg2"/>
          </a:solidFill>
          <a:ln w="12700">
            <a:solidFill>
              <a:schemeClr val="bg2"/>
            </a:solidFill>
            <a:prstDash val="solid"/>
          </a:ln>
        </p:spPr>
      </p:sp>
      <p:sp>
        <p:nvSpPr>
          <p:cNvPr id="15" name="Safety value"/>
          <p:cNvSpPr txBox="1"/>
          <p:nvPr/>
        </p:nvSpPr>
        <p:spPr>
          <a:xfrm>
            <a:off x="9372600" y="1554480"/>
            <a:ext cx="210312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0 / 88</a:t>
            </a:r>
            <a:endParaRPr lang="en-US" sz="3600" dirty="0"/>
          </a:p>
        </p:txBody>
      </p:sp>
      <p:sp>
        <p:nvSpPr>
          <p:cNvPr id="16" name="Safety label"/>
          <p:cNvSpPr txBox="1"/>
          <p:nvPr/>
        </p:nvSpPr>
        <p:spPr>
          <a:xfrm>
            <a:off x="9372600" y="2240280"/>
            <a:ext cx="2103120" cy="685800"/>
          </a:xfrm>
          <a:prstGeom prst="rect">
            <a:avLst/>
          </a:prstGeom>
          <a:noFill/>
          <a:ln/>
        </p:spPr>
        <p:txBody>
          <a:bodyPr wrap="square" lIns="0" tIns="0" rIns="0" bIns="0" rtlCol="0" anchor="t"/>
          <a:lstStyle/>
          <a:p>
            <a:pPr indent="0" marL="0">
              <a:buNone/>
            </a:pPr>
            <a:r>
              <a:rPr lang="en-US" sz="1500" dirty="0">
                <a:solidFill>
                  <a:schemeClr val="tx1"/>
                </a:solidFill>
              </a:rPr>
              <a:t>test counterfeits passed as "likely genuine"</a:t>
            </a:r>
            <a:endParaRPr lang="en-US" sz="1500" dirty="0"/>
          </a:p>
        </p:txBody>
      </p:sp>
      <p:sp>
        <p:nvSpPr>
          <p:cNvPr id="17" name="Safety text"/>
          <p:cNvSpPr txBox="1"/>
          <p:nvPr/>
        </p:nvSpPr>
        <p:spPr>
          <a:xfrm>
            <a:off x="548640" y="4343400"/>
            <a:ext cx="11064240" cy="914400"/>
          </a:xfrm>
          <a:prstGeom prst="rect">
            <a:avLst/>
          </a:prstGeom>
          <a:noFill/>
          <a:ln/>
        </p:spPr>
        <p:txBody>
          <a:bodyPr wrap="square" lIns="0" tIns="0" rIns="0" bIns="0" rtlCol="0" anchor="t"/>
          <a:lstStyle/>
          <a:p>
            <a:pPr indent="0" marL="0">
              <a:spcAft>
                <a:spcPts val="600"/>
              </a:spcAft>
              <a:buNone/>
            </a:pPr>
            <a:r>
              <a:rPr lang="en-US" sz="1800" b="1" dirty="0">
                <a:solidFill>
                  <a:srgbClr val="1F5F8B"/>
                </a:solidFill>
              </a:rPr>
              <a:t>"Likely genuine": </a:t>
            </a:r>
            <a:pPr indent="0" marL="0">
              <a:spcAft>
                <a:spcPts val="600"/>
              </a:spcAft>
              <a:buNone/>
            </a:pPr>
            <a:r>
              <a:rPr lang="en-US" sz="1800" dirty="0">
                <a:solidFill>
                  <a:schemeClr val="tx1"/>
                </a:solidFill>
              </a:rPr>
              <a:t>the score is higher than every counterfeit seen in validation (57.5% of genuine notes).</a:t>
            </a:r>
            <a:endParaRPr lang="en-US" sz="1800" dirty="0"/>
          </a:p>
          <a:p>
            <a:pPr indent="0" marL="0">
              <a:spcAft>
                <a:spcPts val="600"/>
              </a:spcAft>
              <a:buNone/>
            </a:pPr>
            <a:r>
              <a:rPr lang="en-US" sz="1800" b="1" dirty="0">
                <a:solidFill>
                  <a:srgbClr val="B07D00"/>
                </a:solidFill>
              </a:rPr>
              <a:t>"Check by hand": </a:t>
            </a:r>
            <a:pPr indent="0" marL="0">
              <a:spcAft>
                <a:spcPts val="600"/>
              </a:spcAft>
              <a:buNone/>
            </a:pPr>
            <a:r>
              <a:rPr lang="en-US" sz="1800" dirty="0">
                <a:solidFill>
                  <a:schemeClr val="tx1"/>
                </a:solidFill>
              </a:rPr>
              <a:t>the glass is not sure. It never means "counterfeit".</a:t>
            </a:r>
            <a:endParaRPr lang="en-US" sz="1800" dirty="0"/>
          </a:p>
        </p:txBody>
      </p:sp>
      <p:sp>
        <p:nvSpPr>
          <p:cNvPr id="18" name="Screening banner"/>
          <p:cNvSpPr txBox="1"/>
          <p:nvPr/>
        </p:nvSpPr>
        <p:spPr>
          <a:xfrm>
            <a:off x="548640" y="5394960"/>
            <a:ext cx="11064240" cy="457200"/>
          </a:xfrm>
          <a:prstGeom prst="roundRect">
            <a:avLst>
              <a:gd name="adj" fmla="val 16000"/>
            </a:avLst>
          </a:prstGeom>
          <a:solidFill>
            <a:srgbClr val="FFF4D6"/>
          </a:solidFill>
          <a:ln>
            <a:solidFill>
              <a:srgbClr val="E6A817"/>
            </a:solidFill>
          </a:ln>
        </p:spPr>
        <p:txBody>
          <a:bodyPr wrap="square" lIns="0" tIns="0" rIns="0" bIns="0" rtlCol="0" anchor="ctr"/>
          <a:lstStyle/>
          <a:p>
            <a:pPr algn="ctr" indent="0" marL="0">
              <a:buNone/>
            </a:pPr>
            <a:r>
              <a:rPr lang="en-US" sz="1600" b="1" dirty="0">
                <a:solidFill>
                  <a:srgbClr val="1B2430"/>
                </a:solidFill>
              </a:rPr>
              <a:t>A screening aid, not a guaranteed counterfeit detector</a:t>
            </a:r>
            <a:endParaRPr lang="en-US" sz="1600" dirty="0"/>
          </a:p>
        </p:txBody>
      </p:sp>
      <p:sp>
        <p:nvSpPr>
          <p:cNvPr id="19"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Test notes: [9] JaalTaka.</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UV Security-Fibre Verification</a:t>
            </a:r>
            <a:endParaRPr lang="en-US" sz="3000" dirty="0"/>
          </a:p>
        </p:txBody>
      </p:sp>
      <p:pic>
        <p:nvPicPr>
          <p:cNvPr id="3" name="UV fibres" descr="E:/Final SP/Thesis Report and paper/thesis report/My report/DIagram fig tab/fig_uv_fibres.jpg">    </p:cNvPr>
          <p:cNvPicPr>
            <a:picLocks noChangeAspect="1"/>
          </p:cNvPicPr>
          <p:nvPr/>
        </p:nvPicPr>
        <p:blipFill>
          <a:blip r:embed="rId1"/>
          <a:stretch>
            <a:fillRect/>
          </a:stretch>
        </p:blipFill>
        <p:spPr>
          <a:xfrm>
            <a:off x="548640" y="1325880"/>
            <a:ext cx="11064240" cy="3168174"/>
          </a:xfrm>
          <a:prstGeom prst="rect">
            <a:avLst/>
          </a:prstGeom>
        </p:spPr>
      </p:pic>
      <p:sp>
        <p:nvSpPr>
          <p:cNvPr id="4" name="UV genuine value"/>
          <p:cNvSpPr txBox="1"/>
          <p:nvPr/>
        </p:nvSpPr>
        <p:spPr>
          <a:xfrm>
            <a:off x="548640" y="466344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85.6%</a:t>
            </a:r>
            <a:endParaRPr lang="en-US" sz="3600" dirty="0"/>
          </a:p>
        </p:txBody>
      </p:sp>
      <p:sp>
        <p:nvSpPr>
          <p:cNvPr id="5" name="UV genuine label"/>
          <p:cNvSpPr txBox="1"/>
          <p:nvPr/>
        </p:nvSpPr>
        <p:spPr>
          <a:xfrm>
            <a:off x="548640" y="5349240"/>
            <a:ext cx="3291840" cy="685800"/>
          </a:xfrm>
          <a:prstGeom prst="rect">
            <a:avLst/>
          </a:prstGeom>
          <a:noFill/>
          <a:ln/>
        </p:spPr>
        <p:txBody>
          <a:bodyPr wrap="square" lIns="0" tIns="0" rIns="0" bIns="0" rtlCol="0" anchor="t"/>
          <a:lstStyle/>
          <a:p>
            <a:pPr indent="0" marL="0">
              <a:buNone/>
            </a:pPr>
            <a:r>
              <a:rPr lang="en-US" sz="1500" dirty="0">
                <a:solidFill>
                  <a:schemeClr val="tx1"/>
                </a:solidFill>
              </a:rPr>
              <a:t>of 111 real UV photos of genuine notes accepted</a:t>
            </a:r>
            <a:endParaRPr lang="en-US" sz="1500" dirty="0"/>
          </a:p>
        </p:txBody>
      </p:sp>
      <p:sp>
        <p:nvSpPr>
          <p:cNvPr id="6" name="UV sheets value"/>
          <p:cNvSpPr txBox="1"/>
          <p:nvPr/>
        </p:nvSpPr>
        <p:spPr>
          <a:xfrm>
            <a:off x="4206240" y="4663440"/>
            <a:ext cx="3291840" cy="685800"/>
          </a:xfrm>
          <a:prstGeom prst="rect">
            <a:avLst/>
          </a:prstGeom>
          <a:noFill/>
          <a:ln/>
        </p:spPr>
        <p:txBody>
          <a:bodyPr wrap="square" lIns="0" tIns="0" rIns="0" bIns="0" rtlCol="0" anchor="ctr"/>
          <a:lstStyle/>
          <a:p>
            <a:pPr indent="0" marL="0">
              <a:buNone/>
            </a:pPr>
            <a:r>
              <a:rPr lang="en-US" sz="3600" b="1" dirty="0">
                <a:solidFill>
                  <a:schemeClr val="accent5"/>
                </a:solidFill>
                <a:latin typeface="Arial" pitchFamily="34" charset="0"/>
                <a:ea typeface="Arial" pitchFamily="34" charset="-122"/>
                <a:cs typeface="Arial" pitchFamily="34" charset="-120"/>
              </a:rPr>
              <a:t>88.6%</a:t>
            </a:r>
            <a:endParaRPr lang="en-US" sz="3600" dirty="0"/>
          </a:p>
        </p:txBody>
      </p:sp>
      <p:sp>
        <p:nvSpPr>
          <p:cNvPr id="7" name="UV sheets label"/>
          <p:cNvSpPr txBox="1"/>
          <p:nvPr/>
        </p:nvSpPr>
        <p:spPr>
          <a:xfrm>
            <a:off x="4206240" y="5349240"/>
            <a:ext cx="3291840" cy="685800"/>
          </a:xfrm>
          <a:prstGeom prst="rect">
            <a:avLst/>
          </a:prstGeom>
          <a:noFill/>
          <a:ln/>
        </p:spPr>
        <p:txBody>
          <a:bodyPr wrap="square" lIns="0" tIns="0" rIns="0" bIns="0" rtlCol="0" anchor="t"/>
          <a:lstStyle/>
          <a:p>
            <a:pPr indent="0" marL="0">
              <a:buNone/>
            </a:pPr>
            <a:r>
              <a:rPr lang="en-US" sz="1500" dirty="0">
                <a:solidFill>
                  <a:schemeClr val="tx1"/>
                </a:solidFill>
              </a:rPr>
              <a:t>of SIMULATED fibre-free sheets rejected (not real counterfeits)</a:t>
            </a:r>
            <a:endParaRPr lang="en-US" sz="1500" dirty="0"/>
          </a:p>
        </p:txBody>
      </p:sp>
      <p:sp>
        <p:nvSpPr>
          <p:cNvPr id="8"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The glass's lamp emits 360-395 nm, covering the 365 nm used for banknote checks; banknote paper stays dark while its fibres glow [23]. Prior Taka UV work: [8] (96.3%). Fibre check and photos are ours.</a:t>
            </a:r>
            <a:endParaRPr lang="en-US" sz="1000" dirty="0"/>
          </a:p>
        </p:txBody>
      </p:sp>
      <p:sp>
        <p:nvSpPr>
          <p:cNvPr id="9" name="UV caveat"/>
          <p:cNvSpPr txBox="1"/>
          <p:nvPr/>
        </p:nvSpPr>
        <p:spPr>
          <a:xfrm>
            <a:off x="7863840" y="4572000"/>
            <a:ext cx="3749040" cy="1280160"/>
          </a:xfrm>
          <a:prstGeom prst="roundRect">
            <a:avLst>
              <a:gd name="adj" fmla="val 7143"/>
            </a:avLst>
          </a:prstGeom>
          <a:solidFill>
            <a:srgbClr val="FBE9EB"/>
          </a:solidFill>
          <a:ln w="15875">
            <a:solidFill>
              <a:srgbClr val="D7263D"/>
            </a:solidFill>
          </a:ln>
        </p:spPr>
        <p:txBody>
          <a:bodyPr wrap="square" lIns="152400" tIns="152400" rIns="152400" bIns="152400" rtlCol="0" anchor="ctr"/>
          <a:lstStyle/>
          <a:p>
            <a:pPr indent="0" marL="0">
              <a:buNone/>
            </a:pPr>
            <a:r>
              <a:rPr lang="en-US" sz="1800" b="1" dirty="0">
                <a:solidFill>
                  <a:srgbClr val="D7263D"/>
                </a:solidFill>
              </a:rPr>
              <a:t>Prototype, off by default</a:t>
            </a:r>
            <a:endParaRPr lang="en-US" sz="1800" dirty="0"/>
          </a:p>
          <a:p>
            <a:pPr indent="0" marL="0">
              <a:buNone/>
            </a:pPr>
            <a:r>
              <a:rPr lang="en-US" sz="1400" dirty="0">
                <a:solidFill>
                  <a:srgbClr val="D7263D"/>
                </a:solidFill>
              </a:rPr>
              <a:t>The rejection result is simulated; it must be validated on real counterfeit notes</a:t>
            </a:r>
            <a:endParaRPr lang="en-US" sz="18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Bangla and English Text Recognition</a:t>
            </a:r>
            <a:endParaRPr lang="en-US" sz="3000" dirty="0"/>
          </a:p>
        </p:txBody>
      </p:sp>
      <p:sp>
        <p:nvSpPr>
          <p:cNvPr id="3" name="Rendered heading"/>
          <p:cNvSpPr txBox="1"/>
          <p:nvPr/>
        </p:nvSpPr>
        <p:spPr>
          <a:xfrm>
            <a:off x="548640" y="1325880"/>
            <a:ext cx="3108960" cy="411480"/>
          </a:xfrm>
          <a:prstGeom prst="rect">
            <a:avLst/>
          </a:prstGeom>
          <a:noFill/>
          <a:ln/>
        </p:spPr>
        <p:txBody>
          <a:bodyPr wrap="square" lIns="0" tIns="0" rIns="0" bIns="0" rtlCol="0" anchor="ctr"/>
          <a:lstStyle/>
          <a:p>
            <a:pPr indent="0" marL="0">
              <a:buNone/>
            </a:pPr>
            <a:r>
              <a:rPr lang="en-US" sz="1900" b="1" dirty="0">
                <a:solidFill>
                  <a:schemeClr val="tx2"/>
                </a:solidFill>
                <a:latin typeface="Arial" pitchFamily="34" charset="0"/>
                <a:ea typeface="Arial" pitchFamily="34" charset="-122"/>
                <a:cs typeface="Arial" pitchFamily="34" charset="-120"/>
              </a:rPr>
              <a:t>Rendered text (clean)</a:t>
            </a:r>
            <a:endParaRPr lang="en-US" sz="1900" dirty="0"/>
          </a:p>
        </p:txBody>
      </p:sp>
      <p:graphicFrame>
        <p:nvGraphicFramePr>
          <p:cNvPr id="4" name="Rendered chart" descr=""/>
          <p:cNvGraphicFramePr/>
          <p:nvPr/>
        </p:nvGraphicFramePr>
        <p:xfrm>
          <a:off x="548640" y="1783080"/>
          <a:ext cx="3108960" cy="4114800"/>
        </p:xfrm>
        <a:graphic xmlns:a="http://schemas.openxmlformats.org/drawingml/2006/main">
          <a:graphicData uri="http://schemas.openxmlformats.org/drawingml/2006/chart">
            <c:chart xmlns:c="http://schemas.openxmlformats.org/drawingml/2006/chart" r:id="rId1"/>
          </a:graphicData>
        </a:graphic>
      </p:graphicFrame>
      <p:sp>
        <p:nvSpPr>
          <p:cNvPr id="5" name="Real heading"/>
          <p:cNvSpPr txBox="1"/>
          <p:nvPr/>
        </p:nvSpPr>
        <p:spPr>
          <a:xfrm>
            <a:off x="3931920" y="1325880"/>
            <a:ext cx="3931920" cy="411480"/>
          </a:xfrm>
          <a:prstGeom prst="rect">
            <a:avLst/>
          </a:prstGeom>
          <a:noFill/>
          <a:ln/>
        </p:spPr>
        <p:txBody>
          <a:bodyPr wrap="square" lIns="0" tIns="0" rIns="0" bIns="0" rtlCol="0" anchor="ctr"/>
          <a:lstStyle/>
          <a:p>
            <a:pPr indent="0" marL="0">
              <a:buNone/>
            </a:pPr>
            <a:r>
              <a:rPr lang="en-US" sz="1900" b="1" dirty="0">
                <a:solidFill>
                  <a:schemeClr val="accent2"/>
                </a:solidFill>
                <a:latin typeface="Arial" pitchFamily="34" charset="0"/>
                <a:ea typeface="Arial" pitchFamily="34" charset="-122"/>
                <a:cs typeface="Arial" pitchFamily="34" charset="-120"/>
              </a:rPr>
              <a:t>Real word photos (hard)</a:t>
            </a:r>
            <a:endParaRPr lang="en-US" sz="1900" dirty="0"/>
          </a:p>
        </p:txBody>
      </p:sp>
      <p:graphicFrame>
        <p:nvGraphicFramePr>
          <p:cNvPr id="6" name="Real chart" descr=""/>
          <p:cNvGraphicFramePr/>
          <p:nvPr/>
        </p:nvGraphicFramePr>
        <p:xfrm>
          <a:off x="3931920" y="1783080"/>
          <a:ext cx="3931920" cy="4114800"/>
        </p:xfrm>
        <a:graphic xmlns:a="http://schemas.openxmlformats.org/drawingml/2006/main">
          <a:graphicData uri="http://schemas.openxmlformats.org/drawingml/2006/chart">
            <c:chart xmlns:c="http://schemas.openxmlformats.org/drawingml/2006/chart" r:id="rId2"/>
          </a:graphicData>
        </a:graphic>
      </p:graphicFrame>
      <p:sp>
        <p:nvSpPr>
          <p:cNvPr id="7" name="Chart note"/>
          <p:cNvSpPr txBox="1"/>
          <p:nvPr/>
        </p:nvSpPr>
        <p:spPr>
          <a:xfrm>
            <a:off x="548640" y="5779008"/>
            <a:ext cx="7315200" cy="274320"/>
          </a:xfrm>
          <a:prstGeom prst="rect">
            <a:avLst/>
          </a:prstGeom>
          <a:noFill/>
          <a:ln/>
        </p:spPr>
        <p:txBody>
          <a:bodyPr wrap="square" lIns="0" tIns="0" rIns="0" bIns="0" rtlCol="0" anchor="ctr"/>
          <a:lstStyle/>
          <a:p>
            <a:pPr indent="0" marL="0">
              <a:buNone/>
            </a:pPr>
            <a:r>
              <a:rPr lang="en-US" sz="1200" b="1" i="1" dirty="0">
                <a:solidFill>
                  <a:schemeClr val="accent5"/>
                </a:solidFill>
              </a:rPr>
              <a:t>Character error rate, lower is better. Measured on evaluation datasets, not yet through the glass.</a:t>
            </a:r>
            <a:endParaRPr lang="en-US" sz="1200" dirty="0"/>
          </a:p>
        </p:txBody>
      </p:sp>
      <p:sp>
        <p:nvSpPr>
          <p:cNvPr id="8" name="Helped heading"/>
          <p:cNvSpPr txBox="1"/>
          <p:nvPr/>
        </p:nvSpPr>
        <p:spPr>
          <a:xfrm>
            <a:off x="8183880" y="1325880"/>
            <a:ext cx="3429000" cy="41148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What helped</a:t>
            </a:r>
            <a:endParaRPr lang="en-US" sz="2000" dirty="0"/>
          </a:p>
        </p:txBody>
      </p:sp>
      <p:sp>
        <p:nvSpPr>
          <p:cNvPr id="9" name="Helped list"/>
          <p:cNvSpPr txBox="1"/>
          <p:nvPr/>
        </p:nvSpPr>
        <p:spPr>
          <a:xfrm>
            <a:off x="8183880" y="1783080"/>
            <a:ext cx="342900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Reading the main text block only</a:t>
            </a:r>
            <a:endParaRPr lang="en-US" sz="1700" dirty="0"/>
          </a:p>
          <a:p>
            <a:pPr marL="342900" indent="-342900">
              <a:spcAft>
                <a:spcPts val="800"/>
              </a:spcAft>
              <a:buSzPct val="100000"/>
              <a:buChar char="•"/>
            </a:pPr>
            <a:r>
              <a:rPr lang="en-US" sz="1700" dirty="0">
                <a:solidFill>
                  <a:schemeClr val="tx1"/>
                </a:solidFill>
              </a:rPr>
              <a:t>Tuned detector and clean-up</a:t>
            </a:r>
            <a:endParaRPr lang="en-US" sz="1700" dirty="0"/>
          </a:p>
          <a:p>
            <a:pPr marL="342900" indent="-342900">
              <a:spcAft>
                <a:spcPts val="800"/>
              </a:spcAft>
              <a:buSzPct val="100000"/>
              <a:buChar char="•"/>
            </a:pPr>
            <a:r>
              <a:rPr lang="en-US" sz="1700" dirty="0">
                <a:solidFill>
                  <a:schemeClr val="tx1"/>
                </a:solidFill>
              </a:rPr>
              <a:t>Recogniser fine-tuned on real words</a:t>
            </a:r>
            <a:endParaRPr lang="en-US" sz="1700" dirty="0"/>
          </a:p>
        </p:txBody>
      </p:sp>
      <p:sp>
        <p:nvSpPr>
          <p:cNvPr id="10" name="Not heading"/>
          <p:cNvSpPr txBox="1"/>
          <p:nvPr/>
        </p:nvSpPr>
        <p:spPr>
          <a:xfrm>
            <a:off x="8183880" y="3931920"/>
            <a:ext cx="3429000" cy="41148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What did not</a:t>
            </a:r>
            <a:endParaRPr lang="en-US" sz="2000" dirty="0"/>
          </a:p>
        </p:txBody>
      </p:sp>
      <p:sp>
        <p:nvSpPr>
          <p:cNvPr id="11" name="Not list"/>
          <p:cNvSpPr txBox="1"/>
          <p:nvPr/>
        </p:nvSpPr>
        <p:spPr>
          <a:xfrm>
            <a:off x="8183880" y="4389120"/>
            <a:ext cx="3429000" cy="1188720"/>
          </a:xfrm>
          <a:prstGeom prst="rect">
            <a:avLst/>
          </a:prstGeom>
          <a:noFill/>
          <a:ln/>
        </p:spPr>
        <p:txBody>
          <a:bodyPr wrap="square" lIns="0" tIns="0" rIns="0" bIns="0" rtlCol="0" anchor="t"/>
          <a:lstStyle/>
          <a:p>
            <a:pPr indent="0" marL="0">
              <a:buNone/>
            </a:pPr>
            <a:r>
              <a:rPr lang="en-US" sz="1700" dirty="0">
                <a:solidFill>
                  <a:schemeClr val="tx1"/>
                </a:solidFill>
              </a:rPr>
              <a:t>Binarisation, Tesseract, TrOCR, PaddleOCR, dictionaries</a:t>
            </a:r>
            <a:endParaRPr lang="en-US" sz="1700" dirty="0"/>
          </a:p>
        </p:txBody>
      </p:sp>
      <p:sp>
        <p:nvSpPr>
          <p:cNvPr id="12"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Engine [15] EasyOCR with [14] CRAFT; real words from [24] ICDAR 2019 MLT (1,000 test words). Every choice made on validation data.</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Voice Interaction</a:t>
            </a:r>
            <a:endParaRPr lang="en-US" sz="3000" dirty="0"/>
          </a:p>
        </p:txBody>
      </p:sp>
      <p:sp>
        <p:nvSpPr>
          <p:cNvPr id="3" name="Speech card"/>
          <p:cNvSpPr/>
          <p:nvPr/>
        </p:nvSpPr>
        <p:spPr>
          <a:xfrm>
            <a:off x="548640" y="1325880"/>
            <a:ext cx="3657600" cy="4023360"/>
          </a:xfrm>
          <a:prstGeom prst="roundRect">
            <a:avLst>
              <a:gd name="adj" fmla="val 3000"/>
            </a:avLst>
          </a:prstGeom>
          <a:solidFill>
            <a:schemeClr val="bg2"/>
          </a:solidFill>
          <a:ln w="12700">
            <a:solidFill>
              <a:schemeClr val="bg2"/>
            </a:solidFill>
            <a:prstDash val="solid"/>
          </a:ln>
        </p:spPr>
      </p:sp>
      <p:sp>
        <p:nvSpPr>
          <p:cNvPr id="4" name="Voice circle"/>
          <p:cNvSpPr/>
          <p:nvPr/>
        </p:nvSpPr>
        <p:spPr>
          <a:xfrm>
            <a:off x="822960" y="1554480"/>
            <a:ext cx="777240" cy="777240"/>
          </a:xfrm>
          <a:prstGeom prst="ellipse">
            <a:avLst/>
          </a:prstGeom>
          <a:solidFill>
            <a:srgbClr val="1F5F8B"/>
          </a:solidFill>
          <a:ln w="12700">
            <a:solidFill>
              <a:srgbClr val="1F5F8B"/>
            </a:solidFill>
            <a:prstDash val="solid"/>
          </a:ln>
        </p:spPr>
      </p:sp>
      <p:pic>
        <p:nvPicPr>
          <p:cNvPr id="5" name="Voice icon" descr="preencoded.png">    </p:cNvPr>
          <p:cNvPicPr>
            <a:picLocks noChangeAspect="1"/>
          </p:cNvPicPr>
          <p:nvPr/>
        </p:nvPicPr>
        <p:blipFill>
          <a:blip r:embed="rId1"/>
          <a:stretch>
            <a:fillRect/>
          </a:stretch>
        </p:blipFill>
        <p:spPr>
          <a:xfrm>
            <a:off x="1009498" y="1741018"/>
            <a:ext cx="404165" cy="404165"/>
          </a:xfrm>
          <a:prstGeom prst="rect">
            <a:avLst/>
          </a:prstGeom>
        </p:spPr>
      </p:pic>
      <p:sp>
        <p:nvSpPr>
          <p:cNvPr id="6" name="Speaking heading"/>
          <p:cNvSpPr txBox="1"/>
          <p:nvPr/>
        </p:nvSpPr>
        <p:spPr>
          <a:xfrm>
            <a:off x="1783080" y="1691640"/>
            <a:ext cx="228600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Speaking</a:t>
            </a:r>
            <a:endParaRPr lang="en-US" sz="2000" dirty="0"/>
          </a:p>
        </p:txBody>
      </p:sp>
      <p:sp>
        <p:nvSpPr>
          <p:cNvPr id="7" name="Speaking list"/>
          <p:cNvSpPr txBox="1"/>
          <p:nvPr/>
        </p:nvSpPr>
        <p:spPr>
          <a:xfrm>
            <a:off x="822960" y="2560320"/>
            <a:ext cx="3200400" cy="26517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Natural Piper voice, Bangla and English [17, 19]</a:t>
            </a:r>
            <a:endParaRPr lang="en-US" sz="1700" dirty="0"/>
          </a:p>
          <a:p>
            <a:pPr marL="342900" indent="-342900">
              <a:spcAft>
                <a:spcPts val="1000"/>
              </a:spcAft>
              <a:buSzPct val="100000"/>
              <a:buChar char="•"/>
            </a:pPr>
            <a:r>
              <a:rPr lang="en-US" sz="1700" dirty="0">
                <a:solidFill>
                  <a:schemeClr val="tx1"/>
                </a:solidFill>
              </a:rPr>
              <a:t>No broken sound when the Pi is busy</a:t>
            </a:r>
            <a:endParaRPr lang="en-US" sz="1700" dirty="0"/>
          </a:p>
          <a:p>
            <a:pPr marL="342900" indent="-342900">
              <a:spcAft>
                <a:spcPts val="1000"/>
              </a:spcAft>
              <a:buSzPct val="100000"/>
              <a:buChar char="•"/>
            </a:pPr>
            <a:r>
              <a:rPr lang="en-US" sz="1700" dirty="0">
                <a:solidFill>
                  <a:schemeClr val="tx1"/>
                </a:solidFill>
              </a:rPr>
              <a:t>"পড়ছি" (reading) while text is captured</a:t>
            </a:r>
            <a:endParaRPr lang="en-US" sz="1700" dirty="0"/>
          </a:p>
        </p:txBody>
      </p:sp>
      <p:sp>
        <p:nvSpPr>
          <p:cNvPr id="8" name="Voice banner"/>
          <p:cNvSpPr txBox="1"/>
          <p:nvPr/>
        </p:nvSpPr>
        <p:spPr>
          <a:xfrm>
            <a:off x="548640" y="5486400"/>
            <a:ext cx="11064240" cy="475488"/>
          </a:xfrm>
          <a:prstGeom prst="roundRect">
            <a:avLst>
              <a:gd name="adj" fmla="val 15385"/>
            </a:avLst>
          </a:prstGeom>
          <a:solidFill>
            <a:srgbClr val="FFF4D6"/>
          </a:solidFill>
          <a:ln>
            <a:solidFill>
              <a:srgbClr val="E6A817"/>
            </a:solidFill>
          </a:ln>
        </p:spPr>
        <p:txBody>
          <a:bodyPr wrap="square" lIns="0" tIns="0" rIns="0" bIns="0" rtlCol="0" anchor="ctr"/>
          <a:lstStyle/>
          <a:p>
            <a:pPr algn="ctr" indent="0" marL="0">
              <a:buNone/>
            </a:pPr>
            <a:r>
              <a:rPr lang="en-US" sz="1600" b="1" dirty="0">
                <a:solidFill>
                  <a:srgbClr val="1B2430"/>
                </a:solidFill>
              </a:rPr>
              <a:t>Command results: synthetic voices on a laptop, not human trials on the glasses</a:t>
            </a:r>
            <a:endParaRPr lang="en-US" sz="1600" dirty="0"/>
          </a:p>
        </p:txBody>
      </p:sp>
      <p:graphicFrame>
        <p:nvGraphicFramePr>
          <p:cNvPr id="9" name="Voice chart" descr=""/>
          <p:cNvGraphicFramePr/>
          <p:nvPr/>
        </p:nvGraphicFramePr>
        <p:xfrm>
          <a:off x="4480560" y="1325880"/>
          <a:ext cx="4572000" cy="4023360"/>
        </p:xfrm>
        <a:graphic xmlns:a="http://schemas.openxmlformats.org/drawingml/2006/main">
          <a:graphicData uri="http://schemas.openxmlformats.org/drawingml/2006/chart">
            <c:chart xmlns:c="http://schemas.openxmlformats.org/drawingml/2006/chart" r:id="rId2"/>
          </a:graphicData>
        </a:graphic>
      </p:graphicFrame>
      <p:sp>
        <p:nvSpPr>
          <p:cNvPr id="10" name="False commands value"/>
          <p:cNvSpPr txBox="1"/>
          <p:nvPr/>
        </p:nvSpPr>
        <p:spPr>
          <a:xfrm>
            <a:off x="9326880" y="1463040"/>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212 → 13</a:t>
            </a:r>
            <a:endParaRPr lang="en-US" sz="3600" dirty="0"/>
          </a:p>
        </p:txBody>
      </p:sp>
      <p:sp>
        <p:nvSpPr>
          <p:cNvPr id="11" name="False commands label"/>
          <p:cNvSpPr txBox="1"/>
          <p:nvPr/>
        </p:nvSpPr>
        <p:spPr>
          <a:xfrm>
            <a:off x="9326880" y="2148840"/>
            <a:ext cx="2286000" cy="685800"/>
          </a:xfrm>
          <a:prstGeom prst="rect">
            <a:avLst/>
          </a:prstGeom>
          <a:noFill/>
          <a:ln/>
        </p:spPr>
        <p:txBody>
          <a:bodyPr wrap="square" lIns="0" tIns="0" rIns="0" bIns="0" rtlCol="0" anchor="t"/>
          <a:lstStyle/>
          <a:p>
            <a:pPr indent="0" marL="0">
              <a:buNone/>
            </a:pPr>
            <a:r>
              <a:rPr lang="en-US" sz="1500" dirty="0">
                <a:solidFill>
                  <a:schemeClr val="tx1"/>
                </a:solidFill>
              </a:rPr>
              <a:t>false commands in 5,040 ordinary sentences, thanks to the wake word</a:t>
            </a:r>
            <a:endParaRPr lang="en-US" sz="1500" dirty="0"/>
          </a:p>
        </p:txBody>
      </p:sp>
      <p:sp>
        <p:nvSpPr>
          <p:cNvPr id="12" name="Response value"/>
          <p:cNvSpPr txBox="1"/>
          <p:nvPr/>
        </p:nvSpPr>
        <p:spPr>
          <a:xfrm>
            <a:off x="9326880" y="3246120"/>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0.86 s</a:t>
            </a:r>
            <a:endParaRPr lang="en-US" sz="3600" dirty="0"/>
          </a:p>
        </p:txBody>
      </p:sp>
      <p:sp>
        <p:nvSpPr>
          <p:cNvPr id="13" name="Response label"/>
          <p:cNvSpPr txBox="1"/>
          <p:nvPr/>
        </p:nvSpPr>
        <p:spPr>
          <a:xfrm>
            <a:off x="9326880" y="3931920"/>
            <a:ext cx="2286000" cy="685800"/>
          </a:xfrm>
          <a:prstGeom prst="rect">
            <a:avLst/>
          </a:prstGeom>
          <a:noFill/>
          <a:ln/>
        </p:spPr>
        <p:txBody>
          <a:bodyPr wrap="square" lIns="0" tIns="0" rIns="0" bIns="0" rtlCol="0" anchor="t"/>
          <a:lstStyle/>
          <a:p>
            <a:pPr indent="0" marL="0">
              <a:buNone/>
            </a:pPr>
            <a:r>
              <a:rPr lang="en-US" sz="1500" dirty="0">
                <a:solidFill>
                  <a:schemeClr val="tx1"/>
                </a:solidFill>
              </a:rPr>
              <a:t>from the end of speech to the action (median)</a:t>
            </a:r>
            <a:endParaRPr lang="en-US" sz="1500" dirty="0"/>
          </a:p>
        </p:txBody>
      </p:sp>
      <p:sp>
        <p:nvSpPr>
          <p:cNvPr id="14"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Recogniser [11] Vosk; noise from [25] Piczak, ESC-50; voices [17, 19]. Results: paper_evidence/VOICE_COMMANDS_FAST.md.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Performance on the Raspberry Pi 5</a:t>
            </a:r>
            <a:endParaRPr lang="en-US" sz="3000" dirty="0"/>
          </a:p>
        </p:txBody>
      </p:sp>
      <p:sp>
        <p:nvSpPr>
          <p:cNvPr id="3" name="Pi stat 1"/>
          <p:cNvSpPr/>
          <p:nvPr/>
        </p:nvSpPr>
        <p:spPr>
          <a:xfrm>
            <a:off x="548640" y="1325880"/>
            <a:ext cx="2331720" cy="2011680"/>
          </a:xfrm>
          <a:prstGeom prst="roundRect">
            <a:avLst>
              <a:gd name="adj" fmla="val 5455"/>
            </a:avLst>
          </a:prstGeom>
          <a:solidFill>
            <a:schemeClr val="bg2"/>
          </a:solidFill>
          <a:ln w="12700">
            <a:solidFill>
              <a:schemeClr val="bg2"/>
            </a:solidFill>
            <a:prstDash val="solid"/>
          </a:ln>
        </p:spPr>
      </p:sp>
      <p:sp>
        <p:nvSpPr>
          <p:cNvPr id="4" name="Pi 1 value"/>
          <p:cNvSpPr txBox="1"/>
          <p:nvPr/>
        </p:nvSpPr>
        <p:spPr>
          <a:xfrm>
            <a:off x="7772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399 ms</a:t>
            </a:r>
            <a:endParaRPr lang="en-US" sz="3600" dirty="0"/>
          </a:p>
        </p:txBody>
      </p:sp>
      <p:sp>
        <p:nvSpPr>
          <p:cNvPr id="5" name="Pi 1 label"/>
          <p:cNvSpPr txBox="1"/>
          <p:nvPr/>
        </p:nvSpPr>
        <p:spPr>
          <a:xfrm>
            <a:off x="777240" y="2286000"/>
            <a:ext cx="1920240" cy="685800"/>
          </a:xfrm>
          <a:prstGeom prst="rect">
            <a:avLst/>
          </a:prstGeom>
          <a:noFill/>
          <a:ln/>
        </p:spPr>
        <p:txBody>
          <a:bodyPr wrap="square" lIns="0" tIns="0" rIns="0" bIns="0" rtlCol="0" anchor="t"/>
          <a:lstStyle/>
          <a:p>
            <a:pPr indent="0" marL="0">
              <a:buNone/>
            </a:pPr>
            <a:r>
              <a:rPr lang="en-US" sz="1500" dirty="0">
                <a:solidFill>
                  <a:schemeClr val="tx1"/>
                </a:solidFill>
              </a:rPr>
              <a:t>currency check, end to end</a:t>
            </a:r>
            <a:endParaRPr lang="en-US" sz="1500" dirty="0"/>
          </a:p>
        </p:txBody>
      </p:sp>
      <p:sp>
        <p:nvSpPr>
          <p:cNvPr id="6" name="Pi stat 2"/>
          <p:cNvSpPr/>
          <p:nvPr/>
        </p:nvSpPr>
        <p:spPr>
          <a:xfrm>
            <a:off x="3063240" y="1325880"/>
            <a:ext cx="2331720" cy="2011680"/>
          </a:xfrm>
          <a:prstGeom prst="roundRect">
            <a:avLst>
              <a:gd name="adj" fmla="val 5455"/>
            </a:avLst>
          </a:prstGeom>
          <a:solidFill>
            <a:schemeClr val="bg2"/>
          </a:solidFill>
          <a:ln w="12700">
            <a:solidFill>
              <a:schemeClr val="bg2"/>
            </a:solidFill>
            <a:prstDash val="solid"/>
          </a:ln>
        </p:spPr>
      </p:sp>
      <p:sp>
        <p:nvSpPr>
          <p:cNvPr id="7" name="Pi 2 value"/>
          <p:cNvSpPr txBox="1"/>
          <p:nvPr/>
        </p:nvSpPr>
        <p:spPr>
          <a:xfrm>
            <a:off x="32918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64 ms</a:t>
            </a:r>
            <a:endParaRPr lang="en-US" sz="3600" dirty="0"/>
          </a:p>
        </p:txBody>
      </p:sp>
      <p:sp>
        <p:nvSpPr>
          <p:cNvPr id="8" name="Pi 2 label"/>
          <p:cNvSpPr txBox="1"/>
          <p:nvPr/>
        </p:nvSpPr>
        <p:spPr>
          <a:xfrm>
            <a:off x="3291840" y="2286000"/>
            <a:ext cx="1920240" cy="685800"/>
          </a:xfrm>
          <a:prstGeom prst="rect">
            <a:avLst/>
          </a:prstGeom>
          <a:noFill/>
          <a:ln/>
        </p:spPr>
        <p:txBody>
          <a:bodyPr wrap="square" lIns="0" tIns="0" rIns="0" bIns="0" rtlCol="0" anchor="t"/>
          <a:lstStyle/>
          <a:p>
            <a:pPr indent="0" marL="0">
              <a:buNone/>
            </a:pPr>
            <a:r>
              <a:rPr lang="en-US" sz="1500" dirty="0">
                <a:solidFill>
                  <a:schemeClr val="tx1"/>
                </a:solidFill>
              </a:rPr>
              <a:t>watermark check</a:t>
            </a:r>
            <a:endParaRPr lang="en-US" sz="1500" dirty="0"/>
          </a:p>
        </p:txBody>
      </p:sp>
      <p:sp>
        <p:nvSpPr>
          <p:cNvPr id="9" name="Pi stat 3"/>
          <p:cNvSpPr/>
          <p:nvPr/>
        </p:nvSpPr>
        <p:spPr>
          <a:xfrm>
            <a:off x="5577840" y="1325880"/>
            <a:ext cx="2331720" cy="2011680"/>
          </a:xfrm>
          <a:prstGeom prst="roundRect">
            <a:avLst>
              <a:gd name="adj" fmla="val 5455"/>
            </a:avLst>
          </a:prstGeom>
          <a:solidFill>
            <a:schemeClr val="bg2"/>
          </a:solidFill>
          <a:ln w="12700">
            <a:solidFill>
              <a:schemeClr val="bg2"/>
            </a:solidFill>
            <a:prstDash val="solid"/>
          </a:ln>
        </p:spPr>
      </p:sp>
      <p:sp>
        <p:nvSpPr>
          <p:cNvPr id="10" name="Pi 3 value"/>
          <p:cNvSpPr txBox="1"/>
          <p:nvPr/>
        </p:nvSpPr>
        <p:spPr>
          <a:xfrm>
            <a:off x="58064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562 ms</a:t>
            </a:r>
            <a:endParaRPr lang="en-US" sz="3600" dirty="0"/>
          </a:p>
        </p:txBody>
      </p:sp>
      <p:sp>
        <p:nvSpPr>
          <p:cNvPr id="11" name="Pi 3 label"/>
          <p:cNvSpPr txBox="1"/>
          <p:nvPr/>
        </p:nvSpPr>
        <p:spPr>
          <a:xfrm>
            <a:off x="5806440" y="2286000"/>
            <a:ext cx="1920240" cy="685800"/>
          </a:xfrm>
          <a:prstGeom prst="rect">
            <a:avLst/>
          </a:prstGeom>
          <a:noFill/>
          <a:ln/>
        </p:spPr>
        <p:txBody>
          <a:bodyPr wrap="square" lIns="0" tIns="0" rIns="0" bIns="0" rtlCol="0" anchor="t"/>
          <a:lstStyle/>
          <a:p>
            <a:pPr indent="0" marL="0">
              <a:buNone/>
            </a:pPr>
            <a:r>
              <a:rPr lang="en-US" sz="1500" dirty="0">
                <a:solidFill>
                  <a:schemeClr val="tx1"/>
                </a:solidFill>
              </a:rPr>
              <a:t>object scan (YOLOv8s)</a:t>
            </a:r>
            <a:endParaRPr lang="en-US" sz="1500" dirty="0"/>
          </a:p>
        </p:txBody>
      </p:sp>
      <p:sp>
        <p:nvSpPr>
          <p:cNvPr id="12" name="Pi stat 4"/>
          <p:cNvSpPr/>
          <p:nvPr/>
        </p:nvSpPr>
        <p:spPr>
          <a:xfrm>
            <a:off x="548640" y="3566160"/>
            <a:ext cx="2331720" cy="2011680"/>
          </a:xfrm>
          <a:prstGeom prst="roundRect">
            <a:avLst>
              <a:gd name="adj" fmla="val 5455"/>
            </a:avLst>
          </a:prstGeom>
          <a:solidFill>
            <a:schemeClr val="bg2"/>
          </a:solidFill>
          <a:ln w="12700">
            <a:solidFill>
              <a:schemeClr val="bg2"/>
            </a:solidFill>
            <a:prstDash val="solid"/>
          </a:ln>
        </p:spPr>
      </p:sp>
      <p:sp>
        <p:nvSpPr>
          <p:cNvPr id="13" name="Pi 4 value"/>
          <p:cNvSpPr txBox="1"/>
          <p:nvPr/>
        </p:nvSpPr>
        <p:spPr>
          <a:xfrm>
            <a:off x="777240" y="384048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680 ms</a:t>
            </a:r>
            <a:endParaRPr lang="en-US" sz="3600" dirty="0"/>
          </a:p>
        </p:txBody>
      </p:sp>
      <p:sp>
        <p:nvSpPr>
          <p:cNvPr id="14" name="Pi 4 label"/>
          <p:cNvSpPr txBox="1"/>
          <p:nvPr/>
        </p:nvSpPr>
        <p:spPr>
          <a:xfrm>
            <a:off x="777240" y="4526280"/>
            <a:ext cx="1920240" cy="685800"/>
          </a:xfrm>
          <a:prstGeom prst="rect">
            <a:avLst/>
          </a:prstGeom>
          <a:noFill/>
          <a:ln/>
        </p:spPr>
        <p:txBody>
          <a:bodyPr wrap="square" lIns="0" tIns="0" rIns="0" bIns="0" rtlCol="0" anchor="t"/>
          <a:lstStyle/>
          <a:p>
            <a:pPr indent="0" marL="0">
              <a:buNone/>
            </a:pPr>
            <a:r>
              <a:rPr lang="en-US" sz="1500" dirty="0">
                <a:solidFill>
                  <a:schemeClr val="tx1"/>
                </a:solidFill>
              </a:rPr>
              <a:t>emotion, face in view</a:t>
            </a:r>
            <a:endParaRPr lang="en-US" sz="1500" dirty="0"/>
          </a:p>
        </p:txBody>
      </p:sp>
      <p:sp>
        <p:nvSpPr>
          <p:cNvPr id="15" name="Pi stat 5"/>
          <p:cNvSpPr/>
          <p:nvPr/>
        </p:nvSpPr>
        <p:spPr>
          <a:xfrm>
            <a:off x="3063240" y="3566160"/>
            <a:ext cx="2331720" cy="2011680"/>
          </a:xfrm>
          <a:prstGeom prst="roundRect">
            <a:avLst>
              <a:gd name="adj" fmla="val 5455"/>
            </a:avLst>
          </a:prstGeom>
          <a:solidFill>
            <a:schemeClr val="bg2"/>
          </a:solidFill>
          <a:ln w="12700">
            <a:solidFill>
              <a:schemeClr val="bg2"/>
            </a:solidFill>
            <a:prstDash val="solid"/>
          </a:ln>
        </p:spPr>
      </p:sp>
      <p:sp>
        <p:nvSpPr>
          <p:cNvPr id="16" name="Pi 5 value"/>
          <p:cNvSpPr txBox="1"/>
          <p:nvPr/>
        </p:nvSpPr>
        <p:spPr>
          <a:xfrm>
            <a:off x="3291840" y="3840480"/>
            <a:ext cx="1920240" cy="68580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18.3 s</a:t>
            </a:r>
            <a:endParaRPr lang="en-US" sz="3600" dirty="0"/>
          </a:p>
        </p:txBody>
      </p:sp>
      <p:sp>
        <p:nvSpPr>
          <p:cNvPr id="17" name="Pi 5 label"/>
          <p:cNvSpPr txBox="1"/>
          <p:nvPr/>
        </p:nvSpPr>
        <p:spPr>
          <a:xfrm>
            <a:off x="3291840" y="4526280"/>
            <a:ext cx="1920240" cy="685800"/>
          </a:xfrm>
          <a:prstGeom prst="rect">
            <a:avLst/>
          </a:prstGeom>
          <a:noFill/>
          <a:ln/>
        </p:spPr>
        <p:txBody>
          <a:bodyPr wrap="square" lIns="0" tIns="0" rIns="0" bIns="0" rtlCol="0" anchor="t"/>
          <a:lstStyle/>
          <a:p>
            <a:pPr indent="0" marL="0">
              <a:buNone/>
            </a:pPr>
            <a:r>
              <a:rPr lang="en-US" sz="1500" dirty="0">
                <a:solidFill>
                  <a:schemeClr val="tx1"/>
                </a:solidFill>
              </a:rPr>
              <a:t>3-line sign, text found once</a:t>
            </a:r>
            <a:endParaRPr lang="en-US" sz="1500" dirty="0"/>
          </a:p>
        </p:txBody>
      </p:sp>
      <p:sp>
        <p:nvSpPr>
          <p:cNvPr id="18" name="Pi stat 6"/>
          <p:cNvSpPr/>
          <p:nvPr/>
        </p:nvSpPr>
        <p:spPr>
          <a:xfrm>
            <a:off x="5577840" y="3566160"/>
            <a:ext cx="2331720" cy="2011680"/>
          </a:xfrm>
          <a:prstGeom prst="roundRect">
            <a:avLst>
              <a:gd name="adj" fmla="val 5455"/>
            </a:avLst>
          </a:prstGeom>
          <a:solidFill>
            <a:schemeClr val="bg2"/>
          </a:solidFill>
          <a:ln w="12700">
            <a:solidFill>
              <a:schemeClr val="bg2"/>
            </a:solidFill>
            <a:prstDash val="solid"/>
          </a:ln>
        </p:spPr>
      </p:sp>
      <p:sp>
        <p:nvSpPr>
          <p:cNvPr id="19" name="Pi 6 value"/>
          <p:cNvSpPr txBox="1"/>
          <p:nvPr/>
        </p:nvSpPr>
        <p:spPr>
          <a:xfrm>
            <a:off x="5806440" y="384048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1.48 GB</a:t>
            </a:r>
            <a:endParaRPr lang="en-US" sz="3600" dirty="0"/>
          </a:p>
        </p:txBody>
      </p:sp>
      <p:sp>
        <p:nvSpPr>
          <p:cNvPr id="20" name="Pi 6 label"/>
          <p:cNvSpPr txBox="1"/>
          <p:nvPr/>
        </p:nvSpPr>
        <p:spPr>
          <a:xfrm>
            <a:off x="5806440" y="4526280"/>
            <a:ext cx="1920240" cy="685800"/>
          </a:xfrm>
          <a:prstGeom prst="rect">
            <a:avLst/>
          </a:prstGeom>
          <a:noFill/>
          <a:ln/>
        </p:spPr>
        <p:txBody>
          <a:bodyPr wrap="square" lIns="0" tIns="0" rIns="0" bIns="0" rtlCol="0" anchor="t"/>
          <a:lstStyle/>
          <a:p>
            <a:pPr indent="0" marL="0">
              <a:buNone/>
            </a:pPr>
            <a:r>
              <a:rPr lang="en-US" sz="1500" dirty="0">
                <a:solidFill>
                  <a:schemeClr val="tx1"/>
                </a:solidFill>
              </a:rPr>
              <a:t>peak memory, 30-minute run</a:t>
            </a:r>
            <a:endParaRPr lang="en-US" sz="1500" dirty="0"/>
          </a:p>
        </p:txBody>
      </p:sp>
      <p:sp>
        <p:nvSpPr>
          <p:cNvPr id="21" name="Heat card"/>
          <p:cNvSpPr/>
          <p:nvPr/>
        </p:nvSpPr>
        <p:spPr>
          <a:xfrm>
            <a:off x="8183880" y="1325880"/>
            <a:ext cx="3429000" cy="4251960"/>
          </a:xfrm>
          <a:prstGeom prst="roundRect">
            <a:avLst>
              <a:gd name="adj" fmla="val 3200"/>
            </a:avLst>
          </a:prstGeom>
          <a:solidFill>
            <a:schemeClr val="tx2"/>
          </a:solidFill>
          <a:ln w="12700">
            <a:solidFill>
              <a:schemeClr val="tx2"/>
            </a:solidFill>
            <a:prstDash val="solid"/>
          </a:ln>
        </p:spPr>
      </p:sp>
      <p:sp>
        <p:nvSpPr>
          <p:cNvPr id="22" name="Heat circle"/>
          <p:cNvSpPr/>
          <p:nvPr/>
        </p:nvSpPr>
        <p:spPr>
          <a:xfrm>
            <a:off x="8458200" y="1554480"/>
            <a:ext cx="731520" cy="731520"/>
          </a:xfrm>
          <a:prstGeom prst="ellipse">
            <a:avLst/>
          </a:prstGeom>
          <a:solidFill>
            <a:srgbClr val="D7263D"/>
          </a:solidFill>
          <a:ln w="12700">
            <a:solidFill>
              <a:srgbClr val="D7263D"/>
            </a:solidFill>
            <a:prstDash val="solid"/>
          </a:ln>
        </p:spPr>
      </p:sp>
      <p:pic>
        <p:nvPicPr>
          <p:cNvPr id="23" name="Heat icon" descr="preencoded.png">    </p:cNvPr>
          <p:cNvPicPr>
            <a:picLocks noChangeAspect="1"/>
          </p:cNvPicPr>
          <p:nvPr/>
        </p:nvPicPr>
        <p:blipFill>
          <a:blip r:embed="rId1"/>
          <a:stretch>
            <a:fillRect/>
          </a:stretch>
        </p:blipFill>
        <p:spPr>
          <a:xfrm>
            <a:off x="8633765" y="1730045"/>
            <a:ext cx="380390" cy="380390"/>
          </a:xfrm>
          <a:prstGeom prst="rect">
            <a:avLst/>
          </a:prstGeom>
        </p:spPr>
      </p:pic>
      <p:sp>
        <p:nvSpPr>
          <p:cNvPr id="24" name="Heat heading"/>
          <p:cNvSpPr txBox="1"/>
          <p:nvPr/>
        </p:nvSpPr>
        <p:spPr>
          <a:xfrm>
            <a:off x="9326880" y="1691640"/>
            <a:ext cx="2194560" cy="4572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Board temperature</a:t>
            </a:r>
            <a:endParaRPr lang="en-US" sz="1900" dirty="0"/>
          </a:p>
        </p:txBody>
      </p:sp>
      <p:sp>
        <p:nvSpPr>
          <p:cNvPr id="25" name="Heat peak"/>
          <p:cNvSpPr txBox="1"/>
          <p:nvPr/>
        </p:nvSpPr>
        <p:spPr>
          <a:xfrm>
            <a:off x="8458200" y="2423160"/>
            <a:ext cx="301752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57.8–62.3 °C</a:t>
            </a:r>
            <a:endParaRPr lang="en-US" sz="3400" dirty="0"/>
          </a:p>
        </p:txBody>
      </p:sp>
      <p:sp>
        <p:nvSpPr>
          <p:cNvPr id="26" name="Heat label"/>
          <p:cNvSpPr txBox="1"/>
          <p:nvPr/>
        </p:nvSpPr>
        <p:spPr>
          <a:xfrm>
            <a:off x="8458200" y="3154680"/>
            <a:ext cx="2971800" cy="822960"/>
          </a:xfrm>
          <a:prstGeom prst="rect">
            <a:avLst/>
          </a:prstGeom>
          <a:noFill/>
          <a:ln/>
        </p:spPr>
        <p:txBody>
          <a:bodyPr wrap="square" lIns="0" tIns="0" rIns="0" bIns="0" rtlCol="0" anchor="t"/>
          <a:lstStyle/>
          <a:p>
            <a:pPr indent="0" marL="0">
              <a:buNone/>
            </a:pPr>
            <a:r>
              <a:rPr lang="en-US" sz="1500" dirty="0">
                <a:solidFill>
                  <a:srgbClr val="E6EEF6"/>
                </a:solidFill>
              </a:rPr>
              <a:t>measured on the board with a thermometer while the glass was running</a:t>
            </a:r>
            <a:endParaRPr lang="en-US" sz="1500" dirty="0"/>
          </a:p>
        </p:txBody>
      </p:sp>
      <p:sp>
        <p:nvSpPr>
          <p:cNvPr id="27" name="Heat response"/>
          <p:cNvSpPr txBox="1"/>
          <p:nvPr/>
        </p:nvSpPr>
        <p:spPr>
          <a:xfrm>
            <a:off x="8458200" y="4160520"/>
            <a:ext cx="2971800" cy="1188720"/>
          </a:xfrm>
          <a:prstGeom prst="rect">
            <a:avLst/>
          </a:prstGeom>
          <a:noFill/>
          <a:ln/>
        </p:spPr>
        <p:txBody>
          <a:bodyPr wrap="square" lIns="0" tIns="0" rIns="0" bIns="0" rtlCol="0" anchor="t"/>
          <a:lstStyle/>
          <a:p>
            <a:pPr indent="0" marL="0">
              <a:buNone/>
            </a:pPr>
            <a:r>
              <a:rPr lang="en-US" sz="1400" i="1" dirty="0">
                <a:solidFill>
                  <a:srgbClr val="D2E0EC"/>
                </a:solidFill>
              </a:rPr>
              <a:t>Below the 80 °C at which the Pi 5 starts to throttle. An earlier run (13 October, CPU sensor) peaked at 88.7 °C, which led to the thermal governor.</a:t>
            </a:r>
            <a:endParaRPr lang="en-US" sz="1400" dirty="0"/>
          </a:p>
        </p:txBody>
      </p:sp>
      <p:sp>
        <p:nvSpPr>
          <p:cNvPr id="28" name="Pi caveat"/>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200" i="1" dirty="0">
                <a:solidFill>
                  <a:schemeClr val="accent5"/>
                </a:solidFill>
              </a:rPr>
              <a:t>Timings from the 13 October 2026 benchmark on the Pi 5 (8 GB); memory from the 1 October run. Latency was re-checked on the Pi in later use and was responsive.</a:t>
            </a:r>
            <a:endParaRPr lang="en-US" sz="1200" dirty="0"/>
          </a:p>
        </p:txBody>
      </p:sp>
      <p:sp>
        <p:nvSpPr>
          <p:cNvPr id="29"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Board: [12] Raspberry Pi 5 (8 GB). All timings are ours (benchmark_report/, 1 and 13 October 2026); temperature measured by the team with a thermometer.</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Prototype Testing and Project Status</a:t>
            </a:r>
            <a:endParaRPr lang="en-US" sz="3000" dirty="0"/>
          </a:p>
        </p:txBody>
      </p:sp>
      <p:pic>
        <p:nvPicPr>
          <p:cNvPr id="3" name="Prototype version 2 in use" descr="E:\Final SP\Thesis Report and paper\tools\deck\assets/v2_use_collage.jpg">    </p:cNvPr>
          <p:cNvPicPr>
            <a:picLocks noChangeAspect="1"/>
          </p:cNvPicPr>
          <p:nvPr/>
        </p:nvPicPr>
        <p:blipFill>
          <a:blip r:embed="rId1"/>
          <a:stretch>
            <a:fillRect/>
          </a:stretch>
        </p:blipFill>
        <p:spPr>
          <a:xfrm>
            <a:off x="548640" y="1325880"/>
            <a:ext cx="6675120" cy="4461150"/>
          </a:xfrm>
          <a:prstGeom prst="rect">
            <a:avLst/>
          </a:prstGeom>
        </p:spPr>
      </p:pic>
      <p:sp>
        <p:nvSpPr>
          <p:cNvPr id="4" name="Worn caption"/>
          <p:cNvSpPr txBox="1"/>
          <p:nvPr/>
        </p:nvSpPr>
        <p:spPr>
          <a:xfrm>
            <a:off x="548640" y="5852160"/>
            <a:ext cx="6858000" cy="365760"/>
          </a:xfrm>
          <a:prstGeom prst="rect">
            <a:avLst/>
          </a:prstGeom>
          <a:noFill/>
          <a:ln/>
        </p:spPr>
        <p:txBody>
          <a:bodyPr wrap="square" lIns="0" tIns="0" rIns="0" bIns="0" rtlCol="0" anchor="t"/>
          <a:lstStyle/>
          <a:p>
            <a:pPr indent="0" marL="0">
              <a:buNone/>
            </a:pPr>
            <a:r>
              <a:rPr lang="en-US" sz="1400" i="1" dirty="0">
                <a:solidFill>
                  <a:schemeClr val="accent5"/>
                </a:solidFill>
              </a:rPr>
              <a:t>Prototype version 2 in a staged shop exchange by team members; illustration only, no error rate counted.</a:t>
            </a:r>
            <a:endParaRPr lang="en-US" sz="1400" dirty="0"/>
          </a:p>
        </p:txBody>
      </p:sp>
      <p:sp>
        <p:nvSpPr>
          <p:cNvPr id="5" name="Engineering checks card"/>
          <p:cNvSpPr/>
          <p:nvPr/>
        </p:nvSpPr>
        <p:spPr>
          <a:xfrm>
            <a:off x="7726680" y="1325880"/>
            <a:ext cx="3886200" cy="1069848"/>
          </a:xfrm>
          <a:prstGeom prst="roundRect">
            <a:avLst>
              <a:gd name="adj" fmla="val 8547"/>
            </a:avLst>
          </a:prstGeom>
          <a:solidFill>
            <a:srgbClr val="EAF1F7"/>
          </a:solidFill>
          <a:ln w="15875">
            <a:solidFill>
              <a:srgbClr val="1F5F8B"/>
            </a:solidFill>
            <a:prstDash val="solid"/>
          </a:ln>
        </p:spPr>
      </p:sp>
      <p:sp>
        <p:nvSpPr>
          <p:cNvPr id="6" name="Engineering checks status"/>
          <p:cNvSpPr txBox="1"/>
          <p:nvPr/>
        </p:nvSpPr>
        <p:spPr>
          <a:xfrm>
            <a:off x="7909560" y="1435608"/>
            <a:ext cx="1325880" cy="329184"/>
          </a:xfrm>
          <a:prstGeom prst="roundRect">
            <a:avLst>
              <a:gd name="adj" fmla="val 16667"/>
            </a:avLst>
          </a:prstGeom>
          <a:solidFill>
            <a:srgbClr val="1F5F8B"/>
          </a:solidFill>
          <a:ln>
            <a:solidFill>
              <a:srgbClr val="1F5F8B"/>
            </a:solidFill>
          </a:ln>
        </p:spPr>
        <p:txBody>
          <a:bodyPr wrap="square" lIns="0" tIns="0" rIns="0" bIns="0" rtlCol="0" anchor="ctr"/>
          <a:lstStyle/>
          <a:p>
            <a:pPr algn="ctr" indent="0" marL="0">
              <a:buNone/>
            </a:pPr>
            <a:r>
              <a:rPr lang="en-US" sz="1200" b="1" dirty="0">
                <a:solidFill>
                  <a:srgbClr val="FFFFFF"/>
                </a:solidFill>
              </a:rPr>
              <a:t>DONE</a:t>
            </a:r>
            <a:endParaRPr lang="en-US" sz="1200" dirty="0"/>
          </a:p>
        </p:txBody>
      </p:sp>
      <p:sp>
        <p:nvSpPr>
          <p:cNvPr id="7" name="Engineering checks heading"/>
          <p:cNvSpPr txBox="1"/>
          <p:nvPr/>
        </p:nvSpPr>
        <p:spPr>
          <a:xfrm>
            <a:off x="9326880" y="1408176"/>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Engineering checks</a:t>
            </a:r>
            <a:endParaRPr lang="en-US" sz="1700" dirty="0"/>
          </a:p>
        </p:txBody>
      </p:sp>
      <p:sp>
        <p:nvSpPr>
          <p:cNvPr id="8" name="Engineering checks text"/>
          <p:cNvSpPr txBox="1"/>
          <p:nvPr/>
        </p:nvSpPr>
        <p:spPr>
          <a:xfrm>
            <a:off x="7909560" y="1856232"/>
            <a:ext cx="3566160" cy="502920"/>
          </a:xfrm>
          <a:prstGeom prst="rect">
            <a:avLst/>
          </a:prstGeom>
          <a:noFill/>
          <a:ln/>
        </p:spPr>
        <p:txBody>
          <a:bodyPr wrap="square" lIns="0" tIns="0" rIns="0" bIns="0" rtlCol="0" anchor="t"/>
          <a:lstStyle/>
          <a:p>
            <a:pPr indent="0" marL="0">
              <a:buNone/>
            </a:pPr>
            <a:r>
              <a:rPr lang="en-US" sz="1400" dirty="0">
                <a:solidFill>
                  <a:schemeClr val="tx1"/>
                </a:solidFill>
              </a:rPr>
              <a:t>Each part tested on held-out data, on a laptop and the Pi 5</a:t>
            </a:r>
            <a:endParaRPr lang="en-US" sz="1400" dirty="0"/>
          </a:p>
        </p:txBody>
      </p:sp>
      <p:sp>
        <p:nvSpPr>
          <p:cNvPr id="9" name="First field test card"/>
          <p:cNvSpPr/>
          <p:nvPr/>
        </p:nvSpPr>
        <p:spPr>
          <a:xfrm>
            <a:off x="7726680" y="2487168"/>
            <a:ext cx="3886200" cy="1069848"/>
          </a:xfrm>
          <a:prstGeom prst="roundRect">
            <a:avLst>
              <a:gd name="adj" fmla="val 8547"/>
            </a:avLst>
          </a:prstGeom>
          <a:solidFill>
            <a:srgbClr val="FBE9EB"/>
          </a:solidFill>
          <a:ln w="15875">
            <a:solidFill>
              <a:srgbClr val="D7263D"/>
            </a:solidFill>
            <a:prstDash val="solid"/>
          </a:ln>
        </p:spPr>
      </p:sp>
      <p:sp>
        <p:nvSpPr>
          <p:cNvPr id="10" name="First field test status"/>
          <p:cNvSpPr txBox="1"/>
          <p:nvPr/>
        </p:nvSpPr>
        <p:spPr>
          <a:xfrm>
            <a:off x="7909560" y="2596896"/>
            <a:ext cx="1325880" cy="329184"/>
          </a:xfrm>
          <a:prstGeom prst="roundRect">
            <a:avLst>
              <a:gd name="adj" fmla="val 16667"/>
            </a:avLst>
          </a:prstGeom>
          <a:solidFill>
            <a:srgbClr val="D7263D"/>
          </a:solidFill>
          <a:ln>
            <a:solidFill>
              <a:srgbClr val="D7263D"/>
            </a:solidFill>
          </a:ln>
        </p:spPr>
        <p:txBody>
          <a:bodyPr wrap="square" lIns="0" tIns="0" rIns="0" bIns="0" rtlCol="0" anchor="ctr"/>
          <a:lstStyle/>
          <a:p>
            <a:pPr algn="ctr" indent="0" marL="0">
              <a:buNone/>
            </a:pPr>
            <a:r>
              <a:rPr lang="en-US" sz="1200" b="1" dirty="0">
                <a:solidFill>
                  <a:srgbClr val="FFFFFF"/>
                </a:solidFill>
              </a:rPr>
              <a:t>PRELIMINARY</a:t>
            </a:r>
            <a:endParaRPr lang="en-US" sz="1200" dirty="0"/>
          </a:p>
        </p:txBody>
      </p:sp>
      <p:sp>
        <p:nvSpPr>
          <p:cNvPr id="11" name="First field test heading"/>
          <p:cNvSpPr txBox="1"/>
          <p:nvPr/>
        </p:nvSpPr>
        <p:spPr>
          <a:xfrm>
            <a:off x="9326880" y="2569464"/>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First field test</a:t>
            </a:r>
            <a:endParaRPr lang="en-US" sz="1700" dirty="0"/>
          </a:p>
        </p:txBody>
      </p:sp>
      <p:sp>
        <p:nvSpPr>
          <p:cNvPr id="12" name="First field test text"/>
          <p:cNvSpPr txBox="1"/>
          <p:nvPr/>
        </p:nvSpPr>
        <p:spPr>
          <a:xfrm>
            <a:off x="7909560" y="3017520"/>
            <a:ext cx="3566160" cy="502920"/>
          </a:xfrm>
          <a:prstGeom prst="rect">
            <a:avLst/>
          </a:prstGeom>
          <a:noFill/>
          <a:ln/>
        </p:spPr>
        <p:txBody>
          <a:bodyPr wrap="square" lIns="0" tIns="0" rIns="0" bIns="0" rtlCol="0" anchor="t"/>
          <a:lstStyle/>
          <a:p>
            <a:pPr indent="0" marL="0">
              <a:buNone/>
            </a:pPr>
            <a:r>
              <a:rPr lang="en-US" sz="1400" dirty="0">
                <a:solidFill>
                  <a:schemeClr val="tx1"/>
                </a:solidFill>
              </a:rPr>
              <a:t>Glass camera: currency unreliable, Bangla text not read</a:t>
            </a:r>
            <a:endParaRPr lang="en-US" sz="1400" dirty="0"/>
          </a:p>
        </p:txBody>
      </p:sp>
      <p:sp>
        <p:nvSpPr>
          <p:cNvPr id="13" name="Participant trials card"/>
          <p:cNvSpPr/>
          <p:nvPr/>
        </p:nvSpPr>
        <p:spPr>
          <a:xfrm>
            <a:off x="7726680" y="3648456"/>
            <a:ext cx="3886200" cy="1069848"/>
          </a:xfrm>
          <a:prstGeom prst="roundRect">
            <a:avLst>
              <a:gd name="adj" fmla="val 8547"/>
            </a:avLst>
          </a:prstGeom>
          <a:solidFill>
            <a:srgbClr val="FFF8E6"/>
          </a:solidFill>
          <a:ln w="15875">
            <a:solidFill>
              <a:srgbClr val="E6A817"/>
            </a:solidFill>
            <a:prstDash val="solid"/>
          </a:ln>
        </p:spPr>
      </p:sp>
      <p:sp>
        <p:nvSpPr>
          <p:cNvPr id="14" name="Participant trials status"/>
          <p:cNvSpPr txBox="1"/>
          <p:nvPr/>
        </p:nvSpPr>
        <p:spPr>
          <a:xfrm>
            <a:off x="7909560" y="3758184"/>
            <a:ext cx="1325880" cy="329184"/>
          </a:xfrm>
          <a:prstGeom prst="roundRect">
            <a:avLst>
              <a:gd name="adj" fmla="val 16667"/>
            </a:avLst>
          </a:prstGeom>
          <a:solidFill>
            <a:srgbClr val="E6A817"/>
          </a:solidFill>
          <a:ln>
            <a:solidFill>
              <a:srgbClr val="E6A817"/>
            </a:solidFill>
          </a:ln>
        </p:spPr>
        <p:txBody>
          <a:bodyPr wrap="square" lIns="0" tIns="0" rIns="0" bIns="0" rtlCol="0" anchor="ctr"/>
          <a:lstStyle/>
          <a:p>
            <a:pPr algn="ctr" indent="0" marL="0">
              <a:buNone/>
            </a:pPr>
            <a:r>
              <a:rPr lang="en-US" sz="1200" b="1" dirty="0">
                <a:solidFill>
                  <a:srgbClr val="1B2430"/>
                </a:solidFill>
              </a:rPr>
              <a:t>IN PROGRESS</a:t>
            </a:r>
            <a:endParaRPr lang="en-US" sz="1200" dirty="0"/>
          </a:p>
        </p:txBody>
      </p:sp>
      <p:sp>
        <p:nvSpPr>
          <p:cNvPr id="15" name="Participant trials heading"/>
          <p:cNvSpPr txBox="1"/>
          <p:nvPr/>
        </p:nvSpPr>
        <p:spPr>
          <a:xfrm>
            <a:off x="9326880" y="3730752"/>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Participant trials</a:t>
            </a:r>
            <a:endParaRPr lang="en-US" sz="1700" dirty="0"/>
          </a:p>
        </p:txBody>
      </p:sp>
      <p:sp>
        <p:nvSpPr>
          <p:cNvPr id="16" name="Participant trials text"/>
          <p:cNvSpPr txBox="1"/>
          <p:nvPr/>
        </p:nvSpPr>
        <p:spPr>
          <a:xfrm>
            <a:off x="7909560" y="4178808"/>
            <a:ext cx="3566160" cy="502920"/>
          </a:xfrm>
          <a:prstGeom prst="rect">
            <a:avLst/>
          </a:prstGeom>
          <a:noFill/>
          <a:ln/>
        </p:spPr>
        <p:txBody>
          <a:bodyPr wrap="square" lIns="0" tIns="0" rIns="0" bIns="0" rtlCol="0" anchor="t"/>
          <a:lstStyle/>
          <a:p>
            <a:pPr indent="0" marL="0">
              <a:buNone/>
            </a:pPr>
            <a:r>
              <a:rPr lang="en-US" sz="1400" dirty="0">
                <a:solidFill>
                  <a:schemeClr val="tx1"/>
                </a:solidFill>
              </a:rPr>
              <a:t>Sessions with a visually impaired participant have started</a:t>
            </a:r>
            <a:endParaRPr lang="en-US" sz="1400" dirty="0"/>
          </a:p>
        </p:txBody>
      </p:sp>
      <p:sp>
        <p:nvSpPr>
          <p:cNvPr id="17" name="Full user study card"/>
          <p:cNvSpPr/>
          <p:nvPr/>
        </p:nvSpPr>
        <p:spPr>
          <a:xfrm>
            <a:off x="7726680" y="4809744"/>
            <a:ext cx="3886200" cy="1069848"/>
          </a:xfrm>
          <a:prstGeom prst="roundRect">
            <a:avLst>
              <a:gd name="adj" fmla="val 8547"/>
            </a:avLst>
          </a:prstGeom>
          <a:solidFill>
            <a:srgbClr val="F3F5F4"/>
          </a:solidFill>
          <a:ln w="15875">
            <a:solidFill>
              <a:srgbClr val="5B6777"/>
            </a:solidFill>
            <a:prstDash val="solid"/>
          </a:ln>
        </p:spPr>
      </p:sp>
      <p:sp>
        <p:nvSpPr>
          <p:cNvPr id="18" name="Full user study status"/>
          <p:cNvSpPr txBox="1"/>
          <p:nvPr/>
        </p:nvSpPr>
        <p:spPr>
          <a:xfrm>
            <a:off x="7909560" y="4919472"/>
            <a:ext cx="1325880" cy="329184"/>
          </a:xfrm>
          <a:prstGeom prst="roundRect">
            <a:avLst>
              <a:gd name="adj" fmla="val 16667"/>
            </a:avLst>
          </a:prstGeom>
          <a:solidFill>
            <a:srgbClr val="5B6777"/>
          </a:solidFill>
          <a:ln>
            <a:solidFill>
              <a:srgbClr val="5B6777"/>
            </a:solidFill>
          </a:ln>
        </p:spPr>
        <p:txBody>
          <a:bodyPr wrap="square" lIns="0" tIns="0" rIns="0" bIns="0" rtlCol="0" anchor="ctr"/>
          <a:lstStyle/>
          <a:p>
            <a:pPr algn="ctr" indent="0" marL="0">
              <a:buNone/>
            </a:pPr>
            <a:r>
              <a:rPr lang="en-US" sz="1200" b="1" dirty="0">
                <a:solidFill>
                  <a:srgbClr val="FFFFFF"/>
                </a:solidFill>
              </a:rPr>
              <a:t>NONE YET</a:t>
            </a:r>
            <a:endParaRPr lang="en-US" sz="1200" dirty="0"/>
          </a:p>
        </p:txBody>
      </p:sp>
      <p:sp>
        <p:nvSpPr>
          <p:cNvPr id="19" name="Full user study heading"/>
          <p:cNvSpPr txBox="1"/>
          <p:nvPr/>
        </p:nvSpPr>
        <p:spPr>
          <a:xfrm>
            <a:off x="9326880" y="4892040"/>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Full user study</a:t>
            </a:r>
            <a:endParaRPr lang="en-US" sz="1700" dirty="0"/>
          </a:p>
        </p:txBody>
      </p:sp>
      <p:sp>
        <p:nvSpPr>
          <p:cNvPr id="20" name="Full user study text"/>
          <p:cNvSpPr txBox="1"/>
          <p:nvPr/>
        </p:nvSpPr>
        <p:spPr>
          <a:xfrm>
            <a:off x="7909560" y="5340096"/>
            <a:ext cx="3566160" cy="502920"/>
          </a:xfrm>
          <a:prstGeom prst="rect">
            <a:avLst/>
          </a:prstGeom>
          <a:noFill/>
          <a:ln/>
        </p:spPr>
        <p:txBody>
          <a:bodyPr wrap="square" lIns="0" tIns="0" rIns="0" bIns="0" rtlCol="0" anchor="t"/>
          <a:lstStyle/>
          <a:p>
            <a:pPr indent="0" marL="0">
              <a:buNone/>
            </a:pPr>
            <a:r>
              <a:rPr lang="en-US" sz="1400" dirty="0">
                <a:solidFill>
                  <a:schemeClr val="tx1"/>
                </a:solidFill>
              </a:rPr>
              <a:t>No results about users are claimed</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Future Directions</a:t>
            </a:r>
            <a:endParaRPr lang="en-US" sz="3000" dirty="0"/>
          </a:p>
        </p:txBody>
      </p:sp>
      <p:sp>
        <p:nvSpPr>
          <p:cNvPr id="3" name="Roadmap line"/>
          <p:cNvSpPr/>
          <p:nvPr/>
        </p:nvSpPr>
        <p:spPr>
          <a:xfrm>
            <a:off x="1097280" y="2377440"/>
            <a:ext cx="9966960" cy="73152"/>
          </a:xfrm>
          <a:prstGeom prst="rect">
            <a:avLst/>
          </a:prstGeom>
          <a:solidFill>
            <a:srgbClr val="BFD4E6"/>
          </a:solidFill>
          <a:ln w="12700">
            <a:solidFill>
              <a:srgbClr val="BFD4E6"/>
            </a:solidFill>
            <a:prstDash val="solid"/>
          </a:ln>
        </p:spPr>
      </p:sp>
      <p:sp>
        <p:nvSpPr>
          <p:cNvPr id="4" name="Camera circle"/>
          <p:cNvSpPr/>
          <p:nvPr/>
        </p:nvSpPr>
        <p:spPr>
          <a:xfrm>
            <a:off x="1271016" y="1691640"/>
            <a:ext cx="1463040" cy="1463040"/>
          </a:xfrm>
          <a:prstGeom prst="ellipse">
            <a:avLst/>
          </a:prstGeom>
          <a:solidFill>
            <a:srgbClr val="1F5F8B"/>
          </a:solidFill>
          <a:ln w="12700">
            <a:solidFill>
              <a:srgbClr val="1F5F8B"/>
            </a:solidFill>
            <a:prstDash val="solid"/>
          </a:ln>
        </p:spPr>
      </p:sp>
      <p:pic>
        <p:nvPicPr>
          <p:cNvPr id="5" name="Camera icon" descr="preencoded.png">    </p:cNvPr>
          <p:cNvPicPr>
            <a:picLocks noChangeAspect="1"/>
          </p:cNvPicPr>
          <p:nvPr/>
        </p:nvPicPr>
        <p:blipFill>
          <a:blip r:embed="rId1"/>
          <a:stretch>
            <a:fillRect/>
          </a:stretch>
        </p:blipFill>
        <p:spPr>
          <a:xfrm>
            <a:off x="1622146" y="2042770"/>
            <a:ext cx="760781" cy="760781"/>
          </a:xfrm>
          <a:prstGeom prst="rect">
            <a:avLst/>
          </a:prstGeom>
        </p:spPr>
      </p:pic>
      <p:sp>
        <p:nvSpPr>
          <p:cNvPr id="6" name="Camera number"/>
          <p:cNvSpPr txBox="1"/>
          <p:nvPr/>
        </p:nvSpPr>
        <p:spPr>
          <a:xfrm>
            <a:off x="2423160" y="1600200"/>
            <a:ext cx="457200" cy="457200"/>
          </a:xfrm>
          <a:prstGeom prst="ellipse">
            <a:avLst/>
          </a:prstGeom>
          <a:solidFill>
            <a:srgbClr val="17324D"/>
          </a:solidFill>
          <a:ln w="25400">
            <a:solidFill>
              <a:srgbClr val="FFFFFF"/>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Camera heading"/>
          <p:cNvSpPr txBox="1"/>
          <p:nvPr/>
        </p:nvSpPr>
        <p:spPr>
          <a:xfrm>
            <a:off x="548640"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Arial" pitchFamily="34" charset="0"/>
                <a:ea typeface="Arial" pitchFamily="34" charset="-122"/>
                <a:cs typeface="Arial" pitchFamily="34" charset="-120"/>
              </a:rPr>
              <a:t>Camera</a:t>
            </a:r>
            <a:endParaRPr lang="en-US" sz="2400" dirty="0"/>
          </a:p>
        </p:txBody>
      </p:sp>
      <p:sp>
        <p:nvSpPr>
          <p:cNvPr id="8" name="Camera text"/>
          <p:cNvSpPr txBox="1"/>
          <p:nvPr/>
        </p:nvSpPr>
        <p:spPr>
          <a:xfrm>
            <a:off x="685800"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Higher resolution or autofocus</a:t>
            </a:r>
            <a:endParaRPr lang="en-US" sz="1700" dirty="0"/>
          </a:p>
        </p:txBody>
      </p:sp>
      <p:sp>
        <p:nvSpPr>
          <p:cNvPr id="9" name="User study circle"/>
          <p:cNvSpPr/>
          <p:nvPr/>
        </p:nvSpPr>
        <p:spPr>
          <a:xfrm>
            <a:off x="4087368" y="1691640"/>
            <a:ext cx="1463040" cy="1463040"/>
          </a:xfrm>
          <a:prstGeom prst="ellipse">
            <a:avLst/>
          </a:prstGeom>
          <a:solidFill>
            <a:srgbClr val="4A87B5"/>
          </a:solidFill>
          <a:ln w="12700">
            <a:solidFill>
              <a:srgbClr val="4A87B5"/>
            </a:solidFill>
            <a:prstDash val="solid"/>
          </a:ln>
        </p:spPr>
      </p:sp>
      <p:pic>
        <p:nvPicPr>
          <p:cNvPr id="10" name="User study icon" descr="preencoded.png">    </p:cNvPr>
          <p:cNvPicPr>
            <a:picLocks noChangeAspect="1"/>
          </p:cNvPicPr>
          <p:nvPr/>
        </p:nvPicPr>
        <p:blipFill>
          <a:blip r:embed="rId2"/>
          <a:stretch>
            <a:fillRect/>
          </a:stretch>
        </p:blipFill>
        <p:spPr>
          <a:xfrm>
            <a:off x="4438498" y="2042770"/>
            <a:ext cx="760781" cy="760781"/>
          </a:xfrm>
          <a:prstGeom prst="rect">
            <a:avLst/>
          </a:prstGeom>
        </p:spPr>
      </p:pic>
      <p:sp>
        <p:nvSpPr>
          <p:cNvPr id="11" name="User study number"/>
          <p:cNvSpPr txBox="1"/>
          <p:nvPr/>
        </p:nvSpPr>
        <p:spPr>
          <a:xfrm>
            <a:off x="5239512" y="1600200"/>
            <a:ext cx="457200" cy="457200"/>
          </a:xfrm>
          <a:prstGeom prst="ellipse">
            <a:avLst/>
          </a:prstGeom>
          <a:solidFill>
            <a:srgbClr val="17324D"/>
          </a:solidFill>
          <a:ln w="25400">
            <a:solidFill>
              <a:srgbClr val="FFFFFF"/>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User study heading"/>
          <p:cNvSpPr txBox="1"/>
          <p:nvPr/>
        </p:nvSpPr>
        <p:spPr>
          <a:xfrm>
            <a:off x="3364992"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Arial" pitchFamily="34" charset="0"/>
                <a:ea typeface="Arial" pitchFamily="34" charset="-122"/>
                <a:cs typeface="Arial" pitchFamily="34" charset="-120"/>
              </a:rPr>
              <a:t>User study</a:t>
            </a:r>
            <a:endParaRPr lang="en-US" sz="2400" dirty="0"/>
          </a:p>
        </p:txBody>
      </p:sp>
      <p:sp>
        <p:nvSpPr>
          <p:cNvPr id="13" name="User study text"/>
          <p:cNvSpPr txBox="1"/>
          <p:nvPr/>
        </p:nvSpPr>
        <p:spPr>
          <a:xfrm>
            <a:off x="3502152"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8–12 participants, including their own voice commands</a:t>
            </a:r>
            <a:endParaRPr lang="en-US" sz="1700" dirty="0"/>
          </a:p>
        </p:txBody>
      </p:sp>
      <p:sp>
        <p:nvSpPr>
          <p:cNvPr id="14" name="More banknotes circle"/>
          <p:cNvSpPr/>
          <p:nvPr/>
        </p:nvSpPr>
        <p:spPr>
          <a:xfrm>
            <a:off x="6903720" y="1691640"/>
            <a:ext cx="1463040" cy="1463040"/>
          </a:xfrm>
          <a:prstGeom prst="ellipse">
            <a:avLst/>
          </a:prstGeom>
          <a:solidFill>
            <a:srgbClr val="1F5F8B"/>
          </a:solidFill>
          <a:ln w="12700">
            <a:solidFill>
              <a:srgbClr val="1F5F8B"/>
            </a:solidFill>
            <a:prstDash val="solid"/>
          </a:ln>
        </p:spPr>
      </p:sp>
      <p:pic>
        <p:nvPicPr>
          <p:cNvPr id="15" name="More banknotes icon" descr="preencoded.png">    </p:cNvPr>
          <p:cNvPicPr>
            <a:picLocks noChangeAspect="1"/>
          </p:cNvPicPr>
          <p:nvPr/>
        </p:nvPicPr>
        <p:blipFill>
          <a:blip r:embed="rId3"/>
          <a:stretch>
            <a:fillRect/>
          </a:stretch>
        </p:blipFill>
        <p:spPr>
          <a:xfrm>
            <a:off x="7254850" y="2042770"/>
            <a:ext cx="760781" cy="760781"/>
          </a:xfrm>
          <a:prstGeom prst="rect">
            <a:avLst/>
          </a:prstGeom>
        </p:spPr>
      </p:pic>
      <p:sp>
        <p:nvSpPr>
          <p:cNvPr id="16" name="More banknotes number"/>
          <p:cNvSpPr txBox="1"/>
          <p:nvPr/>
        </p:nvSpPr>
        <p:spPr>
          <a:xfrm>
            <a:off x="8055864" y="1600200"/>
            <a:ext cx="457200" cy="457200"/>
          </a:xfrm>
          <a:prstGeom prst="ellipse">
            <a:avLst/>
          </a:prstGeom>
          <a:solidFill>
            <a:srgbClr val="17324D"/>
          </a:solidFill>
          <a:ln w="25400">
            <a:solidFill>
              <a:srgbClr val="FFFFFF"/>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More banknotes heading"/>
          <p:cNvSpPr txBox="1"/>
          <p:nvPr/>
        </p:nvSpPr>
        <p:spPr>
          <a:xfrm>
            <a:off x="6181344"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Arial" pitchFamily="34" charset="0"/>
                <a:ea typeface="Arial" pitchFamily="34" charset="-122"/>
                <a:cs typeface="Arial" pitchFamily="34" charset="-120"/>
              </a:rPr>
              <a:t>More banknotes</a:t>
            </a:r>
            <a:endParaRPr lang="en-US" sz="2400" dirty="0"/>
          </a:p>
        </p:txBody>
      </p:sp>
      <p:sp>
        <p:nvSpPr>
          <p:cNvPr id="18" name="More banknotes text"/>
          <p:cNvSpPr txBox="1"/>
          <p:nvPr/>
        </p:nvSpPr>
        <p:spPr>
          <a:xfrm>
            <a:off x="6318504"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Unseen counterfeit prints; UV check on real fakes</a:t>
            </a:r>
            <a:endParaRPr lang="en-US" sz="1700" dirty="0"/>
          </a:p>
        </p:txBody>
      </p:sp>
      <p:sp>
        <p:nvSpPr>
          <p:cNvPr id="19" name="Speed and cooling circle"/>
          <p:cNvSpPr/>
          <p:nvPr/>
        </p:nvSpPr>
        <p:spPr>
          <a:xfrm>
            <a:off x="9720072" y="1691640"/>
            <a:ext cx="1463040" cy="1463040"/>
          </a:xfrm>
          <a:prstGeom prst="ellipse">
            <a:avLst/>
          </a:prstGeom>
          <a:solidFill>
            <a:srgbClr val="4A87B5"/>
          </a:solidFill>
          <a:ln w="12700">
            <a:solidFill>
              <a:srgbClr val="4A87B5"/>
            </a:solidFill>
            <a:prstDash val="solid"/>
          </a:ln>
        </p:spPr>
      </p:sp>
      <p:pic>
        <p:nvPicPr>
          <p:cNvPr id="20" name="Speed and cooling icon" descr="preencoded.png">    </p:cNvPr>
          <p:cNvPicPr>
            <a:picLocks noChangeAspect="1"/>
          </p:cNvPicPr>
          <p:nvPr/>
        </p:nvPicPr>
        <p:blipFill>
          <a:blip r:embed="rId4"/>
          <a:stretch>
            <a:fillRect/>
          </a:stretch>
        </p:blipFill>
        <p:spPr>
          <a:xfrm>
            <a:off x="10071202" y="2042770"/>
            <a:ext cx="760781" cy="760781"/>
          </a:xfrm>
          <a:prstGeom prst="rect">
            <a:avLst/>
          </a:prstGeom>
        </p:spPr>
      </p:pic>
      <p:sp>
        <p:nvSpPr>
          <p:cNvPr id="21" name="Speed and cooling number"/>
          <p:cNvSpPr txBox="1"/>
          <p:nvPr/>
        </p:nvSpPr>
        <p:spPr>
          <a:xfrm>
            <a:off x="10872216" y="1600200"/>
            <a:ext cx="457200" cy="457200"/>
          </a:xfrm>
          <a:prstGeom prst="ellipse">
            <a:avLst/>
          </a:prstGeom>
          <a:solidFill>
            <a:srgbClr val="17324D"/>
          </a:solidFill>
          <a:ln w="25400">
            <a:solidFill>
              <a:srgbClr val="FFFFFF"/>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Speed and cooling heading"/>
          <p:cNvSpPr txBox="1"/>
          <p:nvPr/>
        </p:nvSpPr>
        <p:spPr>
          <a:xfrm>
            <a:off x="8997696"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Arial" pitchFamily="34" charset="0"/>
                <a:ea typeface="Arial" pitchFamily="34" charset="-122"/>
                <a:cs typeface="Arial" pitchFamily="34" charset="-120"/>
              </a:rPr>
              <a:t>Speed and cooling</a:t>
            </a:r>
            <a:endParaRPr lang="en-US" sz="2400" dirty="0"/>
          </a:p>
        </p:txBody>
      </p:sp>
      <p:sp>
        <p:nvSpPr>
          <p:cNvPr id="23" name="Speed and cooling text"/>
          <p:cNvSpPr txBox="1"/>
          <p:nvPr/>
        </p:nvSpPr>
        <p:spPr>
          <a:xfrm>
            <a:off x="9134856"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Time the new code on the Pi; better cooling; battery</a:t>
            </a:r>
            <a:endParaRPr lang="en-US" sz="1700" dirty="0"/>
          </a:p>
        </p:txBody>
      </p:sp>
      <p:sp>
        <p:nvSpPr>
          <p:cNvPr id="24" name="Status line"/>
          <p:cNvSpPr txBox="1"/>
          <p:nvPr/>
        </p:nvSpPr>
        <p:spPr>
          <a:xfrm>
            <a:off x="548640" y="5120640"/>
            <a:ext cx="11064240" cy="594360"/>
          </a:xfrm>
          <a:prstGeom prst="roundRect">
            <a:avLst>
              <a:gd name="adj" fmla="val 15385"/>
            </a:avLst>
          </a:prstGeom>
          <a:solidFill>
            <a:srgbClr val="EAF1F7"/>
          </a:solidFill>
          <a:ln>
            <a:solidFill>
              <a:srgbClr val="EAF1F7"/>
            </a:solidFill>
          </a:ln>
        </p:spPr>
        <p:txBody>
          <a:bodyPr wrap="square" lIns="0" tIns="0" rIns="0" bIns="0" rtlCol="0" anchor="ctr"/>
          <a:lstStyle/>
          <a:p>
            <a:pPr algn="ctr" indent="0" marL="0">
              <a:buNone/>
            </a:pPr>
            <a:r>
              <a:rPr lang="en-US" sz="1700" b="1" dirty="0">
                <a:solidFill>
                  <a:srgbClr val="1F5F8B"/>
                </a:solidFill>
              </a:rPr>
              <a:t>Done: </a:t>
            </a:r>
            <a:pPr algn="ctr" indent="0" marL="0">
              <a:buNone/>
            </a:pPr>
            <a:r>
              <a:rPr lang="en-US" sz="1700" dirty="0">
                <a:solidFill>
                  <a:srgbClr val="1B2430"/>
                </a:solidFill>
              </a:rPr>
              <a:t>engineering tests     </a:t>
            </a:r>
            <a:pPr algn="ctr" indent="0" marL="0">
              <a:buNone/>
            </a:pPr>
            <a:r>
              <a:rPr lang="en-US" sz="1700" b="1" dirty="0">
                <a:solidFill>
                  <a:srgbClr val="B07D00"/>
                </a:solidFill>
              </a:rPr>
              <a:t>In progress: </a:t>
            </a:r>
            <a:pPr algn="ctr" indent="0" marL="0">
              <a:buNone/>
            </a:pPr>
            <a:r>
              <a:rPr lang="en-US" sz="1700" dirty="0">
                <a:solidFill>
                  <a:srgbClr val="1B2430"/>
                </a:solidFill>
              </a:rPr>
              <a:t>participant trials     </a:t>
            </a:r>
            <a:pPr algn="ctr" indent="0" marL="0">
              <a:buNone/>
            </a:pPr>
            <a:r>
              <a:rPr lang="en-US" sz="1700" b="1" dirty="0">
                <a:solidFill>
                  <a:srgbClr val="17324D"/>
                </a:solidFill>
              </a:rPr>
              <a:t>Future: </a:t>
            </a:r>
            <a:pPr algn="ctr" indent="0" marL="0">
              <a:buNone/>
            </a:pPr>
            <a:r>
              <a:rPr lang="en-US" sz="1700" dirty="0">
                <a:solidFill>
                  <a:srgbClr val="1B2430"/>
                </a:solidFill>
              </a:rPr>
              <a:t>the four steps above</a:t>
            </a:r>
            <a:endParaRPr lang="en-US" sz="17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Conclusion</a:t>
            </a:r>
            <a:endParaRPr lang="en-US" sz="3000" dirty="0"/>
          </a:p>
        </p:txBody>
      </p:sp>
      <p:pic>
        <p:nvPicPr>
          <p:cNvPr id="3" name="Second prototype" descr="E:\Final SP\Thesis Report and paper\tools\deck\assets/v2_collage.jpg">    </p:cNvPr>
          <p:cNvPicPr>
            <a:picLocks noChangeAspect="1"/>
          </p:cNvPicPr>
          <p:nvPr/>
        </p:nvPicPr>
        <p:blipFill>
          <a:blip r:embed="rId1"/>
          <a:srcRect l="0" r="0" t="0" b="0"/>
          <a:stretch/>
        </p:blipFill>
        <p:spPr>
          <a:xfrm>
            <a:off x="548640" y="1280160"/>
            <a:ext cx="3749040" cy="4754880"/>
          </a:xfrm>
          <a:prstGeom prst="rect">
            <a:avLst/>
          </a:prstGeom>
        </p:spPr>
      </p:pic>
      <p:sp>
        <p:nvSpPr>
          <p:cNvPr id="4" name="Built card"/>
          <p:cNvSpPr/>
          <p:nvPr/>
        </p:nvSpPr>
        <p:spPr>
          <a:xfrm>
            <a:off x="4663440" y="1280160"/>
            <a:ext cx="6949440" cy="1463040"/>
          </a:xfrm>
          <a:prstGeom prst="roundRect">
            <a:avLst>
              <a:gd name="adj" fmla="val 7500"/>
            </a:avLst>
          </a:prstGeom>
          <a:solidFill>
            <a:schemeClr val="bg2"/>
          </a:solidFill>
          <a:ln w="12700">
            <a:solidFill>
              <a:schemeClr val="bg2"/>
            </a:solidFill>
            <a:prstDash val="solid"/>
          </a:ln>
        </p:spPr>
      </p:sp>
      <p:sp>
        <p:nvSpPr>
          <p:cNvPr id="5" name="Built circle"/>
          <p:cNvSpPr/>
          <p:nvPr/>
        </p:nvSpPr>
        <p:spPr>
          <a:xfrm>
            <a:off x="4892040" y="1645920"/>
            <a:ext cx="731520" cy="731520"/>
          </a:xfrm>
          <a:prstGeom prst="ellipse">
            <a:avLst/>
          </a:prstGeom>
          <a:solidFill>
            <a:srgbClr val="1F5F8B"/>
          </a:solidFill>
          <a:ln w="12700">
            <a:solidFill>
              <a:srgbClr val="1F5F8B"/>
            </a:solidFill>
            <a:prstDash val="solid"/>
          </a:ln>
        </p:spPr>
      </p:sp>
      <p:pic>
        <p:nvPicPr>
          <p:cNvPr id="6" name="Built icon" descr="preencoded.png">    </p:cNvPr>
          <p:cNvPicPr>
            <a:picLocks noChangeAspect="1"/>
          </p:cNvPicPr>
          <p:nvPr/>
        </p:nvPicPr>
        <p:blipFill>
          <a:blip r:embed="rId2"/>
          <a:stretch>
            <a:fillRect/>
          </a:stretch>
        </p:blipFill>
        <p:spPr>
          <a:xfrm>
            <a:off x="5067605" y="1821485"/>
            <a:ext cx="380390" cy="380390"/>
          </a:xfrm>
          <a:prstGeom prst="rect">
            <a:avLst/>
          </a:prstGeom>
        </p:spPr>
      </p:pic>
      <p:sp>
        <p:nvSpPr>
          <p:cNvPr id="7" name="Built heading"/>
          <p:cNvSpPr txBox="1"/>
          <p:nvPr/>
        </p:nvSpPr>
        <p:spPr>
          <a:xfrm>
            <a:off x="5852160" y="1463040"/>
            <a:ext cx="557784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Built</a:t>
            </a:r>
            <a:endParaRPr lang="en-US" sz="2200" dirty="0"/>
          </a:p>
        </p:txBody>
      </p:sp>
      <p:sp>
        <p:nvSpPr>
          <p:cNvPr id="8" name="Built text"/>
          <p:cNvSpPr txBox="1"/>
          <p:nvPr/>
        </p:nvSpPr>
        <p:spPr>
          <a:xfrm>
            <a:off x="5852160" y="1965960"/>
            <a:ext cx="5577840" cy="685800"/>
          </a:xfrm>
          <a:prstGeom prst="rect">
            <a:avLst/>
          </a:prstGeom>
          <a:noFill/>
          <a:ln/>
        </p:spPr>
        <p:txBody>
          <a:bodyPr wrap="square" lIns="0" tIns="0" rIns="0" bIns="0" rtlCol="0" anchor="t"/>
          <a:lstStyle/>
          <a:p>
            <a:pPr indent="0" marL="0">
              <a:buNone/>
            </a:pPr>
            <a:r>
              <a:rPr lang="en-US" sz="1700" dirty="0">
                <a:solidFill>
                  <a:schemeClr val="tx1"/>
                </a:solidFill>
              </a:rPr>
              <a:t>An offline Raspberry Pi 5 glass that reads Bangla and English, names objects and Taka notes, and speaks Bangla</a:t>
            </a:r>
            <a:endParaRPr lang="en-US" sz="1700" dirty="0"/>
          </a:p>
        </p:txBody>
      </p:sp>
      <p:sp>
        <p:nvSpPr>
          <p:cNvPr id="9" name="Investigated card"/>
          <p:cNvSpPr/>
          <p:nvPr/>
        </p:nvSpPr>
        <p:spPr>
          <a:xfrm>
            <a:off x="4663440" y="2907792"/>
            <a:ext cx="6949440" cy="1463040"/>
          </a:xfrm>
          <a:prstGeom prst="roundRect">
            <a:avLst>
              <a:gd name="adj" fmla="val 7500"/>
            </a:avLst>
          </a:prstGeom>
          <a:solidFill>
            <a:schemeClr val="bg2"/>
          </a:solidFill>
          <a:ln w="12700">
            <a:solidFill>
              <a:schemeClr val="bg2"/>
            </a:solidFill>
            <a:prstDash val="solid"/>
          </a:ln>
        </p:spPr>
      </p:sp>
      <p:sp>
        <p:nvSpPr>
          <p:cNvPr id="10" name="Investigated circle"/>
          <p:cNvSpPr/>
          <p:nvPr/>
        </p:nvSpPr>
        <p:spPr>
          <a:xfrm>
            <a:off x="4892040" y="3273552"/>
            <a:ext cx="731520" cy="731520"/>
          </a:xfrm>
          <a:prstGeom prst="ellipse">
            <a:avLst/>
          </a:prstGeom>
          <a:solidFill>
            <a:srgbClr val="1F5F8B"/>
          </a:solidFill>
          <a:ln w="12700">
            <a:solidFill>
              <a:srgbClr val="1F5F8B"/>
            </a:solidFill>
            <a:prstDash val="solid"/>
          </a:ln>
        </p:spPr>
      </p:sp>
      <p:pic>
        <p:nvPicPr>
          <p:cNvPr id="11" name="Investigated icon" descr="preencoded.png">    </p:cNvPr>
          <p:cNvPicPr>
            <a:picLocks noChangeAspect="1"/>
          </p:cNvPicPr>
          <p:nvPr/>
        </p:nvPicPr>
        <p:blipFill>
          <a:blip r:embed="rId3"/>
          <a:stretch>
            <a:fillRect/>
          </a:stretch>
        </p:blipFill>
        <p:spPr>
          <a:xfrm>
            <a:off x="5067605" y="3449117"/>
            <a:ext cx="380390" cy="380390"/>
          </a:xfrm>
          <a:prstGeom prst="rect">
            <a:avLst/>
          </a:prstGeom>
        </p:spPr>
      </p:pic>
      <p:sp>
        <p:nvSpPr>
          <p:cNvPr id="12" name="Investigated heading"/>
          <p:cNvSpPr txBox="1"/>
          <p:nvPr/>
        </p:nvSpPr>
        <p:spPr>
          <a:xfrm>
            <a:off x="5852160" y="3090672"/>
            <a:ext cx="557784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Investigated</a:t>
            </a:r>
            <a:endParaRPr lang="en-US" sz="2200" dirty="0"/>
          </a:p>
        </p:txBody>
      </p:sp>
      <p:sp>
        <p:nvSpPr>
          <p:cNvPr id="13" name="Investigated text"/>
          <p:cNvSpPr txBox="1"/>
          <p:nvPr/>
        </p:nvSpPr>
        <p:spPr>
          <a:xfrm>
            <a:off x="5852160" y="3593592"/>
            <a:ext cx="5577840" cy="685800"/>
          </a:xfrm>
          <a:prstGeom prst="rect">
            <a:avLst/>
          </a:prstGeom>
          <a:noFill/>
          <a:ln/>
        </p:spPr>
        <p:txBody>
          <a:bodyPr wrap="square" lIns="0" tIns="0" rIns="0" bIns="0" rtlCol="0" anchor="t"/>
          <a:lstStyle/>
          <a:p>
            <a:pPr indent="0" marL="0">
              <a:buNone/>
            </a:pPr>
            <a:r>
              <a:rPr lang="en-US" sz="1700" dirty="0">
                <a:solidFill>
                  <a:schemeClr val="tx1"/>
                </a:solidFill>
              </a:rPr>
              <a:t>Synthetic training data, prefix training, unseen prints, a safe verdict, DMWR, hand-held notes, OCR, voice</a:t>
            </a:r>
            <a:endParaRPr lang="en-US" sz="1700" dirty="0"/>
          </a:p>
        </p:txBody>
      </p:sp>
      <p:sp>
        <p:nvSpPr>
          <p:cNvPr id="14" name="Still to validate card"/>
          <p:cNvSpPr/>
          <p:nvPr/>
        </p:nvSpPr>
        <p:spPr>
          <a:xfrm>
            <a:off x="4663440" y="4535424"/>
            <a:ext cx="6949440" cy="1463040"/>
          </a:xfrm>
          <a:prstGeom prst="roundRect">
            <a:avLst>
              <a:gd name="adj" fmla="val 7500"/>
            </a:avLst>
          </a:prstGeom>
          <a:solidFill>
            <a:schemeClr val="bg2"/>
          </a:solidFill>
          <a:ln w="12700">
            <a:solidFill>
              <a:schemeClr val="bg2"/>
            </a:solidFill>
            <a:prstDash val="solid"/>
          </a:ln>
        </p:spPr>
      </p:sp>
      <p:sp>
        <p:nvSpPr>
          <p:cNvPr id="15" name="Still to validate circle"/>
          <p:cNvSpPr/>
          <p:nvPr/>
        </p:nvSpPr>
        <p:spPr>
          <a:xfrm>
            <a:off x="4892040" y="4901184"/>
            <a:ext cx="731520" cy="731520"/>
          </a:xfrm>
          <a:prstGeom prst="ellipse">
            <a:avLst/>
          </a:prstGeom>
          <a:solidFill>
            <a:srgbClr val="4A87B5"/>
          </a:solidFill>
          <a:ln w="12700">
            <a:solidFill>
              <a:srgbClr val="4A87B5"/>
            </a:solidFill>
            <a:prstDash val="solid"/>
          </a:ln>
        </p:spPr>
      </p:sp>
      <p:pic>
        <p:nvPicPr>
          <p:cNvPr id="16" name="Still to validate icon" descr="preencoded.png">    </p:cNvPr>
          <p:cNvPicPr>
            <a:picLocks noChangeAspect="1"/>
          </p:cNvPicPr>
          <p:nvPr/>
        </p:nvPicPr>
        <p:blipFill>
          <a:blip r:embed="rId4"/>
          <a:stretch>
            <a:fillRect/>
          </a:stretch>
        </p:blipFill>
        <p:spPr>
          <a:xfrm>
            <a:off x="5067605" y="5076749"/>
            <a:ext cx="380390" cy="380390"/>
          </a:xfrm>
          <a:prstGeom prst="rect">
            <a:avLst/>
          </a:prstGeom>
        </p:spPr>
      </p:pic>
      <p:sp>
        <p:nvSpPr>
          <p:cNvPr id="17" name="Still to validate heading"/>
          <p:cNvSpPr txBox="1"/>
          <p:nvPr/>
        </p:nvSpPr>
        <p:spPr>
          <a:xfrm>
            <a:off x="5852160" y="4718304"/>
            <a:ext cx="557784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Still to validate</a:t>
            </a:r>
            <a:endParaRPr lang="en-US" sz="2200" dirty="0"/>
          </a:p>
        </p:txBody>
      </p:sp>
      <p:sp>
        <p:nvSpPr>
          <p:cNvPr id="18" name="Still to validate text"/>
          <p:cNvSpPr txBox="1"/>
          <p:nvPr/>
        </p:nvSpPr>
        <p:spPr>
          <a:xfrm>
            <a:off x="5852160" y="5221224"/>
            <a:ext cx="5577840" cy="685800"/>
          </a:xfrm>
          <a:prstGeom prst="rect">
            <a:avLst/>
          </a:prstGeom>
          <a:noFill/>
          <a:ln/>
        </p:spPr>
        <p:txBody>
          <a:bodyPr wrap="square" lIns="0" tIns="0" rIns="0" bIns="0" rtlCol="0" anchor="t"/>
          <a:lstStyle/>
          <a:p>
            <a:pPr indent="0" marL="0">
              <a:buNone/>
            </a:pPr>
            <a:r>
              <a:rPr lang="en-US" sz="1700" dirty="0">
                <a:solidFill>
                  <a:schemeClr val="tx1"/>
                </a:solidFill>
              </a:rPr>
              <a:t>Real counterfeits (also under UV), people's voices, the glass camera, a completed user study</a:t>
            </a:r>
            <a:endParaRPr lang="en-US" sz="17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hanks"/>
          <p:cNvSpPr txBox="1"/>
          <p:nvPr/>
        </p:nvSpPr>
        <p:spPr>
          <a:xfrm>
            <a:off x="548640" y="2148840"/>
            <a:ext cx="11064240" cy="1463040"/>
          </a:xfrm>
          <a:prstGeom prst="rect">
            <a:avLst/>
          </a:prstGeom>
          <a:noFill/>
          <a:ln/>
        </p:spPr>
        <p:txBody>
          <a:bodyPr wrap="square" lIns="0" tIns="0" rIns="0" bIns="0" rtlCol="0" anchor="ctr"/>
          <a:lstStyle/>
          <a:p>
            <a:pPr algn="ctr" indent="0" marL="0">
              <a:buNone/>
            </a:pPr>
            <a:r>
              <a:rPr lang="en-US" sz="7200" dirty="0">
                <a:solidFill>
                  <a:srgbClr val="1B2430"/>
                </a:solidFill>
                <a:latin typeface="Arial" pitchFamily="34" charset="0"/>
                <a:ea typeface="Arial" pitchFamily="34" charset="-122"/>
                <a:cs typeface="Arial" pitchFamily="34" charset="-120"/>
              </a:rPr>
              <a:t>THANK YOU</a:t>
            </a:r>
            <a:endParaRPr lang="en-US" sz="7200" dirty="0"/>
          </a:p>
        </p:txBody>
      </p:sp>
      <p:sp>
        <p:nvSpPr>
          <p:cNvPr id="3" name="Questions"/>
          <p:cNvSpPr txBox="1"/>
          <p:nvPr/>
        </p:nvSpPr>
        <p:spPr>
          <a:xfrm>
            <a:off x="548640" y="3657600"/>
            <a:ext cx="11064240" cy="548640"/>
          </a:xfrm>
          <a:prstGeom prst="rect">
            <a:avLst/>
          </a:prstGeom>
          <a:noFill/>
          <a:ln/>
        </p:spPr>
        <p:txBody>
          <a:bodyPr wrap="square" lIns="0" tIns="0" rIns="0" bIns="0" rtlCol="0" anchor="ctr"/>
          <a:lstStyle/>
          <a:p>
            <a:pPr algn="ctr" indent="0" marL="0">
              <a:buNone/>
            </a:pPr>
            <a:r>
              <a:rPr lang="en-US" sz="2600" dirty="0">
                <a:solidFill>
                  <a:srgbClr val="1F5F8B"/>
                </a:solidFill>
              </a:rPr>
              <a:t>Questions?</a:t>
            </a:r>
            <a:endParaRPr lang="en-US" sz="2600" dirty="0"/>
          </a:p>
        </p:txBody>
      </p:sp>
      <p:sp>
        <p:nvSpPr>
          <p:cNvPr id="4" name="Closing name"/>
          <p:cNvSpPr txBox="1"/>
          <p:nvPr/>
        </p:nvSpPr>
        <p:spPr>
          <a:xfrm>
            <a:off x="548640" y="5943600"/>
            <a:ext cx="11064240" cy="365760"/>
          </a:xfrm>
          <a:prstGeom prst="rect">
            <a:avLst/>
          </a:prstGeom>
          <a:noFill/>
          <a:ln/>
        </p:spPr>
        <p:txBody>
          <a:bodyPr wrap="square" lIns="0" tIns="0" rIns="0" bIns="0" rtlCol="0" anchor="ctr"/>
          <a:lstStyle/>
          <a:p>
            <a:pPr algn="ctr" indent="0" marL="0">
              <a:buNone/>
            </a:pPr>
            <a:r>
              <a:rPr lang="en-US" sz="1400" dirty="0">
                <a:solidFill>
                  <a:srgbClr val="5B6777"/>
                </a:solidFill>
              </a:rPr>
              <a:t>SARA  ·  Smart Assistive Reading Aid  ·  Independent University, Bangladesh</a:t>
            </a:r>
            <a:endParaRPr lang="en-US" sz="14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References</a:t>
            </a:r>
            <a:endParaRPr lang="en-US" sz="3000" dirty="0"/>
          </a:p>
        </p:txBody>
      </p:sp>
      <p:sp>
        <p:nvSpPr>
          <p:cNvPr id="3" name="References 1"/>
          <p:cNvSpPr txBox="1"/>
          <p:nvPr/>
        </p:nvSpPr>
        <p:spPr>
          <a:xfrm>
            <a:off x="548640" y="1280160"/>
            <a:ext cx="5440680" cy="4937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[1]  World Health Organization. Blindness and vision impairment: fact sheet, updated 10 February 2026.</a:t>
            </a:r>
            <a:endParaRPr lang="en-US" sz="1200" dirty="0"/>
          </a:p>
          <a:p>
            <a:pPr indent="0" marL="0">
              <a:spcAft>
                <a:spcPts val="500"/>
              </a:spcAft>
              <a:buNone/>
            </a:pPr>
            <a:r>
              <a:rPr lang="en-US" sz="1200" dirty="0">
                <a:solidFill>
                  <a:schemeClr val="tx1"/>
                </a:solidFill>
              </a:rPr>
              <a:t>[2]  OrCam Technologies. OrCam MyEye.</a:t>
            </a:r>
            <a:endParaRPr lang="en-US" sz="1200" dirty="0"/>
          </a:p>
          <a:p>
            <a:pPr indent="0" marL="0">
              <a:spcAft>
                <a:spcPts val="500"/>
              </a:spcAft>
              <a:buNone/>
            </a:pPr>
            <a:r>
              <a:rPr lang="en-US" sz="1200" dirty="0">
                <a:solidFill>
                  <a:schemeClr val="tx1"/>
                </a:solidFill>
              </a:rPr>
              <a:t>[3]  Ali A., H. et al. A Google Glass based real-time scene analysis for the visually impaired. IEEE Access 9, 2021.</a:t>
            </a:r>
            <a:endParaRPr lang="en-US" sz="1200" dirty="0"/>
          </a:p>
          <a:p>
            <a:pPr indent="0" marL="0">
              <a:spcAft>
                <a:spcPts val="500"/>
              </a:spcAft>
              <a:buNone/>
            </a:pPr>
            <a:r>
              <a:rPr lang="en-US" sz="1200" dirty="0">
                <a:solidFill>
                  <a:schemeClr val="tx1"/>
                </a:solidFill>
              </a:rPr>
              <a:t>[4]  Brilli, D. D. et al. AIris: an AI-powered wearable assistive device for the visually impaired. arXiv:2405.07606, 2024.</a:t>
            </a:r>
            <a:endParaRPr lang="en-US" sz="1200" dirty="0"/>
          </a:p>
          <a:p>
            <a:pPr indent="0" marL="0">
              <a:spcAft>
                <a:spcPts val="500"/>
              </a:spcAft>
              <a:buNone/>
            </a:pPr>
            <a:r>
              <a:rPr lang="en-US" sz="1200" dirty="0">
                <a:solidFill>
                  <a:schemeClr val="tx1"/>
                </a:solidFill>
              </a:rPr>
              <a:t>[5]  Adusumilli, V. et al. Reading aid and translator with Raspberry Pi for blind people. ICACCS, 2023, pp. 327-331.</a:t>
            </a:r>
            <a:endParaRPr lang="en-US" sz="1200" dirty="0"/>
          </a:p>
          <a:p>
            <a:pPr indent="0" marL="0">
              <a:spcAft>
                <a:spcPts val="500"/>
              </a:spcAft>
              <a:buNone/>
            </a:pPr>
            <a:r>
              <a:rPr lang="en-US" sz="1200" dirty="0">
                <a:solidFill>
                  <a:schemeClr val="tx1"/>
                </a:solidFill>
              </a:rPr>
              <a:t>[6]  Uddin, M. S., Das, P. P., Roney, M. S. A. Image-based approach for the detection of counterfeit banknotes of Bangladesh. ICIEV, 2016.</a:t>
            </a:r>
            <a:endParaRPr lang="en-US" sz="1200" dirty="0"/>
          </a:p>
          <a:p>
            <a:pPr indent="0" marL="0">
              <a:spcAft>
                <a:spcPts val="500"/>
              </a:spcAft>
              <a:buNone/>
            </a:pPr>
            <a:r>
              <a:rPr lang="en-US" sz="1200" dirty="0">
                <a:solidFill>
                  <a:schemeClr val="tx1"/>
                </a:solidFill>
              </a:rPr>
              <a:t>[7]  Pathak, A. et al. Enhanced counterfeit detection of Bangladesh currency through convolutional neural networks. IJIRCST 12(2), 2024.</a:t>
            </a:r>
            <a:endParaRPr lang="en-US" sz="1200" dirty="0"/>
          </a:p>
          <a:p>
            <a:pPr indent="0" marL="0">
              <a:spcAft>
                <a:spcPts val="500"/>
              </a:spcAft>
              <a:buNone/>
            </a:pPr>
            <a:r>
              <a:rPr lang="en-US" sz="1200" dirty="0">
                <a:solidFill>
                  <a:schemeClr val="tx1"/>
                </a:solidFill>
              </a:rPr>
              <a:t>[8]  Chowdhury, A. A. et al. Evaluation of deep learning models on UV ink: a fake money detection scheme with RPN. ICCA (ACM), 2022.</a:t>
            </a:r>
            <a:endParaRPr lang="en-US" sz="1200" dirty="0"/>
          </a:p>
          <a:p>
            <a:pPr indent="0" marL="0">
              <a:spcAft>
                <a:spcPts val="500"/>
              </a:spcAft>
              <a:buNone/>
            </a:pPr>
            <a:r>
              <a:rPr lang="en-US" sz="1200" dirty="0">
                <a:solidFill>
                  <a:schemeClr val="tx1"/>
                </a:solidFill>
              </a:rPr>
              <a:t>[9]  Piyas, B. R. C. et al. JaalTaka: a benchmark dataset for detecting counterfeit Bangladeshi banknotes. Mendeley Data V2, 2025.</a:t>
            </a:r>
            <a:endParaRPr lang="en-US" sz="1200" dirty="0"/>
          </a:p>
          <a:p>
            <a:pPr indent="0" marL="0">
              <a:spcAft>
                <a:spcPts val="500"/>
              </a:spcAft>
              <a:buNone/>
            </a:pPr>
            <a:r>
              <a:rPr lang="en-US" sz="1200" dirty="0">
                <a:solidFill>
                  <a:schemeClr val="tx1"/>
                </a:solidFill>
              </a:rPr>
              <a:t>[10]  Piyas, B. R. C. et al. JaalTaka: a benchmark dataset for detecting counterfeit Bangladeshi banknotes. Data in Brief 64, 112377, 2026.</a:t>
            </a:r>
            <a:endParaRPr lang="en-US" sz="1200" dirty="0"/>
          </a:p>
          <a:p>
            <a:pPr indent="0" marL="0">
              <a:spcAft>
                <a:spcPts val="500"/>
              </a:spcAft>
              <a:buNone/>
            </a:pPr>
            <a:r>
              <a:rPr lang="en-US" sz="1200" dirty="0">
                <a:solidFill>
                  <a:schemeClr val="tx1"/>
                </a:solidFill>
              </a:rPr>
              <a:t>[11]  Alpha Cephei. Vosk offline speech recognition toolkit.</a:t>
            </a:r>
            <a:endParaRPr lang="en-US" sz="1200" dirty="0"/>
          </a:p>
          <a:p>
            <a:pPr indent="0" marL="0">
              <a:spcAft>
                <a:spcPts val="500"/>
              </a:spcAft>
              <a:buNone/>
            </a:pPr>
            <a:r>
              <a:rPr lang="en-US" sz="1200" dirty="0">
                <a:solidFill>
                  <a:schemeClr val="tx1"/>
                </a:solidFill>
              </a:rPr>
              <a:t>[12]  Raspberry Pi Ltd. Raspberry Pi 5 product brief, 2023.</a:t>
            </a:r>
            <a:endParaRPr lang="en-US" sz="1200" dirty="0"/>
          </a:p>
          <a:p>
            <a:pPr indent="0" marL="0">
              <a:spcAft>
                <a:spcPts val="500"/>
              </a:spcAft>
              <a:buNone/>
            </a:pPr>
            <a:r>
              <a:rPr lang="en-US" sz="1200" dirty="0">
                <a:solidFill>
                  <a:schemeClr val="tx1"/>
                </a:solidFill>
              </a:rPr>
              <a:t>[13]  Jocher, G., Qiu, J., Chaurasia, A. Ultralytics YOLO, version 8.0.0, 2023.</a:t>
            </a:r>
            <a:endParaRPr lang="en-US" sz="1200" dirty="0"/>
          </a:p>
        </p:txBody>
      </p:sp>
      <p:sp>
        <p:nvSpPr>
          <p:cNvPr id="4" name="References 2"/>
          <p:cNvSpPr txBox="1"/>
          <p:nvPr/>
        </p:nvSpPr>
        <p:spPr>
          <a:xfrm>
            <a:off x="6172200" y="1280160"/>
            <a:ext cx="5440680" cy="4937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[14]  Baek, Y. et al. Character region awareness for text detection (CRAFT). CVPR, 2019.</a:t>
            </a:r>
            <a:endParaRPr lang="en-US" sz="1200" dirty="0"/>
          </a:p>
          <a:p>
            <a:pPr indent="0" marL="0">
              <a:spcAft>
                <a:spcPts val="500"/>
              </a:spcAft>
              <a:buNone/>
            </a:pPr>
            <a:r>
              <a:rPr lang="en-US" sz="1200" dirty="0">
                <a:solidFill>
                  <a:schemeClr val="tx1"/>
                </a:solidFill>
              </a:rPr>
              <a:t>[15]  JaidedAI. EasyOCR: ready-to-use OCR with 80+ languages.</a:t>
            </a:r>
            <a:endParaRPr lang="en-US" sz="1200" dirty="0"/>
          </a:p>
          <a:p>
            <a:pPr indent="0" marL="0">
              <a:spcAft>
                <a:spcPts val="500"/>
              </a:spcAft>
              <a:buNone/>
            </a:pPr>
            <a:r>
              <a:rPr lang="en-US" sz="1200" dirty="0">
                <a:solidFill>
                  <a:schemeClr val="tx1"/>
                </a:solidFill>
              </a:rPr>
              <a:t>[16]  Lin, T.-Y. et al. Microsoft COCO: common objects in context. ECCV, 2014.</a:t>
            </a:r>
            <a:endParaRPr lang="en-US" sz="1200" dirty="0"/>
          </a:p>
          <a:p>
            <a:pPr indent="0" marL="0">
              <a:spcAft>
                <a:spcPts val="500"/>
              </a:spcAft>
              <a:buNone/>
            </a:pPr>
            <a:r>
              <a:rPr lang="en-US" sz="1200" dirty="0">
                <a:solidFill>
                  <a:schemeClr val="tx1"/>
                </a:solidFill>
              </a:rPr>
              <a:t>[17]  Rhasspy. Piper: a fast, local neural text-to-speech system.</a:t>
            </a:r>
            <a:endParaRPr lang="en-US" sz="1200" dirty="0"/>
          </a:p>
          <a:p>
            <a:pPr indent="0" marL="0">
              <a:spcAft>
                <a:spcPts val="500"/>
              </a:spcAft>
              <a:buNone/>
            </a:pPr>
            <a:r>
              <a:rPr lang="en-US" sz="1200" dirty="0">
                <a:solidFill>
                  <a:schemeClr val="tx1"/>
                </a:solidFill>
              </a:rPr>
              <a:t>[18]  Li, S., Deng, W., Du, J. Reliable crowdsourcing and deep locality-preserving learning for expression recognition in the wild (RAF-DB). CVPR, 2017.</a:t>
            </a:r>
            <a:endParaRPr lang="en-US" sz="1200" dirty="0"/>
          </a:p>
          <a:p>
            <a:pPr indent="0" marL="0">
              <a:spcAft>
                <a:spcPts val="500"/>
              </a:spcAft>
              <a:buNone/>
            </a:pPr>
            <a:r>
              <a:rPr lang="en-US" sz="1200" dirty="0">
                <a:solidFill>
                  <a:schemeClr val="tx1"/>
                </a:solidFill>
              </a:rPr>
              <a:t>[19]  eSpeak NG text-to-speech.</a:t>
            </a:r>
            <a:endParaRPr lang="en-US" sz="1200" dirty="0"/>
          </a:p>
          <a:p>
            <a:pPr indent="0" marL="0">
              <a:spcAft>
                <a:spcPts val="500"/>
              </a:spcAft>
              <a:buNone/>
            </a:pPr>
            <a:r>
              <a:rPr lang="en-US" sz="1200" dirty="0">
                <a:solidFill>
                  <a:schemeClr val="tx1"/>
                </a:solidFill>
              </a:rPr>
              <a:t>[20]  Nuhash, M. N. I., Akter, S., Mojumdar, M. U. A diverse image dataset for Bangladeshi currency recognition (BanglaTaka). Mendeley Data V1, 2024.</a:t>
            </a:r>
            <a:endParaRPr lang="en-US" sz="1200" dirty="0"/>
          </a:p>
          <a:p>
            <a:pPr indent="0" marL="0">
              <a:spcAft>
                <a:spcPts val="500"/>
              </a:spcAft>
              <a:buNone/>
            </a:pPr>
            <a:r>
              <a:rPr lang="en-US" sz="1200" dirty="0">
                <a:solidFill>
                  <a:schemeClr val="tx1"/>
                </a:solidFill>
              </a:rPr>
              <a:t>[21]  Rafi, M. J. A., Rony, M., Majadi, N. NSTU-BDTAKA: an open dataset for Bangladeshi paper currency detection and recognition. Data in Brief 55, 2024.</a:t>
            </a:r>
            <a:endParaRPr lang="en-US" sz="1200" dirty="0"/>
          </a:p>
          <a:p>
            <a:pPr indent="0" marL="0">
              <a:spcAft>
                <a:spcPts val="500"/>
              </a:spcAft>
              <a:buNone/>
            </a:pPr>
            <a:r>
              <a:rPr lang="en-US" sz="1200" dirty="0">
                <a:solidFill>
                  <a:schemeClr val="tx1"/>
                </a:solidFill>
              </a:rPr>
              <a:t>[22]  Sandler, M. et al. MobileNetV2: inverted residuals and linear bottlenecks. CVPR, 2018.</a:t>
            </a:r>
            <a:endParaRPr lang="en-US" sz="1200" dirty="0"/>
          </a:p>
          <a:p>
            <a:pPr indent="0" marL="0">
              <a:spcAft>
                <a:spcPts val="500"/>
              </a:spcAft>
              <a:buNone/>
            </a:pPr>
            <a:r>
              <a:rPr lang="en-US" sz="1200" dirty="0">
                <a:solidFill>
                  <a:schemeClr val="tx1"/>
                </a:solidFill>
              </a:rPr>
              <a:t>[23]  Mutanen, J., Jaaskelainen, T., Parkkinen, J. P. S. Luminescent security properties of banknotes. IS&amp;T PICS Conference, 2003, pp. 421-424.</a:t>
            </a:r>
            <a:endParaRPr lang="en-US" sz="1200" dirty="0"/>
          </a:p>
          <a:p>
            <a:pPr indent="0" marL="0">
              <a:spcAft>
                <a:spcPts val="500"/>
              </a:spcAft>
              <a:buNone/>
            </a:pPr>
            <a:r>
              <a:rPr lang="en-US" sz="1200" dirty="0">
                <a:solidFill>
                  <a:schemeClr val="tx1"/>
                </a:solidFill>
              </a:rPr>
              <a:t>[24]  Nayef, N. et al. ICDAR2019 robust reading challenge on multi-lingual scene text (RRC-MLT-2019). ICDAR, 2019.</a:t>
            </a:r>
            <a:endParaRPr lang="en-US" sz="1200" dirty="0"/>
          </a:p>
          <a:p>
            <a:pPr indent="0" marL="0">
              <a:spcAft>
                <a:spcPts val="500"/>
              </a:spcAft>
              <a:buNone/>
            </a:pPr>
            <a:r>
              <a:rPr lang="en-US" sz="1200" dirty="0">
                <a:solidFill>
                  <a:schemeClr val="tx1"/>
                </a:solidFill>
              </a:rPr>
              <a:t>[25]  Piczak, K. J. ESC: dataset for environmental sound classification. ACM Multimedia, 2015.</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Resources and Links</a:t>
            </a:r>
            <a:endParaRPr lang="en-US" sz="3000" dirty="0"/>
          </a:p>
        </p:txBody>
      </p:sp>
      <p:sp>
        <p:nvSpPr>
          <p:cNvPr id="3" name="Our code and results card"/>
          <p:cNvSpPr/>
          <p:nvPr/>
        </p:nvSpPr>
        <p:spPr>
          <a:xfrm>
            <a:off x="548640" y="1325880"/>
            <a:ext cx="3520440" cy="4663440"/>
          </a:xfrm>
          <a:prstGeom prst="roundRect">
            <a:avLst>
              <a:gd name="adj" fmla="val 3117"/>
            </a:avLst>
          </a:prstGeom>
          <a:solidFill>
            <a:schemeClr val="bg2"/>
          </a:solidFill>
          <a:ln w="12700">
            <a:solidFill>
              <a:schemeClr val="bg2"/>
            </a:solidFill>
            <a:prstDash val="solid"/>
          </a:ln>
        </p:spPr>
      </p:sp>
      <p:pic>
        <p:nvPicPr>
          <p:cNvPr id="4" name="Our code and results icon" descr="preencoded.png">    </p:cNvPr>
          <p:cNvPicPr>
            <a:picLocks noChangeAspect="1"/>
          </p:cNvPicPr>
          <p:nvPr/>
        </p:nvPicPr>
        <p:blipFill>
          <a:blip r:embed="rId1"/>
          <a:stretch>
            <a:fillRect/>
          </a:stretch>
        </p:blipFill>
        <p:spPr>
          <a:xfrm>
            <a:off x="777240" y="1508760"/>
            <a:ext cx="457200" cy="457200"/>
          </a:xfrm>
          <a:prstGeom prst="rect">
            <a:avLst/>
          </a:prstGeom>
        </p:spPr>
      </p:pic>
      <p:sp>
        <p:nvSpPr>
          <p:cNvPr id="5" name="Our code and results heading"/>
          <p:cNvSpPr txBox="1"/>
          <p:nvPr/>
        </p:nvSpPr>
        <p:spPr>
          <a:xfrm>
            <a:off x="137160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Arial" pitchFamily="34" charset="0"/>
                <a:ea typeface="Arial" pitchFamily="34" charset="-122"/>
                <a:cs typeface="Arial" pitchFamily="34" charset="-120"/>
              </a:rPr>
              <a:t>Our code and results</a:t>
            </a:r>
            <a:endParaRPr lang="en-US" sz="1800" dirty="0"/>
          </a:p>
        </p:txBody>
      </p:sp>
      <p:sp>
        <p:nvSpPr>
          <p:cNvPr id="6" name="Our code and results links"/>
          <p:cNvSpPr txBox="1"/>
          <p:nvPr/>
        </p:nvSpPr>
        <p:spPr>
          <a:xfrm>
            <a:off x="777240" y="2148840"/>
            <a:ext cx="3108960" cy="3703320"/>
          </a:xfrm>
          <a:prstGeom prst="rect">
            <a:avLst/>
          </a:prstGeom>
          <a:noFill/>
          <a:ln/>
        </p:spPr>
        <p:txBody>
          <a:bodyPr wrap="square" lIns="0" tIns="0" rIns="0" bIns="0" rtlCol="0" anchor="t"/>
          <a:lstStyle/>
          <a:p>
            <a:pPr indent="0" marL="0">
              <a:buNone/>
            </a:pPr>
            <a:r>
              <a:rPr lang="en-US" sz="1500" b="1" u="sng" dirty="0">
                <a:solidFill>
                  <a:srgbClr val="1F5F8B"/>
                </a:solidFill>
                <a:hlinkClick r:id="rId2" invalidUrl="" action="" tgtFrame="" tooltip="https://github.com/aflam330/SARA" history="1" highlightClick="0" endSnd="0">
                  <a:extLst>
                    <a:ext uri="{A12FA001-AC4F-418D-AE19-62706E023703}">
                      <ahyp:hlinkClr xmlns:ahyp="http://schemas.microsoft.com/office/drawing/2018/hyperlinkcolor" val="tx"/>
                    </a:ext>
                  </a:extLst>
                </a:hlinkClick>
              </a:rPr>
              <a:t>SARA: glass software for the Raspberry Pi 5</a:t>
            </a:r>
            <a:endParaRPr lang="en-US" sz="1500" dirty="0"/>
          </a:p>
          <a:p>
            <a:pPr indent="0" marL="0">
              <a:spcAft>
                <a:spcPts val="900"/>
              </a:spcAft>
              <a:buNone/>
            </a:pPr>
            <a:r>
              <a:rPr lang="en-US" sz="1100" dirty="0">
                <a:solidFill>
                  <a:srgbClr val="5B6777"/>
                </a:solidFill>
              </a:rPr>
              <a:t>github.com/aflam330/SARA</a:t>
            </a:r>
            <a:endParaRPr lang="en-US" sz="1500" dirty="0"/>
          </a:p>
          <a:p>
            <a:pPr indent="0" marL="0">
              <a:buNone/>
            </a:pPr>
            <a:r>
              <a:rPr lang="en-US" sz="1500" b="1" u="sng" dirty="0">
                <a:solidFill>
                  <a:srgbClr val="1F5F8B"/>
                </a:solidFill>
                <a:hlinkClick r:id="rId3" invalidUrl="" action="" tgtFrame="" tooltip="https://github.com/aflam330/Senior_project_wearable_glass_for_blind_people_using_ocr_and_ylo" history="1" highlightClick="0" endSnd="0">
                  <a:extLst>
                    <a:ext uri="{A12FA001-AC4F-418D-AE19-62706E023703}">
                      <ahyp:hlinkClr xmlns:ahyp="http://schemas.microsoft.com/office/drawing/2018/hyperlinkcolor" val="tx"/>
                    </a:ext>
                  </a:extLst>
                </a:hlinkClick>
              </a:rPr>
              <a:t>Research repository: experiments, results, thesis</a:t>
            </a:r>
            <a:endParaRPr lang="en-US" sz="1500" dirty="0"/>
          </a:p>
          <a:p>
            <a:pPr indent="0" marL="0">
              <a:spcAft>
                <a:spcPts val="900"/>
              </a:spcAft>
              <a:buNone/>
            </a:pPr>
            <a:r>
              <a:rPr lang="en-US" sz="1100" dirty="0">
                <a:solidFill>
                  <a:srgbClr val="5B6777"/>
                </a:solidFill>
              </a:rPr>
              <a:t>github.com/aflam330/Senior_project_wearable_glass_for_blind_people_using_ocr_and_ylo</a:t>
            </a:r>
            <a:endParaRPr lang="en-US" sz="1500" dirty="0"/>
          </a:p>
        </p:txBody>
      </p:sp>
      <p:sp>
        <p:nvSpPr>
          <p:cNvPr id="7" name="Datasets card"/>
          <p:cNvSpPr/>
          <p:nvPr/>
        </p:nvSpPr>
        <p:spPr>
          <a:xfrm>
            <a:off x="4297680" y="1325880"/>
            <a:ext cx="3520440" cy="4663440"/>
          </a:xfrm>
          <a:prstGeom prst="roundRect">
            <a:avLst>
              <a:gd name="adj" fmla="val 3117"/>
            </a:avLst>
          </a:prstGeom>
          <a:solidFill>
            <a:schemeClr val="bg2"/>
          </a:solidFill>
          <a:ln w="12700">
            <a:solidFill>
              <a:schemeClr val="bg2"/>
            </a:solidFill>
            <a:prstDash val="solid"/>
          </a:ln>
        </p:spPr>
      </p:sp>
      <p:pic>
        <p:nvPicPr>
          <p:cNvPr id="8" name="Datasets icon" descr="preencoded.png">    </p:cNvPr>
          <p:cNvPicPr>
            <a:picLocks noChangeAspect="1"/>
          </p:cNvPicPr>
          <p:nvPr/>
        </p:nvPicPr>
        <p:blipFill>
          <a:blip r:embed="rId4"/>
          <a:stretch>
            <a:fillRect/>
          </a:stretch>
        </p:blipFill>
        <p:spPr>
          <a:xfrm>
            <a:off x="4526280" y="1508760"/>
            <a:ext cx="457200" cy="457200"/>
          </a:xfrm>
          <a:prstGeom prst="rect">
            <a:avLst/>
          </a:prstGeom>
        </p:spPr>
      </p:pic>
      <p:sp>
        <p:nvSpPr>
          <p:cNvPr id="9" name="Datasets heading"/>
          <p:cNvSpPr txBox="1"/>
          <p:nvPr/>
        </p:nvSpPr>
        <p:spPr>
          <a:xfrm>
            <a:off x="512064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Arial" pitchFamily="34" charset="0"/>
                <a:ea typeface="Arial" pitchFamily="34" charset="-122"/>
                <a:cs typeface="Arial" pitchFamily="34" charset="-120"/>
              </a:rPr>
              <a:t>Datasets</a:t>
            </a:r>
            <a:endParaRPr lang="en-US" sz="1800" dirty="0"/>
          </a:p>
        </p:txBody>
      </p:sp>
      <p:sp>
        <p:nvSpPr>
          <p:cNvPr id="10" name="Datasets links"/>
          <p:cNvSpPr txBox="1"/>
          <p:nvPr/>
        </p:nvSpPr>
        <p:spPr>
          <a:xfrm>
            <a:off x="4526280" y="2148840"/>
            <a:ext cx="3108960" cy="3703320"/>
          </a:xfrm>
          <a:prstGeom prst="rect">
            <a:avLst/>
          </a:prstGeom>
          <a:noFill/>
          <a:ln/>
        </p:spPr>
        <p:txBody>
          <a:bodyPr wrap="square" lIns="0" tIns="0" rIns="0" bIns="0" rtlCol="0" anchor="t"/>
          <a:lstStyle/>
          <a:p>
            <a:pPr indent="0" marL="0">
              <a:buNone/>
            </a:pPr>
            <a:r>
              <a:rPr lang="en-US" sz="1500" b="1" u="sng" dirty="0">
                <a:solidFill>
                  <a:srgbClr val="1F5F8B"/>
                </a:solidFill>
                <a:hlinkClick r:id="rId5" invalidUrl="" action="" tgtFrame="" tooltip="https://data.mendeley.com/datasets/2m7wk5cy4c/2" history="1" highlightClick="0" endSnd="0">
                  <a:extLst>
                    <a:ext uri="{A12FA001-AC4F-418D-AE19-62706E023703}">
                      <ahyp:hlinkClr xmlns:ahyp="http://schemas.microsoft.com/office/drawing/2018/hyperlinkcolor" val="tx"/>
                    </a:ext>
                  </a:extLst>
                </a:hlinkClick>
              </a:rPr>
              <a:t>JaalTaka (counterfeit notes)</a:t>
            </a:r>
            <a:endParaRPr lang="en-US" sz="1500" dirty="0"/>
          </a:p>
          <a:p>
            <a:pPr indent="0" marL="0">
              <a:spcAft>
                <a:spcPts val="900"/>
              </a:spcAft>
              <a:buNone/>
            </a:pPr>
            <a:r>
              <a:rPr lang="en-US" sz="1100" dirty="0">
                <a:solidFill>
                  <a:srgbClr val="5B6777"/>
                </a:solidFill>
              </a:rPr>
              <a:t>data.mendeley.com/datasets/2m7wk5cy4c/2</a:t>
            </a:r>
            <a:endParaRPr lang="en-US" sz="1500" dirty="0"/>
          </a:p>
          <a:p>
            <a:pPr indent="0" marL="0">
              <a:buNone/>
            </a:pPr>
            <a:r>
              <a:rPr lang="en-US" sz="1500" b="1" u="sng" dirty="0">
                <a:solidFill>
                  <a:srgbClr val="1F5F8B"/>
                </a:solidFill>
                <a:hlinkClick r:id="rId6" invalidUrl="" action="" tgtFrame="" tooltip="https://data.mendeley.com/datasets/3cv2sypkkh/1" history="1" highlightClick="0" endSnd="0">
                  <a:extLst>
                    <a:ext uri="{A12FA001-AC4F-418D-AE19-62706E023703}">
                      <ahyp:hlinkClr xmlns:ahyp="http://schemas.microsoft.com/office/drawing/2018/hyperlinkcolor" val="tx"/>
                    </a:ext>
                  </a:extLst>
                </a:hlinkClick>
              </a:rPr>
              <a:t>BanglaTaka (note photos)</a:t>
            </a:r>
            <a:endParaRPr lang="en-US" sz="1500" dirty="0"/>
          </a:p>
          <a:p>
            <a:pPr indent="0" marL="0">
              <a:spcAft>
                <a:spcPts val="900"/>
              </a:spcAft>
              <a:buNone/>
            </a:pPr>
            <a:r>
              <a:rPr lang="en-US" sz="1100" dirty="0">
                <a:solidFill>
                  <a:srgbClr val="5B6777"/>
                </a:solidFill>
              </a:rPr>
              <a:t>data.mendeley.com/datasets/3cv2sypkkh/1</a:t>
            </a:r>
            <a:endParaRPr lang="en-US" sz="1500" dirty="0"/>
          </a:p>
          <a:p>
            <a:pPr indent="0" marL="0">
              <a:buNone/>
            </a:pPr>
            <a:r>
              <a:rPr lang="en-US" sz="1500" b="1" u="sng" dirty="0">
                <a:solidFill>
                  <a:srgbClr val="1F5F8B"/>
                </a:solidFill>
                <a:hlinkClick r:id="rId7" invalidUrl="" action="" tgtFrame="" tooltip="https://www.sciencedirect.com/science/article/pii/S2352340924006681" history="1" highlightClick="0" endSnd="0">
                  <a:extLst>
                    <a:ext uri="{A12FA001-AC4F-418D-AE19-62706E023703}">
                      <ahyp:hlinkClr xmlns:ahyp="http://schemas.microsoft.com/office/drawing/2018/hyperlinkcolor" val="tx"/>
                    </a:ext>
                  </a:extLst>
                </a:hlinkClick>
              </a:rPr>
              <a:t>NSTU-BDTAKA (hand-held notes)</a:t>
            </a:r>
            <a:endParaRPr lang="en-US" sz="1500" dirty="0"/>
          </a:p>
          <a:p>
            <a:pPr indent="0" marL="0">
              <a:spcAft>
                <a:spcPts val="900"/>
              </a:spcAft>
              <a:buNone/>
            </a:pPr>
            <a:r>
              <a:rPr lang="en-US" sz="1100" dirty="0">
                <a:solidFill>
                  <a:srgbClr val="5B6777"/>
                </a:solidFill>
              </a:rPr>
              <a:t>www.sciencedirect.com/science/article/pii/S2352340924006681</a:t>
            </a:r>
            <a:endParaRPr lang="en-US" sz="1500" dirty="0"/>
          </a:p>
          <a:p>
            <a:pPr indent="0" marL="0">
              <a:buNone/>
            </a:pPr>
            <a:r>
              <a:rPr lang="en-US" sz="1500" b="1" u="sng" dirty="0">
                <a:solidFill>
                  <a:srgbClr val="1F5F8B"/>
                </a:solidFill>
                <a:hlinkClick r:id="rId8" invalidUrl="" action="" tgtFrame="" tooltip="https://cocodataset.org" history="1" highlightClick="0" endSnd="0">
                  <a:extLst>
                    <a:ext uri="{A12FA001-AC4F-418D-AE19-62706E023703}">
                      <ahyp:hlinkClr xmlns:ahyp="http://schemas.microsoft.com/office/drawing/2018/hyperlinkcolor" val="tx"/>
                    </a:ext>
                  </a:extLst>
                </a:hlinkClick>
              </a:rPr>
              <a:t>Microsoft COCO</a:t>
            </a:r>
            <a:endParaRPr lang="en-US" sz="1500" dirty="0"/>
          </a:p>
          <a:p>
            <a:pPr indent="0" marL="0">
              <a:spcAft>
                <a:spcPts val="900"/>
              </a:spcAft>
              <a:buNone/>
            </a:pPr>
            <a:r>
              <a:rPr lang="en-US" sz="1100" dirty="0">
                <a:solidFill>
                  <a:srgbClr val="5B6777"/>
                </a:solidFill>
              </a:rPr>
              <a:t>cocodataset.org</a:t>
            </a:r>
            <a:endParaRPr lang="en-US" sz="1500" dirty="0"/>
          </a:p>
          <a:p>
            <a:pPr indent="0" marL="0">
              <a:buNone/>
            </a:pPr>
            <a:r>
              <a:rPr lang="en-US" sz="1500" b="1" u="sng" dirty="0">
                <a:solidFill>
                  <a:srgbClr val="1F5F8B"/>
                </a:solidFill>
                <a:hlinkClick r:id="rId9" invalidUrl="" action="" tgtFrame="" tooltip="https://rrc.cvc.uab.es/?ch=15" history="1" highlightClick="0" endSnd="0">
                  <a:extLst>
                    <a:ext uri="{A12FA001-AC4F-418D-AE19-62706E023703}">
                      <ahyp:hlinkClr xmlns:ahyp="http://schemas.microsoft.com/office/drawing/2018/hyperlinkcolor" val="tx"/>
                    </a:ext>
                  </a:extLst>
                </a:hlinkClick>
              </a:rPr>
              <a:t>ICDAR 2019 MLT</a:t>
            </a:r>
            <a:endParaRPr lang="en-US" sz="1500" dirty="0"/>
          </a:p>
          <a:p>
            <a:pPr indent="0" marL="0">
              <a:spcAft>
                <a:spcPts val="900"/>
              </a:spcAft>
              <a:buNone/>
            </a:pPr>
            <a:r>
              <a:rPr lang="en-US" sz="1100" dirty="0">
                <a:solidFill>
                  <a:srgbClr val="5B6777"/>
                </a:solidFill>
              </a:rPr>
              <a:t>rrc.cvc.uab.es/?ch=15</a:t>
            </a:r>
            <a:endParaRPr lang="en-US" sz="1500" dirty="0"/>
          </a:p>
          <a:p>
            <a:pPr indent="0" marL="0">
              <a:buNone/>
            </a:pPr>
            <a:r>
              <a:rPr lang="en-US" sz="1500" b="1" u="sng" dirty="0">
                <a:solidFill>
                  <a:srgbClr val="1F5F8B"/>
                </a:solidFill>
                <a:hlinkClick r:id="rId10" invalidUrl="" action="" tgtFrame="" tooltip="https://github.com/karolpiczak/ESC-50" history="1" highlightClick="0" endSnd="0">
                  <a:extLst>
                    <a:ext uri="{A12FA001-AC4F-418D-AE19-62706E023703}">
                      <ahyp:hlinkClr xmlns:ahyp="http://schemas.microsoft.com/office/drawing/2018/hyperlinkcolor" val="tx"/>
                    </a:ext>
                  </a:extLst>
                </a:hlinkClick>
              </a:rPr>
              <a:t>ESC-50 environmental sounds</a:t>
            </a:r>
            <a:endParaRPr lang="en-US" sz="1500" dirty="0"/>
          </a:p>
          <a:p>
            <a:pPr indent="0" marL="0">
              <a:spcAft>
                <a:spcPts val="900"/>
              </a:spcAft>
              <a:buNone/>
            </a:pPr>
            <a:r>
              <a:rPr lang="en-US" sz="1100" dirty="0">
                <a:solidFill>
                  <a:srgbClr val="5B6777"/>
                </a:solidFill>
              </a:rPr>
              <a:t>github.com/karolpiczak/ESC-50</a:t>
            </a:r>
            <a:endParaRPr lang="en-US" sz="1500" dirty="0"/>
          </a:p>
        </p:txBody>
      </p:sp>
      <p:sp>
        <p:nvSpPr>
          <p:cNvPr id="11" name="Open-source tools card"/>
          <p:cNvSpPr/>
          <p:nvPr/>
        </p:nvSpPr>
        <p:spPr>
          <a:xfrm>
            <a:off x="8046720" y="1325880"/>
            <a:ext cx="3520440" cy="4663440"/>
          </a:xfrm>
          <a:prstGeom prst="roundRect">
            <a:avLst>
              <a:gd name="adj" fmla="val 3117"/>
            </a:avLst>
          </a:prstGeom>
          <a:solidFill>
            <a:schemeClr val="bg2"/>
          </a:solidFill>
          <a:ln w="12700">
            <a:solidFill>
              <a:schemeClr val="bg2"/>
            </a:solidFill>
            <a:prstDash val="solid"/>
          </a:ln>
        </p:spPr>
      </p:sp>
      <p:pic>
        <p:nvPicPr>
          <p:cNvPr id="12" name="Open-source tools icon" descr="preencoded.png">    </p:cNvPr>
          <p:cNvPicPr>
            <a:picLocks noChangeAspect="1"/>
          </p:cNvPicPr>
          <p:nvPr/>
        </p:nvPicPr>
        <p:blipFill>
          <a:blip r:embed="rId11"/>
          <a:stretch>
            <a:fillRect/>
          </a:stretch>
        </p:blipFill>
        <p:spPr>
          <a:xfrm>
            <a:off x="8275320" y="1508760"/>
            <a:ext cx="457200" cy="457200"/>
          </a:xfrm>
          <a:prstGeom prst="rect">
            <a:avLst/>
          </a:prstGeom>
        </p:spPr>
      </p:pic>
      <p:sp>
        <p:nvSpPr>
          <p:cNvPr id="13" name="Open-source tools heading"/>
          <p:cNvSpPr txBox="1"/>
          <p:nvPr/>
        </p:nvSpPr>
        <p:spPr>
          <a:xfrm>
            <a:off x="886968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Arial" pitchFamily="34" charset="0"/>
                <a:ea typeface="Arial" pitchFamily="34" charset="-122"/>
                <a:cs typeface="Arial" pitchFamily="34" charset="-120"/>
              </a:rPr>
              <a:t>Open-source tools</a:t>
            </a:r>
            <a:endParaRPr lang="en-US" sz="1800" dirty="0"/>
          </a:p>
        </p:txBody>
      </p:sp>
      <p:sp>
        <p:nvSpPr>
          <p:cNvPr id="14" name="Open-source tools links"/>
          <p:cNvSpPr txBox="1"/>
          <p:nvPr/>
        </p:nvSpPr>
        <p:spPr>
          <a:xfrm>
            <a:off x="8275320" y="2148840"/>
            <a:ext cx="3108960" cy="3703320"/>
          </a:xfrm>
          <a:prstGeom prst="rect">
            <a:avLst/>
          </a:prstGeom>
          <a:noFill/>
          <a:ln/>
        </p:spPr>
        <p:txBody>
          <a:bodyPr wrap="square" lIns="0" tIns="0" rIns="0" bIns="0" rtlCol="0" anchor="t"/>
          <a:lstStyle/>
          <a:p>
            <a:pPr indent="0" marL="0">
              <a:buNone/>
            </a:pPr>
            <a:r>
              <a:rPr lang="en-US" sz="1500" b="1" u="sng" dirty="0">
                <a:solidFill>
                  <a:srgbClr val="1F5F8B"/>
                </a:solidFill>
                <a:hlinkClick r:id="rId12" invalidUrl="" action="" tgtFrame="" tooltip="https://github.com/ultralytics/ultralytics" history="1" highlightClick="0" endSnd="0">
                  <a:extLst>
                    <a:ext uri="{A12FA001-AC4F-418D-AE19-62706E023703}">
                      <ahyp:hlinkClr xmlns:ahyp="http://schemas.microsoft.com/office/drawing/2018/hyperlinkcolor" val="tx"/>
                    </a:ext>
                  </a:extLst>
                </a:hlinkClick>
              </a:rPr>
              <a:t>Ultralytics YOLOv8</a:t>
            </a:r>
            <a:endParaRPr lang="en-US" sz="1500" dirty="0"/>
          </a:p>
          <a:p>
            <a:pPr indent="0" marL="0">
              <a:spcAft>
                <a:spcPts val="900"/>
              </a:spcAft>
              <a:buNone/>
            </a:pPr>
            <a:r>
              <a:rPr lang="en-US" sz="1100" dirty="0">
                <a:solidFill>
                  <a:srgbClr val="5B6777"/>
                </a:solidFill>
              </a:rPr>
              <a:t>github.com/ultralytics/ultralytics</a:t>
            </a:r>
            <a:endParaRPr lang="en-US" sz="1500" dirty="0"/>
          </a:p>
          <a:p>
            <a:pPr indent="0" marL="0">
              <a:buNone/>
            </a:pPr>
            <a:r>
              <a:rPr lang="en-US" sz="1500" b="1" u="sng" dirty="0">
                <a:solidFill>
                  <a:srgbClr val="1F5F8B"/>
                </a:solidFill>
                <a:hlinkClick r:id="rId13" invalidUrl="" action="" tgtFrame="" tooltip="https://github.com/JaidedAI/EasyOCR" history="1" highlightClick="0" endSnd="0">
                  <a:extLst>
                    <a:ext uri="{A12FA001-AC4F-418D-AE19-62706E023703}">
                      <ahyp:hlinkClr xmlns:ahyp="http://schemas.microsoft.com/office/drawing/2018/hyperlinkcolor" val="tx"/>
                    </a:ext>
                  </a:extLst>
                </a:hlinkClick>
              </a:rPr>
              <a:t>EasyOCR</a:t>
            </a:r>
            <a:endParaRPr lang="en-US" sz="1500" dirty="0"/>
          </a:p>
          <a:p>
            <a:pPr indent="0" marL="0">
              <a:spcAft>
                <a:spcPts val="900"/>
              </a:spcAft>
              <a:buNone/>
            </a:pPr>
            <a:r>
              <a:rPr lang="en-US" sz="1100" dirty="0">
                <a:solidFill>
                  <a:srgbClr val="5B6777"/>
                </a:solidFill>
              </a:rPr>
              <a:t>github.com/JaidedAI/EasyOCR</a:t>
            </a:r>
            <a:endParaRPr lang="en-US" sz="1500" dirty="0"/>
          </a:p>
          <a:p>
            <a:pPr indent="0" marL="0">
              <a:buNone/>
            </a:pPr>
            <a:r>
              <a:rPr lang="en-US" sz="1500" b="1" u="sng" dirty="0">
                <a:solidFill>
                  <a:srgbClr val="1F5F8B"/>
                </a:solidFill>
                <a:hlinkClick r:id="rId14" invalidUrl="" action="" tgtFrame="" tooltip="https://github.com/rhasspy/piper" history="1" highlightClick="0" endSnd="0">
                  <a:extLst>
                    <a:ext uri="{A12FA001-AC4F-418D-AE19-62706E023703}">
                      <ahyp:hlinkClr xmlns:ahyp="http://schemas.microsoft.com/office/drawing/2018/hyperlinkcolor" val="tx"/>
                    </a:ext>
                  </a:extLst>
                </a:hlinkClick>
              </a:rPr>
              <a:t>Piper text-to-speech</a:t>
            </a:r>
            <a:endParaRPr lang="en-US" sz="1500" dirty="0"/>
          </a:p>
          <a:p>
            <a:pPr indent="0" marL="0">
              <a:spcAft>
                <a:spcPts val="900"/>
              </a:spcAft>
              <a:buNone/>
            </a:pPr>
            <a:r>
              <a:rPr lang="en-US" sz="1100" dirty="0">
                <a:solidFill>
                  <a:srgbClr val="5B6777"/>
                </a:solidFill>
              </a:rPr>
              <a:t>github.com/rhasspy/piper</a:t>
            </a:r>
            <a:endParaRPr lang="en-US" sz="1500" dirty="0"/>
          </a:p>
          <a:p>
            <a:pPr indent="0" marL="0">
              <a:buNone/>
            </a:pPr>
            <a:r>
              <a:rPr lang="en-US" sz="1500" b="1" u="sng" dirty="0">
                <a:solidFill>
                  <a:srgbClr val="1F5F8B"/>
                </a:solidFill>
                <a:hlinkClick r:id="rId15" invalidUrl="" action="" tgtFrame="" tooltip="https://alphacephei.com/vosk/" history="1" highlightClick="0" endSnd="0">
                  <a:extLst>
                    <a:ext uri="{A12FA001-AC4F-418D-AE19-62706E023703}">
                      <ahyp:hlinkClr xmlns:ahyp="http://schemas.microsoft.com/office/drawing/2018/hyperlinkcolor" val="tx"/>
                    </a:ext>
                  </a:extLst>
                </a:hlinkClick>
              </a:rPr>
              <a:t>Vosk speech recognition</a:t>
            </a:r>
            <a:endParaRPr lang="en-US" sz="1500" dirty="0"/>
          </a:p>
          <a:p>
            <a:pPr indent="0" marL="0">
              <a:spcAft>
                <a:spcPts val="900"/>
              </a:spcAft>
              <a:buNone/>
            </a:pPr>
            <a:r>
              <a:rPr lang="en-US" sz="1100" dirty="0">
                <a:solidFill>
                  <a:srgbClr val="5B6777"/>
                </a:solidFill>
              </a:rPr>
              <a:t>alphacephei.com/vosk/</a:t>
            </a:r>
            <a:endParaRPr lang="en-US" sz="1500" dirty="0"/>
          </a:p>
          <a:p>
            <a:pPr indent="0" marL="0">
              <a:buNone/>
            </a:pPr>
            <a:r>
              <a:rPr lang="en-US" sz="1500" b="1" u="sng" dirty="0">
                <a:solidFill>
                  <a:srgbClr val="1F5F8B"/>
                </a:solidFill>
                <a:hlinkClick r:id="rId16" invalidUrl="" action="" tgtFrame="" tooltip="https://github.com/espeak-ng/espeak-ng" history="1" highlightClick="0" endSnd="0">
                  <a:extLst>
                    <a:ext uri="{A12FA001-AC4F-418D-AE19-62706E023703}">
                      <ahyp:hlinkClr xmlns:ahyp="http://schemas.microsoft.com/office/drawing/2018/hyperlinkcolor" val="tx"/>
                    </a:ext>
                  </a:extLst>
                </a:hlinkClick>
              </a:rPr>
              <a:t>eSpeak NG</a:t>
            </a:r>
            <a:endParaRPr lang="en-US" sz="1500" dirty="0"/>
          </a:p>
          <a:p>
            <a:pPr indent="0" marL="0">
              <a:spcAft>
                <a:spcPts val="900"/>
              </a:spcAft>
              <a:buNone/>
            </a:pPr>
            <a:r>
              <a:rPr lang="en-US" sz="1100" dirty="0">
                <a:solidFill>
                  <a:srgbClr val="5B6777"/>
                </a:solidFill>
              </a:rPr>
              <a:t>github.com/espeak-ng/espeak-ng</a:t>
            </a:r>
            <a:endParaRPr lang="en-US" sz="1500" dirty="0"/>
          </a:p>
          <a:p>
            <a:pPr indent="0" marL="0">
              <a:buNone/>
            </a:pPr>
            <a:r>
              <a:rPr lang="en-US" sz="1500" b="1" u="sng" dirty="0">
                <a:solidFill>
                  <a:srgbClr val="1F5F8B"/>
                </a:solidFill>
                <a:hlinkClick r:id="rId17" invalidUrl="" action="" tgtFrame="" tooltip="https://www.who.int/news-room/fact-sheets/detail/blindness-and-visual-impairment" history="1" highlightClick="0" endSnd="0">
                  <a:extLst>
                    <a:ext uri="{A12FA001-AC4F-418D-AE19-62706E023703}">
                      <ahyp:hlinkClr xmlns:ahyp="http://schemas.microsoft.com/office/drawing/2018/hyperlinkcolor" val="tx"/>
                    </a:ext>
                  </a:extLst>
                </a:hlinkClick>
              </a:rPr>
              <a:t>WHO vision fact sheet</a:t>
            </a:r>
            <a:endParaRPr lang="en-US" sz="1500" dirty="0"/>
          </a:p>
          <a:p>
            <a:pPr indent="0" marL="0">
              <a:spcAft>
                <a:spcPts val="900"/>
              </a:spcAft>
              <a:buNone/>
            </a:pPr>
            <a:r>
              <a:rPr lang="en-US" sz="1100" dirty="0">
                <a:solidFill>
                  <a:srgbClr val="5B6777"/>
                </a:solidFill>
              </a:rPr>
              <a:t>www.who.int/news-room/fact-sheets/detail/blindness-and-visual-impairment</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27</a:t>
            </a:fld>
            <a:endParaRPr lang="en-US"/>
          </a:p>
        </p:txBody>
      </p:sp>
    </p:spTree>
  </p:cSld>
  <p:clrMapOvr>
    <a:masterClrMapping/>
  </p:clrMapOvr>
  <p:transition spd="med">
    <p:fade/>
  </p:transition>
</p:sld>
</file>

<file path=ppt/theme/theme1.xml><?xml version="1.0" encoding="utf-8"?>
<a:theme xmlns:a="http://schemas.openxmlformats.org/drawingml/2006/main" name="SARA">
  <a:themeElements>
    <a:clrScheme name="SARA">
      <a:dk1>
        <a:srgbClr val="1B2430"/>
      </a:dk1>
      <a:lt1>
        <a:srgbClr val="FFFFFF"/>
      </a:lt1>
      <a:dk2>
        <a:srgbClr val="17324D"/>
      </a:dk2>
      <a:lt2>
        <a:srgbClr val="EAF1F7"/>
      </a:lt2>
      <a:accent1>
        <a:srgbClr val="1F5F8B"/>
      </a:accent1>
      <a:accent2>
        <a:srgbClr val="D7263D"/>
      </a:accent2>
      <a:accent3>
        <a:srgbClr val="4A87B5"/>
      </a:accent3>
      <a:accent4>
        <a:srgbClr val="E6A817"/>
      </a:accent4>
      <a:accent5>
        <a:srgbClr val="5B6777"/>
      </a:accent5>
      <a:accent6>
        <a:srgbClr val="BFD4E6"/>
      </a:accent6>
      <a:hlink>
        <a:srgbClr val="1F5F8B"/>
      </a:hlink>
      <a:folHlink>
        <a:srgbClr val="4A87B5"/>
      </a:folHlink>
    </a:clrScheme>
    <a:fontScheme name="SAR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Independent University, Bangladesh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Wearable Assistive Glass for Authenticating Bangladeshi Banknotes: Fusing Physical Security Features and Deep Learning for Visually Impaired Users</dc:title>
  <dc:subject>PptxGenJS Presentation</dc:subject>
  <dc:creator>MD Abdun Fattah Lam, Mukut Protim Memo, Tanjila Hossain Tapti</dc:creator>
  <cp:lastModifiedBy>MD Abdun Fattah Lam, Mukut Protim Memo, Tanjila Hossain Tapti</cp:lastModifiedBy>
  <cp:revision>1</cp:revision>
  <dcterms:created xsi:type="dcterms:W3CDTF">2026-10-29T09:41:58Z</dcterms:created>
  <dcterms:modified xsi:type="dcterms:W3CDTF">2026-10-29T09:41:58Z</dcterms:modified>
</cp:coreProperties>
</file>
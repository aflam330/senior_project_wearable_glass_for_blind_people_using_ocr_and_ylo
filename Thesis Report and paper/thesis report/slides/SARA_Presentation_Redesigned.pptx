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8fe608d-61bc-932c-a7d9-86247a330269}">
          <p14:sldIdLst>
            <p14:sldId id="256"/>
          </p14:sldIdLst>
        </p14:section>
        <p14:section name="Problem" id="{0de44f4b-49e4-5b1e-9650-19a4e0ce8ee6}">
          <p14:sldIdLst>
            <p14:sldId id="257"/>
            <p14:sldId id="258"/>
            <p14:sldId id="259"/>
          </p14:sldIdLst>
        </p14:section>
        <p14:section name="Solution" id="{0a672dff-df38-98bc-e792-3925a0c08aa7}">
          <p14:sldIdLst>
            <p14:sldId id="260"/>
            <p14:sldId id="261"/>
            <p14:sldId id="262"/>
            <p14:sldId id="263"/>
            <p14:sldId id="264"/>
          </p14:sldIdLst>
        </p14:section>
        <p14:section name="Currency" id="{72c50a97-9592-28e7-1eef-3d818e85122f}">
          <p14:sldIdLst>
            <p14:sldId id="265"/>
            <p14:sldId id="266"/>
            <p14:sldId id="267"/>
            <p14:sldId id="268"/>
            <p14:sldId id="269"/>
            <p14:sldId id="270"/>
            <p14:sldId id="271"/>
            <p14:sldId id="272"/>
          </p14:sldIdLst>
        </p14:section>
        <p14:section name="Reading and voice" id="{6628a67f-1422-16b6-e768-077536ff9792}">
          <p14:sldIdLst>
            <p14:sldId id="273"/>
            <p14:sldId id="274"/>
          </p14:sldIdLst>
        </p14:section>
        <p14:section name="Device" id="{18ea4bed-7b3d-5f99-d68b-a5b179776490}">
          <p14:sldIdLst>
            <p14:sldId id="275"/>
            <p14:sldId id="276"/>
            <p14:sldId id="277"/>
          </p14:sldIdLst>
        </p14:section>
        <p14:section name="Closing" id="{86d24223-fa02-d762-c8b6-da33a38c5590}">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OrCam MyEye, the best-known commercial reading glass, does not support Bangla.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Project name"/>
          <p:cNvSpPr txBox="1"/>
          <p:nvPr/>
        </p:nvSpPr>
        <p:spPr>
          <a:xfrm>
            <a:off x="1554480" y="777240"/>
            <a:ext cx="4846320" cy="502920"/>
          </a:xfrm>
          <a:prstGeom prst="rect">
            <a:avLst/>
          </a:prstGeom>
          <a:noFill/>
          <a:ln/>
        </p:spPr>
        <p:txBody>
          <a:bodyPr wrap="square" lIns="0" tIns="0" rIns="0" bIns="0" rtlCol="0" anchor="ctr"/>
          <a:lstStyle/>
          <a:p>
            <a:pPr indent="0" marL="0">
              <a:buNone/>
            </a:pPr>
            <a:r>
              <a:rPr lang="en-US" sz="1800" b="1" dirty="0">
                <a:solidFill>
                  <a:srgbClr val="CFE2DA"/>
                </a:solidFill>
              </a:rPr>
              <a:t>SARA  ·  Smart Assistive Reading Aid</a:t>
            </a:r>
            <a:endParaRPr lang="en-US" sz="1800" dirty="0"/>
          </a:p>
        </p:txBody>
      </p:sp>
      <p:sp>
        <p:nvSpPr>
          <p:cNvPr id="6" name="Title"/>
          <p:cNvSpPr txBox="1"/>
          <p:nvPr/>
        </p:nvSpPr>
        <p:spPr>
          <a:xfrm>
            <a:off x="685800" y="1645920"/>
            <a:ext cx="5760720" cy="26517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 Wearable Assistive Robot for Authenticating Bangladeshi Banknotes: Fusing Physical Security Features and Deep Learning for Visually Impaired Users</a:t>
            </a:r>
            <a:endParaRPr lang="en-US" sz="28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label"/>
          <p:cNvSpPr txBox="1"/>
          <p:nvPr/>
        </p:nvSpPr>
        <p:spPr>
          <a:xfrm>
            <a:off x="548640"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sp>
        <p:nvSpPr>
          <p:cNvPr id="4" name="Reading label"/>
          <p:cNvSpPr txBox="1"/>
          <p:nvPr/>
        </p:nvSpPr>
        <p:spPr>
          <a:xfrm>
            <a:off x="4233672"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sp>
        <p:nvSpPr>
          <p:cNvPr id="5" name="Surroundings label"/>
          <p:cNvSpPr txBox="1"/>
          <p:nvPr/>
        </p:nvSpPr>
        <p:spPr>
          <a:xfrm>
            <a:off x="7918704"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6" name="Without and with SARA" descr="E:\Final SP\Thesis Report and paper\tools\deck\assets/cartoon_full.jpg">    </p:cNvPr>
          <p:cNvPicPr>
            <a:picLocks noChangeAspect="1"/>
          </p:cNvPicPr>
          <p:nvPr/>
        </p:nvPicPr>
        <p:blipFill>
          <a:blip r:embed="rId1"/>
          <a:stretch>
            <a:fillRect/>
          </a:stretch>
        </p:blipFill>
        <p:spPr>
          <a:xfrm>
            <a:off x="548640" y="1828800"/>
            <a:ext cx="11064240" cy="4424580"/>
          </a:xfrm>
          <a:prstGeom prst="rect">
            <a:avLst/>
          </a:prstGeom>
        </p:spPr>
      </p:pic>
      <p:sp>
        <p:nvSpPr>
          <p:cNvPr id="7"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OrCam MyEye does not support Bangla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SARA prototype, worn" descr="E:\Final SP\Thesis Report and paper\tools\deck\assets/1_20.jpg">    </p:cNvPr>
          <p:cNvPicPr>
            <a:picLocks noChangeAspect="1"/>
          </p:cNvPicPr>
          <p:nvPr/>
        </p:nvPicPr>
        <p:blipFill>
          <a:blip r:embed="rId1"/>
          <a:srcRect l="0" r="0" t="0" b="0"/>
          <a:stretch/>
        </p:blipFill>
        <p:spPr>
          <a:xfrm>
            <a:off x="548640" y="1325880"/>
            <a:ext cx="2834640" cy="4663440"/>
          </a:xfrm>
          <a:prstGeom prst="rect">
            <a:avLst/>
          </a:prstGeom>
        </p:spPr>
      </p:pic>
      <p:sp>
        <p:nvSpPr>
          <p:cNvPr id="4" name="Prototype caption"/>
          <p:cNvSpPr txBox="1"/>
          <p:nvPr/>
        </p:nvSpPr>
        <p:spPr>
          <a:xfrm>
            <a:off x="548640" y="6035040"/>
            <a:ext cx="2834640" cy="292608"/>
          </a:xfrm>
          <a:prstGeom prst="rect">
            <a:avLst/>
          </a:prstGeom>
          <a:noFill/>
          <a:ln/>
        </p:spPr>
        <p:txBody>
          <a:bodyPr wrap="square" lIns="0" tIns="0" rIns="0" bIns="0" rtlCol="0" anchor="ctr"/>
          <a:lstStyle/>
          <a:p>
            <a:pPr algn="ctr" indent="0" marL="0">
              <a:buNone/>
            </a:pPr>
            <a:r>
              <a:rPr lang="en-US" sz="1200" i="1" dirty="0">
                <a:solidFill>
                  <a:schemeClr val="accent5"/>
                </a:solidFill>
              </a:rPr>
              <a:t>Our prototype</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006A4E"/>
                </a:solidFill>
              </a:rPr>
              <a:t>Offline: </a:t>
            </a:r>
            <a:pPr indent="0" marL="0">
              <a:buNone/>
            </a:pPr>
            <a:r>
              <a:rPr lang="en-US" sz="1400" dirty="0">
                <a:solidFill>
                  <a:schemeClr val="tx1"/>
                </a:solidFill>
              </a:rPr>
              <a:t>text, objects, Taka, emotion.   </a:t>
            </a:r>
            <a:pPr indent="0" marL="0">
              <a:buNone/>
            </a:pPr>
            <a:r>
              <a:rPr lang="en-US" sz="1400" b="1" dirty="0">
                <a:solidFill>
                  <a:srgbClr val="5E6B66"/>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10" name="Step arrow 1"/>
          <p:cNvSpPr/>
          <p:nvPr/>
        </p:nvSpPr>
        <p:spPr>
          <a:xfrm>
            <a:off x="6236208" y="1737360"/>
            <a:ext cx="164592" cy="0"/>
          </a:xfrm>
          <a:prstGeom prst="line">
            <a:avLst/>
          </a:prstGeom>
          <a:noFill/>
          <a:ln w="15875">
            <a:solidFill>
              <a:srgbClr val="9DB8AD"/>
            </a:solidFill>
            <a:prstDash val="solid"/>
            <a:tailEnd type="triangle"/>
          </a:ln>
        </p:spPr>
      </p:sp>
      <p:sp>
        <p:nvSpPr>
          <p:cNvPr id="11"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8AD"/>
            </a:solidFill>
            <a:prstDash val="solid"/>
            <a:tailEnd type="triangle"/>
          </a:ln>
        </p:spPr>
      </p:sp>
      <p:sp>
        <p:nvSpPr>
          <p:cNvPr id="16"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006A4E"/>
          </a:solidFill>
          <a:ln w="12700">
            <a:solidFill>
              <a:srgbClr val="006A4E"/>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006A4E"/>
          </a:solidFill>
          <a:ln w="12700">
            <a:solidFill>
              <a:srgbClr val="006A4E"/>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006A4E"/>
          </a:solidFill>
          <a:ln w="12700">
            <a:solidFill>
              <a:srgbClr val="006A4E"/>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8"/>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9"/>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006A4E"/>
          </a:solidFill>
          <a:ln w="12700">
            <a:solidFill>
              <a:srgbClr val="006A4E"/>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9DCCD"/>
          </a:solidFill>
          <a:ln w="12700">
            <a:solidFill>
              <a:srgbClr val="B9DCCD"/>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0B4D3B"/>
          </a:solidFill>
          <a:ln w="12700">
            <a:solidFill>
              <a:srgbClr val="0B4D3B"/>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9DCCD"/>
          </a:solidFill>
          <a:ln w="12700">
            <a:solidFill>
              <a:srgbClr val="B9DCCD"/>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3A8F72"/>
          </a:solidFill>
          <a:ln w="12700">
            <a:solidFill>
              <a:srgbClr val="3A8F72"/>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[5, 6]</a:t>
            </a:r>
            <a:endParaRPr lang="en-US" sz="1300" dirty="0"/>
          </a:p>
          <a:p>
            <a:pPr algn="ctr" indent="0" marL="0">
              <a:spcAft>
                <a:spcPts val="600"/>
              </a:spcAft>
              <a:buNone/>
            </a:pPr>
            <a:r>
              <a:rPr lang="en-US" sz="1300" dirty="0">
                <a:solidFill>
                  <a:schemeClr val="tx1"/>
                </a:solidFill>
              </a:rPr>
              <a:t>Objects: YOLOv8s, COCO [7, 8]</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[9]</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9DCCD"/>
          </a:solidFill>
          <a:ln w="12700">
            <a:solidFill>
              <a:srgbClr val="B9DCCD"/>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006A4E"/>
          </a:solidFill>
          <a:ln w="12700">
            <a:solidFill>
              <a:srgbClr val="006A4E"/>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[10, 11]</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4EFEA"/>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CFE2DA"/>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4EFEA"/>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[18]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006A4E"/>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4EFEA"/>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CFE2DA"/>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 where the project stands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400" i="1" dirty="0">
                <a:solidFill>
                  <a:schemeClr val="accent5"/>
                </a:solidFill>
              </a:rPr>
              <a:t>Prototype version 2 on team members: fit, weight and button reach are checked before user trials.</a:t>
            </a:r>
            <a:endParaRPr lang="en-US" sz="1400" dirty="0"/>
          </a:p>
        </p:txBody>
      </p:sp>
      <p:sp>
        <p:nvSpPr>
          <p:cNvPr id="7" name="Engineering checks card"/>
          <p:cNvSpPr/>
          <p:nvPr/>
        </p:nvSpPr>
        <p:spPr>
          <a:xfrm>
            <a:off x="7726680" y="1325880"/>
            <a:ext cx="3886200" cy="1069848"/>
          </a:xfrm>
          <a:prstGeom prst="roundRect">
            <a:avLst>
              <a:gd name="adj" fmla="val 8547"/>
            </a:avLst>
          </a:prstGeom>
          <a:solidFill>
            <a:srgbClr val="EEF5F1"/>
          </a:solidFill>
          <a:ln w="15875">
            <a:solidFill>
              <a:srgbClr val="006A4E"/>
            </a:solidFill>
            <a:prstDash val="solid"/>
          </a:ln>
        </p:spPr>
      </p:sp>
      <p:sp>
        <p:nvSpPr>
          <p:cNvPr id="8" name="Engineering checks status"/>
          <p:cNvSpPr txBox="1"/>
          <p:nvPr/>
        </p:nvSpPr>
        <p:spPr>
          <a:xfrm>
            <a:off x="7909560" y="1435608"/>
            <a:ext cx="1325880" cy="329184"/>
          </a:xfrm>
          <a:prstGeom prst="roundRect">
            <a:avLst>
              <a:gd name="adj" fmla="val 16667"/>
            </a:avLst>
          </a:prstGeom>
          <a:solidFill>
            <a:srgbClr val="006A4E"/>
          </a:solidFill>
          <a:ln>
            <a:solidFill>
              <a:srgbClr val="006A4E"/>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9"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Engineering checks</a:t>
            </a:r>
            <a:endParaRPr lang="en-US" sz="1700" dirty="0"/>
          </a:p>
        </p:txBody>
      </p:sp>
      <p:sp>
        <p:nvSpPr>
          <p:cNvPr id="10"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11"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2"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3"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First field test</a:t>
            </a:r>
            <a:endParaRPr lang="en-US" sz="1700" dirty="0"/>
          </a:p>
        </p:txBody>
      </p:sp>
      <p:sp>
        <p:nvSpPr>
          <p:cNvPr id="14"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5"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6"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IN PROGRESS</a:t>
            </a:r>
            <a:endParaRPr lang="en-US" sz="1200" dirty="0"/>
          </a:p>
        </p:txBody>
      </p:sp>
      <p:sp>
        <p:nvSpPr>
          <p:cNvPr id="17"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Participant trials</a:t>
            </a:r>
            <a:endParaRPr lang="en-US" sz="1700" dirty="0"/>
          </a:p>
        </p:txBody>
      </p:sp>
      <p:sp>
        <p:nvSpPr>
          <p:cNvPr id="18"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9" name="Completed user study card"/>
          <p:cNvSpPr/>
          <p:nvPr/>
        </p:nvSpPr>
        <p:spPr>
          <a:xfrm>
            <a:off x="7726680" y="4809744"/>
            <a:ext cx="3886200" cy="1069848"/>
          </a:xfrm>
          <a:prstGeom prst="roundRect">
            <a:avLst>
              <a:gd name="adj" fmla="val 8547"/>
            </a:avLst>
          </a:prstGeom>
          <a:solidFill>
            <a:srgbClr val="F3F5F4"/>
          </a:solidFill>
          <a:ln w="15875">
            <a:solidFill>
              <a:srgbClr val="5E6B66"/>
            </a:solidFill>
            <a:prstDash val="solid"/>
          </a:ln>
        </p:spPr>
      </p:sp>
      <p:sp>
        <p:nvSpPr>
          <p:cNvPr id="20" name="Completed user study status"/>
          <p:cNvSpPr txBox="1"/>
          <p:nvPr/>
        </p:nvSpPr>
        <p:spPr>
          <a:xfrm>
            <a:off x="7909560" y="4919472"/>
            <a:ext cx="1325880" cy="329184"/>
          </a:xfrm>
          <a:prstGeom prst="roundRect">
            <a:avLst>
              <a:gd name="adj" fmla="val 16667"/>
            </a:avLst>
          </a:prstGeom>
          <a:solidFill>
            <a:srgbClr val="5E6B66"/>
          </a:solidFill>
          <a:ln>
            <a:solidFill>
              <a:srgbClr val="5E6B66"/>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21" name="Completed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Completed user study</a:t>
            </a:r>
            <a:endParaRPr lang="en-US" sz="1700" dirty="0"/>
          </a:p>
        </p:txBody>
      </p:sp>
      <p:sp>
        <p:nvSpPr>
          <p:cNvPr id="22" name="Completed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the roadmap</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EF5F1"/>
          </a:solidFill>
          <a:ln>
            <a:solidFill>
              <a:srgbClr val="EEF5F1"/>
            </a:solidFill>
          </a:ln>
        </p:spPr>
        <p:txBody>
          <a:bodyPr wrap="square" lIns="0" tIns="0" rIns="0" bIns="0" rtlCol="0" anchor="ctr"/>
          <a:lstStyle/>
          <a:p>
            <a:pPr algn="ctr" indent="0" marL="0">
              <a:buNone/>
            </a:pPr>
            <a:r>
              <a:rPr lang="en-US" sz="1700" b="1" dirty="0">
                <a:solidFill>
                  <a:srgbClr val="006A4E"/>
                </a:solidFill>
              </a:rPr>
              <a:t>Done: </a:t>
            </a:r>
            <a:pPr algn="ctr" indent="0" marL="0">
              <a:buNone/>
            </a:pPr>
            <a:r>
              <a:rPr lang="en-US" sz="1700" dirty="0">
                <a:solidFill>
                  <a:srgbClr val="1C2321"/>
                </a:solidFill>
              </a:rPr>
              <a:t>engineering tests     </a:t>
            </a:r>
            <a:pPr algn="ctr" indent="0" marL="0">
              <a:buNone/>
            </a:pPr>
            <a:r>
              <a:rPr lang="en-US" sz="1700" b="1" dirty="0">
                <a:solidFill>
                  <a:srgbClr val="B07D00"/>
                </a:solidFill>
              </a:rPr>
              <a:t>In progress: </a:t>
            </a:r>
            <a:pPr algn="ctr" indent="0" marL="0">
              <a:buNone/>
            </a:pPr>
            <a:r>
              <a:rPr lang="en-US" sz="1700" dirty="0">
                <a:solidFill>
                  <a:srgbClr val="1C2321"/>
                </a:solidFill>
              </a:rPr>
              <a:t>participant trials     </a:t>
            </a:r>
            <a:pPr algn="ctr" indent="0" marL="0">
              <a:buNone/>
            </a:pPr>
            <a:r>
              <a:rPr lang="en-US" sz="1700" b="1" dirty="0">
                <a:solidFill>
                  <a:srgbClr val="0B4D3B"/>
                </a:solidFill>
              </a:rPr>
              <a:t>Future: </a:t>
            </a:r>
            <a:pPr algn="ctr" indent="0" marL="0">
              <a:buNone/>
            </a:pPr>
            <a:r>
              <a:rPr lang="en-US" sz="1700" dirty="0">
                <a:solidFill>
                  <a:srgbClr val="1C2321"/>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006A4E"/>
          </a:solidFill>
          <a:ln w="12700">
            <a:solidFill>
              <a:srgbClr val="006A4E"/>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006A4E"/>
          </a:solidFill>
          <a:ln w="12700">
            <a:solidFill>
              <a:srgbClr val="006A4E"/>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3A8F72"/>
          </a:solidFill>
          <a:ln w="12700">
            <a:solidFill>
              <a:srgbClr val="3A8F72"/>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  World Health Organization. Blindness and vision impairment: fact sheet, 2023.</a:t>
            </a:r>
            <a:endParaRPr lang="en-US" sz="1300" dirty="0"/>
          </a:p>
          <a:p>
            <a:pPr indent="0" marL="0">
              <a:spcAft>
                <a:spcPts val="500"/>
              </a:spcAft>
              <a:buNone/>
            </a:pPr>
            <a:r>
              <a:rPr lang="en-US" sz="1300" dirty="0">
                <a:solidFill>
                  <a:schemeClr val="tx1"/>
                </a:solidFill>
              </a:rPr>
              <a:t>[2]  OrCam Technologies. OrCam MyEye.</a:t>
            </a:r>
            <a:endParaRPr lang="en-US" sz="1300" dirty="0"/>
          </a:p>
          <a:p>
            <a:pPr indent="0" marL="0">
              <a:spcAft>
                <a:spcPts val="500"/>
              </a:spcAft>
              <a:buNone/>
            </a:pPr>
            <a:r>
              <a:rPr lang="en-US" sz="1300" dirty="0">
                <a:solidFill>
                  <a:schemeClr val="tx1"/>
                </a:solidFill>
              </a:rPr>
              <a:t>[3]  Ali A., H. et al. A Google Glass based real-time scene analysis for the visually impaired. IEEE Access 9, 2021.</a:t>
            </a:r>
            <a:endParaRPr lang="en-US" sz="1300" dirty="0"/>
          </a:p>
          <a:p>
            <a:pPr indent="0" marL="0">
              <a:spcAft>
                <a:spcPts val="500"/>
              </a:spcAft>
              <a:buNone/>
            </a:pPr>
            <a:r>
              <a:rPr lang="en-US" sz="1300" dirty="0">
                <a:solidFill>
                  <a:schemeClr val="tx1"/>
                </a:solidFill>
              </a:rPr>
              <a:t>[4]  Brilli, D. D. et al. AIris: an AI-powered wearable assistive device for the visually impaired. arXiv:2405.07606, 2024.</a:t>
            </a:r>
            <a:endParaRPr lang="en-US" sz="1300" dirty="0"/>
          </a:p>
          <a:p>
            <a:pPr indent="0" marL="0">
              <a:spcAft>
                <a:spcPts val="500"/>
              </a:spcAft>
              <a:buNone/>
            </a:pPr>
            <a:r>
              <a:rPr lang="en-US" sz="1300" dirty="0">
                <a:solidFill>
                  <a:schemeClr val="tx1"/>
                </a:solidFill>
              </a:rPr>
              <a:t>[5]  Baek, Y. et al. Character region awareness for text detection (CRAFT). CVPR, 2019.</a:t>
            </a:r>
            <a:endParaRPr lang="en-US" sz="1300" dirty="0"/>
          </a:p>
          <a:p>
            <a:pPr indent="0" marL="0">
              <a:spcAft>
                <a:spcPts val="500"/>
              </a:spcAft>
              <a:buNone/>
            </a:pPr>
            <a:r>
              <a:rPr lang="en-US" sz="1300" dirty="0">
                <a:solidFill>
                  <a:schemeClr val="tx1"/>
                </a:solidFill>
              </a:rPr>
              <a:t>[6]  JaidedAI. EasyOCR: ready-to-use OCR with 80+ languages.</a:t>
            </a:r>
            <a:endParaRPr lang="en-US" sz="1300" dirty="0"/>
          </a:p>
          <a:p>
            <a:pPr indent="0" marL="0">
              <a:spcAft>
                <a:spcPts val="500"/>
              </a:spcAft>
              <a:buNone/>
            </a:pPr>
            <a:r>
              <a:rPr lang="en-US" sz="1300" dirty="0">
                <a:solidFill>
                  <a:schemeClr val="tx1"/>
                </a:solidFill>
              </a:rPr>
              <a:t>[7]  Jocher, G., Chaurasia, A., Qiu, J. Ultralytics YOLOv8.</a:t>
            </a:r>
            <a:endParaRPr lang="en-US" sz="1300" dirty="0"/>
          </a:p>
          <a:p>
            <a:pPr indent="0" marL="0">
              <a:spcAft>
                <a:spcPts val="500"/>
              </a:spcAft>
              <a:buNone/>
            </a:pPr>
            <a:r>
              <a:rPr lang="en-US" sz="1300" dirty="0">
                <a:solidFill>
                  <a:schemeClr val="tx1"/>
                </a:solidFill>
              </a:rPr>
              <a:t>[8]  Lin, T.-Y. et al. Microsoft COCO: common objects in context. ECCV, 2014.</a:t>
            </a:r>
            <a:endParaRPr lang="en-US" sz="1300" dirty="0"/>
          </a:p>
          <a:p>
            <a:pPr indent="0" marL="0">
              <a:spcAft>
                <a:spcPts val="500"/>
              </a:spcAft>
              <a:buNone/>
            </a:pPr>
            <a:r>
              <a:rPr lang="en-US" sz="1300" dirty="0">
                <a:solidFill>
                  <a:schemeClr val="tx1"/>
                </a:solidFill>
              </a:rPr>
              <a:t>[9]  Li, S., Deng, W., Du, J. Reliable crowdsourcing and deep locality-preserving learning for expression recognition in the wild (RAF-DB). CVPR, 2017.</a:t>
            </a:r>
            <a:endParaRPr lang="en-US" sz="1300" dirty="0"/>
          </a:p>
          <a:p>
            <a:pPr indent="0" marL="0">
              <a:spcAft>
                <a:spcPts val="500"/>
              </a:spcAft>
              <a:buNone/>
            </a:pPr>
            <a:r>
              <a:rPr lang="en-US" sz="1300" dirty="0">
                <a:solidFill>
                  <a:schemeClr val="tx1"/>
                </a:solidFill>
              </a:rPr>
              <a:t>[10]  Rhasspy. Piper: a fast, local neural text-to-speech system.</a:t>
            </a:r>
            <a:endParaRPr lang="en-US" sz="1300" dirty="0"/>
          </a:p>
          <a:p>
            <a:pPr indent="0" marL="0">
              <a:spcAft>
                <a:spcPts val="500"/>
              </a:spcAft>
              <a:buNone/>
            </a:pPr>
            <a:r>
              <a:rPr lang="en-US" sz="1300" dirty="0">
                <a:solidFill>
                  <a:schemeClr val="tx1"/>
                </a:solidFill>
              </a:rPr>
              <a:t>[11]  eSpeak NG text-to-speech.</a:t>
            </a:r>
            <a:endParaRPr lang="en-US" sz="1300" dirty="0"/>
          </a:p>
          <a:p>
            <a:pPr indent="0" marL="0">
              <a:spcAft>
                <a:spcPts val="500"/>
              </a:spcAft>
              <a:buNone/>
            </a:pPr>
            <a:r>
              <a:rPr lang="en-US" sz="1300" dirty="0">
                <a:solidFill>
                  <a:schemeClr val="tx1"/>
                </a:solidFill>
              </a:rPr>
              <a:t>[12]  A diverse image dataset for Bangladeshi currency recognition (BanglaTaka). Mendeley Data.</a:t>
            </a:r>
            <a:endParaRPr lang="en-US" sz="13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[13]  Rafi, M. J. A., Rony, M., Majadi, N. NSTU-BDTAKA: an open dataset for Bangladeshi paper currency detection and recognition. Data in Brief 55, 2024.</a:t>
            </a:r>
            <a:endParaRPr lang="en-US" sz="1300" dirty="0"/>
          </a:p>
          <a:p>
            <a:pPr indent="0" marL="0">
              <a:spcAft>
                <a:spcPts val="500"/>
              </a:spcAft>
              <a:buNone/>
            </a:pPr>
            <a:r>
              <a:rPr lang="en-US" sz="1300" dirty="0">
                <a:solidFill>
                  <a:schemeClr val="tx1"/>
                </a:solidFill>
              </a:rPr>
              <a:t>[14]  Piyas, B. R. C. et al. JaalTaka: a benchmark dataset for detecting counterfeit Bangladeshi banknotes. Mendeley Data V2, 2025.</a:t>
            </a:r>
            <a:endParaRPr lang="en-US" sz="1300" dirty="0"/>
          </a:p>
          <a:p>
            <a:pPr indent="0" marL="0">
              <a:spcAft>
                <a:spcPts val="500"/>
              </a:spcAft>
              <a:buNone/>
            </a:pPr>
            <a:r>
              <a:rPr lang="en-US" sz="1300" dirty="0">
                <a:solidFill>
                  <a:schemeClr val="tx1"/>
                </a:solidFill>
              </a:rPr>
              <a:t>[15]  Piyas, B. R. C. et al. JaalTaka: a benchmark dataset for detecting counterfeit Bangladeshi banknotes. Data in Brief 64, 112377, 2026.</a:t>
            </a:r>
            <a:endParaRPr lang="en-US" sz="1300" dirty="0"/>
          </a:p>
          <a:p>
            <a:pPr indent="0" marL="0">
              <a:spcAft>
                <a:spcPts val="500"/>
              </a:spcAft>
              <a:buNone/>
            </a:pPr>
            <a:r>
              <a:rPr lang="en-US" sz="1300" dirty="0">
                <a:solidFill>
                  <a:schemeClr val="tx1"/>
                </a:solidFill>
              </a:rPr>
              <a:t>[16]  Uddin, M. S., Das, P. P., Roney, M. S. A. Image-based approach for the detection of counterfeit banknotes of Bangladesh. ICIEV, 2016.</a:t>
            </a:r>
            <a:endParaRPr lang="en-US" sz="1300" dirty="0"/>
          </a:p>
          <a:p>
            <a:pPr indent="0" marL="0">
              <a:spcAft>
                <a:spcPts val="500"/>
              </a:spcAft>
              <a:buNone/>
            </a:pPr>
            <a:r>
              <a:rPr lang="en-US" sz="1300" dirty="0">
                <a:solidFill>
                  <a:schemeClr val="tx1"/>
                </a:solidFill>
              </a:rPr>
              <a:t>[17]  Pathak, A. et al. Enhanced counterfeit detection of Bangladesh currency through convolutional neural networks. IJIRCST 12(2), 2024.</a:t>
            </a:r>
            <a:endParaRPr lang="en-US" sz="1300" dirty="0"/>
          </a:p>
          <a:p>
            <a:pPr indent="0" marL="0">
              <a:spcAft>
                <a:spcPts val="500"/>
              </a:spcAft>
              <a:buNone/>
            </a:pPr>
            <a:r>
              <a:rPr lang="en-US" sz="1300" dirty="0">
                <a:solidFill>
                  <a:schemeClr val="tx1"/>
                </a:solidFill>
              </a:rPr>
              <a:t>[18]  Sandler, M. et al. MobileNetV2: inverted residuals and linear bottlenecks. CVPR, 2018.</a:t>
            </a:r>
            <a:endParaRPr lang="en-US" sz="1300" dirty="0"/>
          </a:p>
          <a:p>
            <a:pPr indent="0" marL="0">
              <a:spcAft>
                <a:spcPts val="500"/>
              </a:spcAft>
              <a:buNone/>
            </a:pPr>
            <a:r>
              <a:rPr lang="en-US" sz="1300" dirty="0">
                <a:solidFill>
                  <a:schemeClr val="tx1"/>
                </a:solidFill>
              </a:rPr>
              <a:t>[19]  Chowdhury, A. A. et al. Evaluation of deep learning models on UV ink: a fake money detection scheme with RPN. ICCA (ACM), 2022.</a:t>
            </a:r>
            <a:endParaRPr lang="en-US" sz="1300" dirty="0"/>
          </a:p>
          <a:p>
            <a:pPr indent="0" marL="0">
              <a:spcAft>
                <a:spcPts val="500"/>
              </a:spcAft>
              <a:buNone/>
            </a:pPr>
            <a:r>
              <a:rPr lang="en-US" sz="1300" dirty="0">
                <a:solidFill>
                  <a:schemeClr val="tx1"/>
                </a:solidFill>
              </a:rPr>
              <a:t>[20]  Mutanen, J., Jaaskelainen, T., Parkkinen, J. P. S. Luminescent security properties of banknotes. IS&amp;T PICS Conference, 2003, pp. 421-424.</a:t>
            </a:r>
            <a:endParaRPr lang="en-US" sz="1300" dirty="0"/>
          </a:p>
          <a:p>
            <a:pPr indent="0" marL="0">
              <a:spcAft>
                <a:spcPts val="500"/>
              </a:spcAft>
              <a:buNone/>
            </a:pPr>
            <a:r>
              <a:rPr lang="en-US" sz="1300" dirty="0">
                <a:solidFill>
                  <a:schemeClr val="tx1"/>
                </a:solidFill>
              </a:rPr>
              <a:t>[21]  Nayef, N. et al. ICDAR2019 robust reading challenge on multi-lingual scene text (RRC-MLT-2019). ICDAR, 2019.</a:t>
            </a:r>
            <a:endParaRPr lang="en-US" sz="1300" dirty="0"/>
          </a:p>
          <a:p>
            <a:pPr indent="0" marL="0">
              <a:spcAft>
                <a:spcPts val="500"/>
              </a:spcAft>
              <a:buNone/>
            </a:pPr>
            <a:r>
              <a:rPr lang="en-US" sz="1300" dirty="0">
                <a:solidFill>
                  <a:schemeClr val="tx1"/>
                </a:solidFill>
              </a:rPr>
              <a:t>[22]  Alpha Cephei. Vosk offline speech recognition toolkit.</a:t>
            </a:r>
            <a:endParaRPr lang="en-US" sz="1300" dirty="0"/>
          </a:p>
          <a:p>
            <a:pPr indent="0" marL="0">
              <a:spcAft>
                <a:spcPts val="500"/>
              </a:spcAft>
              <a:buNone/>
            </a:pPr>
            <a:r>
              <a:rPr lang="en-US" sz="1300" dirty="0">
                <a:solidFill>
                  <a:schemeClr val="tx1"/>
                </a:solidFill>
              </a:rPr>
              <a:t>[23]  Piczak, K. J. ESC: dataset for environmental sound classification. ACM Multimedia, 2015.</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E6B66"/>
                </a:solidFill>
              </a:rPr>
              <a:t>github.com/aflam330/SARA</a:t>
            </a:r>
            <a:endParaRPr lang="en-US" sz="1500" dirty="0"/>
          </a:p>
          <a:p>
            <a:pPr indent="0" marL="0">
              <a:buNone/>
            </a:pPr>
            <a:r>
              <a:rPr lang="en-US" sz="15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E6B66"/>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E6B66"/>
                </a:solidFill>
              </a:rPr>
              <a:t>data.mendeley.com/datasets/2m7wk5cy4c/2</a:t>
            </a:r>
            <a:endParaRPr lang="en-US" sz="1500" dirty="0"/>
          </a:p>
          <a:p>
            <a:pPr indent="0" marL="0">
              <a:buNone/>
            </a:pPr>
            <a:r>
              <a:rPr lang="en-US" sz="15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E6B66"/>
                </a:solidFill>
              </a:rPr>
              <a:t>data.mendeley.com/datasets/3cv2sypkkh/1</a:t>
            </a:r>
            <a:endParaRPr lang="en-US" sz="1500" dirty="0"/>
          </a:p>
          <a:p>
            <a:pPr indent="0" marL="0">
              <a:buNone/>
            </a:pPr>
            <a:r>
              <a:rPr lang="en-US" sz="15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E6B66"/>
                </a:solidFill>
              </a:rPr>
              <a:t>www.sciencedirect.com/science/article/pii/S2352340924006681</a:t>
            </a:r>
            <a:endParaRPr lang="en-US" sz="1500" dirty="0"/>
          </a:p>
          <a:p>
            <a:pPr indent="0" marL="0">
              <a:buNone/>
            </a:pPr>
            <a:r>
              <a:rPr lang="en-US" sz="15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E6B66"/>
                </a:solidFill>
              </a:rPr>
              <a:t>cocodataset.org</a:t>
            </a:r>
            <a:endParaRPr lang="en-US" sz="1500" dirty="0"/>
          </a:p>
          <a:p>
            <a:pPr indent="0" marL="0">
              <a:buNone/>
            </a:pPr>
            <a:r>
              <a:rPr lang="en-US" sz="15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E6B66"/>
                </a:solidFill>
              </a:rPr>
              <a:t>rrc.cvc.uab.es/?ch=15</a:t>
            </a:r>
            <a:endParaRPr lang="en-US" sz="1500" dirty="0"/>
          </a:p>
          <a:p>
            <a:pPr indent="0" marL="0">
              <a:buNone/>
            </a:pPr>
            <a:r>
              <a:rPr lang="en-US" sz="15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E6B66"/>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E6B66"/>
                </a:solidFill>
              </a:rPr>
              <a:t>github.com/ultralytics/ultralytics</a:t>
            </a:r>
            <a:endParaRPr lang="en-US" sz="1500" dirty="0"/>
          </a:p>
          <a:p>
            <a:pPr indent="0" marL="0">
              <a:buNone/>
            </a:pPr>
            <a:r>
              <a:rPr lang="en-US" sz="15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E6B66"/>
                </a:solidFill>
              </a:rPr>
              <a:t>github.com/JaidedAI/EasyOCR</a:t>
            </a:r>
            <a:endParaRPr lang="en-US" sz="1500" dirty="0"/>
          </a:p>
          <a:p>
            <a:pPr indent="0" marL="0">
              <a:buNone/>
            </a:pPr>
            <a:r>
              <a:rPr lang="en-US" sz="15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E6B66"/>
                </a:solidFill>
              </a:rPr>
              <a:t>github.com/rhasspy/piper</a:t>
            </a:r>
            <a:endParaRPr lang="en-US" sz="1500" dirty="0"/>
          </a:p>
          <a:p>
            <a:pPr indent="0" marL="0">
              <a:buNone/>
            </a:pPr>
            <a:r>
              <a:rPr lang="en-US" sz="15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E6B66"/>
                </a:solidFill>
              </a:rPr>
              <a:t>alphacephei.com/vosk/</a:t>
            </a:r>
            <a:endParaRPr lang="en-US" sz="1500" dirty="0"/>
          </a:p>
          <a:p>
            <a:pPr indent="0" marL="0">
              <a:buNone/>
            </a:pPr>
            <a:r>
              <a:rPr lang="en-US" sz="15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E6B66"/>
                </a:solidFill>
              </a:rPr>
              <a:t>github.com/espeak-ng/espeak-ng</a:t>
            </a:r>
            <a:endParaRPr lang="en-US" sz="1500" dirty="0"/>
          </a:p>
          <a:p>
            <a:pPr indent="0" marL="0">
              <a:buNone/>
            </a:pPr>
            <a:r>
              <a:rPr lang="en-US" sz="15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E6B66"/>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Robot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2026-10-28T17:36:59Z</dcterms:created>
  <dcterms:modified xsi:type="dcterms:W3CDTF">2026-10-28T17:36:59Z</dcterms:modified>
</cp:coreProperties>
</file>
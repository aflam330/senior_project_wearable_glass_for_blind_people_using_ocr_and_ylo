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f96422-0567-58c3-2575-3fa2b3b695e6}">
          <p14:sldIdLst>
            <p14:sldId id="256"/>
          </p14:sldIdLst>
        </p14:section>
        <p14:section name="Problem" id="{08978f1b-9606-4ac2-fdbe-e9db9638c4c9}">
          <p14:sldIdLst>
            <p14:sldId id="257"/>
            <p14:sldId id="258"/>
            <p14:sldId id="259"/>
          </p14:sldIdLst>
        </p14:section>
        <p14:section name="Solution" id="{99067a14-0c4c-3960-289a-2fcde1bb5a0a}">
          <p14:sldIdLst>
            <p14:sldId id="260"/>
            <p14:sldId id="261"/>
            <p14:sldId id="262"/>
            <p14:sldId id="263"/>
            <p14:sldId id="264"/>
          </p14:sldIdLst>
        </p14:section>
        <p14:section name="Currency" id="{3f702cab-29e5-7953-d5e2-94b3c49e999a}">
          <p14:sldIdLst>
            <p14:sldId id="265"/>
            <p14:sldId id="266"/>
            <p14:sldId id="267"/>
            <p14:sldId id="268"/>
            <p14:sldId id="269"/>
            <p14:sldId id="270"/>
            <p14:sldId id="271"/>
            <p14:sldId id="272"/>
          </p14:sldIdLst>
        </p14:section>
        <p14:section name="Reading and voice" id="{c8c1939f-2e84-1788-bf46-1a272bd7650d}">
          <p14:sldIdLst>
            <p14:sldId id="273"/>
            <p14:sldId id="274"/>
          </p14:sldIdLst>
        </p14:section>
        <p14:section name="Device" id="{ea2661e4-f4c6-1334-9c4c-d975e68fcaf1}">
          <p14:sldIdLst>
            <p14:sldId id="275"/>
            <p14:sldId id="276"/>
            <p14:sldId id="277"/>
          </p14:sldIdLst>
        </p14:section>
        <p14:section name="Closing" id="{52686d80-f57a-024e-cfa3-e04424d05064}">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Right note value, NSTU hand-held test (1,127 photos)</a:t>
            </a:r>
          </a:p>
        </c:rich>
      </c:tx>
      <c:layout/>
      <c:overlay val="0"/>
    </c:title>
    <c:autoTitleDeleted val="0"/>
    <c:plotArea>
      <c:layout/>
      <c:barChart>
        <c:barDir val="col"/>
        <c:grouping val="clustered"/>
        <c:varyColors val="0"/>
        <c:ser>
          <c:idx val="0"/>
          <c:order val="0"/>
          <c:tx>
            <c:strRef>
              <c:f>Sheet1!$B$1</c:f>
              <c:strCache>
                <c:ptCount val="1"/>
                <c:pt idx="0">
                  <c:v>Earlier detector</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Sheet1!$B$2:$B$3</c:f>
              <c:numCache>
                <c:formatCode>General</c:formatCode>
                <c:ptCount val="2"/>
                <c:pt idx="0">
                  <c:v>11.8</c:v>
                </c:pt>
                <c:pt idx="1">
                  <c:v>8.7</c:v>
                </c:pt>
              </c:numCache>
            </c:numRef>
          </c:val>
        </c:ser>
        <c:ser>
          <c:idx val="1"/>
          <c:order val="1"/>
          <c:tx>
            <c:strRef>
              <c:f>Sheet1!$C$1</c:f>
              <c:strCache>
                <c:ptCount val="1"/>
                <c:pt idx="0">
                  <c:v>Hand-held detector</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Sheet1!$C$2:$C$3</c:f>
              <c:numCache>
                <c:formatCode>General</c:formatCode>
                <c:ptCount val="2"/>
                <c:pt idx="0">
                  <c:v>47.5</c:v>
                </c:pt>
                <c:pt idx="1">
                  <c:v>33.5</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Test accuracy by number of views (mean of 3 seeds)</a:t>
            </a:r>
          </a:p>
        </c:rich>
      </c:tx>
      <c:layout/>
      <c:overlay val="0"/>
    </c:title>
    <c:autoTitleDeleted val="0"/>
    <c:plotArea>
      <c:layout/>
      <c:lineChart>
        <c:varyColors val="0"/>
        <c:ser>
          <c:idx val="0"/>
          <c:order val="0"/>
          <c:tx>
            <c:strRef>
              <c:f>Sheet1!$B$1</c:f>
              <c:strCache>
                <c:ptCount val="1"/>
                <c:pt idx="0">
                  <c:v>Fixed six-view training</c:v>
                </c:pt>
              </c:strCache>
            </c:strRef>
          </c:tx>
          <c:spPr>
            <a:solidFill>
              <a:srgbClr val="5E6B66"/>
            </a:solidFill>
            <a:ln w="38100" cap="flat">
              <a:solidFill>
                <a:srgbClr val="5E6B66"/>
              </a:solidFill>
              <a:prstDash val="solid"/>
              <a:round/>
            </a:ln>
            <a:effectLst/>
          </c:spPr>
          <c:invertIfNegative val="0"/>
          <c:dLbls>
            <c:numFmt formatCode="#,##0" sourceLinked="0"/>
            <c:txPr>
              <a:bodyPr/>
              <a:lstStyle/>
              <a:p>
                <a:pPr>
                  <a:defRPr b="0" i="0" strike="noStrike" sz="1100" u="none">
                    <a:solidFill>
                      <a:srgbClr val="1C2321"/>
                    </a:solidFill>
                    <a:latin typeface="+mn-lt"/>
                  </a:defRPr>
                </a:pPr>
              </a:p>
            </c:txPr>
            <c:showLegendKey val="0"/>
            <c:showVal val="0"/>
            <c:showCatName val="0"/>
            <c:showSerName val="0"/>
            <c:showPercent val="0"/>
            <c:showBubbleSize val="0"/>
            <c:showLeaderLines val="0"/>
          </c:dLbls>
          <c:marker>
            <c:symbol val="circle"/>
            <c:size val="8"/>
            <c:spPr>
              <a:solidFill>
                <a:srgbClr val="5E6B66"/>
              </a:solidFill>
              <a:ln w="9525" cap="flat">
                <a:solidFill>
                  <a:srgbClr val="5E6B66"/>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71.2</c:v>
                </c:pt>
                <c:pt idx="1">
                  <c:v>73.1</c:v>
                </c:pt>
                <c:pt idx="2">
                  <c:v>85.7</c:v>
                </c:pt>
                <c:pt idx="3">
                  <c:v>90.5</c:v>
                </c:pt>
                <c:pt idx="4">
                  <c:v>90.5</c:v>
                </c:pt>
                <c:pt idx="5">
                  <c:v>98.1</c:v>
                </c:pt>
              </c:numCache>
            </c:numRef>
          </c:val>
          <c:smooth val="0"/>
        </c:ser>
        <c:ser>
          <c:idx val="1"/>
          <c:order val="1"/>
          <c:tx>
            <c:strRef>
              <c:f>Sheet1!$C$1</c:f>
              <c:strCache>
                <c:ptCount val="1"/>
                <c:pt idx="0">
                  <c:v>Prefix training (ours)</c:v>
                </c:pt>
              </c:strCache>
            </c:strRef>
          </c:tx>
          <c:spPr>
            <a:solidFill>
              <a:srgbClr val="006A4E"/>
            </a:solidFill>
            <a:ln w="38100" cap="flat">
              <a:solidFill>
                <a:srgbClr val="006A4E"/>
              </a:solidFill>
              <a:prstDash val="solid"/>
              <a:round/>
            </a:ln>
            <a:effectLst/>
          </c:spPr>
          <c:invertIfNegative val="0"/>
          <c:dLbls>
            <c:numFmt formatCode="#,##0" sourceLinked="0"/>
            <c:txPr>
              <a:bodyPr/>
              <a:lstStyle/>
              <a:p>
                <a:pPr>
                  <a:defRPr b="0" i="0" strike="noStrike" sz="1100" u="none">
                    <a:solidFill>
                      <a:srgbClr val="1C2321"/>
                    </a:solidFill>
                    <a:latin typeface="+mn-lt"/>
                  </a:defRPr>
                </a:pPr>
              </a:p>
            </c:txPr>
            <c:showLegendKey val="0"/>
            <c:showVal val="0"/>
            <c:showCatName val="0"/>
            <c:showSerName val="0"/>
            <c:showPercent val="0"/>
            <c:showBubbleSize val="0"/>
            <c:showLeaderLines val="0"/>
          </c:dLbls>
          <c:marker>
            <c:symbol val="circle"/>
            <c:size val="8"/>
            <c:spPr>
              <a:solidFill>
                <a:srgbClr val="006A4E"/>
              </a:solidFill>
              <a:ln w="9525" cap="flat">
                <a:solidFill>
                  <a:srgbClr val="006A4E"/>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98.2</c:v>
                </c:pt>
                <c:pt idx="1">
                  <c:v>98.4</c:v>
                </c:pt>
                <c:pt idx="2">
                  <c:v>98.6</c:v>
                </c:pt>
                <c:pt idx="3">
                  <c:v>98.6</c:v>
                </c:pt>
                <c:pt idx="4">
                  <c:v>98.7</c:v>
                </c:pt>
                <c:pt idx="5">
                  <c:v>98.7</c:v>
                </c:pt>
              </c:numCache>
            </c:numRef>
          </c:val>
          <c:smooth val="0"/>
        </c:ser>
        <c:dLbls>
          <c:numFmt formatCode="#,##0" sourceLinked="0"/>
          <c:txPr>
            <a:bodyPr/>
            <a:lstStyle/>
            <a:p>
              <a:pPr>
                <a:defRPr b="0" i="0" strike="noStrike" sz="1100" u="none">
                  <a:solidFill>
                    <a:srgbClr val="1C232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6B66"/>
                    </a:solidFill>
                    <a:latin typeface="Arial"/>
                  </a:defRPr>
                </a:pPr>
                <a:r>
                  <a:rPr sz="1200" b="0" i="0" u="none" strike="noStrike">
                    <a:solidFill>
                      <a:srgbClr val="5E6B66"/>
                    </a:solidFill>
                    <a:latin typeface="Arial"/>
                  </a:rPr>
                  <a:t>Views captured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Accuracy on counterfeit prints never seen in training (6 views, 3 seeds)</a:t>
            </a:r>
          </a:p>
        </c:rich>
      </c:tx>
      <c:layout/>
      <c:overlay val="0"/>
    </c:title>
    <c:autoTitleDeleted val="0"/>
    <c:plotArea>
      <c:layout/>
      <c:barChart>
        <c:barDir val="bar"/>
        <c:grouping val="clustered"/>
        <c:varyColors val="0"/>
        <c:ser>
          <c:idx val="0"/>
          <c:order val="0"/>
          <c:tx>
            <c:strRef>
              <c:f>Sheet1!$B$1</c:f>
              <c:strCache>
                <c:ptCount val="1"/>
                <c:pt idx="0">
                  <c:v>6 views</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dPt>
            <c:idx val="0"/>
            <c:invertIfNegative val="0"/>
            <c:bubble3D val="0"/>
            <c:spPr>
              <a:solidFill>
                <a:srgbClr val="5E6B66"/>
              </a:solidFill>
              <a:effectLst/>
            </c:spPr>
          </c:dPt>
          <c:dPt>
            <c:idx val="1"/>
            <c:invertIfNegative val="0"/>
            <c:bubble3D val="0"/>
            <c:spPr>
              <a:solidFill>
                <a:srgbClr val="3A8F72"/>
              </a:solidFill>
              <a:effectLst/>
            </c:spPr>
          </c:dPt>
          <c:dPt>
            <c:idx val="2"/>
            <c:invertIfNegative val="0"/>
            <c:bubble3D val="0"/>
            <c:spPr>
              <a:solidFill>
                <a:srgbClr val="5E6B66"/>
              </a:solidFill>
              <a:effectLst/>
            </c:spPr>
          </c:dPt>
          <c:dPt>
            <c:idx val="3"/>
            <c:invertIfNegative val="0"/>
            <c:bubble3D val="0"/>
            <c:spPr>
              <a:solidFill>
                <a:srgbClr val="006A4E"/>
              </a:solidFill>
              <a:effectLst/>
            </c:spPr>
          </c:dPt>
          <c:cat>
            <c:multiLvlStrRef>
              <c:f>Sheet1!$A$2:$A$5</c:f>
              <c:multiLvlStrCache>
                <c:ptCount val="4"/>
                <c:lvl>
                  <c:pt idx="0">
                    <c:v>Frozen ResNet-50</c:v>
                  </c:pt>
                  <c:pt idx="1">
                    <c:v>Prefix network</c:v>
                  </c:pt>
                  <c:pt idx="2">
                    <c:v>Fine-tuned ResNet-50</c:v>
                  </c:pt>
                  <c:pt idx="3">
                    <c:v>Prefix + watermark</c:v>
                  </c:pt>
                </c:lvl>
              </c:multiLvlStrCache>
            </c:multiLvlStrRef>
          </c:cat>
          <c:val>
            <c:numRef>
              <c:f>Sheet1!$B$2:$B$5</c:f>
              <c:numCache>
                <c:formatCode>General</c:formatCode>
                <c:ptCount val="4"/>
                <c:pt idx="0">
                  <c:v>83.8</c:v>
                </c:pt>
                <c:pt idx="1">
                  <c:v>89.3</c:v>
                </c:pt>
                <c:pt idx="2">
                  <c:v>94.4</c:v>
                </c:pt>
                <c:pt idx="3">
                  <c:v>95</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00"/>
          <c:min val="70"/>
        </c:scaling>
        <c:delete val="0"/>
        <c:axPos val="b"/>
        <c:majorGridlines>
          <c:spPr>
            <a:ln w="9525" cap="flat">
              <a:solidFill>
                <a:srgbClr val="DDE7E2"/>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Character error rate, held-out test sets (lower is better)</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Sheet1!$A$2:$A$4</c:f>
              <c:multiLvlStrCache>
                <c:ptCount val="3"/>
                <c:lvl>
                  <c:pt idx="0">
                    <c:v>Rendered test (all)</c:v>
                  </c:pt>
                  <c:pt idx="1">
                    <c:v>Real words: Bangla</c:v>
                  </c:pt>
                  <c:pt idx="2">
                    <c:v>Real words: Latin</c:v>
                  </c:pt>
                </c:lvl>
              </c:multiLvlStrCache>
            </c:multiLvlStrRef>
          </c:cat>
          <c:val>
            <c:numRef>
              <c:f>Sheet1!$B$2:$B$4</c:f>
              <c:numCache>
                <c:formatCode>General</c:formatCode>
                <c:ptCount val="3"/>
                <c:pt idx="0">
                  <c:v>9.3</c:v>
                </c:pt>
                <c:pt idx="1">
                  <c:v>39.2</c:v>
                </c:pt>
                <c:pt idx="2">
                  <c:v>62.5</c:v>
                </c:pt>
              </c:numCache>
            </c:numRef>
          </c:val>
        </c:ser>
        <c:ser>
          <c:idx val="1"/>
          <c:order val="1"/>
          <c:tx>
            <c:strRef>
              <c:f>Sheet1!$C$1</c:f>
              <c:strCache>
                <c:ptCount val="1"/>
                <c:pt idx="0">
                  <c:v>Now</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Sheet1!$A$2:$A$4</c:f>
              <c:multiLvlStrCache>
                <c:ptCount val="3"/>
                <c:lvl>
                  <c:pt idx="0">
                    <c:v>Rendered test (all)</c:v>
                  </c:pt>
                  <c:pt idx="1">
                    <c:v>Real words: Bangla</c:v>
                  </c:pt>
                  <c:pt idx="2">
                    <c:v>Real words: Latin</c:v>
                  </c:pt>
                </c:lvl>
              </c:multiLvlStrCache>
            </c:multiLvlStrRef>
          </c:cat>
          <c:val>
            <c:numRef>
              <c:f>Sheet1!$C$2:$C$4</c:f>
              <c:numCache>
                <c:formatCode>General</c:formatCode>
                <c:ptCount val="3"/>
                <c:pt idx="0">
                  <c:v>2.3</c:v>
                </c:pt>
                <c:pt idx="1">
                  <c:v>28.7</c:v>
                </c:pt>
                <c:pt idx="2">
                  <c:v>50.6</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"Glass, …" commands, 12 unseen synthetic voices</a:t>
            </a:r>
          </a:p>
        </c:rich>
      </c:tx>
      <c:layout/>
      <c:overlay val="0"/>
    </c:title>
    <c:autoTitleDeleted val="0"/>
    <c:plotArea>
      <c:layout/>
      <c:barChart>
        <c:barDir val="col"/>
        <c:grouping val="clustered"/>
        <c:varyColors val="0"/>
        <c:ser>
          <c:idx val="0"/>
          <c:order val="0"/>
          <c:tx>
            <c:strRef>
              <c:f>Sheet1!$B$1</c:f>
              <c:strCache>
                <c:ptCount val="1"/>
                <c:pt idx="0">
                  <c:v>Commands carried out</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Whispered</c:v>
                  </c:pt>
                  <c:pt idx="2">
                    <c:v>Street noise 0 dB</c:v>
                  </c:pt>
                  <c:pt idx="3">
                    <c:v>People talking 10 dB</c:v>
                  </c:pt>
                </c:lvl>
              </c:multiLvlStrCache>
            </c:multiLvlStrRef>
          </c:cat>
          <c:val>
            <c:numRef>
              <c:f>Sheet1!$B$2:$B$5</c:f>
              <c:numCache>
                <c:formatCode>General</c:formatCode>
                <c:ptCount val="4"/>
                <c:pt idx="0">
                  <c:v>100</c:v>
                </c:pt>
                <c:pt idx="1">
                  <c:v>98.9</c:v>
                </c:pt>
                <c:pt idx="2">
                  <c:v>82.5</c:v>
                </c:pt>
                <c:pt idx="3">
                  <c:v>54.3</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SARA, a smart glass for blind and low-vision people in Bangladesh. It reads Bangla and English text, names objects, recognises Taka notes and checks them carefully, and it works on the device without the internet. The photo is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everyday moments. At the shop, the blind customer receives change and must trust the shopkeeper about which note it is and whether it is real. At the pharmacy, the medicine label is in Bangla and no affordable device reads it. On the street, they must stop and ask a stranger what is ahead. In every case the answer comes from another person and cannot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World Health Organization counts at least 2.2 billion people with a vision impairment, most of them in low- and middle-income countries. Three gaps keep existing help away from Bangladeshi users: devices are built for English, research glasses need a cloud server, and a blind user cannot check the device's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moment with SARA. The user says glass, check money. The camera picture goes to the Taka detector on the Raspberry Pi, without the internet, and the glass answers in Bangla, one hundred Taka note, with a short vibration. The same steps read a medicine label or name objects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prototype: the camera and five buttons sit on the frame, a bone-conduction earphone leaves the ears free, and the Raspberry Pi 5 rides in a ventilated enclosure at the back of the head. Five modes cover text, objects, Taka notes, emotion and an optional online description. Every mode can be started with a button or with a voice command that begins with the word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organise the talk: the system on the Pi, synthetic training data for currency, the number of views, unseen counterfeit prints, a safe spoken verdict, and Bangla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glasses such as OrCam work offline but not in Bangla and not with Taka. Glass-based research systems send pictures to a server. Raspberry Pi reading aids are cheap but mostly English. No device combines Bangla, Taka and offline use, and counterfeit studies do not check for copies of the same print in training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picture, the buttons and voice commands go to a mode manager on the Raspberry Pi 5. The active mode runs its model on the CPU, and the result is spoken in Bangla or English, with a vibration for a detected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put the board and fan on one temple: heavy on one side and loud by the ear. Version two moves the Raspberry Pi into a ventilated enclosure at the back of the head, keeps the camera and an LED on the bridge, puts five buttons along the frame and uses a bone-conduction earphone so the ears stay free for traffic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Taka images are clean close-ups, so a model trained on them fails on a live camera. We pasted the notes onto real photographs and let the program write the labels. The detector scores 0.995 mAP on held-out composites and names 94.1 percent of independent photographs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holds the note close, folded and under the fingers, and our training pictures showed whole notes in scenes. We generated six thousand hand-held close-ups from training notes only and fine-tuned the detector. On the independent NSTU hand-held test, the right value rises from 11.8 to 47.5 percent on the laptop and from 8.7 to 33.5 percent on the Pi. We report the costs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live sessions with our own notes: a laptop webcam on top and the first glass prototype below. They illustrate behaviour; we did not count an error rate in these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trained only with all six views of a note collapses to 71 percent with one view. Training on random prefixes of the views keeps it at about 98 percent from one to six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counterfeit notes in JaalTaka are copies of a few prints, so the usual test measures recognition of known reprints. On truly unseen prints our network drops to about 89 percent; adding the watermark check brings it to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watermark method divides the back-lit photo by a blurred copy to remove the lamp, subtracts a genuine portrait of the note value and classifies the residual with two tiny networks. With under fifty thousand parameters it reaches 91.5 percent on unseen prints, statistically level with a MobileNetV2 46 times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blind user cannot verify the answer, the glass never says a note is counterfeit. It says likely genuine only above a threshold set from validation counterfeits; otherwise it asks for a check by hand. No test counterfeit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UV lamp, genuine 200, 500 and 1000 Taka notes show glowing security fibres. Our check removes the lamp's own blue light and counts thin glowing marks. It accepts 85.6 percent of real genuine photos and rejects 88.6 percent of simulated fibre-free sheets. It stays off by default until real counterfeits are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rendered Bangla and English benchmark the error fell from 9.3 to 2.3 percent. Real street words are much harder: a recogniser fine-tuned on real words and blended with the original weights lowered the error from 39.2 to 28.7 percent for Bangla and from 62.5 to 50.6 percent for Latin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glass now speaks with a natural Piper voice, and each sentence is rendered before it plays, which fixed the broken sound on the Pi. Commands start with the word glass. On twelve unseen synthetic voices, clean commands are always carried out, whispered ones 98.9 percent, with street noise as loud as the voice 82.5 percent, and with people talking nearby about half. The wake word cut false commands from 212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Raspberry Pi 5 itself. The currency check takes 0.4 seconds, the watermark check 64 milliseconds. Text reading is the slow part at about 18 seconds for a short sign. The board was hot in this run, so we added a thermal governor; the newest changes still need to be timed on the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prototype on team members. The first field test with the glass camera was not good enough: currency was unreliable and Bangla text was not read, probably because of the low-resolution fixed-focus camera. User trials have started and will add the survey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steps: a better glass camera, completing the user study, more counterfeit prints, testing voice commands with people and Bangla command words, and timing and cooling the new code on the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an assistive glass that speaks Bangla and runs on a Raspberry Pi 5, tested part by part on held-out data, with new methods for counterfeit checking and hand-held notes.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sources cited on the slides, numbered as in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code is public on GitHub: the glass software and the research repository with every experiment. The datasets and open-source tools we used are linked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4D3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548640" y="6419088"/>
            <a:ext cx="5943600" cy="256032"/>
          </a:xfrm>
          <a:prstGeom prst="rect">
            <a:avLst/>
          </a:prstGeom>
          <a:noFill/>
          <a:ln/>
        </p:spPr>
        <p:txBody>
          <a:bodyPr wrap="square" lIns="0" tIns="0" rIns="0" bIns="0" rtlCol="0" anchor="ctr"/>
          <a:lstStyle/>
          <a:p>
            <a:pPr indent="0" marL="0">
              <a:buNone/>
            </a:pPr>
            <a:r>
              <a:rPr lang="en-US" sz="1000" dirty="0">
                <a:solidFill>
                  <a:schemeClr val="accent5"/>
                </a:solidFill>
              </a:rPr>
              <a:t>SARA  ·  Smart Assistive Reading Aid  ·  IUB CSE Senior Project</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9-1.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aflam330/SARA" TargetMode="External"/><Relationship Id="rId3" Type="http://schemas.openxmlformats.org/officeDocument/2006/relationships/hyperlink" Target="https://github.com/aflam330/Senior_project_wearable_glass_for_blind_people_using_ocr_and_ylo" TargetMode="External"/><Relationship Id="rId5" Type="http://schemas.openxmlformats.org/officeDocument/2006/relationships/hyperlink" Target="https://data.mendeley.com/datasets/2m7wk5cy4c/2" TargetMode="External"/><Relationship Id="rId6" Type="http://schemas.openxmlformats.org/officeDocument/2006/relationships/hyperlink" Target="https://data.mendeley.com/datasets/3cv2sypkkh/1" TargetMode="External"/><Relationship Id="rId7" Type="http://schemas.openxmlformats.org/officeDocument/2006/relationships/hyperlink" Target="https://www.sciencedirect.com/science/article/pii/S2352340924006681" TargetMode="External"/><Relationship Id="rId8" Type="http://schemas.openxmlformats.org/officeDocument/2006/relationships/hyperlink" Target="https://cocodataset.org" TargetMode="External"/><Relationship Id="rId9" Type="http://schemas.openxmlformats.org/officeDocument/2006/relationships/hyperlink" Target="https://rrc.cvc.uab.es/?ch=15" TargetMode="External"/><Relationship Id="rId10" Type="http://schemas.openxmlformats.org/officeDocument/2006/relationships/hyperlink" Target="https://github.com/karolpiczak/ESC-50" TargetMode="External"/><Relationship Id="rId12" Type="http://schemas.openxmlformats.org/officeDocument/2006/relationships/hyperlink" Target="https://github.com/ultralytics/ultralytics" TargetMode="External"/><Relationship Id="rId13" Type="http://schemas.openxmlformats.org/officeDocument/2006/relationships/hyperlink" Target="https://github.com/JaidedAI/EasyOCR" TargetMode="External"/><Relationship Id="rId14" Type="http://schemas.openxmlformats.org/officeDocument/2006/relationships/hyperlink" Target="https://github.com/rhasspy/piper" TargetMode="External"/><Relationship Id="rId15" Type="http://schemas.openxmlformats.org/officeDocument/2006/relationships/hyperlink" Target="https://alphacephei.com/vosk/" TargetMode="External"/><Relationship Id="rId16" Type="http://schemas.openxmlformats.org/officeDocument/2006/relationships/hyperlink" Target="https://github.com/espeak-ng/espeak-ng" TargetMode="External"/><Relationship Id="rId17" Type="http://schemas.openxmlformats.org/officeDocument/2006/relationships/hyperlink" Target="https://www.who.int/news-room/fact-sheets/detail/blindness-and-visual-impairment" TargetMode="External"/><Relationship Id="rId1" Type="http://schemas.openxmlformats.org/officeDocument/2006/relationships/image" Target="../media/image-25-1.png"/><Relationship Id="rId4" Type="http://schemas.openxmlformats.org/officeDocument/2006/relationships/image" Target="../media/image-25-2.png"/><Relationship Id="rId11" Type="http://schemas.openxmlformats.org/officeDocument/2006/relationships/image" Target="../media/image-25-3.png"/><Relationship Id="rId18" Type="http://schemas.openxmlformats.org/officeDocument/2006/relationships/slideLayout" Target="../slideLayouts/slideLayout3.xml"/><Relationship Id="rId1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econd prototype: front, side and back" descr="E:\Final SP\Thesis Report and paper\tools\deck\assets/v2_collage.jpg">    </p:cNvPr>
          <p:cNvPicPr>
            <a:picLocks noChangeAspect="1"/>
          </p:cNvPicPr>
          <p:nvPr/>
        </p:nvPicPr>
        <p:blipFill>
          <a:blip r:embed="rId1"/>
          <a:srcRect l="0" r="0" t="0" b="0"/>
          <a:stretch/>
        </p:blipFill>
        <p:spPr>
          <a:xfrm>
            <a:off x="6793992" y="0"/>
            <a:ext cx="5394960" cy="6858000"/>
          </a:xfrm>
          <a:prstGeom prst="rect">
            <a:avLst/>
          </a:prstGeom>
        </p:spPr>
      </p:pic>
      <p:sp>
        <p:nvSpPr>
          <p:cNvPr id="3" name="Glasses circle"/>
          <p:cNvSpPr/>
          <p:nvPr/>
        </p:nvSpPr>
        <p:spPr>
          <a:xfrm>
            <a:off x="685800" y="685800"/>
            <a:ext cx="685800" cy="685800"/>
          </a:xfrm>
          <a:prstGeom prst="ellipse">
            <a:avLst/>
          </a:prstGeom>
          <a:solidFill>
            <a:srgbClr val="006A4E"/>
          </a:solidFill>
          <a:ln w="12700">
            <a:solidFill>
              <a:srgbClr val="006A4E"/>
            </a:solidFill>
            <a:prstDash val="solid"/>
          </a:ln>
        </p:spPr>
      </p:sp>
      <p:pic>
        <p:nvPicPr>
          <p:cNvPr id="4" name="Glasses icon" descr="preencoded.png">    </p:cNvPr>
          <p:cNvPicPr>
            <a:picLocks noChangeAspect="1"/>
          </p:cNvPicPr>
          <p:nvPr/>
        </p:nvPicPr>
        <p:blipFill>
          <a:blip r:embed="rId2"/>
          <a:stretch>
            <a:fillRect/>
          </a:stretch>
        </p:blipFill>
        <p:spPr>
          <a:xfrm>
            <a:off x="850392" y="850392"/>
            <a:ext cx="356616" cy="356616"/>
          </a:xfrm>
          <a:prstGeom prst="rect">
            <a:avLst/>
          </a:prstGeom>
        </p:spPr>
      </p:pic>
      <p:sp>
        <p:nvSpPr>
          <p:cNvPr id="5" name="Title"/>
          <p:cNvSpPr txBox="1"/>
          <p:nvPr/>
        </p:nvSpPr>
        <p:spPr>
          <a:xfrm>
            <a:off x="685800" y="1600200"/>
            <a:ext cx="566928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SARA</a:t>
            </a:r>
            <a:endParaRPr lang="en-US" sz="5400" dirty="0"/>
          </a:p>
        </p:txBody>
      </p:sp>
      <p:sp>
        <p:nvSpPr>
          <p:cNvPr id="6" name="Subtitle"/>
          <p:cNvSpPr txBox="1"/>
          <p:nvPr/>
        </p:nvSpPr>
        <p:spPr>
          <a:xfrm>
            <a:off x="685800" y="2560320"/>
            <a:ext cx="5669280" cy="1645920"/>
          </a:xfrm>
          <a:prstGeom prst="rect">
            <a:avLst/>
          </a:prstGeom>
          <a:noFill/>
          <a:ln/>
        </p:spPr>
        <p:txBody>
          <a:bodyPr wrap="square" lIns="0" tIns="0" rIns="0" bIns="0" rtlCol="0" anchor="t"/>
          <a:lstStyle/>
          <a:p>
            <a:pPr indent="0" marL="0">
              <a:buNone/>
            </a:pPr>
            <a:r>
              <a:rPr lang="en-US" sz="2000" dirty="0">
                <a:solidFill>
                  <a:srgbClr val="E4EFEA"/>
                </a:solidFill>
              </a:rPr>
              <a:t>Smart Assistive Reading Aid: an offline smart glass that reads Bangla and English, names objects, and recognises and checks Bangladeshi Taka notes</a:t>
            </a:r>
            <a:endParaRPr lang="en-US" sz="2000" dirty="0"/>
          </a:p>
        </p:txBody>
      </p:sp>
      <p:sp>
        <p:nvSpPr>
          <p:cNvPr id="7" name="Authors"/>
          <p:cNvSpPr txBox="1"/>
          <p:nvPr/>
        </p:nvSpPr>
        <p:spPr>
          <a:xfrm>
            <a:off x="685800" y="4526280"/>
            <a:ext cx="5760720" cy="1463040"/>
          </a:xfrm>
          <a:prstGeom prst="rect">
            <a:avLst/>
          </a:prstGeom>
          <a:noFill/>
          <a:ln/>
        </p:spPr>
        <p:txBody>
          <a:bodyPr wrap="square" lIns="0" tIns="0" rIns="0" bIns="0" rtlCol="0" anchor="ctr"/>
          <a:lstStyle/>
          <a:p>
            <a:pPr indent="0" marL="0">
              <a:spcAft>
                <a:spcPts val="400"/>
              </a:spcAft>
              <a:buNone/>
            </a:pPr>
            <a:r>
              <a:rPr lang="en-US" sz="1300" dirty="0">
                <a:solidFill>
                  <a:srgbClr val="CFE2DA"/>
                </a:solidFill>
              </a:rPr>
              <a:t>MD Abdun Fattah Lam (2220014)  ·  Mukut Protim Memo (2020086)</a:t>
            </a:r>
            <a:endParaRPr lang="en-US" sz="1300" dirty="0"/>
          </a:p>
          <a:p>
            <a:pPr indent="0" marL="0">
              <a:spcAft>
                <a:spcPts val="400"/>
              </a:spcAft>
              <a:buNone/>
            </a:pPr>
            <a:r>
              <a:rPr lang="en-US" sz="1300" dirty="0">
                <a:solidFill>
                  <a:srgbClr val="CFE2DA"/>
                </a:solidFill>
              </a:rPr>
              <a:t>Tanjila Hossain Tapti (2130561)</a:t>
            </a:r>
            <a:endParaRPr lang="en-US" sz="1300" dirty="0"/>
          </a:p>
          <a:p>
            <a:pPr indent="0" marL="0">
              <a:spcAft>
                <a:spcPts val="400"/>
              </a:spcAft>
              <a:buNone/>
            </a:pPr>
            <a:r>
              <a:rPr lang="en-US" sz="1300" dirty="0">
                <a:solidFill>
                  <a:srgbClr val="CFE2DA"/>
                </a:solidFill>
              </a:rPr>
              <a:t>Supervisor: Mohammad Shidujaman, PhD, Assistant Professor</a:t>
            </a:r>
            <a:endParaRPr lang="en-US" sz="1300" dirty="0"/>
          </a:p>
          <a:p>
            <a:pPr indent="0" marL="0">
              <a:spcAft>
                <a:spcPts val="400"/>
              </a:spcAft>
              <a:buNone/>
            </a:pPr>
            <a:r>
              <a:rPr lang="en-US" sz="1300" dirty="0">
                <a:solidFill>
                  <a:srgbClr val="CFE2DA"/>
                </a:solidFill>
              </a:rPr>
              <a:t>Department of Computer Science and Engineering, Independent University, Bangladesh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Three questions a blind person cannot answer alone</a:t>
            </a:r>
            <a:endParaRPr lang="en-US" sz="3000" dirty="0"/>
          </a:p>
        </p:txBody>
      </p:sp>
      <p:sp>
        <p:nvSpPr>
          <p:cNvPr id="3" name="Scene 1 card"/>
          <p:cNvSpPr/>
          <p:nvPr/>
        </p:nvSpPr>
        <p:spPr>
          <a:xfrm>
            <a:off x="548640" y="1325880"/>
            <a:ext cx="3520440" cy="4343400"/>
          </a:xfrm>
          <a:prstGeom prst="roundRect">
            <a:avLst>
              <a:gd name="adj" fmla="val 3117"/>
            </a:avLst>
          </a:prstGeom>
          <a:solidFill>
            <a:schemeClr val="bg2"/>
          </a:solidFill>
          <a:ln w="12700">
            <a:solidFill>
              <a:schemeClr val="bg2"/>
            </a:solidFill>
            <a:prstDash val="solid"/>
          </a:ln>
        </p:spPr>
      </p:sp>
      <p:sp>
        <p:nvSpPr>
          <p:cNvPr id="4" name="Scene 1 heading"/>
          <p:cNvSpPr txBox="1"/>
          <p:nvPr/>
        </p:nvSpPr>
        <p:spPr>
          <a:xfrm>
            <a:off x="822960" y="1481328"/>
            <a:ext cx="301752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1  At the shop</a:t>
            </a:r>
            <a:endParaRPr lang="en-US" sz="2000" dirty="0"/>
          </a:p>
        </p:txBody>
      </p:sp>
      <p:sp>
        <p:nvSpPr>
          <p:cNvPr id="5" name="Scene 1 question"/>
          <p:cNvSpPr txBox="1"/>
          <p:nvPr/>
        </p:nvSpPr>
        <p:spPr>
          <a:xfrm>
            <a:off x="822960" y="2011680"/>
            <a:ext cx="2971800" cy="960120"/>
          </a:xfrm>
          <a:prstGeom prst="wedgeRoundRectCallout">
            <a:avLst/>
          </a:prstGeom>
          <a:solidFill>
            <a:srgbClr val="FFFFFF"/>
          </a:solidFill>
          <a:ln>
            <a:solidFill>
              <a:srgbClr val="FFFFFF"/>
            </a:solidFill>
          </a:ln>
        </p:spPr>
        <p:txBody>
          <a:bodyPr wrap="square" lIns="762" tIns="762" rIns="762" bIns="762" rtlCol="0" anchor="ctr"/>
          <a:lstStyle/>
          <a:p>
            <a:pPr algn="ctr" indent="0" marL="0">
              <a:buNone/>
            </a:pPr>
            <a:r>
              <a:rPr lang="en-US" sz="1400" b="1" dirty="0">
                <a:solidFill>
                  <a:srgbClr val="D7263D"/>
                </a:solidFill>
              </a:rPr>
              <a:t>Which note did I get back? Is it real?</a:t>
            </a:r>
            <a:endParaRPr lang="en-US" sz="1400" dirty="0"/>
          </a:p>
        </p:txBody>
      </p:sp>
      <p:pic>
        <p:nvPicPr>
          <p:cNvPr id="6" name="Scene 1 blind person" descr="preencoded.png">    </p:cNvPr>
          <p:cNvPicPr>
            <a:picLocks noChangeAspect="1"/>
          </p:cNvPicPr>
          <p:nvPr/>
        </p:nvPicPr>
        <p:blipFill>
          <a:blip r:embed="rId1"/>
          <a:stretch>
            <a:fillRect/>
          </a:stretch>
        </p:blipFill>
        <p:spPr>
          <a:xfrm>
            <a:off x="960120" y="3246120"/>
            <a:ext cx="1188720" cy="1188720"/>
          </a:xfrm>
          <a:prstGeom prst="rect">
            <a:avLst/>
          </a:prstGeom>
        </p:spPr>
      </p:pic>
      <p:pic>
        <p:nvPicPr>
          <p:cNvPr id="7" name="Scene 1 place" descr="preencoded.png">    </p:cNvPr>
          <p:cNvPicPr>
            <a:picLocks noChangeAspect="1"/>
          </p:cNvPicPr>
          <p:nvPr/>
        </p:nvPicPr>
        <p:blipFill>
          <a:blip r:embed="rId2"/>
          <a:stretch>
            <a:fillRect/>
          </a:stretch>
        </p:blipFill>
        <p:spPr>
          <a:xfrm>
            <a:off x="2423160" y="3246120"/>
            <a:ext cx="1188720" cy="1188720"/>
          </a:xfrm>
          <a:prstGeom prst="rect">
            <a:avLst/>
          </a:prstGeom>
        </p:spPr>
      </p:pic>
      <p:sp>
        <p:nvSpPr>
          <p:cNvPr id="8" name="Scene 1 today"/>
          <p:cNvSpPr txBox="1"/>
          <p:nvPr/>
        </p:nvSpPr>
        <p:spPr>
          <a:xfrm>
            <a:off x="822960" y="4709160"/>
            <a:ext cx="3017520" cy="731520"/>
          </a:xfrm>
          <a:prstGeom prst="rect">
            <a:avLst/>
          </a:prstGeom>
          <a:noFill/>
          <a:ln/>
        </p:spPr>
        <p:txBody>
          <a:bodyPr wrap="square" lIns="0" tIns="0" rIns="0" bIns="0" rtlCol="0" anchor="t"/>
          <a:lstStyle/>
          <a:p>
            <a:pPr indent="0" marL="0">
              <a:buNone/>
            </a:pPr>
            <a:r>
              <a:rPr lang="en-US" sz="1500" dirty="0">
                <a:solidFill>
                  <a:schemeClr val="tx1"/>
                </a:solidFill>
              </a:rPr>
              <a:t>Must trust the shopkeeper's word</a:t>
            </a:r>
            <a:endParaRPr lang="en-US" sz="1500" dirty="0"/>
          </a:p>
        </p:txBody>
      </p:sp>
      <p:sp>
        <p:nvSpPr>
          <p:cNvPr id="9" name="Scene 2 card"/>
          <p:cNvSpPr/>
          <p:nvPr/>
        </p:nvSpPr>
        <p:spPr>
          <a:xfrm>
            <a:off x="4297680" y="1325880"/>
            <a:ext cx="3520440" cy="4343400"/>
          </a:xfrm>
          <a:prstGeom prst="roundRect">
            <a:avLst>
              <a:gd name="adj" fmla="val 3117"/>
            </a:avLst>
          </a:prstGeom>
          <a:solidFill>
            <a:schemeClr val="bg2"/>
          </a:solidFill>
          <a:ln w="12700">
            <a:solidFill>
              <a:schemeClr val="bg2"/>
            </a:solidFill>
            <a:prstDash val="solid"/>
          </a:ln>
        </p:spPr>
      </p:sp>
      <p:sp>
        <p:nvSpPr>
          <p:cNvPr id="10" name="Scene 2 heading"/>
          <p:cNvSpPr txBox="1"/>
          <p:nvPr/>
        </p:nvSpPr>
        <p:spPr>
          <a:xfrm>
            <a:off x="4572000" y="1481328"/>
            <a:ext cx="301752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2  At the pharmacy</a:t>
            </a:r>
            <a:endParaRPr lang="en-US" sz="2000" dirty="0"/>
          </a:p>
        </p:txBody>
      </p:sp>
      <p:sp>
        <p:nvSpPr>
          <p:cNvPr id="11" name="Scene 2 question"/>
          <p:cNvSpPr txBox="1"/>
          <p:nvPr/>
        </p:nvSpPr>
        <p:spPr>
          <a:xfrm>
            <a:off x="4572000" y="2011680"/>
            <a:ext cx="2971800" cy="960120"/>
          </a:xfrm>
          <a:prstGeom prst="wedgeRoundRectCallout">
            <a:avLst/>
          </a:prstGeom>
          <a:solidFill>
            <a:srgbClr val="FFFFFF"/>
          </a:solidFill>
          <a:ln>
            <a:solidFill>
              <a:srgbClr val="FFFFFF"/>
            </a:solidFill>
          </a:ln>
        </p:spPr>
        <p:txBody>
          <a:bodyPr wrap="square" lIns="762" tIns="762" rIns="762" bIns="762" rtlCol="0" anchor="ctr"/>
          <a:lstStyle/>
          <a:p>
            <a:pPr algn="ctr" indent="0" marL="0">
              <a:buNone/>
            </a:pPr>
            <a:r>
              <a:rPr lang="en-US" sz="1400" b="1" dirty="0">
                <a:solidFill>
                  <a:srgbClr val="D7263D"/>
                </a:solidFill>
              </a:rPr>
              <a:t>What does this label say? When do I take it?</a:t>
            </a:r>
            <a:endParaRPr lang="en-US" sz="1400" dirty="0"/>
          </a:p>
        </p:txBody>
      </p:sp>
      <p:pic>
        <p:nvPicPr>
          <p:cNvPr id="12" name="Scene 2 blind person" descr="preencoded.png">    </p:cNvPr>
          <p:cNvPicPr>
            <a:picLocks noChangeAspect="1"/>
          </p:cNvPicPr>
          <p:nvPr/>
        </p:nvPicPr>
        <p:blipFill>
          <a:blip r:embed="rId3"/>
          <a:stretch>
            <a:fillRect/>
          </a:stretch>
        </p:blipFill>
        <p:spPr>
          <a:xfrm>
            <a:off x="4709160" y="3246120"/>
            <a:ext cx="1188720" cy="1188720"/>
          </a:xfrm>
          <a:prstGeom prst="rect">
            <a:avLst/>
          </a:prstGeom>
        </p:spPr>
      </p:pic>
      <p:pic>
        <p:nvPicPr>
          <p:cNvPr id="13" name="Scene 2 place" descr="preencoded.png">    </p:cNvPr>
          <p:cNvPicPr>
            <a:picLocks noChangeAspect="1"/>
          </p:cNvPicPr>
          <p:nvPr/>
        </p:nvPicPr>
        <p:blipFill>
          <a:blip r:embed="rId4"/>
          <a:stretch>
            <a:fillRect/>
          </a:stretch>
        </p:blipFill>
        <p:spPr>
          <a:xfrm>
            <a:off x="6172200" y="3246120"/>
            <a:ext cx="1188720" cy="1188720"/>
          </a:xfrm>
          <a:prstGeom prst="rect">
            <a:avLst/>
          </a:prstGeom>
        </p:spPr>
      </p:pic>
      <p:sp>
        <p:nvSpPr>
          <p:cNvPr id="14" name="Scene 2 today"/>
          <p:cNvSpPr txBox="1"/>
          <p:nvPr/>
        </p:nvSpPr>
        <p:spPr>
          <a:xfrm>
            <a:off x="4572000" y="4709160"/>
            <a:ext cx="3017520" cy="731520"/>
          </a:xfrm>
          <a:prstGeom prst="rect">
            <a:avLst/>
          </a:prstGeom>
          <a:noFill/>
          <a:ln/>
        </p:spPr>
        <p:txBody>
          <a:bodyPr wrap="square" lIns="0" tIns="0" rIns="0" bIns="0" rtlCol="0" anchor="t"/>
          <a:lstStyle/>
          <a:p>
            <a:pPr indent="0" marL="0">
              <a:buNone/>
            </a:pPr>
            <a:r>
              <a:rPr lang="en-US" sz="1500" dirty="0">
                <a:solidFill>
                  <a:schemeClr val="tx1"/>
                </a:solidFill>
              </a:rPr>
              <a:t>Labels are in Bangla; no device reads them</a:t>
            </a:r>
            <a:endParaRPr lang="en-US" sz="1500" dirty="0"/>
          </a:p>
        </p:txBody>
      </p:sp>
      <p:sp>
        <p:nvSpPr>
          <p:cNvPr id="15" name="Scene 3 card"/>
          <p:cNvSpPr/>
          <p:nvPr/>
        </p:nvSpPr>
        <p:spPr>
          <a:xfrm>
            <a:off x="8046720" y="1325880"/>
            <a:ext cx="3520440" cy="4343400"/>
          </a:xfrm>
          <a:prstGeom prst="roundRect">
            <a:avLst>
              <a:gd name="adj" fmla="val 3117"/>
            </a:avLst>
          </a:prstGeom>
          <a:solidFill>
            <a:schemeClr val="bg2"/>
          </a:solidFill>
          <a:ln w="12700">
            <a:solidFill>
              <a:schemeClr val="bg2"/>
            </a:solidFill>
            <a:prstDash val="solid"/>
          </a:ln>
        </p:spPr>
      </p:sp>
      <p:sp>
        <p:nvSpPr>
          <p:cNvPr id="16" name="Scene 3 heading"/>
          <p:cNvSpPr txBox="1"/>
          <p:nvPr/>
        </p:nvSpPr>
        <p:spPr>
          <a:xfrm>
            <a:off x="8321040" y="1481328"/>
            <a:ext cx="301752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3  On the street</a:t>
            </a:r>
            <a:endParaRPr lang="en-US" sz="2000" dirty="0"/>
          </a:p>
        </p:txBody>
      </p:sp>
      <p:sp>
        <p:nvSpPr>
          <p:cNvPr id="17" name="Scene 3 question"/>
          <p:cNvSpPr txBox="1"/>
          <p:nvPr/>
        </p:nvSpPr>
        <p:spPr>
          <a:xfrm>
            <a:off x="8321040" y="2011680"/>
            <a:ext cx="2971800" cy="960120"/>
          </a:xfrm>
          <a:prstGeom prst="wedgeRoundRectCallout">
            <a:avLst/>
          </a:prstGeom>
          <a:solidFill>
            <a:srgbClr val="FFFFFF"/>
          </a:solidFill>
          <a:ln>
            <a:solidFill>
              <a:srgbClr val="FFFFFF"/>
            </a:solidFill>
          </a:ln>
        </p:spPr>
        <p:txBody>
          <a:bodyPr wrap="square" lIns="762" tIns="762" rIns="762" bIns="762" rtlCol="0" anchor="ctr"/>
          <a:lstStyle/>
          <a:p>
            <a:pPr algn="ctr" indent="0" marL="0">
              <a:buNone/>
            </a:pPr>
            <a:r>
              <a:rPr lang="en-US" sz="1400" b="1" dirty="0">
                <a:solidFill>
                  <a:srgbClr val="D7263D"/>
                </a:solidFill>
              </a:rPr>
              <a:t>What is in front of me? Who is talking?</a:t>
            </a:r>
            <a:endParaRPr lang="en-US" sz="1400" dirty="0"/>
          </a:p>
        </p:txBody>
      </p:sp>
      <p:pic>
        <p:nvPicPr>
          <p:cNvPr id="18" name="Scene 3 blind person" descr="preencoded.png">    </p:cNvPr>
          <p:cNvPicPr>
            <a:picLocks noChangeAspect="1"/>
          </p:cNvPicPr>
          <p:nvPr/>
        </p:nvPicPr>
        <p:blipFill>
          <a:blip r:embed="rId5"/>
          <a:stretch>
            <a:fillRect/>
          </a:stretch>
        </p:blipFill>
        <p:spPr>
          <a:xfrm>
            <a:off x="8458200" y="3246120"/>
            <a:ext cx="1188720" cy="1188720"/>
          </a:xfrm>
          <a:prstGeom prst="rect">
            <a:avLst/>
          </a:prstGeom>
        </p:spPr>
      </p:pic>
      <p:pic>
        <p:nvPicPr>
          <p:cNvPr id="19" name="Scene 3 place" descr="preencoded.png">    </p:cNvPr>
          <p:cNvPicPr>
            <a:picLocks noChangeAspect="1"/>
          </p:cNvPicPr>
          <p:nvPr/>
        </p:nvPicPr>
        <p:blipFill>
          <a:blip r:embed="rId6"/>
          <a:stretch>
            <a:fillRect/>
          </a:stretch>
        </p:blipFill>
        <p:spPr>
          <a:xfrm>
            <a:off x="9921240" y="3246120"/>
            <a:ext cx="1188720" cy="1188720"/>
          </a:xfrm>
          <a:prstGeom prst="rect">
            <a:avLst/>
          </a:prstGeom>
        </p:spPr>
      </p:pic>
      <p:sp>
        <p:nvSpPr>
          <p:cNvPr id="20" name="Scene 3 today"/>
          <p:cNvSpPr txBox="1"/>
          <p:nvPr/>
        </p:nvSpPr>
        <p:spPr>
          <a:xfrm>
            <a:off x="8321040" y="4709160"/>
            <a:ext cx="3017520" cy="731520"/>
          </a:xfrm>
          <a:prstGeom prst="rect">
            <a:avLst/>
          </a:prstGeom>
          <a:noFill/>
          <a:ln/>
        </p:spPr>
        <p:txBody>
          <a:bodyPr wrap="square" lIns="0" tIns="0" rIns="0" bIns="0" rtlCol="0" anchor="t"/>
          <a:lstStyle/>
          <a:p>
            <a:pPr indent="0" marL="0">
              <a:buNone/>
            </a:pPr>
            <a:r>
              <a:rPr lang="en-US" sz="1500" dirty="0">
                <a:solidFill>
                  <a:schemeClr val="tx1"/>
                </a:solidFill>
              </a:rPr>
              <a:t>Must stop and ask a stranger</a:t>
            </a:r>
            <a:endParaRPr lang="en-US" sz="1500" dirty="0"/>
          </a:p>
        </p:txBody>
      </p:sp>
      <p:sp>
        <p:nvSpPr>
          <p:cNvPr id="21" name="Takeaway"/>
          <p:cNvSpPr txBox="1"/>
          <p:nvPr/>
        </p:nvSpPr>
        <p:spPr>
          <a:xfrm>
            <a:off x="548640" y="5715000"/>
            <a:ext cx="11064240" cy="320040"/>
          </a:xfrm>
          <a:prstGeom prst="rect">
            <a:avLst/>
          </a:prstGeom>
          <a:noFill/>
          <a:ln/>
        </p:spPr>
        <p:txBody>
          <a:bodyPr wrap="square" lIns="0" tIns="0" rIns="0" bIns="0" rtlCol="0" anchor="ctr"/>
          <a:lstStyle/>
          <a:p>
            <a:pPr indent="0" marL="0">
              <a:buNone/>
            </a:pPr>
            <a:r>
              <a:rPr lang="en-US" sz="1600" b="1" i="1" dirty="0">
                <a:solidFill>
                  <a:schemeClr val="accent1"/>
                </a:solidFill>
              </a:rPr>
              <a:t>Every answer depends on another person, and the blind person cannot check it.</a:t>
            </a:r>
            <a:endParaRPr lang="en-US" sz="16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existing help does not reach Bangladeshi users</a:t>
            </a:r>
            <a:endParaRPr lang="en-US" sz="3000" dirty="0"/>
          </a:p>
        </p:txBody>
      </p:sp>
      <p:sp>
        <p:nvSpPr>
          <p:cNvPr id="3" name="Statistic card"/>
          <p:cNvSpPr/>
          <p:nvPr/>
        </p:nvSpPr>
        <p:spPr>
          <a:xfrm>
            <a:off x="548640" y="1325880"/>
            <a:ext cx="3840480" cy="4526280"/>
          </a:xfrm>
          <a:prstGeom prst="roundRect">
            <a:avLst>
              <a:gd name="adj" fmla="val 2857"/>
            </a:avLst>
          </a:prstGeom>
          <a:solidFill>
            <a:schemeClr val="tx2"/>
          </a:solidFill>
          <a:ln w="12700">
            <a:solidFill>
              <a:schemeClr val="tx2"/>
            </a:solidFill>
            <a:prstDash val="solid"/>
          </a:ln>
        </p:spPr>
      </p:sp>
      <p:sp>
        <p:nvSpPr>
          <p:cNvPr id="4" name="WHO figure"/>
          <p:cNvSpPr txBox="1"/>
          <p:nvPr/>
        </p:nvSpPr>
        <p:spPr>
          <a:xfrm>
            <a:off x="868680" y="1920240"/>
            <a:ext cx="329184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2.2 billion</a:t>
            </a:r>
            <a:endParaRPr lang="en-US" sz="4800" dirty="0"/>
          </a:p>
        </p:txBody>
      </p:sp>
      <p:sp>
        <p:nvSpPr>
          <p:cNvPr id="5" name="WHO label"/>
          <p:cNvSpPr txBox="1"/>
          <p:nvPr/>
        </p:nvSpPr>
        <p:spPr>
          <a:xfrm>
            <a:off x="868680" y="2880360"/>
            <a:ext cx="3246120" cy="1005840"/>
          </a:xfrm>
          <a:prstGeom prst="rect">
            <a:avLst/>
          </a:prstGeom>
          <a:noFill/>
          <a:ln/>
        </p:spPr>
        <p:txBody>
          <a:bodyPr wrap="square" lIns="0" tIns="0" rIns="0" bIns="0" rtlCol="0" anchor="t"/>
          <a:lstStyle/>
          <a:p>
            <a:pPr indent="0" marL="0">
              <a:buNone/>
            </a:pPr>
            <a:r>
              <a:rPr lang="en-US" sz="1600" dirty="0">
                <a:solidFill>
                  <a:srgbClr val="E4EFEA"/>
                </a:solidFill>
              </a:rPr>
              <a:t>people worldwide have a near or distance vision impairment [1]</a:t>
            </a:r>
            <a:endParaRPr lang="en-US" sz="1600" dirty="0"/>
          </a:p>
        </p:txBody>
      </p:sp>
      <p:sp>
        <p:nvSpPr>
          <p:cNvPr id="6" name="WHO note"/>
          <p:cNvSpPr txBox="1"/>
          <p:nvPr/>
        </p:nvSpPr>
        <p:spPr>
          <a:xfrm>
            <a:off x="868680" y="4114800"/>
            <a:ext cx="3246120" cy="1188720"/>
          </a:xfrm>
          <a:prstGeom prst="rect">
            <a:avLst/>
          </a:prstGeom>
          <a:noFill/>
          <a:ln/>
        </p:spPr>
        <p:txBody>
          <a:bodyPr wrap="square" lIns="0" tIns="0" rIns="0" bIns="0" rtlCol="0" anchor="t"/>
          <a:lstStyle/>
          <a:p>
            <a:pPr indent="0" marL="0">
              <a:buNone/>
            </a:pPr>
            <a:r>
              <a:rPr lang="en-US" sz="1400" i="1" dirty="0">
                <a:solidFill>
                  <a:srgbClr val="CFE2DA"/>
                </a:solidFill>
              </a:rPr>
              <a:t>The burden falls most heavily on low- and middle-income regions [1]</a:t>
            </a:r>
            <a:endParaRPr lang="en-US" sz="1400" dirty="0"/>
          </a:p>
        </p:txBody>
      </p:sp>
      <p:sp>
        <p:nvSpPr>
          <p:cNvPr id="7" name="Gap 1"/>
          <p:cNvSpPr/>
          <p:nvPr/>
        </p:nvSpPr>
        <p:spPr>
          <a:xfrm>
            <a:off x="4709160" y="1325880"/>
            <a:ext cx="6903720" cy="1371600"/>
          </a:xfrm>
          <a:prstGeom prst="roundRect">
            <a:avLst>
              <a:gd name="adj" fmla="val 8000"/>
            </a:avLst>
          </a:prstGeom>
          <a:solidFill>
            <a:schemeClr val="bg2"/>
          </a:solidFill>
          <a:ln w="12700">
            <a:solidFill>
              <a:schemeClr val="bg2"/>
            </a:solidFill>
            <a:prstDash val="solid"/>
          </a:ln>
        </p:spPr>
      </p:sp>
      <p:sp>
        <p:nvSpPr>
          <p:cNvPr id="8" name="Gap 1 circle"/>
          <p:cNvSpPr/>
          <p:nvPr/>
        </p:nvSpPr>
        <p:spPr>
          <a:xfrm>
            <a:off x="4937760" y="1627632"/>
            <a:ext cx="777240" cy="777240"/>
          </a:xfrm>
          <a:prstGeom prst="ellipse">
            <a:avLst/>
          </a:prstGeom>
          <a:solidFill>
            <a:srgbClr val="006A4E"/>
          </a:solidFill>
          <a:ln w="12700">
            <a:solidFill>
              <a:srgbClr val="006A4E"/>
            </a:solidFill>
            <a:prstDash val="solid"/>
          </a:ln>
        </p:spPr>
      </p:sp>
      <p:pic>
        <p:nvPicPr>
          <p:cNvPr id="9" name="Gap 1 icon" descr="preencoded.png">    </p:cNvPr>
          <p:cNvPicPr>
            <a:picLocks noChangeAspect="1"/>
          </p:cNvPicPr>
          <p:nvPr/>
        </p:nvPicPr>
        <p:blipFill>
          <a:blip r:embed="rId1"/>
          <a:stretch>
            <a:fillRect/>
          </a:stretch>
        </p:blipFill>
        <p:spPr>
          <a:xfrm>
            <a:off x="5124298" y="1814170"/>
            <a:ext cx="404165" cy="404165"/>
          </a:xfrm>
          <a:prstGeom prst="rect">
            <a:avLst/>
          </a:prstGeom>
        </p:spPr>
      </p:pic>
      <p:sp>
        <p:nvSpPr>
          <p:cNvPr id="10" name="Gap 1 heading"/>
          <p:cNvSpPr txBox="1"/>
          <p:nvPr/>
        </p:nvSpPr>
        <p:spPr>
          <a:xfrm>
            <a:off x="5943600" y="1527048"/>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Built for English</a:t>
            </a:r>
            <a:endParaRPr lang="en-US" sz="2000" dirty="0"/>
          </a:p>
        </p:txBody>
      </p:sp>
      <p:sp>
        <p:nvSpPr>
          <p:cNvPr id="11" name="Gap 1 text"/>
          <p:cNvSpPr txBox="1"/>
          <p:nvPr/>
        </p:nvSpPr>
        <p:spPr>
          <a:xfrm>
            <a:off x="5943600" y="1947672"/>
            <a:ext cx="5486400" cy="640080"/>
          </a:xfrm>
          <a:prstGeom prst="rect">
            <a:avLst/>
          </a:prstGeom>
          <a:noFill/>
          <a:ln/>
        </p:spPr>
        <p:txBody>
          <a:bodyPr wrap="square" lIns="0" tIns="0" rIns="0" bIns="0" rtlCol="0" anchor="t"/>
          <a:lstStyle/>
          <a:p>
            <a:pPr indent="0" marL="0">
              <a:buNone/>
            </a:pPr>
            <a:r>
              <a:rPr lang="en-US" sz="1500" dirty="0">
                <a:solidFill>
                  <a:schemeClr val="tx1"/>
                </a:solidFill>
              </a:rPr>
              <a:t>Commercial reading glasses do not read Bangla or know Taka notes [2].</a:t>
            </a:r>
            <a:endParaRPr lang="en-US" sz="1500" dirty="0"/>
          </a:p>
        </p:txBody>
      </p:sp>
      <p:sp>
        <p:nvSpPr>
          <p:cNvPr id="12" name="Gap 2"/>
          <p:cNvSpPr/>
          <p:nvPr/>
        </p:nvSpPr>
        <p:spPr>
          <a:xfrm>
            <a:off x="4709160" y="2880360"/>
            <a:ext cx="6903720" cy="1371600"/>
          </a:xfrm>
          <a:prstGeom prst="roundRect">
            <a:avLst>
              <a:gd name="adj" fmla="val 8000"/>
            </a:avLst>
          </a:prstGeom>
          <a:solidFill>
            <a:schemeClr val="bg2"/>
          </a:solidFill>
          <a:ln w="12700">
            <a:solidFill>
              <a:schemeClr val="bg2"/>
            </a:solidFill>
            <a:prstDash val="solid"/>
          </a:ln>
        </p:spPr>
      </p:sp>
      <p:sp>
        <p:nvSpPr>
          <p:cNvPr id="13" name="Gap 2 circle"/>
          <p:cNvSpPr/>
          <p:nvPr/>
        </p:nvSpPr>
        <p:spPr>
          <a:xfrm>
            <a:off x="4937760" y="3182112"/>
            <a:ext cx="777240" cy="777240"/>
          </a:xfrm>
          <a:prstGeom prst="ellipse">
            <a:avLst/>
          </a:prstGeom>
          <a:solidFill>
            <a:srgbClr val="3A8F72"/>
          </a:solidFill>
          <a:ln w="12700">
            <a:solidFill>
              <a:srgbClr val="3A8F72"/>
            </a:solidFill>
            <a:prstDash val="solid"/>
          </a:ln>
        </p:spPr>
      </p:sp>
      <p:pic>
        <p:nvPicPr>
          <p:cNvPr id="14" name="Gap 2 icon" descr="preencoded.png">    </p:cNvPr>
          <p:cNvPicPr>
            <a:picLocks noChangeAspect="1"/>
          </p:cNvPicPr>
          <p:nvPr/>
        </p:nvPicPr>
        <p:blipFill>
          <a:blip r:embed="rId2"/>
          <a:stretch>
            <a:fillRect/>
          </a:stretch>
        </p:blipFill>
        <p:spPr>
          <a:xfrm>
            <a:off x="5124298" y="3368650"/>
            <a:ext cx="404165" cy="404165"/>
          </a:xfrm>
          <a:prstGeom prst="rect">
            <a:avLst/>
          </a:prstGeom>
        </p:spPr>
      </p:pic>
      <p:sp>
        <p:nvSpPr>
          <p:cNvPr id="15" name="Gap 2 heading"/>
          <p:cNvSpPr txBox="1"/>
          <p:nvPr/>
        </p:nvSpPr>
        <p:spPr>
          <a:xfrm>
            <a:off x="5943600" y="3081528"/>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Need the internet</a:t>
            </a:r>
            <a:endParaRPr lang="en-US" sz="2000" dirty="0"/>
          </a:p>
        </p:txBody>
      </p:sp>
      <p:sp>
        <p:nvSpPr>
          <p:cNvPr id="16" name="Gap 2 text"/>
          <p:cNvSpPr txBox="1"/>
          <p:nvPr/>
        </p:nvSpPr>
        <p:spPr>
          <a:xfrm>
            <a:off x="5943600" y="3502152"/>
            <a:ext cx="5486400" cy="640080"/>
          </a:xfrm>
          <a:prstGeom prst="rect">
            <a:avLst/>
          </a:prstGeom>
          <a:noFill/>
          <a:ln/>
        </p:spPr>
        <p:txBody>
          <a:bodyPr wrap="square" lIns="0" tIns="0" rIns="0" bIns="0" rtlCol="0" anchor="t"/>
          <a:lstStyle/>
          <a:p>
            <a:pPr indent="0" marL="0">
              <a:buNone/>
            </a:pPr>
            <a:r>
              <a:rPr lang="en-US" sz="1500" dirty="0">
                <a:solidFill>
                  <a:schemeClr val="tx1"/>
                </a:solidFill>
              </a:rPr>
              <a:t>Research glasses send every picture to a cloud server [3, 4]: no network, no answer.</a:t>
            </a:r>
            <a:endParaRPr lang="en-US" sz="1500" dirty="0"/>
          </a:p>
        </p:txBody>
      </p:sp>
      <p:sp>
        <p:nvSpPr>
          <p:cNvPr id="17" name="Gap 3"/>
          <p:cNvSpPr/>
          <p:nvPr/>
        </p:nvSpPr>
        <p:spPr>
          <a:xfrm>
            <a:off x="4709160" y="4434840"/>
            <a:ext cx="6903720" cy="1371600"/>
          </a:xfrm>
          <a:prstGeom prst="roundRect">
            <a:avLst>
              <a:gd name="adj" fmla="val 8000"/>
            </a:avLst>
          </a:prstGeom>
          <a:solidFill>
            <a:schemeClr val="bg2"/>
          </a:solidFill>
          <a:ln w="12700">
            <a:solidFill>
              <a:schemeClr val="bg2"/>
            </a:solidFill>
            <a:prstDash val="solid"/>
          </a:ln>
        </p:spPr>
      </p:sp>
      <p:sp>
        <p:nvSpPr>
          <p:cNvPr id="18" name="Gap 3 circle"/>
          <p:cNvSpPr/>
          <p:nvPr/>
        </p:nvSpPr>
        <p:spPr>
          <a:xfrm>
            <a:off x="4937760" y="4736592"/>
            <a:ext cx="777240" cy="777240"/>
          </a:xfrm>
          <a:prstGeom prst="ellipse">
            <a:avLst/>
          </a:prstGeom>
          <a:solidFill>
            <a:srgbClr val="D7263D"/>
          </a:solidFill>
          <a:ln w="12700">
            <a:solidFill>
              <a:srgbClr val="D7263D"/>
            </a:solidFill>
            <a:prstDash val="solid"/>
          </a:ln>
        </p:spPr>
      </p:sp>
      <p:pic>
        <p:nvPicPr>
          <p:cNvPr id="19" name="Gap 3 icon" descr="preencoded.png">    </p:cNvPr>
          <p:cNvPicPr>
            <a:picLocks noChangeAspect="1"/>
          </p:cNvPicPr>
          <p:nvPr/>
        </p:nvPicPr>
        <p:blipFill>
          <a:blip r:embed="rId3"/>
          <a:stretch>
            <a:fillRect/>
          </a:stretch>
        </p:blipFill>
        <p:spPr>
          <a:xfrm>
            <a:off x="5124298" y="4923130"/>
            <a:ext cx="404165" cy="404165"/>
          </a:xfrm>
          <a:prstGeom prst="rect">
            <a:avLst/>
          </a:prstGeom>
        </p:spPr>
      </p:pic>
      <p:sp>
        <p:nvSpPr>
          <p:cNvPr id="20" name="Gap 3 heading"/>
          <p:cNvSpPr txBox="1"/>
          <p:nvPr/>
        </p:nvSpPr>
        <p:spPr>
          <a:xfrm>
            <a:off x="5943600" y="4636008"/>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Answers cannot be checked</a:t>
            </a:r>
            <a:endParaRPr lang="en-US" sz="2000" dirty="0"/>
          </a:p>
        </p:txBody>
      </p:sp>
      <p:sp>
        <p:nvSpPr>
          <p:cNvPr id="21" name="Gap 3 text"/>
          <p:cNvSpPr txBox="1"/>
          <p:nvPr/>
        </p:nvSpPr>
        <p:spPr>
          <a:xfrm>
            <a:off x="5943600" y="5056632"/>
            <a:ext cx="5486400" cy="640080"/>
          </a:xfrm>
          <a:prstGeom prst="rect">
            <a:avLst/>
          </a:prstGeom>
          <a:noFill/>
          <a:ln/>
        </p:spPr>
        <p:txBody>
          <a:bodyPr wrap="square" lIns="0" tIns="0" rIns="0" bIns="0" rtlCol="0" anchor="t"/>
          <a:lstStyle/>
          <a:p>
            <a:pPr indent="0" marL="0">
              <a:buNone/>
            </a:pPr>
            <a:r>
              <a:rPr lang="en-US" sz="1500" dirty="0">
                <a:solidFill>
                  <a:schemeClr val="tx1"/>
                </a:solidFill>
              </a:rPr>
              <a:t>A wrong note value or a false "counterfeit" costs money or causes an accusation.</a:t>
            </a:r>
            <a:endParaRPr lang="en-US" sz="1500" dirty="0"/>
          </a:p>
        </p:txBody>
      </p:sp>
      <p:sp>
        <p:nvSpPr>
          <p:cNvPr id="2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[1] WHO 2023; [2] OrCam MyEye; [3] Ali A. et al., IEEE Access 2021; [4] Brilli et al., arXiv 2024.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same moment with SARA: ask the glass, not a stranger</a:t>
            </a:r>
            <a:endParaRPr lang="en-US" sz="3000" dirty="0"/>
          </a:p>
        </p:txBody>
      </p:sp>
      <p:pic>
        <p:nvPicPr>
          <p:cNvPr id="3" name="User holding a 100 Taka note" descr="E:\Final SP\Thesis Report and paper\tools\deck\assets/test_18.jpg">    </p:cNvPr>
          <p:cNvPicPr>
            <a:picLocks noChangeAspect="1"/>
          </p:cNvPicPr>
          <p:nvPr/>
        </p:nvPicPr>
        <p:blipFill>
          <a:blip r:embed="rId1"/>
          <a:srcRect l="0" r="0" t="0" b="0"/>
          <a:stretch/>
        </p:blipFill>
        <p:spPr>
          <a:xfrm>
            <a:off x="548640" y="1325880"/>
            <a:ext cx="3383280" cy="4617720"/>
          </a:xfrm>
          <a:prstGeom prst="rect">
            <a:avLst/>
          </a:prstGeom>
        </p:spPr>
      </p:pic>
      <p:sp>
        <p:nvSpPr>
          <p:cNvPr id="4" name="Step 1"/>
          <p:cNvSpPr/>
          <p:nvPr/>
        </p:nvSpPr>
        <p:spPr>
          <a:xfrm>
            <a:off x="4251960" y="1325880"/>
            <a:ext cx="7360920" cy="1371600"/>
          </a:xfrm>
          <a:prstGeom prst="roundRect">
            <a:avLst>
              <a:gd name="adj" fmla="val 8000"/>
            </a:avLst>
          </a:prstGeom>
          <a:solidFill>
            <a:schemeClr val="bg2"/>
          </a:solidFill>
          <a:ln w="12700">
            <a:solidFill>
              <a:schemeClr val="bg2"/>
            </a:solidFill>
            <a:prstDash val="solid"/>
          </a:ln>
        </p:spPr>
      </p:sp>
      <p:sp>
        <p:nvSpPr>
          <p:cNvPr id="5" name="Step 1 circle"/>
          <p:cNvSpPr/>
          <p:nvPr/>
        </p:nvSpPr>
        <p:spPr>
          <a:xfrm>
            <a:off x="4480560" y="1627632"/>
            <a:ext cx="777240" cy="777240"/>
          </a:xfrm>
          <a:prstGeom prst="ellipse">
            <a:avLst/>
          </a:prstGeom>
          <a:solidFill>
            <a:srgbClr val="006A4E"/>
          </a:solidFill>
          <a:ln w="12700">
            <a:solidFill>
              <a:srgbClr val="006A4E"/>
            </a:solidFill>
            <a:prstDash val="solid"/>
          </a:ln>
        </p:spPr>
      </p:sp>
      <p:pic>
        <p:nvPicPr>
          <p:cNvPr id="6" name="Step 1 icon" descr="preencoded.png">    </p:cNvPr>
          <p:cNvPicPr>
            <a:picLocks noChangeAspect="1"/>
          </p:cNvPicPr>
          <p:nvPr/>
        </p:nvPicPr>
        <p:blipFill>
          <a:blip r:embed="rId2"/>
          <a:stretch>
            <a:fillRect/>
          </a:stretch>
        </p:blipFill>
        <p:spPr>
          <a:xfrm>
            <a:off x="4667098" y="1814170"/>
            <a:ext cx="404165" cy="404165"/>
          </a:xfrm>
          <a:prstGeom prst="rect">
            <a:avLst/>
          </a:prstGeom>
        </p:spPr>
      </p:pic>
      <p:sp>
        <p:nvSpPr>
          <p:cNvPr id="7" name="Step 1 heading"/>
          <p:cNvSpPr txBox="1"/>
          <p:nvPr/>
        </p:nvSpPr>
        <p:spPr>
          <a:xfrm>
            <a:off x="5486400" y="1490472"/>
            <a:ext cx="5943600" cy="384048"/>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1  The user speaks</a:t>
            </a:r>
            <a:endParaRPr lang="en-US" sz="1900" dirty="0"/>
          </a:p>
        </p:txBody>
      </p:sp>
      <p:sp>
        <p:nvSpPr>
          <p:cNvPr id="8" name="Step 1 text"/>
          <p:cNvSpPr txBox="1"/>
          <p:nvPr/>
        </p:nvSpPr>
        <p:spPr>
          <a:xfrm>
            <a:off x="5486400" y="1929384"/>
            <a:ext cx="5943600" cy="548640"/>
          </a:xfrm>
          <a:prstGeom prst="rect">
            <a:avLst/>
          </a:prstGeom>
          <a:noFill/>
          <a:ln/>
        </p:spPr>
        <p:txBody>
          <a:bodyPr wrap="square" lIns="0" tIns="0" rIns="0" bIns="0" rtlCol="0" anchor="ctr"/>
          <a:lstStyle/>
          <a:p>
            <a:pPr indent="0" marL="0">
              <a:buNone/>
            </a:pPr>
            <a:r>
              <a:rPr lang="en-US" sz="1800" b="1" i="1" dirty="0">
                <a:solidFill>
                  <a:srgbClr val="006A4E"/>
                </a:solidFill>
              </a:rPr>
              <a:t>"Glass, check money"</a:t>
            </a:r>
            <a:endParaRPr lang="en-US" sz="1800" dirty="0"/>
          </a:p>
        </p:txBody>
      </p:sp>
      <p:sp>
        <p:nvSpPr>
          <p:cNvPr id="9" name="Step 2"/>
          <p:cNvSpPr/>
          <p:nvPr/>
        </p:nvSpPr>
        <p:spPr>
          <a:xfrm>
            <a:off x="4251960" y="2898648"/>
            <a:ext cx="7360920" cy="1371600"/>
          </a:xfrm>
          <a:prstGeom prst="roundRect">
            <a:avLst>
              <a:gd name="adj" fmla="val 8000"/>
            </a:avLst>
          </a:prstGeom>
          <a:solidFill>
            <a:schemeClr val="bg2"/>
          </a:solidFill>
          <a:ln w="12700">
            <a:solidFill>
              <a:schemeClr val="bg2"/>
            </a:solidFill>
            <a:prstDash val="solid"/>
          </a:ln>
        </p:spPr>
      </p:sp>
      <p:sp>
        <p:nvSpPr>
          <p:cNvPr id="10" name="Step 2 circle"/>
          <p:cNvSpPr/>
          <p:nvPr/>
        </p:nvSpPr>
        <p:spPr>
          <a:xfrm>
            <a:off x="4480560" y="3200400"/>
            <a:ext cx="777240" cy="777240"/>
          </a:xfrm>
          <a:prstGeom prst="ellipse">
            <a:avLst/>
          </a:prstGeom>
          <a:solidFill>
            <a:srgbClr val="3A8F72"/>
          </a:solidFill>
          <a:ln w="12700">
            <a:solidFill>
              <a:srgbClr val="3A8F72"/>
            </a:solidFill>
            <a:prstDash val="solid"/>
          </a:ln>
        </p:spPr>
      </p:sp>
      <p:pic>
        <p:nvPicPr>
          <p:cNvPr id="11" name="Step 2 icon" descr="preencoded.png">    </p:cNvPr>
          <p:cNvPicPr>
            <a:picLocks noChangeAspect="1"/>
          </p:cNvPicPr>
          <p:nvPr/>
        </p:nvPicPr>
        <p:blipFill>
          <a:blip r:embed="rId3"/>
          <a:stretch>
            <a:fillRect/>
          </a:stretch>
        </p:blipFill>
        <p:spPr>
          <a:xfrm>
            <a:off x="4667098" y="3386938"/>
            <a:ext cx="404165" cy="404165"/>
          </a:xfrm>
          <a:prstGeom prst="rect">
            <a:avLst/>
          </a:prstGeom>
        </p:spPr>
      </p:pic>
      <p:sp>
        <p:nvSpPr>
          <p:cNvPr id="12" name="Step 2 heading"/>
          <p:cNvSpPr txBox="1"/>
          <p:nvPr/>
        </p:nvSpPr>
        <p:spPr>
          <a:xfrm>
            <a:off x="5486400" y="3063240"/>
            <a:ext cx="5943600" cy="384048"/>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2  The glass looks</a:t>
            </a:r>
            <a:endParaRPr lang="en-US" sz="1900" dirty="0"/>
          </a:p>
        </p:txBody>
      </p:sp>
      <p:sp>
        <p:nvSpPr>
          <p:cNvPr id="13" name="Step 2 text"/>
          <p:cNvSpPr txBox="1"/>
          <p:nvPr/>
        </p:nvSpPr>
        <p:spPr>
          <a:xfrm>
            <a:off x="5486400" y="3502152"/>
            <a:ext cx="5943600" cy="548640"/>
          </a:xfrm>
          <a:prstGeom prst="rect">
            <a:avLst/>
          </a:prstGeom>
          <a:noFill/>
          <a:ln/>
        </p:spPr>
        <p:txBody>
          <a:bodyPr wrap="square" lIns="0" tIns="0" rIns="0" bIns="0" rtlCol="0" anchor="ctr"/>
          <a:lstStyle/>
          <a:p>
            <a:pPr indent="0" marL="0">
              <a:buNone/>
            </a:pPr>
            <a:r>
              <a:rPr lang="en-US" sz="1500" dirty="0">
                <a:solidFill>
                  <a:srgbClr val="1C2321"/>
                </a:solidFill>
              </a:rPr>
              <a:t>Camera picture → Taka detector on the Raspberry Pi 5, no internet</a:t>
            </a:r>
            <a:endParaRPr lang="en-US" sz="1500" dirty="0"/>
          </a:p>
        </p:txBody>
      </p:sp>
      <p:sp>
        <p:nvSpPr>
          <p:cNvPr id="14" name="Step 3"/>
          <p:cNvSpPr/>
          <p:nvPr/>
        </p:nvSpPr>
        <p:spPr>
          <a:xfrm>
            <a:off x="4251960" y="4471416"/>
            <a:ext cx="7360920" cy="1371600"/>
          </a:xfrm>
          <a:prstGeom prst="roundRect">
            <a:avLst>
              <a:gd name="adj" fmla="val 8000"/>
            </a:avLst>
          </a:prstGeom>
          <a:solidFill>
            <a:schemeClr val="bg2"/>
          </a:solidFill>
          <a:ln w="12700">
            <a:solidFill>
              <a:schemeClr val="bg2"/>
            </a:solidFill>
            <a:prstDash val="solid"/>
          </a:ln>
        </p:spPr>
      </p:sp>
      <p:sp>
        <p:nvSpPr>
          <p:cNvPr id="15" name="Step 3 circle"/>
          <p:cNvSpPr/>
          <p:nvPr/>
        </p:nvSpPr>
        <p:spPr>
          <a:xfrm>
            <a:off x="4480560" y="4773168"/>
            <a:ext cx="777240" cy="777240"/>
          </a:xfrm>
          <a:prstGeom prst="ellipse">
            <a:avLst/>
          </a:prstGeom>
          <a:solidFill>
            <a:srgbClr val="0B4D3B"/>
          </a:solidFill>
          <a:ln w="12700">
            <a:solidFill>
              <a:srgbClr val="0B4D3B"/>
            </a:solidFill>
            <a:prstDash val="solid"/>
          </a:ln>
        </p:spPr>
      </p:sp>
      <p:pic>
        <p:nvPicPr>
          <p:cNvPr id="16" name="Step 3 icon" descr="preencoded.png">    </p:cNvPr>
          <p:cNvPicPr>
            <a:picLocks noChangeAspect="1"/>
          </p:cNvPicPr>
          <p:nvPr/>
        </p:nvPicPr>
        <p:blipFill>
          <a:blip r:embed="rId4"/>
          <a:stretch>
            <a:fillRect/>
          </a:stretch>
        </p:blipFill>
        <p:spPr>
          <a:xfrm>
            <a:off x="4667098" y="4959706"/>
            <a:ext cx="404165" cy="404165"/>
          </a:xfrm>
          <a:prstGeom prst="rect">
            <a:avLst/>
          </a:prstGeom>
        </p:spPr>
      </p:pic>
      <p:sp>
        <p:nvSpPr>
          <p:cNvPr id="17" name="Step 3 heading"/>
          <p:cNvSpPr txBox="1"/>
          <p:nvPr/>
        </p:nvSpPr>
        <p:spPr>
          <a:xfrm>
            <a:off x="5486400" y="4636008"/>
            <a:ext cx="5943600" cy="384048"/>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3  The glass answers in Bangla</a:t>
            </a:r>
            <a:endParaRPr lang="en-US" sz="1900" dirty="0"/>
          </a:p>
        </p:txBody>
      </p:sp>
      <p:sp>
        <p:nvSpPr>
          <p:cNvPr id="18" name="Step 3 answer"/>
          <p:cNvSpPr txBox="1"/>
          <p:nvPr/>
        </p:nvSpPr>
        <p:spPr>
          <a:xfrm>
            <a:off x="5486400" y="5074920"/>
            <a:ext cx="5943600" cy="548640"/>
          </a:xfrm>
          <a:prstGeom prst="rect">
            <a:avLst/>
          </a:prstGeom>
          <a:noFill/>
          <a:ln/>
        </p:spPr>
        <p:txBody>
          <a:bodyPr wrap="square" lIns="0" tIns="0" rIns="0" bIns="0" rtlCol="0" anchor="ctr"/>
          <a:lstStyle/>
          <a:p>
            <a:pPr indent="0" marL="0">
              <a:buNone/>
            </a:pPr>
            <a:r>
              <a:rPr lang="en-US" sz="2000" b="1" dirty="0">
                <a:solidFill>
                  <a:srgbClr val="006A4E"/>
                </a:solidFill>
                <a:latin typeface="Nirmala UI" pitchFamily="34" charset="0"/>
                <a:ea typeface="Nirmala UI" pitchFamily="34" charset="-122"/>
                <a:cs typeface="Nirmala UI" pitchFamily="34" charset="-120"/>
              </a:rPr>
              <a:t>একশত টাকার নোট</a:t>
            </a:r>
            <a:pPr indent="0" marL="0">
              <a:buNone/>
            </a:pPr>
            <a:r>
              <a:rPr lang="en-US" sz="1400" dirty="0">
                <a:solidFill>
                  <a:srgbClr val="1C2321"/>
                </a:solidFill>
              </a:rPr>
              <a:t>   "100 Taka note", and a short vibration</a:t>
            </a:r>
            <a:endParaRPr lang="en-US" sz="2000" dirty="0"/>
          </a:p>
        </p:txBody>
      </p:sp>
      <p:sp>
        <p:nvSpPr>
          <p:cNvPr id="19" name="Other uses"/>
          <p:cNvSpPr txBox="1"/>
          <p:nvPr/>
        </p:nvSpPr>
        <p:spPr>
          <a:xfrm>
            <a:off x="4251960" y="6053328"/>
            <a:ext cx="7360920" cy="292608"/>
          </a:xfrm>
          <a:prstGeom prst="rect">
            <a:avLst/>
          </a:prstGeom>
          <a:noFill/>
          <a:ln/>
        </p:spPr>
        <p:txBody>
          <a:bodyPr wrap="square" lIns="0" tIns="0" rIns="0" bIns="0" rtlCol="0" anchor="ctr"/>
          <a:lstStyle/>
          <a:p>
            <a:pPr indent="0" marL="0">
              <a:buNone/>
            </a:pPr>
            <a:r>
              <a:rPr lang="en-US" sz="1300" i="1" dirty="0">
                <a:solidFill>
                  <a:schemeClr val="accent5"/>
                </a:solidFill>
              </a:rPr>
              <a:t>The same three steps read a medicine label ("glass, read text") or name what is ahead ("glass, objects").</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SARA at a glance: five modes, buttons or voice</a:t>
            </a:r>
            <a:endParaRPr lang="en-US" sz="3000" dirty="0"/>
          </a:p>
        </p:txBody>
      </p:sp>
      <p:pic>
        <p:nvPicPr>
          <p:cNvPr id="3" name="Prototype, side view" descr="E:\Final SP\Thesis Report and paper\tools\deck\assets/1_17.jpg">    </p:cNvPr>
          <p:cNvPicPr>
            <a:picLocks noChangeAspect="1"/>
          </p:cNvPicPr>
          <p:nvPr/>
        </p:nvPicPr>
        <p:blipFill>
          <a:blip r:embed="rId1"/>
          <a:srcRect l="0" r="0" t="0" b="0"/>
          <a:stretch/>
        </p:blipFill>
        <p:spPr>
          <a:xfrm>
            <a:off x="548640" y="1325880"/>
            <a:ext cx="4572000" cy="2569464"/>
          </a:xfrm>
          <a:prstGeom prst="rect">
            <a:avLst/>
          </a:prstGeom>
        </p:spPr>
      </p:pic>
      <p:pic>
        <p:nvPicPr>
          <p:cNvPr id="4" name="Prototype, rear enclosure" descr="E:\Final SP\Thesis Report and paper\tools\deck\assets/1_16.jpg">    </p:cNvPr>
          <p:cNvPicPr>
            <a:picLocks noChangeAspect="1"/>
          </p:cNvPicPr>
          <p:nvPr/>
        </p:nvPicPr>
        <p:blipFill>
          <a:blip r:embed="rId2"/>
          <a:srcRect l="0" r="0" t="0" b="0"/>
          <a:stretch/>
        </p:blipFill>
        <p:spPr>
          <a:xfrm>
            <a:off x="548640" y="3986784"/>
            <a:ext cx="4572000" cy="1956816"/>
          </a:xfrm>
          <a:prstGeom prst="rect">
            <a:avLst/>
          </a:prstGeom>
        </p:spPr>
      </p:pic>
      <p:sp>
        <p:nvSpPr>
          <p:cNvPr id="5" name="Text reading card"/>
          <p:cNvSpPr/>
          <p:nvPr/>
        </p:nvSpPr>
        <p:spPr>
          <a:xfrm>
            <a:off x="5486400" y="1325880"/>
            <a:ext cx="2971800" cy="1417320"/>
          </a:xfrm>
          <a:prstGeom prst="roundRect">
            <a:avLst>
              <a:gd name="adj" fmla="val 7742"/>
            </a:avLst>
          </a:prstGeom>
          <a:solidFill>
            <a:schemeClr val="bg2"/>
          </a:solidFill>
          <a:ln w="12700">
            <a:solidFill>
              <a:schemeClr val="bg2"/>
            </a:solidFill>
            <a:prstDash val="solid"/>
          </a:ln>
        </p:spPr>
      </p:sp>
      <p:sp>
        <p:nvSpPr>
          <p:cNvPr id="6" name="Text reading circle"/>
          <p:cNvSpPr/>
          <p:nvPr/>
        </p:nvSpPr>
        <p:spPr>
          <a:xfrm>
            <a:off x="5687568" y="1554480"/>
            <a:ext cx="658368" cy="658368"/>
          </a:xfrm>
          <a:prstGeom prst="ellipse">
            <a:avLst/>
          </a:prstGeom>
          <a:solidFill>
            <a:srgbClr val="006A4E"/>
          </a:solidFill>
          <a:ln w="12700">
            <a:solidFill>
              <a:srgbClr val="006A4E"/>
            </a:solidFill>
            <a:prstDash val="solid"/>
          </a:ln>
        </p:spPr>
      </p:sp>
      <p:pic>
        <p:nvPicPr>
          <p:cNvPr id="7" name="Text reading icon" descr="preencoded.png">    </p:cNvPr>
          <p:cNvPicPr>
            <a:picLocks noChangeAspect="1"/>
          </p:cNvPicPr>
          <p:nvPr/>
        </p:nvPicPr>
        <p:blipFill>
          <a:blip r:embed="rId3"/>
          <a:stretch>
            <a:fillRect/>
          </a:stretch>
        </p:blipFill>
        <p:spPr>
          <a:xfrm>
            <a:off x="5845576" y="1712488"/>
            <a:ext cx="342351" cy="342351"/>
          </a:xfrm>
          <a:prstGeom prst="rect">
            <a:avLst/>
          </a:prstGeom>
        </p:spPr>
      </p:pic>
      <p:sp>
        <p:nvSpPr>
          <p:cNvPr id="8" name="Text reading heading"/>
          <p:cNvSpPr txBox="1"/>
          <p:nvPr/>
        </p:nvSpPr>
        <p:spPr>
          <a:xfrm>
            <a:off x="6492240" y="150876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Text reading</a:t>
            </a:r>
            <a:endParaRPr lang="en-US" sz="1600" dirty="0"/>
          </a:p>
        </p:txBody>
      </p:sp>
      <p:sp>
        <p:nvSpPr>
          <p:cNvPr id="9" name="Text reading text"/>
          <p:cNvSpPr txBox="1"/>
          <p:nvPr/>
        </p:nvSpPr>
        <p:spPr>
          <a:xfrm>
            <a:off x="6492240" y="1892808"/>
            <a:ext cx="1874520" cy="731520"/>
          </a:xfrm>
          <a:prstGeom prst="rect">
            <a:avLst/>
          </a:prstGeom>
          <a:noFill/>
          <a:ln/>
        </p:spPr>
        <p:txBody>
          <a:bodyPr wrap="square" lIns="0" tIns="0" rIns="0" bIns="0" rtlCol="0" anchor="t"/>
          <a:lstStyle/>
          <a:p>
            <a:pPr indent="0" marL="0">
              <a:buNone/>
            </a:pPr>
            <a:r>
              <a:rPr lang="en-US" sz="1300" dirty="0">
                <a:solidFill>
                  <a:schemeClr val="tx1"/>
                </a:solidFill>
              </a:rPr>
              <a:t>Bangla and English, read aloud</a:t>
            </a:r>
            <a:endParaRPr lang="en-US" sz="1300" dirty="0"/>
          </a:p>
        </p:txBody>
      </p:sp>
      <p:sp>
        <p:nvSpPr>
          <p:cNvPr id="10" name="Objects card"/>
          <p:cNvSpPr/>
          <p:nvPr/>
        </p:nvSpPr>
        <p:spPr>
          <a:xfrm>
            <a:off x="8595360" y="1325880"/>
            <a:ext cx="2971800" cy="1417320"/>
          </a:xfrm>
          <a:prstGeom prst="roundRect">
            <a:avLst>
              <a:gd name="adj" fmla="val 7742"/>
            </a:avLst>
          </a:prstGeom>
          <a:solidFill>
            <a:schemeClr val="bg2"/>
          </a:solidFill>
          <a:ln w="12700">
            <a:solidFill>
              <a:schemeClr val="bg2"/>
            </a:solidFill>
            <a:prstDash val="solid"/>
          </a:ln>
        </p:spPr>
      </p:sp>
      <p:sp>
        <p:nvSpPr>
          <p:cNvPr id="11" name="Objects circle"/>
          <p:cNvSpPr/>
          <p:nvPr/>
        </p:nvSpPr>
        <p:spPr>
          <a:xfrm>
            <a:off x="8796528" y="1554480"/>
            <a:ext cx="658368" cy="658368"/>
          </a:xfrm>
          <a:prstGeom prst="ellipse">
            <a:avLst/>
          </a:prstGeom>
          <a:solidFill>
            <a:srgbClr val="006A4E"/>
          </a:solidFill>
          <a:ln w="12700">
            <a:solidFill>
              <a:srgbClr val="006A4E"/>
            </a:solidFill>
            <a:prstDash val="solid"/>
          </a:ln>
        </p:spPr>
      </p:sp>
      <p:pic>
        <p:nvPicPr>
          <p:cNvPr id="12" name="Objects icon" descr="preencoded.png">    </p:cNvPr>
          <p:cNvPicPr>
            <a:picLocks noChangeAspect="1"/>
          </p:cNvPicPr>
          <p:nvPr/>
        </p:nvPicPr>
        <p:blipFill>
          <a:blip r:embed="rId4"/>
          <a:stretch>
            <a:fillRect/>
          </a:stretch>
        </p:blipFill>
        <p:spPr>
          <a:xfrm>
            <a:off x="8954536" y="1712488"/>
            <a:ext cx="342351" cy="342351"/>
          </a:xfrm>
          <a:prstGeom prst="rect">
            <a:avLst/>
          </a:prstGeom>
        </p:spPr>
      </p:pic>
      <p:sp>
        <p:nvSpPr>
          <p:cNvPr id="13" name="Objects heading"/>
          <p:cNvSpPr txBox="1"/>
          <p:nvPr/>
        </p:nvSpPr>
        <p:spPr>
          <a:xfrm>
            <a:off x="9601200" y="1508760"/>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Objects</a:t>
            </a:r>
            <a:endParaRPr lang="en-US" sz="1600" dirty="0"/>
          </a:p>
        </p:txBody>
      </p:sp>
      <p:sp>
        <p:nvSpPr>
          <p:cNvPr id="14" name="Objects text"/>
          <p:cNvSpPr txBox="1"/>
          <p:nvPr/>
        </p:nvSpPr>
        <p:spPr>
          <a:xfrm>
            <a:off x="9601200" y="1892808"/>
            <a:ext cx="1874520" cy="731520"/>
          </a:xfrm>
          <a:prstGeom prst="rect">
            <a:avLst/>
          </a:prstGeom>
          <a:noFill/>
          <a:ln/>
        </p:spPr>
        <p:txBody>
          <a:bodyPr wrap="square" lIns="0" tIns="0" rIns="0" bIns="0" rtlCol="0" anchor="t"/>
          <a:lstStyle/>
          <a:p>
            <a:pPr indent="0" marL="0">
              <a:buNone/>
            </a:pPr>
            <a:r>
              <a:rPr lang="en-US" sz="1300" dirty="0">
                <a:solidFill>
                  <a:schemeClr val="tx1"/>
                </a:solidFill>
              </a:rPr>
              <a:t>Names what is in front, in Bangla</a:t>
            </a:r>
            <a:endParaRPr lang="en-US" sz="1300" dirty="0"/>
          </a:p>
        </p:txBody>
      </p:sp>
      <p:sp>
        <p:nvSpPr>
          <p:cNvPr id="15" name="Taka notes card"/>
          <p:cNvSpPr/>
          <p:nvPr/>
        </p:nvSpPr>
        <p:spPr>
          <a:xfrm>
            <a:off x="5486400" y="2898648"/>
            <a:ext cx="2971800" cy="1417320"/>
          </a:xfrm>
          <a:prstGeom prst="roundRect">
            <a:avLst>
              <a:gd name="adj" fmla="val 7742"/>
            </a:avLst>
          </a:prstGeom>
          <a:solidFill>
            <a:schemeClr val="bg2"/>
          </a:solidFill>
          <a:ln w="12700">
            <a:solidFill>
              <a:schemeClr val="bg2"/>
            </a:solidFill>
            <a:prstDash val="solid"/>
          </a:ln>
        </p:spPr>
      </p:sp>
      <p:sp>
        <p:nvSpPr>
          <p:cNvPr id="16" name="Taka notes circle"/>
          <p:cNvSpPr/>
          <p:nvPr/>
        </p:nvSpPr>
        <p:spPr>
          <a:xfrm>
            <a:off x="5687568" y="3127248"/>
            <a:ext cx="658368" cy="658368"/>
          </a:xfrm>
          <a:prstGeom prst="ellipse">
            <a:avLst/>
          </a:prstGeom>
          <a:solidFill>
            <a:srgbClr val="006A4E"/>
          </a:solidFill>
          <a:ln w="12700">
            <a:solidFill>
              <a:srgbClr val="006A4E"/>
            </a:solidFill>
            <a:prstDash val="solid"/>
          </a:ln>
        </p:spPr>
      </p:sp>
      <p:pic>
        <p:nvPicPr>
          <p:cNvPr id="17" name="Taka notes icon" descr="preencoded.png">    </p:cNvPr>
          <p:cNvPicPr>
            <a:picLocks noChangeAspect="1"/>
          </p:cNvPicPr>
          <p:nvPr/>
        </p:nvPicPr>
        <p:blipFill>
          <a:blip r:embed="rId5"/>
          <a:stretch>
            <a:fillRect/>
          </a:stretch>
        </p:blipFill>
        <p:spPr>
          <a:xfrm>
            <a:off x="5845576" y="3285256"/>
            <a:ext cx="342351" cy="342351"/>
          </a:xfrm>
          <a:prstGeom prst="rect">
            <a:avLst/>
          </a:prstGeom>
        </p:spPr>
      </p:pic>
      <p:sp>
        <p:nvSpPr>
          <p:cNvPr id="18" name="Taka notes heading"/>
          <p:cNvSpPr txBox="1"/>
          <p:nvPr/>
        </p:nvSpPr>
        <p:spPr>
          <a:xfrm>
            <a:off x="6492240" y="3081528"/>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Taka notes</a:t>
            </a:r>
            <a:endParaRPr lang="en-US" sz="1600" dirty="0"/>
          </a:p>
        </p:txBody>
      </p:sp>
      <p:sp>
        <p:nvSpPr>
          <p:cNvPr id="19" name="Taka notes text"/>
          <p:cNvSpPr txBox="1"/>
          <p:nvPr/>
        </p:nvSpPr>
        <p:spPr>
          <a:xfrm>
            <a:off x="6492240" y="3465576"/>
            <a:ext cx="1874520" cy="731520"/>
          </a:xfrm>
          <a:prstGeom prst="rect">
            <a:avLst/>
          </a:prstGeom>
          <a:noFill/>
          <a:ln/>
        </p:spPr>
        <p:txBody>
          <a:bodyPr wrap="square" lIns="0" tIns="0" rIns="0" bIns="0" rtlCol="0" anchor="t"/>
          <a:lstStyle/>
          <a:p>
            <a:pPr indent="0" marL="0">
              <a:buNone/>
            </a:pPr>
            <a:r>
              <a:rPr lang="en-US" sz="1300" dirty="0">
                <a:solidFill>
                  <a:schemeClr val="tx1"/>
                </a:solidFill>
              </a:rPr>
              <a:t>All nine notes + a careful counterfeit check</a:t>
            </a:r>
            <a:endParaRPr lang="en-US" sz="1300" dirty="0"/>
          </a:p>
        </p:txBody>
      </p:sp>
      <p:sp>
        <p:nvSpPr>
          <p:cNvPr id="20" name="Emotion card"/>
          <p:cNvSpPr/>
          <p:nvPr/>
        </p:nvSpPr>
        <p:spPr>
          <a:xfrm>
            <a:off x="8595360" y="2898648"/>
            <a:ext cx="2971800" cy="1417320"/>
          </a:xfrm>
          <a:prstGeom prst="roundRect">
            <a:avLst>
              <a:gd name="adj" fmla="val 7742"/>
            </a:avLst>
          </a:prstGeom>
          <a:solidFill>
            <a:schemeClr val="bg2"/>
          </a:solidFill>
          <a:ln w="12700">
            <a:solidFill>
              <a:schemeClr val="bg2"/>
            </a:solidFill>
            <a:prstDash val="solid"/>
          </a:ln>
        </p:spPr>
      </p:sp>
      <p:sp>
        <p:nvSpPr>
          <p:cNvPr id="21" name="Emotion circle"/>
          <p:cNvSpPr/>
          <p:nvPr/>
        </p:nvSpPr>
        <p:spPr>
          <a:xfrm>
            <a:off x="8796528" y="3127248"/>
            <a:ext cx="658368" cy="658368"/>
          </a:xfrm>
          <a:prstGeom prst="ellipse">
            <a:avLst/>
          </a:prstGeom>
          <a:solidFill>
            <a:srgbClr val="006A4E"/>
          </a:solidFill>
          <a:ln w="12700">
            <a:solidFill>
              <a:srgbClr val="006A4E"/>
            </a:solidFill>
            <a:prstDash val="solid"/>
          </a:ln>
        </p:spPr>
      </p:sp>
      <p:pic>
        <p:nvPicPr>
          <p:cNvPr id="22" name="Emotion icon" descr="preencoded.png">    </p:cNvPr>
          <p:cNvPicPr>
            <a:picLocks noChangeAspect="1"/>
          </p:cNvPicPr>
          <p:nvPr/>
        </p:nvPicPr>
        <p:blipFill>
          <a:blip r:embed="rId6"/>
          <a:stretch>
            <a:fillRect/>
          </a:stretch>
        </p:blipFill>
        <p:spPr>
          <a:xfrm>
            <a:off x="8954536" y="3285256"/>
            <a:ext cx="342351" cy="342351"/>
          </a:xfrm>
          <a:prstGeom prst="rect">
            <a:avLst/>
          </a:prstGeom>
        </p:spPr>
      </p:pic>
      <p:sp>
        <p:nvSpPr>
          <p:cNvPr id="23" name="Emotion heading"/>
          <p:cNvSpPr txBox="1"/>
          <p:nvPr/>
        </p:nvSpPr>
        <p:spPr>
          <a:xfrm>
            <a:off x="9601200" y="3081528"/>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Emotion</a:t>
            </a:r>
            <a:endParaRPr lang="en-US" sz="1600" dirty="0"/>
          </a:p>
        </p:txBody>
      </p:sp>
      <p:sp>
        <p:nvSpPr>
          <p:cNvPr id="24" name="Emotion text"/>
          <p:cNvSpPr txBox="1"/>
          <p:nvPr/>
        </p:nvSpPr>
        <p:spPr>
          <a:xfrm>
            <a:off x="9601200" y="3465576"/>
            <a:ext cx="1874520" cy="731520"/>
          </a:xfrm>
          <a:prstGeom prst="rect">
            <a:avLst/>
          </a:prstGeom>
          <a:noFill/>
          <a:ln/>
        </p:spPr>
        <p:txBody>
          <a:bodyPr wrap="square" lIns="0" tIns="0" rIns="0" bIns="0" rtlCol="0" anchor="t"/>
          <a:lstStyle/>
          <a:p>
            <a:pPr indent="0" marL="0">
              <a:buNone/>
            </a:pPr>
            <a:r>
              <a:rPr lang="en-US" sz="1300" dirty="0">
                <a:solidFill>
                  <a:schemeClr val="tx1"/>
                </a:solidFill>
              </a:rPr>
              <a:t>Facial expression of the person in front</a:t>
            </a:r>
            <a:endParaRPr lang="en-US" sz="1300" dirty="0"/>
          </a:p>
        </p:txBody>
      </p:sp>
      <p:sp>
        <p:nvSpPr>
          <p:cNvPr id="25" name="Online description card"/>
          <p:cNvSpPr/>
          <p:nvPr/>
        </p:nvSpPr>
        <p:spPr>
          <a:xfrm>
            <a:off x="5486400" y="4471416"/>
            <a:ext cx="2971800" cy="1417320"/>
          </a:xfrm>
          <a:prstGeom prst="roundRect">
            <a:avLst>
              <a:gd name="adj" fmla="val 7742"/>
            </a:avLst>
          </a:prstGeom>
          <a:solidFill>
            <a:schemeClr val="bg2"/>
          </a:solidFill>
          <a:ln w="12700">
            <a:solidFill>
              <a:schemeClr val="bg2"/>
            </a:solidFill>
            <a:prstDash val="solid"/>
          </a:ln>
        </p:spPr>
      </p:sp>
      <p:sp>
        <p:nvSpPr>
          <p:cNvPr id="26" name="Online description circle"/>
          <p:cNvSpPr/>
          <p:nvPr/>
        </p:nvSpPr>
        <p:spPr>
          <a:xfrm>
            <a:off x="5687568" y="4700016"/>
            <a:ext cx="658368" cy="658368"/>
          </a:xfrm>
          <a:prstGeom prst="ellipse">
            <a:avLst/>
          </a:prstGeom>
          <a:solidFill>
            <a:srgbClr val="006A4E"/>
          </a:solidFill>
          <a:ln w="12700">
            <a:solidFill>
              <a:srgbClr val="006A4E"/>
            </a:solidFill>
            <a:prstDash val="solid"/>
          </a:ln>
        </p:spPr>
      </p:sp>
      <p:pic>
        <p:nvPicPr>
          <p:cNvPr id="27" name="Online description icon" descr="preencoded.png">    </p:cNvPr>
          <p:cNvPicPr>
            <a:picLocks noChangeAspect="1"/>
          </p:cNvPicPr>
          <p:nvPr/>
        </p:nvPicPr>
        <p:blipFill>
          <a:blip r:embed="rId7"/>
          <a:stretch>
            <a:fillRect/>
          </a:stretch>
        </p:blipFill>
        <p:spPr>
          <a:xfrm>
            <a:off x="5845576" y="4858024"/>
            <a:ext cx="342351" cy="342351"/>
          </a:xfrm>
          <a:prstGeom prst="rect">
            <a:avLst/>
          </a:prstGeom>
        </p:spPr>
      </p:pic>
      <p:sp>
        <p:nvSpPr>
          <p:cNvPr id="28" name="Online description heading"/>
          <p:cNvSpPr txBox="1"/>
          <p:nvPr/>
        </p:nvSpPr>
        <p:spPr>
          <a:xfrm>
            <a:off x="6492240" y="4654296"/>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Online description</a:t>
            </a:r>
            <a:endParaRPr lang="en-US" sz="1600" dirty="0"/>
          </a:p>
        </p:txBody>
      </p:sp>
      <p:sp>
        <p:nvSpPr>
          <p:cNvPr id="29" name="Online description text"/>
          <p:cNvSpPr txBox="1"/>
          <p:nvPr/>
        </p:nvSpPr>
        <p:spPr>
          <a:xfrm>
            <a:off x="6492240" y="5038344"/>
            <a:ext cx="1874520" cy="731520"/>
          </a:xfrm>
          <a:prstGeom prst="rect">
            <a:avLst/>
          </a:prstGeom>
          <a:noFill/>
          <a:ln/>
        </p:spPr>
        <p:txBody>
          <a:bodyPr wrap="square" lIns="0" tIns="0" rIns="0" bIns="0" rtlCol="0" anchor="t"/>
          <a:lstStyle/>
          <a:p>
            <a:pPr indent="0" marL="0">
              <a:buNone/>
            </a:pPr>
            <a:r>
              <a:rPr lang="en-US" sz="1300" dirty="0">
                <a:solidFill>
                  <a:schemeClr val="tx1"/>
                </a:solidFill>
              </a:rPr>
              <a:t>Optional; the only mode needing internet</a:t>
            </a:r>
            <a:endParaRPr lang="en-US" sz="1300" dirty="0"/>
          </a:p>
        </p:txBody>
      </p:sp>
      <p:sp>
        <p:nvSpPr>
          <p:cNvPr id="30" name="Voice commands card"/>
          <p:cNvSpPr/>
          <p:nvPr/>
        </p:nvSpPr>
        <p:spPr>
          <a:xfrm>
            <a:off x="8595360" y="4471416"/>
            <a:ext cx="2971800" cy="1417320"/>
          </a:xfrm>
          <a:prstGeom prst="roundRect">
            <a:avLst>
              <a:gd name="adj" fmla="val 7742"/>
            </a:avLst>
          </a:prstGeom>
          <a:solidFill>
            <a:schemeClr val="bg2"/>
          </a:solidFill>
          <a:ln w="12700">
            <a:solidFill>
              <a:schemeClr val="bg2"/>
            </a:solidFill>
            <a:prstDash val="solid"/>
          </a:ln>
        </p:spPr>
      </p:sp>
      <p:sp>
        <p:nvSpPr>
          <p:cNvPr id="31" name="Voice commands circle"/>
          <p:cNvSpPr/>
          <p:nvPr/>
        </p:nvSpPr>
        <p:spPr>
          <a:xfrm>
            <a:off x="8796528" y="4700016"/>
            <a:ext cx="658368" cy="658368"/>
          </a:xfrm>
          <a:prstGeom prst="ellipse">
            <a:avLst/>
          </a:prstGeom>
          <a:solidFill>
            <a:srgbClr val="D7263D"/>
          </a:solidFill>
          <a:ln w="12700">
            <a:solidFill>
              <a:srgbClr val="D7263D"/>
            </a:solidFill>
            <a:prstDash val="solid"/>
          </a:ln>
        </p:spPr>
      </p:sp>
      <p:pic>
        <p:nvPicPr>
          <p:cNvPr id="32" name="Voice commands icon" descr="preencoded.png">    </p:cNvPr>
          <p:cNvPicPr>
            <a:picLocks noChangeAspect="1"/>
          </p:cNvPicPr>
          <p:nvPr/>
        </p:nvPicPr>
        <p:blipFill>
          <a:blip r:embed="rId8"/>
          <a:stretch>
            <a:fillRect/>
          </a:stretch>
        </p:blipFill>
        <p:spPr>
          <a:xfrm>
            <a:off x="8954536" y="4858024"/>
            <a:ext cx="342351" cy="342351"/>
          </a:xfrm>
          <a:prstGeom prst="rect">
            <a:avLst/>
          </a:prstGeom>
        </p:spPr>
      </p:pic>
      <p:sp>
        <p:nvSpPr>
          <p:cNvPr id="33" name="Voice commands heading"/>
          <p:cNvSpPr txBox="1"/>
          <p:nvPr/>
        </p:nvSpPr>
        <p:spPr>
          <a:xfrm>
            <a:off x="9601200" y="4654296"/>
            <a:ext cx="1874520" cy="384048"/>
          </a:xfrm>
          <a:prstGeom prst="rect">
            <a:avLst/>
          </a:prstGeom>
          <a:noFill/>
          <a:ln/>
        </p:spPr>
        <p:txBody>
          <a:bodyPr wrap="square" lIns="0" tIns="0" rIns="0" bIns="0" rtlCol="0" anchor="ctr"/>
          <a:lstStyle/>
          <a:p>
            <a:pPr indent="0" marL="0">
              <a:buNone/>
            </a:pPr>
            <a:r>
              <a:rPr lang="en-US" sz="1600" b="1" dirty="0">
                <a:solidFill>
                  <a:schemeClr val="tx2"/>
                </a:solidFill>
              </a:rPr>
              <a:t>Voice commands</a:t>
            </a:r>
            <a:endParaRPr lang="en-US" sz="1600" dirty="0"/>
          </a:p>
        </p:txBody>
      </p:sp>
      <p:sp>
        <p:nvSpPr>
          <p:cNvPr id="34" name="Voice commands text"/>
          <p:cNvSpPr txBox="1"/>
          <p:nvPr/>
        </p:nvSpPr>
        <p:spPr>
          <a:xfrm>
            <a:off x="9601200" y="5038344"/>
            <a:ext cx="1874520" cy="731520"/>
          </a:xfrm>
          <a:prstGeom prst="rect">
            <a:avLst/>
          </a:prstGeom>
          <a:noFill/>
          <a:ln/>
        </p:spPr>
        <p:txBody>
          <a:bodyPr wrap="square" lIns="0" tIns="0" rIns="0" bIns="0" rtlCol="0" anchor="t"/>
          <a:lstStyle/>
          <a:p>
            <a:pPr indent="0" marL="0">
              <a:buNone/>
            </a:pPr>
            <a:r>
              <a:rPr lang="en-US" sz="1300" dirty="0">
                <a:solidFill>
                  <a:schemeClr val="tx1"/>
                </a:solidFill>
              </a:rPr>
              <a:t>"Glass, read text", "glass, stop" ...</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Six research questions</a:t>
            </a:r>
            <a:endParaRPr lang="en-US" sz="3000" dirty="0"/>
          </a:p>
        </p:txBody>
      </p:sp>
      <p:sp>
        <p:nvSpPr>
          <p:cNvPr id="3" name="RQ1"/>
          <p:cNvSpPr/>
          <p:nvPr/>
        </p:nvSpPr>
        <p:spPr>
          <a:xfrm>
            <a:off x="548640" y="1417320"/>
            <a:ext cx="3520440" cy="2011680"/>
          </a:xfrm>
          <a:prstGeom prst="roundRect">
            <a:avLst>
              <a:gd name="adj" fmla="val 5455"/>
            </a:avLst>
          </a:prstGeom>
          <a:solidFill>
            <a:schemeClr val="bg2"/>
          </a:solidFill>
          <a:ln w="12700">
            <a:solidFill>
              <a:schemeClr val="bg2"/>
            </a:solidFill>
            <a:prstDash val="solid"/>
          </a:ln>
        </p:spPr>
      </p:sp>
      <p:sp>
        <p:nvSpPr>
          <p:cNvPr id="4" name="RQ1 number"/>
          <p:cNvSpPr txBox="1"/>
          <p:nvPr/>
        </p:nvSpPr>
        <p:spPr>
          <a:xfrm>
            <a:off x="777240" y="164592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RQ1 heading"/>
          <p:cNvSpPr txBox="1"/>
          <p:nvPr/>
        </p:nvSpPr>
        <p:spPr>
          <a:xfrm>
            <a:off x="1463040" y="1691640"/>
            <a:ext cx="246888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System</a:t>
            </a:r>
            <a:endParaRPr lang="en-US" sz="1900" dirty="0"/>
          </a:p>
        </p:txBody>
      </p:sp>
      <p:sp>
        <p:nvSpPr>
          <p:cNvPr id="6" name="RQ1 text"/>
          <p:cNvSpPr txBox="1"/>
          <p:nvPr/>
        </p:nvSpPr>
        <p:spPr>
          <a:xfrm>
            <a:off x="777240" y="2331720"/>
            <a:ext cx="3108960" cy="960120"/>
          </a:xfrm>
          <a:prstGeom prst="rect">
            <a:avLst/>
          </a:prstGeom>
          <a:noFill/>
          <a:ln/>
        </p:spPr>
        <p:txBody>
          <a:bodyPr wrap="square" lIns="0" tIns="0" rIns="0" bIns="0" rtlCol="0" anchor="t"/>
          <a:lstStyle/>
          <a:p>
            <a:pPr indent="0" marL="0">
              <a:buNone/>
            </a:pPr>
            <a:r>
              <a:rPr lang="en-US" sz="1500" dirty="0">
                <a:solidFill>
                  <a:schemeClr val="tx1"/>
                </a:solidFill>
              </a:rPr>
              <a:t>Can a multi-function Bangla glass run on a Raspberry Pi 5, and how fast?</a:t>
            </a:r>
            <a:endParaRPr lang="en-US" sz="1500" dirty="0"/>
          </a:p>
        </p:txBody>
      </p:sp>
      <p:sp>
        <p:nvSpPr>
          <p:cNvPr id="7" name="RQ2"/>
          <p:cNvSpPr/>
          <p:nvPr/>
        </p:nvSpPr>
        <p:spPr>
          <a:xfrm>
            <a:off x="4297680" y="1417320"/>
            <a:ext cx="3520440" cy="2011680"/>
          </a:xfrm>
          <a:prstGeom prst="roundRect">
            <a:avLst>
              <a:gd name="adj" fmla="val 5455"/>
            </a:avLst>
          </a:prstGeom>
          <a:solidFill>
            <a:schemeClr val="bg2"/>
          </a:solidFill>
          <a:ln w="12700">
            <a:solidFill>
              <a:schemeClr val="bg2"/>
            </a:solidFill>
            <a:prstDash val="solid"/>
          </a:ln>
        </p:spPr>
      </p:sp>
      <p:sp>
        <p:nvSpPr>
          <p:cNvPr id="8" name="RQ2 number"/>
          <p:cNvSpPr txBox="1"/>
          <p:nvPr/>
        </p:nvSpPr>
        <p:spPr>
          <a:xfrm>
            <a:off x="4526280" y="164592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RQ2 heading"/>
          <p:cNvSpPr txBox="1"/>
          <p:nvPr/>
        </p:nvSpPr>
        <p:spPr>
          <a:xfrm>
            <a:off x="5212080" y="1691640"/>
            <a:ext cx="246888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Synthetic data</a:t>
            </a:r>
            <a:endParaRPr lang="en-US" sz="1900" dirty="0"/>
          </a:p>
        </p:txBody>
      </p:sp>
      <p:sp>
        <p:nvSpPr>
          <p:cNvPr id="10" name="RQ2 text"/>
          <p:cNvSpPr txBox="1"/>
          <p:nvPr/>
        </p:nvSpPr>
        <p:spPr>
          <a:xfrm>
            <a:off x="4526280" y="2331720"/>
            <a:ext cx="3108960" cy="960120"/>
          </a:xfrm>
          <a:prstGeom prst="rect">
            <a:avLst/>
          </a:prstGeom>
          <a:noFill/>
          <a:ln/>
        </p:spPr>
        <p:txBody>
          <a:bodyPr wrap="square" lIns="0" tIns="0" rIns="0" bIns="0" rtlCol="0" anchor="t"/>
          <a:lstStyle/>
          <a:p>
            <a:pPr indent="0" marL="0">
              <a:buNone/>
            </a:pPr>
            <a:r>
              <a:rPr lang="en-US" sz="1500" dirty="0">
                <a:solidFill>
                  <a:schemeClr val="tx1"/>
                </a:solidFill>
              </a:rPr>
              <a:t>Can a Taka detector trained without hand labels work on real, hand-held photos?</a:t>
            </a:r>
            <a:endParaRPr lang="en-US" sz="1500" dirty="0"/>
          </a:p>
        </p:txBody>
      </p:sp>
      <p:sp>
        <p:nvSpPr>
          <p:cNvPr id="11" name="RQ3"/>
          <p:cNvSpPr/>
          <p:nvPr/>
        </p:nvSpPr>
        <p:spPr>
          <a:xfrm>
            <a:off x="8046720" y="1417320"/>
            <a:ext cx="3520440" cy="2011680"/>
          </a:xfrm>
          <a:prstGeom prst="roundRect">
            <a:avLst>
              <a:gd name="adj" fmla="val 5455"/>
            </a:avLst>
          </a:prstGeom>
          <a:solidFill>
            <a:schemeClr val="bg2"/>
          </a:solidFill>
          <a:ln w="12700">
            <a:solidFill>
              <a:schemeClr val="bg2"/>
            </a:solidFill>
            <a:prstDash val="solid"/>
          </a:ln>
        </p:spPr>
      </p:sp>
      <p:sp>
        <p:nvSpPr>
          <p:cNvPr id="12" name="RQ3 number"/>
          <p:cNvSpPr txBox="1"/>
          <p:nvPr/>
        </p:nvSpPr>
        <p:spPr>
          <a:xfrm>
            <a:off x="8275320" y="164592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RQ3 heading"/>
          <p:cNvSpPr txBox="1"/>
          <p:nvPr/>
        </p:nvSpPr>
        <p:spPr>
          <a:xfrm>
            <a:off x="8961120" y="1691640"/>
            <a:ext cx="246888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Number of views</a:t>
            </a:r>
            <a:endParaRPr lang="en-US" sz="1900" dirty="0"/>
          </a:p>
        </p:txBody>
      </p:sp>
      <p:sp>
        <p:nvSpPr>
          <p:cNvPr id="14" name="RQ3 text"/>
          <p:cNvSpPr txBox="1"/>
          <p:nvPr/>
        </p:nvSpPr>
        <p:spPr>
          <a:xfrm>
            <a:off x="8275320" y="2331720"/>
            <a:ext cx="3108960" cy="960120"/>
          </a:xfrm>
          <a:prstGeom prst="rect">
            <a:avLst/>
          </a:prstGeom>
          <a:noFill/>
          <a:ln/>
        </p:spPr>
        <p:txBody>
          <a:bodyPr wrap="square" lIns="0" tIns="0" rIns="0" bIns="0" rtlCol="0" anchor="t"/>
          <a:lstStyle/>
          <a:p>
            <a:pPr indent="0" marL="0">
              <a:buNone/>
            </a:pPr>
            <a:r>
              <a:rPr lang="en-US" sz="1500" dirty="0">
                <a:solidFill>
                  <a:schemeClr val="tx1"/>
                </a:solidFill>
              </a:rPr>
              <a:t>Why do multi-view counterfeit models fail with fewer views, and can training fix it?</a:t>
            </a:r>
            <a:endParaRPr lang="en-US" sz="1500" dirty="0"/>
          </a:p>
        </p:txBody>
      </p:sp>
      <p:sp>
        <p:nvSpPr>
          <p:cNvPr id="15" name="RQ4"/>
          <p:cNvSpPr/>
          <p:nvPr/>
        </p:nvSpPr>
        <p:spPr>
          <a:xfrm>
            <a:off x="548640" y="3657600"/>
            <a:ext cx="3520440" cy="2011680"/>
          </a:xfrm>
          <a:prstGeom prst="roundRect">
            <a:avLst>
              <a:gd name="adj" fmla="val 5455"/>
            </a:avLst>
          </a:prstGeom>
          <a:solidFill>
            <a:schemeClr val="bg2"/>
          </a:solidFill>
          <a:ln w="12700">
            <a:solidFill>
              <a:schemeClr val="bg2"/>
            </a:solidFill>
            <a:prstDash val="solid"/>
          </a:ln>
        </p:spPr>
      </p:sp>
      <p:sp>
        <p:nvSpPr>
          <p:cNvPr id="16" name="RQ4 number"/>
          <p:cNvSpPr txBox="1"/>
          <p:nvPr/>
        </p:nvSpPr>
        <p:spPr>
          <a:xfrm>
            <a:off x="777240" y="388620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RQ4 heading"/>
          <p:cNvSpPr txBox="1"/>
          <p:nvPr/>
        </p:nvSpPr>
        <p:spPr>
          <a:xfrm>
            <a:off x="1463040" y="3931920"/>
            <a:ext cx="246888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Unseen prints</a:t>
            </a:r>
            <a:endParaRPr lang="en-US" sz="1900" dirty="0"/>
          </a:p>
        </p:txBody>
      </p:sp>
      <p:sp>
        <p:nvSpPr>
          <p:cNvPr id="18" name="RQ4 text"/>
          <p:cNvSpPr txBox="1"/>
          <p:nvPr/>
        </p:nvSpPr>
        <p:spPr>
          <a:xfrm>
            <a:off x="777240" y="4572000"/>
            <a:ext cx="3108960" cy="960120"/>
          </a:xfrm>
          <a:prstGeom prst="rect">
            <a:avLst/>
          </a:prstGeom>
          <a:noFill/>
          <a:ln/>
        </p:spPr>
        <p:txBody>
          <a:bodyPr wrap="square" lIns="0" tIns="0" rIns="0" bIns="0" rtlCol="0" anchor="t"/>
          <a:lstStyle/>
          <a:p>
            <a:pPr indent="0" marL="0">
              <a:buNone/>
            </a:pPr>
            <a:r>
              <a:rPr lang="en-US" sz="1500" dirty="0">
                <a:solidFill>
                  <a:schemeClr val="tx1"/>
                </a:solidFill>
              </a:rPr>
              <a:t>How much does accuracy drop on counterfeit prints never seen in training?</a:t>
            </a:r>
            <a:endParaRPr lang="en-US" sz="1500" dirty="0"/>
          </a:p>
        </p:txBody>
      </p:sp>
      <p:sp>
        <p:nvSpPr>
          <p:cNvPr id="19" name="RQ5"/>
          <p:cNvSpPr/>
          <p:nvPr/>
        </p:nvSpPr>
        <p:spPr>
          <a:xfrm>
            <a:off x="4297680" y="3657600"/>
            <a:ext cx="3520440" cy="2011680"/>
          </a:xfrm>
          <a:prstGeom prst="roundRect">
            <a:avLst>
              <a:gd name="adj" fmla="val 5455"/>
            </a:avLst>
          </a:prstGeom>
          <a:solidFill>
            <a:schemeClr val="bg2"/>
          </a:solidFill>
          <a:ln w="12700">
            <a:solidFill>
              <a:schemeClr val="bg2"/>
            </a:solidFill>
            <a:prstDash val="solid"/>
          </a:ln>
        </p:spPr>
      </p:sp>
      <p:sp>
        <p:nvSpPr>
          <p:cNvPr id="20" name="RQ5 number"/>
          <p:cNvSpPr txBox="1"/>
          <p:nvPr/>
        </p:nvSpPr>
        <p:spPr>
          <a:xfrm>
            <a:off x="4526280" y="388620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RQ5 heading"/>
          <p:cNvSpPr txBox="1"/>
          <p:nvPr/>
        </p:nvSpPr>
        <p:spPr>
          <a:xfrm>
            <a:off x="5212080" y="3931920"/>
            <a:ext cx="246888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Safety</a:t>
            </a:r>
            <a:endParaRPr lang="en-US" sz="1900" dirty="0"/>
          </a:p>
        </p:txBody>
      </p:sp>
      <p:sp>
        <p:nvSpPr>
          <p:cNvPr id="22" name="RQ5 text"/>
          <p:cNvSpPr txBox="1"/>
          <p:nvPr/>
        </p:nvSpPr>
        <p:spPr>
          <a:xfrm>
            <a:off x="4526280" y="4572000"/>
            <a:ext cx="3108960" cy="960120"/>
          </a:xfrm>
          <a:prstGeom prst="rect">
            <a:avLst/>
          </a:prstGeom>
          <a:noFill/>
          <a:ln/>
        </p:spPr>
        <p:txBody>
          <a:bodyPr wrap="square" lIns="0" tIns="0" rIns="0" bIns="0" rtlCol="0" anchor="t"/>
          <a:lstStyle/>
          <a:p>
            <a:pPr indent="0" marL="0">
              <a:buNone/>
            </a:pPr>
            <a:r>
              <a:rPr lang="en-US" sz="1500" dirty="0">
                <a:solidFill>
                  <a:schemeClr val="tx1"/>
                </a:solidFill>
              </a:rPr>
              <a:t>Can the glass give counterfeit advice that never accuses a genuine note?</a:t>
            </a:r>
            <a:endParaRPr lang="en-US" sz="1500" dirty="0"/>
          </a:p>
        </p:txBody>
      </p:sp>
      <p:sp>
        <p:nvSpPr>
          <p:cNvPr id="23" name="RQ6"/>
          <p:cNvSpPr/>
          <p:nvPr/>
        </p:nvSpPr>
        <p:spPr>
          <a:xfrm>
            <a:off x="8046720" y="3657600"/>
            <a:ext cx="3520440" cy="2011680"/>
          </a:xfrm>
          <a:prstGeom prst="roundRect">
            <a:avLst>
              <a:gd name="adj" fmla="val 5455"/>
            </a:avLst>
          </a:prstGeom>
          <a:solidFill>
            <a:schemeClr val="bg2"/>
          </a:solidFill>
          <a:ln w="12700">
            <a:solidFill>
              <a:schemeClr val="bg2"/>
            </a:solidFill>
            <a:prstDash val="solid"/>
          </a:ln>
        </p:spPr>
      </p:sp>
      <p:sp>
        <p:nvSpPr>
          <p:cNvPr id="24" name="RQ6 number"/>
          <p:cNvSpPr txBox="1"/>
          <p:nvPr/>
        </p:nvSpPr>
        <p:spPr>
          <a:xfrm>
            <a:off x="8275320" y="388620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5" name="RQ6 heading"/>
          <p:cNvSpPr txBox="1"/>
          <p:nvPr/>
        </p:nvSpPr>
        <p:spPr>
          <a:xfrm>
            <a:off x="8961120" y="3931920"/>
            <a:ext cx="246888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Bangla OCR</a:t>
            </a:r>
            <a:endParaRPr lang="en-US" sz="1900" dirty="0"/>
          </a:p>
        </p:txBody>
      </p:sp>
      <p:sp>
        <p:nvSpPr>
          <p:cNvPr id="26" name="RQ6 text"/>
          <p:cNvSpPr txBox="1"/>
          <p:nvPr/>
        </p:nvSpPr>
        <p:spPr>
          <a:xfrm>
            <a:off x="8275320" y="4572000"/>
            <a:ext cx="3108960" cy="960120"/>
          </a:xfrm>
          <a:prstGeom prst="rect">
            <a:avLst/>
          </a:prstGeom>
          <a:noFill/>
          <a:ln/>
        </p:spPr>
        <p:txBody>
          <a:bodyPr wrap="square" lIns="0" tIns="0" rIns="0" bIns="0" rtlCol="0" anchor="t"/>
          <a:lstStyle/>
          <a:p>
            <a:pPr indent="0" marL="0">
              <a:buNone/>
            </a:pPr>
            <a:r>
              <a:rPr lang="en-US" sz="1500" dirty="0">
                <a:solidFill>
                  <a:schemeClr val="tx1"/>
                </a:solidFill>
              </a:rPr>
              <a:t>Which part of a Bangla OCR pipeline matters most for a wearable camera?</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existing devices miss</a:t>
            </a:r>
            <a:endParaRPr lang="en-US" sz="3000" dirty="0"/>
          </a:p>
        </p:txBody>
      </p:sp>
      <p:pic>
        <p:nvPicPr>
          <p:cNvPr id="3" name="OrCam MyEye [2]" descr="E:/Final SP/Thesis Report and paper/thesis report/My report/DIagram fig tab/dev_orcam.jpg">    </p:cNvPr>
          <p:cNvPicPr>
            <a:picLocks noChangeAspect="1"/>
          </p:cNvPicPr>
          <p:nvPr/>
        </p:nvPicPr>
        <p:blipFill>
          <a:blip r:embed="rId1"/>
          <a:srcRect l="0" r="0" t="0" b="0"/>
          <a:stretch/>
        </p:blipFill>
        <p:spPr>
          <a:xfrm>
            <a:off x="548640" y="1325880"/>
            <a:ext cx="2103120" cy="1371600"/>
          </a:xfrm>
          <a:prstGeom prst="rect">
            <a:avLst/>
          </a:prstGeom>
        </p:spPr>
      </p:pic>
      <p:sp>
        <p:nvSpPr>
          <p:cNvPr id="4" name="Caption 1"/>
          <p:cNvSpPr txBox="1"/>
          <p:nvPr/>
        </p:nvSpPr>
        <p:spPr>
          <a:xfrm>
            <a:off x="548640" y="2743200"/>
            <a:ext cx="2103120" cy="320040"/>
          </a:xfrm>
          <a:prstGeom prst="rect">
            <a:avLst/>
          </a:prstGeom>
          <a:noFill/>
          <a:ln/>
        </p:spPr>
        <p:txBody>
          <a:bodyPr wrap="square" lIns="0" tIns="0" rIns="0" bIns="0" rtlCol="0" anchor="ctr"/>
          <a:lstStyle/>
          <a:p>
            <a:pPr algn="ctr" indent="0" marL="0">
              <a:buNone/>
            </a:pPr>
            <a:r>
              <a:rPr lang="en-US" sz="1200" dirty="0">
                <a:solidFill>
                  <a:schemeClr val="accent5"/>
                </a:solidFill>
              </a:rPr>
              <a:t>OrCam MyEye [2]</a:t>
            </a:r>
            <a:endParaRPr lang="en-US" sz="1200" dirty="0"/>
          </a:p>
        </p:txBody>
      </p:sp>
      <p:pic>
        <p:nvPicPr>
          <p:cNvPr id="5" name="Google Glass analysis [3]" descr="E:/Final SP/Thesis Report and paper/thesis report/My report/DIagram fig tab/dev_googleglass.jpg">    </p:cNvPr>
          <p:cNvPicPr>
            <a:picLocks noChangeAspect="1"/>
          </p:cNvPicPr>
          <p:nvPr/>
        </p:nvPicPr>
        <p:blipFill>
          <a:blip r:embed="rId2"/>
          <a:srcRect l="0" r="0" t="0" b="0"/>
          <a:stretch/>
        </p:blipFill>
        <p:spPr>
          <a:xfrm>
            <a:off x="2788920" y="1325880"/>
            <a:ext cx="2103120" cy="1371600"/>
          </a:xfrm>
          <a:prstGeom prst="rect">
            <a:avLst/>
          </a:prstGeom>
        </p:spPr>
      </p:pic>
      <p:sp>
        <p:nvSpPr>
          <p:cNvPr id="6" name="Caption 2"/>
          <p:cNvSpPr txBox="1"/>
          <p:nvPr/>
        </p:nvSpPr>
        <p:spPr>
          <a:xfrm>
            <a:off x="2788920" y="2743200"/>
            <a:ext cx="2103120" cy="320040"/>
          </a:xfrm>
          <a:prstGeom prst="rect">
            <a:avLst/>
          </a:prstGeom>
          <a:noFill/>
          <a:ln/>
        </p:spPr>
        <p:txBody>
          <a:bodyPr wrap="square" lIns="0" tIns="0" rIns="0" bIns="0" rtlCol="0" anchor="ctr"/>
          <a:lstStyle/>
          <a:p>
            <a:pPr algn="ctr" indent="0" marL="0">
              <a:buNone/>
            </a:pPr>
            <a:r>
              <a:rPr lang="en-US" sz="1200" dirty="0">
                <a:solidFill>
                  <a:schemeClr val="accent5"/>
                </a:solidFill>
              </a:rPr>
              <a:t>Google Glass analysis [3]</a:t>
            </a:r>
            <a:endParaRPr lang="en-US" sz="1200" dirty="0"/>
          </a:p>
        </p:txBody>
      </p:sp>
      <p:pic>
        <p:nvPicPr>
          <p:cNvPr id="7" name="AIris [4]" descr="E:/Final SP/Thesis Report and paper/thesis report/My report/DIagram fig tab/dev_airis.jpg">    </p:cNvPr>
          <p:cNvPicPr>
            <a:picLocks noChangeAspect="1"/>
          </p:cNvPicPr>
          <p:nvPr/>
        </p:nvPicPr>
        <p:blipFill>
          <a:blip r:embed="rId3"/>
          <a:srcRect l="0" r="0" t="0" b="0"/>
          <a:stretch/>
        </p:blipFill>
        <p:spPr>
          <a:xfrm>
            <a:off x="5029200" y="1325880"/>
            <a:ext cx="2103120" cy="1371600"/>
          </a:xfrm>
          <a:prstGeom prst="rect">
            <a:avLst/>
          </a:prstGeom>
        </p:spPr>
      </p:pic>
      <p:sp>
        <p:nvSpPr>
          <p:cNvPr id="8" name="Caption 3"/>
          <p:cNvSpPr txBox="1"/>
          <p:nvPr/>
        </p:nvSpPr>
        <p:spPr>
          <a:xfrm>
            <a:off x="5029200" y="2743200"/>
            <a:ext cx="2103120" cy="320040"/>
          </a:xfrm>
          <a:prstGeom prst="rect">
            <a:avLst/>
          </a:prstGeom>
          <a:noFill/>
          <a:ln/>
        </p:spPr>
        <p:txBody>
          <a:bodyPr wrap="square" lIns="0" tIns="0" rIns="0" bIns="0" rtlCol="0" anchor="ctr"/>
          <a:lstStyle/>
          <a:p>
            <a:pPr algn="ctr" indent="0" marL="0">
              <a:buNone/>
            </a:pPr>
            <a:r>
              <a:rPr lang="en-US" sz="1200" dirty="0">
                <a:solidFill>
                  <a:schemeClr val="accent5"/>
                </a:solidFill>
              </a:rPr>
              <a:t>AIris [4]</a:t>
            </a:r>
            <a:endParaRPr lang="en-US" sz="12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2651760"/>
                <a:gridCol w="1005840"/>
                <a:gridCol w="1005840"/>
                <a:gridCol w="1005840"/>
                <a:gridCol w="1005840"/>
              </a:tblGrid>
              <a:tr h="384048">
                <a:tc>
                  <a:txBody>
                    <a:bodyPr/>
                    <a:lstStyle/>
                    <a:p>
                      <a:pPr algn="ctr" indent="0" marL="0">
                        <a:buNone/>
                      </a:pPr>
                      <a:r>
                        <a:rPr lang="en-US" sz="1300" b="1" dirty="0">
                          <a:solidFill>
                            <a:srgbClr val="FFFFFF"/>
                          </a:solidFill>
                        </a:rPr>
                        <a:t>System</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300" b="1" dirty="0">
                          <a:solidFill>
                            <a:srgbClr val="FFFFFF"/>
                          </a:solidFill>
                        </a:rPr>
                        <a:t>Reads Bangla</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300" b="1" dirty="0">
                          <a:solidFill>
                            <a:srgbClr val="FFFFFF"/>
                          </a:solidFill>
                        </a:rPr>
                        <a:t>Knows Taka</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300" b="1" dirty="0">
                          <a:solidFill>
                            <a:srgbClr val="FFFFFF"/>
                          </a:solidFill>
                        </a:rPr>
                        <a:t>Works offline</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300" b="1" dirty="0">
                          <a:solidFill>
                            <a:srgbClr val="FFFFFF"/>
                          </a:solidFill>
                        </a:rPr>
                        <a:t>Wearable</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r>
              <a:tr h="384048">
                <a:tc>
                  <a:txBody>
                    <a:bodyPr/>
                    <a:lstStyle/>
                    <a:p>
                      <a:pPr indent="0" marL="0">
                        <a:buNone/>
                      </a:pPr>
                      <a:r>
                        <a:rPr lang="en-US" sz="1300" dirty="0">
                          <a:solidFill>
                            <a:srgbClr val="1C2321"/>
                          </a:solidFill>
                        </a:rPr>
                        <a:t>OrCam MyEye [2]</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84048">
                <a:tc>
                  <a:txBody>
                    <a:bodyPr/>
                    <a:lstStyle/>
                    <a:p>
                      <a:pPr indent="0" marL="0">
                        <a:buNone/>
                      </a:pPr>
                      <a:r>
                        <a:rPr lang="en-US" sz="1300" dirty="0">
                          <a:solidFill>
                            <a:srgbClr val="1C2321"/>
                          </a:solidFill>
                        </a:rPr>
                        <a:t>Google Glass scene analysis [3]</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84048">
                <a:tc>
                  <a:txBody>
                    <a:bodyPr/>
                    <a:lstStyle/>
                    <a:p>
                      <a:pPr indent="0" marL="0">
                        <a:buNone/>
                      </a:pPr>
                      <a:r>
                        <a:rPr lang="en-US" sz="1300" dirty="0">
                          <a:solidFill>
                            <a:srgbClr val="1C2321"/>
                          </a:solidFill>
                        </a:rPr>
                        <a:t>AIris (2024) [4]</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84048">
                <a:tc>
                  <a:txBody>
                    <a:bodyPr/>
                    <a:lstStyle/>
                    <a:p>
                      <a:pPr indent="0" marL="0">
                        <a:buNone/>
                      </a:pPr>
                      <a:r>
                        <a:rPr lang="en-US" sz="1300" dirty="0">
                          <a:solidFill>
                            <a:srgbClr val="1C2321"/>
                          </a:solidFill>
                        </a:rPr>
                        <a:t>Raspberry Pi reading aids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D7263D"/>
                          </a:solidFill>
                        </a:rPr>
                        <a:t>No</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5E6B66"/>
                          </a:solidFill>
                        </a:rPr>
                        <a:t>Partly</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300" dirty="0">
                          <a:solidFill>
                            <a:srgbClr val="5E6B66"/>
                          </a:solidFill>
                        </a:rPr>
                        <a:t>Partly</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84048">
                <a:tc>
                  <a:txBody>
                    <a:bodyPr/>
                    <a:lstStyle/>
                    <a:p>
                      <a:pPr indent="0" marL="0">
                        <a:buNone/>
                      </a:pPr>
                      <a:r>
                        <a:rPr lang="en-US" sz="1300" b="1" dirty="0">
                          <a:solidFill>
                            <a:srgbClr val="1C2321"/>
                          </a:solidFill>
                        </a:rPr>
                        <a:t>SARA (ours)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300" b="1" dirty="0">
                          <a:solidFill>
                            <a:srgbClr val="006A4E"/>
                          </a:solidFill>
                        </a:rPr>
                        <a:t>Yes</a:t>
                      </a:r>
                      <a:endParaRPr lang="en-US" sz="1300" dirty="0"/>
                    </a:p>
                  </a:txBody>
                  <a:tcPr marL="91440" marR="91440" marT="45720" marB="45720">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r>
            </a:tbl>
          </a:graphicData>
        </a:graphic>
      </p:graphicFrame>
      <p:sp>
        <p:nvSpPr>
          <p:cNvPr id="10" name="Gap card"/>
          <p:cNvSpPr/>
          <p:nvPr/>
        </p:nvSpPr>
        <p:spPr>
          <a:xfrm>
            <a:off x="7589520" y="1325880"/>
            <a:ext cx="4023360" cy="4480560"/>
          </a:xfrm>
          <a:prstGeom prst="roundRect">
            <a:avLst>
              <a:gd name="adj" fmla="val 2727"/>
            </a:avLst>
          </a:prstGeom>
          <a:solidFill>
            <a:schemeClr val="tx2"/>
          </a:solidFill>
          <a:ln w="12700">
            <a:solidFill>
              <a:schemeClr val="tx2"/>
            </a:solidFill>
            <a:prstDash val="solid"/>
          </a:ln>
        </p:spPr>
      </p:sp>
      <p:sp>
        <p:nvSpPr>
          <p:cNvPr id="11" name="Gap heading"/>
          <p:cNvSpPr txBox="1"/>
          <p:nvPr/>
        </p:nvSpPr>
        <p:spPr>
          <a:xfrm>
            <a:off x="7863840" y="1600200"/>
            <a:ext cx="347472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gap</a:t>
            </a:r>
            <a:endParaRPr lang="en-US" sz="2400" dirty="0"/>
          </a:p>
        </p:txBody>
      </p:sp>
      <p:sp>
        <p:nvSpPr>
          <p:cNvPr id="12" name="Gap list"/>
          <p:cNvSpPr txBox="1"/>
          <p:nvPr/>
        </p:nvSpPr>
        <p:spPr>
          <a:xfrm>
            <a:off x="7863840" y="2194560"/>
            <a:ext cx="352044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4EFEA"/>
                </a:solidFill>
              </a:rPr>
              <a:t>No device combines Bangla, Taka and offline use.</a:t>
            </a:r>
            <a:endParaRPr lang="en-US" sz="1600" dirty="0"/>
          </a:p>
          <a:p>
            <a:pPr marL="342900" indent="-342900">
              <a:spcAft>
                <a:spcPts val="1000"/>
              </a:spcAft>
              <a:buSzPct val="100000"/>
              <a:buChar char="•"/>
            </a:pPr>
            <a:r>
              <a:rPr lang="en-US" sz="1600" dirty="0">
                <a:solidFill>
                  <a:srgbClr val="E4EFEA"/>
                </a:solidFill>
              </a:rPr>
              <a:t>Counterfeit studies never check whether test notes are copies of prints seen in training.</a:t>
            </a:r>
            <a:endParaRPr lang="en-US" sz="1600" dirty="0"/>
          </a:p>
          <a:p>
            <a:pPr marL="342900" indent="-342900">
              <a:spcAft>
                <a:spcPts val="1000"/>
              </a:spcAft>
              <a:buSzPct val="100000"/>
              <a:buChar char="•"/>
            </a:pPr>
            <a:r>
              <a:rPr lang="en-US" sz="1600" dirty="0">
                <a:solidFill>
                  <a:srgbClr val="E4EFEA"/>
                </a:solidFill>
              </a:rPr>
              <a:t>Few prototypes report accuracy per feature or speed on the real device.</a:t>
            </a:r>
            <a:endParaRPr lang="en-US" sz="1600" dirty="0"/>
          </a:p>
        </p:txBody>
      </p:sp>
      <p:sp>
        <p:nvSpPr>
          <p:cNvPr id="13"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Photos: OrCam MyEye by Ylip, CC BY-SA 4.0; Google Glass by Ted Eytan, CC BY-SA 2.0 (Wikimedia Commons); AIris from [4]. Comparison from [2, 3, 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the glass works</a:t>
            </a:r>
            <a:endParaRPr lang="en-US" sz="3000" dirty="0"/>
          </a:p>
        </p:txBody>
      </p:sp>
      <p:sp>
        <p:nvSpPr>
          <p:cNvPr id="3" name="Camera circle"/>
          <p:cNvSpPr/>
          <p:nvPr/>
        </p:nvSpPr>
        <p:spPr>
          <a:xfrm>
            <a:off x="731520" y="1828800"/>
            <a:ext cx="914400" cy="914400"/>
          </a:xfrm>
          <a:prstGeom prst="ellipse">
            <a:avLst/>
          </a:prstGeom>
          <a:solidFill>
            <a:srgbClr val="006A4E"/>
          </a:solidFill>
          <a:ln w="12700">
            <a:solidFill>
              <a:srgbClr val="006A4E"/>
            </a:solidFill>
            <a:prstDash val="solid"/>
          </a:ln>
        </p:spPr>
      </p:sp>
      <p:pic>
        <p:nvPicPr>
          <p:cNvPr id="4" name="Camera icon" descr="preencoded.png">    </p:cNvPr>
          <p:cNvPicPr>
            <a:picLocks noChangeAspect="1"/>
          </p:cNvPicPr>
          <p:nvPr/>
        </p:nvPicPr>
        <p:blipFill>
          <a:blip r:embed="rId1"/>
          <a:stretch>
            <a:fillRect/>
          </a:stretch>
        </p:blipFill>
        <p:spPr>
          <a:xfrm>
            <a:off x="950976" y="2048256"/>
            <a:ext cx="475488" cy="475488"/>
          </a:xfrm>
          <a:prstGeom prst="rect">
            <a:avLst/>
          </a:prstGeom>
        </p:spPr>
      </p:pic>
      <p:sp>
        <p:nvSpPr>
          <p:cNvPr id="5" name="Camera label"/>
          <p:cNvSpPr txBox="1"/>
          <p:nvPr/>
        </p:nvSpPr>
        <p:spPr>
          <a:xfrm>
            <a:off x="411480" y="2788920"/>
            <a:ext cx="1554480" cy="320040"/>
          </a:xfrm>
          <a:prstGeom prst="rect">
            <a:avLst/>
          </a:prstGeom>
          <a:noFill/>
          <a:ln/>
        </p:spPr>
        <p:txBody>
          <a:bodyPr wrap="square" lIns="0" tIns="0" rIns="0" bIns="0" rtlCol="0" anchor="ctr"/>
          <a:lstStyle/>
          <a:p>
            <a:pPr algn="ctr" indent="0" marL="0">
              <a:buNone/>
            </a:pPr>
            <a:r>
              <a:rPr lang="en-US" sz="1300" dirty="0">
                <a:solidFill>
                  <a:schemeClr val="tx1"/>
                </a:solidFill>
              </a:rPr>
              <a:t>Camera 640×480</a:t>
            </a:r>
            <a:endParaRPr lang="en-US" sz="1300" dirty="0"/>
          </a:p>
        </p:txBody>
      </p:sp>
      <p:sp>
        <p:nvSpPr>
          <p:cNvPr id="6" name="Buttons circle"/>
          <p:cNvSpPr/>
          <p:nvPr/>
        </p:nvSpPr>
        <p:spPr>
          <a:xfrm>
            <a:off x="731520" y="3429000"/>
            <a:ext cx="914400" cy="914400"/>
          </a:xfrm>
          <a:prstGeom prst="ellipse">
            <a:avLst/>
          </a:prstGeom>
          <a:solidFill>
            <a:srgbClr val="3A8F72"/>
          </a:solidFill>
          <a:ln w="12700">
            <a:solidFill>
              <a:srgbClr val="3A8F72"/>
            </a:solidFill>
            <a:prstDash val="solid"/>
          </a:ln>
        </p:spPr>
      </p:sp>
      <p:pic>
        <p:nvPicPr>
          <p:cNvPr id="7" name="Buttons icon" descr="preencoded.png">    </p:cNvPr>
          <p:cNvPicPr>
            <a:picLocks noChangeAspect="1"/>
          </p:cNvPicPr>
          <p:nvPr/>
        </p:nvPicPr>
        <p:blipFill>
          <a:blip r:embed="rId2"/>
          <a:stretch>
            <a:fillRect/>
          </a:stretch>
        </p:blipFill>
        <p:spPr>
          <a:xfrm>
            <a:off x="950976" y="3648456"/>
            <a:ext cx="475488" cy="475488"/>
          </a:xfrm>
          <a:prstGeom prst="rect">
            <a:avLst/>
          </a:prstGeom>
        </p:spPr>
      </p:pic>
      <p:sp>
        <p:nvSpPr>
          <p:cNvPr id="8" name="Buttons label"/>
          <p:cNvSpPr txBox="1"/>
          <p:nvPr/>
        </p:nvSpPr>
        <p:spPr>
          <a:xfrm>
            <a:off x="411480" y="4389120"/>
            <a:ext cx="1554480" cy="320040"/>
          </a:xfrm>
          <a:prstGeom prst="rect">
            <a:avLst/>
          </a:prstGeom>
          <a:noFill/>
          <a:ln/>
        </p:spPr>
        <p:txBody>
          <a:bodyPr wrap="square" lIns="0" tIns="0" rIns="0" bIns="0" rtlCol="0" anchor="ctr"/>
          <a:lstStyle/>
          <a:p>
            <a:pPr algn="ctr" indent="0" marL="0">
              <a:buNone/>
            </a:pPr>
            <a:r>
              <a:rPr lang="en-US" sz="1300" dirty="0">
                <a:solidFill>
                  <a:schemeClr val="tx1"/>
                </a:solidFill>
              </a:rPr>
              <a:t>5 buttons</a:t>
            </a:r>
            <a:endParaRPr lang="en-US" sz="1300" dirty="0"/>
          </a:p>
        </p:txBody>
      </p:sp>
      <p:sp>
        <p:nvSpPr>
          <p:cNvPr id="9" name="Microphone circle"/>
          <p:cNvSpPr/>
          <p:nvPr/>
        </p:nvSpPr>
        <p:spPr>
          <a:xfrm>
            <a:off x="731520" y="4892040"/>
            <a:ext cx="777240" cy="777240"/>
          </a:xfrm>
          <a:prstGeom prst="ellipse">
            <a:avLst/>
          </a:prstGeom>
          <a:solidFill>
            <a:srgbClr val="D7263D"/>
          </a:solidFill>
          <a:ln w="12700">
            <a:solidFill>
              <a:srgbClr val="D7263D"/>
            </a:solidFill>
            <a:prstDash val="solid"/>
          </a:ln>
        </p:spPr>
      </p:sp>
      <p:pic>
        <p:nvPicPr>
          <p:cNvPr id="10" name="Microphone icon" descr="preencoded.png">    </p:cNvPr>
          <p:cNvPicPr>
            <a:picLocks noChangeAspect="1"/>
          </p:cNvPicPr>
          <p:nvPr/>
        </p:nvPicPr>
        <p:blipFill>
          <a:blip r:embed="rId3"/>
          <a:stretch>
            <a:fillRect/>
          </a:stretch>
        </p:blipFill>
        <p:spPr>
          <a:xfrm>
            <a:off x="918058" y="5078578"/>
            <a:ext cx="404165" cy="404165"/>
          </a:xfrm>
          <a:prstGeom prst="rect">
            <a:avLst/>
          </a:prstGeom>
        </p:spPr>
      </p:pic>
      <p:sp>
        <p:nvSpPr>
          <p:cNvPr id="11" name="Mic label"/>
          <p:cNvSpPr txBox="1"/>
          <p:nvPr/>
        </p:nvSpPr>
        <p:spPr>
          <a:xfrm>
            <a:off x="320040" y="5687568"/>
            <a:ext cx="1737360" cy="320040"/>
          </a:xfrm>
          <a:prstGeom prst="rect">
            <a:avLst/>
          </a:prstGeom>
          <a:noFill/>
          <a:ln/>
        </p:spPr>
        <p:txBody>
          <a:bodyPr wrap="square" lIns="0" tIns="0" rIns="0" bIns="0" rtlCol="0" anchor="ctr"/>
          <a:lstStyle/>
          <a:p>
            <a:pPr algn="ctr" indent="0" marL="0">
              <a:buNone/>
            </a:pPr>
            <a:r>
              <a:rPr lang="en-US" sz="1300" dirty="0">
                <a:solidFill>
                  <a:schemeClr val="tx1"/>
                </a:solidFill>
              </a:rPr>
              <a:t>Voice: "glass, …"</a:t>
            </a:r>
            <a:endParaRPr lang="en-US" sz="1300" dirty="0"/>
          </a:p>
        </p:txBody>
      </p:sp>
      <p:sp>
        <p:nvSpPr>
          <p:cNvPr id="12" name="Pi box"/>
          <p:cNvSpPr txBox="1"/>
          <p:nvPr/>
        </p:nvSpPr>
        <p:spPr>
          <a:xfrm>
            <a:off x="2743200" y="2651760"/>
            <a:ext cx="2286000" cy="1554480"/>
          </a:xfrm>
          <a:prstGeom prst="roundRect">
            <a:avLst>
              <a:gd name="adj" fmla="val 5882"/>
            </a:avLst>
          </a:prstGeom>
          <a:solidFill>
            <a:srgbClr val="0B4D3B"/>
          </a:solidFill>
          <a:ln>
            <a:solidFill>
              <a:srgbClr val="0B4D3B"/>
            </a:solidFill>
          </a:ln>
        </p:spPr>
        <p:txBody>
          <a:bodyPr wrap="square" rtlCol="0" anchor="ctr"/>
          <a:lstStyle/>
          <a:p>
            <a:pPr algn="ctr" indent="0" marL="0">
              <a:buNone/>
            </a:pPr>
            <a:r>
              <a:rPr lang="en-US" sz="1600" b="1" dirty="0">
                <a:solidFill>
                  <a:srgbClr val="FFFFFF"/>
                </a:solidFill>
              </a:rPr>
              <a:t>Raspberry Pi 5</a:t>
            </a:r>
            <a:endParaRPr lang="en-US" sz="1600" dirty="0"/>
          </a:p>
          <a:p>
            <a:pPr algn="ctr" indent="0" marL="0">
              <a:buNone/>
            </a:pPr>
            <a:r>
              <a:rPr lang="en-US" sz="1600" b="1" dirty="0">
                <a:solidFill>
                  <a:srgbClr val="FFFFFF"/>
                </a:solidFill>
              </a:rPr>
              <a:t>mode manager</a:t>
            </a:r>
            <a:endParaRPr lang="en-US" sz="1600" dirty="0"/>
          </a:p>
          <a:p>
            <a:pPr algn="ctr" indent="0" marL="0">
              <a:buNone/>
            </a:pPr>
            <a:r>
              <a:rPr lang="en-US" sz="1600" b="1" dirty="0">
                <a:solidFill>
                  <a:srgbClr val="FFFFFF"/>
                </a:solidFill>
              </a:rPr>
              <a:t>(all on the CPU)</a:t>
            </a:r>
            <a:endParaRPr lang="en-US" sz="1600" dirty="0"/>
          </a:p>
        </p:txBody>
      </p:sp>
      <p:sp>
        <p:nvSpPr>
          <p:cNvPr id="13" name="Text module"/>
          <p:cNvSpPr txBox="1"/>
          <p:nvPr/>
        </p:nvSpPr>
        <p:spPr>
          <a:xfrm>
            <a:off x="5760720" y="1325880"/>
            <a:ext cx="3840480" cy="749808"/>
          </a:xfrm>
          <a:prstGeom prst="roundRect">
            <a:avLst>
              <a:gd name="adj" fmla="val 9756"/>
            </a:avLst>
          </a:prstGeom>
          <a:solidFill>
            <a:srgbClr val="EEF5F1"/>
          </a:solidFill>
          <a:ln>
            <a:solidFill>
              <a:srgbClr val="EEF5F1"/>
            </a:solidFill>
          </a:ln>
        </p:spPr>
        <p:txBody>
          <a:bodyPr wrap="square" lIns="152400" tIns="152400" rIns="152400" bIns="152400" rtlCol="0" anchor="ctr"/>
          <a:lstStyle/>
          <a:p>
            <a:pPr indent="0" marL="0">
              <a:buNone/>
            </a:pPr>
            <a:r>
              <a:rPr lang="en-US" sz="1300" b="1" dirty="0">
                <a:solidFill>
                  <a:srgbClr val="0B4D3B"/>
                </a:solidFill>
              </a:rPr>
              <a:t>Text: </a:t>
            </a:r>
            <a:pPr indent="0" marL="0">
              <a:buNone/>
            </a:pPr>
            <a:r>
              <a:rPr lang="en-US" sz="1300" dirty="0">
                <a:solidFill>
                  <a:srgbClr val="1C2321"/>
                </a:solidFill>
              </a:rPr>
              <a:t>CRAFT detector + EasyOCR recogniser [5, 6]</a:t>
            </a:r>
            <a:endParaRPr lang="en-US" sz="1300" dirty="0"/>
          </a:p>
        </p:txBody>
      </p:sp>
      <p:sp>
        <p:nvSpPr>
          <p:cNvPr id="14" name="Text link"/>
          <p:cNvSpPr/>
          <p:nvPr/>
        </p:nvSpPr>
        <p:spPr>
          <a:xfrm flipV="1">
            <a:off x="5029200" y="1700784"/>
            <a:ext cx="731520" cy="1728216"/>
          </a:xfrm>
          <a:prstGeom prst="line">
            <a:avLst/>
          </a:prstGeom>
          <a:noFill/>
          <a:ln w="15875">
            <a:solidFill>
              <a:srgbClr val="9DB8AD"/>
            </a:solidFill>
            <a:prstDash val="solid"/>
            <a:tailEnd type="triangle"/>
          </a:ln>
        </p:spPr>
      </p:sp>
      <p:sp>
        <p:nvSpPr>
          <p:cNvPr id="15" name="Objects module"/>
          <p:cNvSpPr txBox="1"/>
          <p:nvPr/>
        </p:nvSpPr>
        <p:spPr>
          <a:xfrm>
            <a:off x="5760720" y="2258568"/>
            <a:ext cx="3840480" cy="749808"/>
          </a:xfrm>
          <a:prstGeom prst="roundRect">
            <a:avLst>
              <a:gd name="adj" fmla="val 9756"/>
            </a:avLst>
          </a:prstGeom>
          <a:solidFill>
            <a:srgbClr val="EEF5F1"/>
          </a:solidFill>
          <a:ln>
            <a:solidFill>
              <a:srgbClr val="EEF5F1"/>
            </a:solidFill>
          </a:ln>
        </p:spPr>
        <p:txBody>
          <a:bodyPr wrap="square" lIns="152400" tIns="152400" rIns="152400" bIns="152400" rtlCol="0" anchor="ctr"/>
          <a:lstStyle/>
          <a:p>
            <a:pPr indent="0" marL="0">
              <a:buNone/>
            </a:pPr>
            <a:r>
              <a:rPr lang="en-US" sz="1300" b="1" dirty="0">
                <a:solidFill>
                  <a:srgbClr val="0B4D3B"/>
                </a:solidFill>
              </a:rPr>
              <a:t>Objects: </a:t>
            </a:r>
            <a:pPr indent="0" marL="0">
              <a:buNone/>
            </a:pPr>
            <a:r>
              <a:rPr lang="en-US" sz="1300" dirty="0">
                <a:solidFill>
                  <a:srgbClr val="1C2321"/>
                </a:solidFill>
              </a:rPr>
              <a:t>YOLOv8s, COCO classes [7, 8]</a:t>
            </a:r>
            <a:endParaRPr lang="en-US" sz="1300" dirty="0"/>
          </a:p>
        </p:txBody>
      </p:sp>
      <p:sp>
        <p:nvSpPr>
          <p:cNvPr id="16" name="Objects link"/>
          <p:cNvSpPr/>
          <p:nvPr/>
        </p:nvSpPr>
        <p:spPr>
          <a:xfrm flipV="1">
            <a:off x="5029200" y="2633472"/>
            <a:ext cx="731520" cy="795528"/>
          </a:xfrm>
          <a:prstGeom prst="line">
            <a:avLst/>
          </a:prstGeom>
          <a:noFill/>
          <a:ln w="15875">
            <a:solidFill>
              <a:srgbClr val="9DB8AD"/>
            </a:solidFill>
            <a:prstDash val="solid"/>
            <a:tailEnd type="triangle"/>
          </a:ln>
        </p:spPr>
      </p:sp>
      <p:sp>
        <p:nvSpPr>
          <p:cNvPr id="17" name="Currency module"/>
          <p:cNvSpPr txBox="1"/>
          <p:nvPr/>
        </p:nvSpPr>
        <p:spPr>
          <a:xfrm>
            <a:off x="5760720" y="3191256"/>
            <a:ext cx="3840480" cy="749808"/>
          </a:xfrm>
          <a:prstGeom prst="roundRect">
            <a:avLst>
              <a:gd name="adj" fmla="val 9756"/>
            </a:avLst>
          </a:prstGeom>
          <a:solidFill>
            <a:srgbClr val="EEF5F1"/>
          </a:solidFill>
          <a:ln>
            <a:solidFill>
              <a:srgbClr val="EEF5F1"/>
            </a:solidFill>
          </a:ln>
        </p:spPr>
        <p:txBody>
          <a:bodyPr wrap="square" lIns="152400" tIns="152400" rIns="152400" bIns="152400" rtlCol="0" anchor="ctr"/>
          <a:lstStyle/>
          <a:p>
            <a:pPr indent="0" marL="0">
              <a:buNone/>
            </a:pPr>
            <a:r>
              <a:rPr lang="en-US" sz="1300" b="1" dirty="0">
                <a:solidFill>
                  <a:srgbClr val="0B4D3B"/>
                </a:solidFill>
              </a:rPr>
              <a:t>Currency: </a:t>
            </a:r>
            <a:pPr indent="0" marL="0">
              <a:buNone/>
            </a:pPr>
            <a:r>
              <a:rPr lang="en-US" sz="1300" dirty="0">
                <a:solidFill>
                  <a:srgbClr val="1C2321"/>
                </a:solidFill>
              </a:rPr>
              <a:t>YOLOv8s + safe counterfeit + watermark checks</a:t>
            </a:r>
            <a:endParaRPr lang="en-US" sz="1300" dirty="0"/>
          </a:p>
        </p:txBody>
      </p:sp>
      <p:sp>
        <p:nvSpPr>
          <p:cNvPr id="18" name="Currency link"/>
          <p:cNvSpPr/>
          <p:nvPr/>
        </p:nvSpPr>
        <p:spPr>
          <a:xfrm>
            <a:off x="5029200" y="3429000"/>
            <a:ext cx="731520" cy="137160"/>
          </a:xfrm>
          <a:prstGeom prst="line">
            <a:avLst/>
          </a:prstGeom>
          <a:noFill/>
          <a:ln w="15875">
            <a:solidFill>
              <a:srgbClr val="9DB8AD"/>
            </a:solidFill>
            <a:prstDash val="solid"/>
            <a:tailEnd type="triangle"/>
          </a:ln>
        </p:spPr>
      </p:sp>
      <p:sp>
        <p:nvSpPr>
          <p:cNvPr id="19" name="Emotion module"/>
          <p:cNvSpPr txBox="1"/>
          <p:nvPr/>
        </p:nvSpPr>
        <p:spPr>
          <a:xfrm>
            <a:off x="5760720" y="4123944"/>
            <a:ext cx="3840480" cy="749808"/>
          </a:xfrm>
          <a:prstGeom prst="roundRect">
            <a:avLst>
              <a:gd name="adj" fmla="val 9756"/>
            </a:avLst>
          </a:prstGeom>
          <a:solidFill>
            <a:srgbClr val="EEF5F1"/>
          </a:solidFill>
          <a:ln>
            <a:solidFill>
              <a:srgbClr val="EEF5F1"/>
            </a:solidFill>
          </a:ln>
        </p:spPr>
        <p:txBody>
          <a:bodyPr wrap="square" lIns="152400" tIns="152400" rIns="152400" bIns="152400" rtlCol="0" anchor="ctr"/>
          <a:lstStyle/>
          <a:p>
            <a:pPr indent="0" marL="0">
              <a:buNone/>
            </a:pPr>
            <a:r>
              <a:rPr lang="en-US" sz="1300" b="1" dirty="0">
                <a:solidFill>
                  <a:srgbClr val="0B4D3B"/>
                </a:solidFill>
              </a:rPr>
              <a:t>Emotion: </a:t>
            </a:r>
            <a:pPr indent="0" marL="0">
              <a:buNone/>
            </a:pPr>
            <a:r>
              <a:rPr lang="en-US" sz="1300" dirty="0">
                <a:solidFill>
                  <a:srgbClr val="1C2321"/>
                </a:solidFill>
              </a:rPr>
              <a:t>YuNet face + EfficientNet, RAF-DB [9]</a:t>
            </a:r>
            <a:endParaRPr lang="en-US" sz="1300" dirty="0"/>
          </a:p>
        </p:txBody>
      </p:sp>
      <p:sp>
        <p:nvSpPr>
          <p:cNvPr id="20" name="Emotion link"/>
          <p:cNvSpPr/>
          <p:nvPr/>
        </p:nvSpPr>
        <p:spPr>
          <a:xfrm>
            <a:off x="5029200" y="3429000"/>
            <a:ext cx="731520" cy="1069848"/>
          </a:xfrm>
          <a:prstGeom prst="line">
            <a:avLst/>
          </a:prstGeom>
          <a:noFill/>
          <a:ln w="15875">
            <a:solidFill>
              <a:srgbClr val="9DB8AD"/>
            </a:solidFill>
            <a:prstDash val="solid"/>
            <a:tailEnd type="triangle"/>
          </a:ln>
        </p:spPr>
      </p:sp>
      <p:sp>
        <p:nvSpPr>
          <p:cNvPr id="21" name="Online module"/>
          <p:cNvSpPr txBox="1"/>
          <p:nvPr/>
        </p:nvSpPr>
        <p:spPr>
          <a:xfrm>
            <a:off x="5760720" y="5056632"/>
            <a:ext cx="3840480" cy="749808"/>
          </a:xfrm>
          <a:prstGeom prst="roundRect">
            <a:avLst>
              <a:gd name="adj" fmla="val 9756"/>
            </a:avLst>
          </a:prstGeom>
          <a:solidFill>
            <a:srgbClr val="F3F5F4"/>
          </a:solidFill>
          <a:ln>
            <a:solidFill>
              <a:srgbClr val="F3F5F4"/>
            </a:solidFill>
          </a:ln>
        </p:spPr>
        <p:txBody>
          <a:bodyPr wrap="square" lIns="152400" tIns="152400" rIns="152400" bIns="152400" rtlCol="0" anchor="ctr"/>
          <a:lstStyle/>
          <a:p>
            <a:pPr indent="0" marL="0">
              <a:buNone/>
            </a:pPr>
            <a:r>
              <a:rPr lang="en-US" sz="1300" b="1" dirty="0">
                <a:solidFill>
                  <a:srgbClr val="0B4D3B"/>
                </a:solidFill>
              </a:rPr>
              <a:t>Online: </a:t>
            </a:r>
            <a:pPr indent="0" marL="0">
              <a:buNone/>
            </a:pPr>
            <a:r>
              <a:rPr lang="en-US" sz="1300" dirty="0">
                <a:solidFill>
                  <a:srgbClr val="1C2321"/>
                </a:solidFill>
              </a:rPr>
              <a:t>Cloud vision model (optional)</a:t>
            </a:r>
            <a:endParaRPr lang="en-US" sz="1300" dirty="0"/>
          </a:p>
        </p:txBody>
      </p:sp>
      <p:sp>
        <p:nvSpPr>
          <p:cNvPr id="22" name="Online link"/>
          <p:cNvSpPr/>
          <p:nvPr/>
        </p:nvSpPr>
        <p:spPr>
          <a:xfrm>
            <a:off x="5029200" y="3429000"/>
            <a:ext cx="731520" cy="2002536"/>
          </a:xfrm>
          <a:prstGeom prst="line">
            <a:avLst/>
          </a:prstGeom>
          <a:noFill/>
          <a:ln w="15875">
            <a:solidFill>
              <a:srgbClr val="9DB8AD"/>
            </a:solidFill>
            <a:prstDash val="solid"/>
            <a:tailEnd type="triangle"/>
          </a:ln>
        </p:spPr>
      </p:sp>
      <p:sp>
        <p:nvSpPr>
          <p:cNvPr id="23" name="Input 1"/>
          <p:cNvSpPr/>
          <p:nvPr/>
        </p:nvSpPr>
        <p:spPr>
          <a:xfrm>
            <a:off x="1645920" y="2286000"/>
            <a:ext cx="1097280" cy="1143000"/>
          </a:xfrm>
          <a:prstGeom prst="line">
            <a:avLst/>
          </a:prstGeom>
          <a:noFill/>
          <a:ln w="15875">
            <a:solidFill>
              <a:srgbClr val="9DB8AD"/>
            </a:solidFill>
            <a:prstDash val="solid"/>
            <a:tailEnd type="triangle"/>
          </a:ln>
        </p:spPr>
      </p:sp>
      <p:sp>
        <p:nvSpPr>
          <p:cNvPr id="24" name="Input 2"/>
          <p:cNvSpPr/>
          <p:nvPr/>
        </p:nvSpPr>
        <p:spPr>
          <a:xfrm flipV="1">
            <a:off x="1645920" y="3429000"/>
            <a:ext cx="1097280" cy="457200"/>
          </a:xfrm>
          <a:prstGeom prst="line">
            <a:avLst/>
          </a:prstGeom>
          <a:noFill/>
          <a:ln w="15875">
            <a:solidFill>
              <a:srgbClr val="9DB8AD"/>
            </a:solidFill>
            <a:prstDash val="solid"/>
            <a:tailEnd type="triangle"/>
          </a:ln>
        </p:spPr>
      </p:sp>
      <p:sp>
        <p:nvSpPr>
          <p:cNvPr id="25" name="Input 3"/>
          <p:cNvSpPr/>
          <p:nvPr/>
        </p:nvSpPr>
        <p:spPr>
          <a:xfrm flipV="1">
            <a:off x="1508760" y="3429000"/>
            <a:ext cx="1234440" cy="1856232"/>
          </a:xfrm>
          <a:prstGeom prst="line">
            <a:avLst/>
          </a:prstGeom>
          <a:noFill/>
          <a:ln w="15875">
            <a:solidFill>
              <a:srgbClr val="9DB8AD"/>
            </a:solidFill>
            <a:prstDash val="solid"/>
            <a:tailEnd type="triangle"/>
          </a:ln>
        </p:spPr>
      </p:sp>
      <p:sp>
        <p:nvSpPr>
          <p:cNvPr id="26" name="Speech circle"/>
          <p:cNvSpPr/>
          <p:nvPr/>
        </p:nvSpPr>
        <p:spPr>
          <a:xfrm>
            <a:off x="10241280" y="2743200"/>
            <a:ext cx="914400" cy="914400"/>
          </a:xfrm>
          <a:prstGeom prst="ellipse">
            <a:avLst/>
          </a:prstGeom>
          <a:solidFill>
            <a:srgbClr val="006A4E"/>
          </a:solidFill>
          <a:ln w="12700">
            <a:solidFill>
              <a:srgbClr val="006A4E"/>
            </a:solidFill>
            <a:prstDash val="solid"/>
          </a:ln>
        </p:spPr>
      </p:sp>
      <p:pic>
        <p:nvPicPr>
          <p:cNvPr id="27" name="Speech icon" descr="preencoded.png">    </p:cNvPr>
          <p:cNvPicPr>
            <a:picLocks noChangeAspect="1"/>
          </p:cNvPicPr>
          <p:nvPr/>
        </p:nvPicPr>
        <p:blipFill>
          <a:blip r:embed="rId4"/>
          <a:stretch>
            <a:fillRect/>
          </a:stretch>
        </p:blipFill>
        <p:spPr>
          <a:xfrm>
            <a:off x="10460736" y="2962656"/>
            <a:ext cx="475488" cy="475488"/>
          </a:xfrm>
          <a:prstGeom prst="rect">
            <a:avLst/>
          </a:prstGeom>
        </p:spPr>
      </p:pic>
      <p:sp>
        <p:nvSpPr>
          <p:cNvPr id="28" name="Speech label"/>
          <p:cNvSpPr txBox="1"/>
          <p:nvPr/>
        </p:nvSpPr>
        <p:spPr>
          <a:xfrm>
            <a:off x="9829800" y="3749040"/>
            <a:ext cx="1783080" cy="868680"/>
          </a:xfrm>
          <a:prstGeom prst="rect">
            <a:avLst/>
          </a:prstGeom>
          <a:noFill/>
          <a:ln/>
        </p:spPr>
        <p:txBody>
          <a:bodyPr wrap="square" lIns="0" tIns="0" rIns="0" bIns="0" rtlCol="0" anchor="t"/>
          <a:lstStyle/>
          <a:p>
            <a:pPr algn="ctr" indent="0" marL="0">
              <a:buNone/>
            </a:pPr>
            <a:r>
              <a:rPr lang="en-US" sz="1300" dirty="0">
                <a:solidFill>
                  <a:schemeClr val="tx1"/>
                </a:solidFill>
              </a:rPr>
              <a:t>Bangla / English speech + vibration [10, 11]</a:t>
            </a:r>
            <a:endParaRPr lang="en-US" sz="1300" dirty="0"/>
          </a:p>
        </p:txBody>
      </p:sp>
      <p:sp>
        <p:nvSpPr>
          <p:cNvPr id="29" name="Output link"/>
          <p:cNvSpPr/>
          <p:nvPr/>
        </p:nvSpPr>
        <p:spPr>
          <a:xfrm>
            <a:off x="9601200" y="3200400"/>
            <a:ext cx="640080" cy="0"/>
          </a:xfrm>
          <a:prstGeom prst="line">
            <a:avLst/>
          </a:prstGeom>
          <a:noFill/>
          <a:ln w="15875">
            <a:solidFill>
              <a:srgbClr val="9DB8AD"/>
            </a:solidFill>
            <a:prstDash val="solid"/>
            <a:tailEnd type="triangle"/>
          </a:ln>
        </p:spPr>
      </p:sp>
      <p:sp>
        <p:nvSpPr>
          <p:cNvPr id="30"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[5] Baek et al. 2019; [6] EasyOCR; [7] Ultralytics YOLOv8; [8] COCO; [9] RAF-DB; [10] Piper; [11] eSpeak NG.</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From a desk prototype to a wearable glass</a:t>
            </a:r>
            <a:endParaRPr lang="en-US" sz="3000" dirty="0"/>
          </a:p>
        </p:txBody>
      </p:sp>
      <p:pic>
        <p:nvPicPr>
          <p:cNvPr id="3" name="Prototype version 1" descr="E:\Final SP\Thesis Report and paper\tools\deck\assets/test_10.jpg">    </p:cNvPr>
          <p:cNvPicPr>
            <a:picLocks noChangeAspect="1"/>
          </p:cNvPicPr>
          <p:nvPr/>
        </p:nvPicPr>
        <p:blipFill>
          <a:blip r:embed="rId1"/>
          <a:srcRect l="0" r="0" t="0" b="0"/>
          <a:stretch/>
        </p:blipFill>
        <p:spPr>
          <a:xfrm>
            <a:off x="548640" y="1325880"/>
            <a:ext cx="2596896" cy="4224528"/>
          </a:xfrm>
          <a:prstGeom prst="rect">
            <a:avLst/>
          </a:prstGeom>
        </p:spPr>
      </p:pic>
      <p:sp>
        <p:nvSpPr>
          <p:cNvPr id="4" name="V1 caption"/>
          <p:cNvSpPr txBox="1"/>
          <p:nvPr/>
        </p:nvSpPr>
        <p:spPr>
          <a:xfrm>
            <a:off x="548640" y="5596128"/>
            <a:ext cx="2596896" cy="411480"/>
          </a:xfrm>
          <a:prstGeom prst="rect">
            <a:avLst/>
          </a:prstGeom>
          <a:noFill/>
          <a:ln/>
        </p:spPr>
        <p:txBody>
          <a:bodyPr wrap="square" lIns="0" tIns="0" rIns="0" bIns="0" rtlCol="0" anchor="ctr"/>
          <a:lstStyle/>
          <a:p>
            <a:pPr indent="0" marL="0">
              <a:buNone/>
            </a:pPr>
            <a:r>
              <a:rPr lang="en-US" sz="1200" dirty="0">
                <a:solidFill>
                  <a:schemeClr val="accent5"/>
                </a:solidFill>
              </a:rPr>
              <a:t>Version 1: board and fan on one temple</a:t>
            </a:r>
            <a:endParaRPr lang="en-US" sz="1200" dirty="0"/>
          </a:p>
        </p:txBody>
      </p:sp>
      <p:pic>
        <p:nvPicPr>
          <p:cNvPr id="5" name="Front: camera and UV lamp (blue light)" descr="E:\Final SP\Thesis Report and paper\tools\deck\assets/1_20.jpg">    </p:cNvPr>
          <p:cNvPicPr>
            <a:picLocks noChangeAspect="1"/>
          </p:cNvPicPr>
          <p:nvPr/>
        </p:nvPicPr>
        <p:blipFill>
          <a:blip r:embed="rId2"/>
          <a:srcRect l="0" r="0" t="0" b="0"/>
          <a:stretch/>
        </p:blipFill>
        <p:spPr>
          <a:xfrm>
            <a:off x="3374136" y="1325880"/>
            <a:ext cx="2596896" cy="4224528"/>
          </a:xfrm>
          <a:prstGeom prst="rect">
            <a:avLst/>
          </a:prstGeom>
        </p:spPr>
      </p:pic>
      <p:sp>
        <p:nvSpPr>
          <p:cNvPr id="6" name="V2 caption 1"/>
          <p:cNvSpPr txBox="1"/>
          <p:nvPr/>
        </p:nvSpPr>
        <p:spPr>
          <a:xfrm>
            <a:off x="3374136" y="5596128"/>
            <a:ext cx="2596896" cy="411480"/>
          </a:xfrm>
          <a:prstGeom prst="rect">
            <a:avLst/>
          </a:prstGeom>
          <a:noFill/>
          <a:ln/>
        </p:spPr>
        <p:txBody>
          <a:bodyPr wrap="square" lIns="0" tIns="0" rIns="0" bIns="0" rtlCol="0" anchor="ctr"/>
          <a:lstStyle/>
          <a:p>
            <a:pPr indent="0" marL="0">
              <a:buNone/>
            </a:pPr>
            <a:r>
              <a:rPr lang="en-US" sz="1200" dirty="0">
                <a:solidFill>
                  <a:schemeClr val="accent5"/>
                </a:solidFill>
              </a:rPr>
              <a:t>Front: camera and UV lamp (blue light)</a:t>
            </a:r>
            <a:endParaRPr lang="en-US" sz="1200" dirty="0"/>
          </a:p>
        </p:txBody>
      </p:sp>
      <p:pic>
        <p:nvPicPr>
          <p:cNvPr id="7" name="Side: five buttons, bone-conduction earphone" descr="E:\Final SP\Thesis Report and paper\tools\deck\assets/v2_side_portrait.jpg">    </p:cNvPr>
          <p:cNvPicPr>
            <a:picLocks noChangeAspect="1"/>
          </p:cNvPicPr>
          <p:nvPr/>
        </p:nvPicPr>
        <p:blipFill>
          <a:blip r:embed="rId3"/>
          <a:srcRect l="0" r="0" t="0" b="0"/>
          <a:stretch/>
        </p:blipFill>
        <p:spPr>
          <a:xfrm>
            <a:off x="6199632" y="1325880"/>
            <a:ext cx="2596896" cy="4224528"/>
          </a:xfrm>
          <a:prstGeom prst="rect">
            <a:avLst/>
          </a:prstGeom>
        </p:spPr>
      </p:pic>
      <p:sp>
        <p:nvSpPr>
          <p:cNvPr id="8" name="V2 caption 2"/>
          <p:cNvSpPr txBox="1"/>
          <p:nvPr/>
        </p:nvSpPr>
        <p:spPr>
          <a:xfrm>
            <a:off x="6199632" y="5596128"/>
            <a:ext cx="2596896" cy="411480"/>
          </a:xfrm>
          <a:prstGeom prst="rect">
            <a:avLst/>
          </a:prstGeom>
          <a:noFill/>
          <a:ln/>
        </p:spPr>
        <p:txBody>
          <a:bodyPr wrap="square" lIns="0" tIns="0" rIns="0" bIns="0" rtlCol="0" anchor="ctr"/>
          <a:lstStyle/>
          <a:p>
            <a:pPr indent="0" marL="0">
              <a:buNone/>
            </a:pPr>
            <a:r>
              <a:rPr lang="en-US" sz="1200" dirty="0">
                <a:solidFill>
                  <a:schemeClr val="accent5"/>
                </a:solidFill>
              </a:rPr>
              <a:t>Side: five buttons, bone-conduction earphone</a:t>
            </a:r>
            <a:endParaRPr lang="en-US" sz="1200" dirty="0"/>
          </a:p>
        </p:txBody>
      </p:sp>
      <p:pic>
        <p:nvPicPr>
          <p:cNvPr id="9" name="Back: Pi 5 in a ventilated enclosure" descr="E:\Final SP\Thesis Report and paper\tools\deck\assets/1_23.jpg">    </p:cNvPr>
          <p:cNvPicPr>
            <a:picLocks noChangeAspect="1"/>
          </p:cNvPicPr>
          <p:nvPr/>
        </p:nvPicPr>
        <p:blipFill>
          <a:blip r:embed="rId4"/>
          <a:srcRect l="0" r="0" t="0" b="0"/>
          <a:stretch/>
        </p:blipFill>
        <p:spPr>
          <a:xfrm>
            <a:off x="9025128" y="1325880"/>
            <a:ext cx="2596896" cy="4224528"/>
          </a:xfrm>
          <a:prstGeom prst="rect">
            <a:avLst/>
          </a:prstGeom>
        </p:spPr>
      </p:pic>
      <p:sp>
        <p:nvSpPr>
          <p:cNvPr id="10" name="V2 caption 3"/>
          <p:cNvSpPr txBox="1"/>
          <p:nvPr/>
        </p:nvSpPr>
        <p:spPr>
          <a:xfrm>
            <a:off x="9025128" y="5596128"/>
            <a:ext cx="2596896" cy="411480"/>
          </a:xfrm>
          <a:prstGeom prst="rect">
            <a:avLst/>
          </a:prstGeom>
          <a:noFill/>
          <a:ln/>
        </p:spPr>
        <p:txBody>
          <a:bodyPr wrap="square" lIns="0" tIns="0" rIns="0" bIns="0" rtlCol="0" anchor="ctr"/>
          <a:lstStyle/>
          <a:p>
            <a:pPr indent="0" marL="0">
              <a:buNone/>
            </a:pPr>
            <a:r>
              <a:rPr lang="en-US" sz="1200" dirty="0">
                <a:solidFill>
                  <a:schemeClr val="accent5"/>
                </a:solidFill>
              </a:rPr>
              <a:t>Back: Pi 5 in a ventilated enclosure</a:t>
            </a:r>
            <a:endParaRPr lang="en-US" sz="1200" dirty="0"/>
          </a:p>
        </p:txBody>
      </p:sp>
      <p:sp>
        <p:nvSpPr>
          <p:cNvPr id="11" name="V2 tag"/>
          <p:cNvSpPr txBox="1"/>
          <p:nvPr/>
        </p:nvSpPr>
        <p:spPr>
          <a:xfrm>
            <a:off x="3511296" y="1463040"/>
            <a:ext cx="1097280" cy="365760"/>
          </a:xfrm>
          <a:prstGeom prst="roundRect">
            <a:avLst>
              <a:gd name="adj" fmla="val 20000"/>
            </a:avLst>
          </a:prstGeom>
          <a:solidFill>
            <a:srgbClr val="006A4E"/>
          </a:solidFill>
          <a:ln>
            <a:solidFill>
              <a:srgbClr val="006A4E"/>
            </a:solidFill>
          </a:ln>
        </p:spPr>
        <p:txBody>
          <a:bodyPr wrap="square" lIns="0" tIns="0" rIns="0" bIns="0" rtlCol="0" anchor="ctr"/>
          <a:lstStyle/>
          <a:p>
            <a:pPr algn="ctr" indent="0" marL="0">
              <a:buNone/>
            </a:pPr>
            <a:r>
              <a:rPr lang="en-US" sz="1300" b="1" dirty="0">
                <a:solidFill>
                  <a:srgbClr val="FFFFFF"/>
                </a:solidFill>
              </a:rPr>
              <a:t>Version 2</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Taka detection: 22,333 training images, no hand labels</a:t>
            </a:r>
            <a:endParaRPr lang="en-US" sz="3000" dirty="0"/>
          </a:p>
        </p:txBody>
      </p:sp>
      <p:pic>
        <p:nvPicPr>
          <p:cNvPr id="3" name="Compositing pipeline" descr="E:/Final SP/Thesis Report and paper/thesis report/My report/DIagram fig tab/fig_compositing.jpg">    </p:cNvPr>
          <p:cNvPicPr>
            <a:picLocks noChangeAspect="1"/>
          </p:cNvPicPr>
          <p:nvPr/>
        </p:nvPicPr>
        <p:blipFill>
          <a:blip r:embed="rId1"/>
          <a:stretch>
            <a:fillRect/>
          </a:stretch>
        </p:blipFill>
        <p:spPr>
          <a:xfrm>
            <a:off x="548640" y="1371600"/>
            <a:ext cx="7498080" cy="2183816"/>
          </a:xfrm>
          <a:prstGeom prst="rect">
            <a:avLst/>
          </a:prstGeom>
        </p:spPr>
      </p:pic>
      <p:sp>
        <p:nvSpPr>
          <p:cNvPr id="4" name="Compositing text"/>
          <p:cNvSpPr txBox="1"/>
          <p:nvPr/>
        </p:nvSpPr>
        <p:spPr>
          <a:xfrm>
            <a:off x="548640" y="3749040"/>
            <a:ext cx="7498080" cy="822960"/>
          </a:xfrm>
          <a:prstGeom prst="rect">
            <a:avLst/>
          </a:prstGeom>
          <a:noFill/>
          <a:ln/>
        </p:spPr>
        <p:txBody>
          <a:bodyPr wrap="square" lIns="0" tIns="0" rIns="0" bIns="0" rtlCol="0" anchor="t"/>
          <a:lstStyle/>
          <a:p>
            <a:pPr indent="0" marL="0">
              <a:buNone/>
            </a:pPr>
            <a:r>
              <a:rPr lang="en-US" sz="1600" dirty="0">
                <a:solidFill>
                  <a:schemeClr val="tx1"/>
                </a:solidFill>
              </a:rPr>
              <a:t>5,073 note photos [12] are pasted onto real COCO pictures [8] with random angle, scale, light and blur; the program writes every box label itself.</a:t>
            </a:r>
            <a:endParaRPr lang="en-US" sz="1600" dirty="0"/>
          </a:p>
        </p:txBody>
      </p:sp>
      <p:sp>
        <p:nvSpPr>
          <p:cNvPr id="5" name="Stats card"/>
          <p:cNvSpPr/>
          <p:nvPr/>
        </p:nvSpPr>
        <p:spPr>
          <a:xfrm>
            <a:off x="8412480" y="1371600"/>
            <a:ext cx="3200400" cy="4480560"/>
          </a:xfrm>
          <a:prstGeom prst="roundRect">
            <a:avLst>
              <a:gd name="adj" fmla="val 3429"/>
            </a:avLst>
          </a:prstGeom>
          <a:solidFill>
            <a:schemeClr val="bg2"/>
          </a:solidFill>
          <a:ln w="12700">
            <a:solidFill>
              <a:schemeClr val="bg2"/>
            </a:solidFill>
            <a:prstDash val="solid"/>
          </a:ln>
        </p:spPr>
      </p:sp>
      <p:sp>
        <p:nvSpPr>
          <p:cNvPr id="6" name="mAP value"/>
          <p:cNvSpPr txBox="1"/>
          <p:nvPr/>
        </p:nvSpPr>
        <p:spPr>
          <a:xfrm>
            <a:off x="8686800" y="1600200"/>
            <a:ext cx="2743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0.995</a:t>
            </a:r>
            <a:endParaRPr lang="en-US" sz="3600" dirty="0"/>
          </a:p>
        </p:txBody>
      </p:sp>
      <p:sp>
        <p:nvSpPr>
          <p:cNvPr id="7" name="mAP label"/>
          <p:cNvSpPr txBox="1"/>
          <p:nvPr/>
        </p:nvSpPr>
        <p:spPr>
          <a:xfrm>
            <a:off x="8686800" y="2286000"/>
            <a:ext cx="2743200" cy="548640"/>
          </a:xfrm>
          <a:prstGeom prst="rect">
            <a:avLst/>
          </a:prstGeom>
          <a:noFill/>
          <a:ln/>
        </p:spPr>
        <p:txBody>
          <a:bodyPr wrap="square" lIns="0" tIns="0" rIns="0" bIns="0" rtlCol="0" anchor="t"/>
          <a:lstStyle/>
          <a:p>
            <a:pPr indent="0" marL="0">
              <a:buNone/>
            </a:pPr>
            <a:r>
              <a:rPr lang="en-US" sz="1300" dirty="0">
                <a:solidFill>
                  <a:schemeClr val="tx1"/>
                </a:solidFill>
              </a:rPr>
              <a:t>mAP@0.5 on 2,282 held-out composites</a:t>
            </a:r>
            <a:endParaRPr lang="en-US" sz="1300" dirty="0"/>
          </a:p>
        </p:txBody>
      </p:sp>
      <p:sp>
        <p:nvSpPr>
          <p:cNvPr id="8" name="Bangla Money value"/>
          <p:cNvSpPr txBox="1"/>
          <p:nvPr/>
        </p:nvSpPr>
        <p:spPr>
          <a:xfrm>
            <a:off x="8686800" y="3017520"/>
            <a:ext cx="2743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94.1%</a:t>
            </a:r>
            <a:endParaRPr lang="en-US" sz="3600" dirty="0"/>
          </a:p>
        </p:txBody>
      </p:sp>
      <p:sp>
        <p:nvSpPr>
          <p:cNvPr id="9" name="Bangla Money label"/>
          <p:cNvSpPr txBox="1"/>
          <p:nvPr/>
        </p:nvSpPr>
        <p:spPr>
          <a:xfrm>
            <a:off x="8686800" y="3703320"/>
            <a:ext cx="2743200" cy="548640"/>
          </a:xfrm>
          <a:prstGeom prst="rect">
            <a:avLst/>
          </a:prstGeom>
          <a:noFill/>
          <a:ln/>
        </p:spPr>
        <p:txBody>
          <a:bodyPr wrap="square" lIns="0" tIns="0" rIns="0" bIns="0" rtlCol="0" anchor="t"/>
          <a:lstStyle/>
          <a:p>
            <a:pPr indent="0" marL="0">
              <a:buNone/>
            </a:pPr>
            <a:r>
              <a:rPr lang="en-US" sz="1300" dirty="0">
                <a:solidFill>
                  <a:schemeClr val="tx1"/>
                </a:solidFill>
              </a:rPr>
              <a:t>right on 1,536 photos taken by other people</a:t>
            </a:r>
            <a:endParaRPr lang="en-US" sz="1300" dirty="0"/>
          </a:p>
        </p:txBody>
      </p:sp>
      <p:sp>
        <p:nvSpPr>
          <p:cNvPr id="10" name="No labels value"/>
          <p:cNvSpPr txBox="1"/>
          <p:nvPr/>
        </p:nvSpPr>
        <p:spPr>
          <a:xfrm>
            <a:off x="8686800" y="4434840"/>
            <a:ext cx="2743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11" name="No labels label"/>
          <p:cNvSpPr txBox="1"/>
          <p:nvPr/>
        </p:nvSpPr>
        <p:spPr>
          <a:xfrm>
            <a:off x="8686800" y="5120640"/>
            <a:ext cx="2743200" cy="548640"/>
          </a:xfrm>
          <a:prstGeom prst="rect">
            <a:avLst/>
          </a:prstGeom>
          <a:noFill/>
          <a:ln/>
        </p:spPr>
        <p:txBody>
          <a:bodyPr wrap="square" lIns="0" tIns="0" rIns="0" bIns="0" rtlCol="0" anchor="t"/>
          <a:lstStyle/>
          <a:p>
            <a:pPr indent="0" marL="0">
              <a:buNone/>
            </a:pPr>
            <a:r>
              <a:rPr lang="en-US" sz="1300" dirty="0">
                <a:solidFill>
                  <a:schemeClr val="tx1"/>
                </a:solidFill>
              </a:rPr>
              <a:t>hand-drawn boxes needed</a:t>
            </a:r>
            <a:endParaRPr lang="en-US" sz="1300" dirty="0"/>
          </a:p>
        </p:txBody>
      </p:sp>
      <p:sp>
        <p:nvSpPr>
          <p:cNvPr id="1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[12] BanglaTaka (Mendeley); [8] Lin et al., COCO, ECCV 2014; detector [7] Ultralytics YOLOv8. 94.1% with the hand-held detector (next slide).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Notes held in a hand: from 1 in 8 to 1 in 2</a:t>
            </a:r>
            <a:endParaRPr lang="en-US" sz="3000" dirty="0"/>
          </a:p>
        </p:txBody>
      </p:sp>
      <p:pic>
        <p:nvPicPr>
          <p:cNvPr id="3" name="Synthetic close-ups" descr="E:/Final SP/Thesis Report and paper/thesis report/My report/fig58_handheld_closeups.png">    </p:cNvPr>
          <p:cNvPicPr>
            <a:picLocks noChangeAspect="1"/>
          </p:cNvPicPr>
          <p:nvPr/>
        </p:nvPicPr>
        <p:blipFill>
          <a:blip r:embed="rId1"/>
          <a:stretch>
            <a:fillRect/>
          </a:stretch>
        </p:blipFill>
        <p:spPr>
          <a:xfrm>
            <a:off x="548640" y="1325880"/>
            <a:ext cx="6400800" cy="2560320"/>
          </a:xfrm>
          <a:prstGeom prst="rect">
            <a:avLst/>
          </a:prstGeom>
        </p:spPr>
      </p:pic>
      <p:sp>
        <p:nvSpPr>
          <p:cNvPr id="4" name="Close-up text"/>
          <p:cNvSpPr txBox="1"/>
          <p:nvPr/>
        </p:nvSpPr>
        <p:spPr>
          <a:xfrm>
            <a:off x="548640" y="4023360"/>
            <a:ext cx="6400800" cy="914400"/>
          </a:xfrm>
          <a:prstGeom prst="rect">
            <a:avLst/>
          </a:prstGeom>
          <a:noFill/>
          <a:ln/>
        </p:spPr>
        <p:txBody>
          <a:bodyPr wrap="square" lIns="0" tIns="0" rIns="0" bIns="0" rtlCol="0" anchor="t"/>
          <a:lstStyle/>
          <a:p>
            <a:pPr indent="0" marL="0">
              <a:buNone/>
            </a:pPr>
            <a:r>
              <a:rPr lang="en-US" sz="1500" dirty="0">
                <a:solidFill>
                  <a:schemeClr val="tx1"/>
                </a:solidFill>
              </a:rPr>
              <a:t>6,000 synthetic close-ups: notes overflowing the frame, folded, turned, blurred, under fingers. Built from training notes only; epoch and threshold chosen on validation; test read once.</a:t>
            </a:r>
            <a:endParaRPr lang="en-US" sz="1500" dirty="0"/>
          </a:p>
        </p:txBody>
      </p:sp>
      <p:graphicFrame>
        <p:nvGraphicFramePr>
          <p:cNvPr id="5" name="Hand-held chart" descr=""/>
          <p:cNvGraphicFramePr/>
          <p:nvPr/>
        </p:nvGraphicFramePr>
        <p:xfrm>
          <a:off x="7223760" y="1325880"/>
          <a:ext cx="4389120" cy="4023360"/>
        </p:xfrm>
        <a:graphic xmlns:a="http://schemas.openxmlformats.org/drawingml/2006/main">
          <a:graphicData uri="http://schemas.openxmlformats.org/drawingml/2006/chart">
            <c:chart xmlns:c="http://schemas.openxmlformats.org/drawingml/2006/chart" r:id="rId2"/>
          </a:graphicData>
        </a:graphic>
      </p:graphicFrame>
      <p:sp>
        <p:nvSpPr>
          <p:cNvPr id="6" name="Costs"/>
          <p:cNvSpPr txBox="1"/>
          <p:nvPr/>
        </p:nvSpPr>
        <p:spPr>
          <a:xfrm>
            <a:off x="548640" y="5074920"/>
            <a:ext cx="6400800" cy="731520"/>
          </a:xfrm>
          <a:prstGeom prst="rect">
            <a:avLst/>
          </a:prstGeom>
          <a:noFill/>
          <a:ln/>
        </p:spPr>
        <p:txBody>
          <a:bodyPr wrap="square" lIns="0" tIns="0" rIns="0" bIns="0" rtlCol="0" anchor="t"/>
          <a:lstStyle/>
          <a:p>
            <a:pPr indent="0" marL="0">
              <a:buNone/>
            </a:pPr>
            <a:r>
              <a:rPr lang="en-US" sz="1300" i="1" dirty="0">
                <a:solidFill>
                  <a:schemeClr val="accent2"/>
                </a:solidFill>
              </a:rPr>
              <a:t>Costs, reported: one-taka notes named more often (36.6%); 3 notes in view: total right 97.0% (was 99.2%).</a:t>
            </a:r>
            <a:endParaRPr lang="en-US" sz="1300" dirty="0"/>
          </a:p>
        </p:txBody>
      </p:sp>
      <p:sp>
        <p:nvSpPr>
          <p:cNvPr id="7"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test photos [13] Rafi et al., NSTU-BDTAKA, Data in Brief 2024; detector [7] YOLOv8. Our results: paper_evidence/HANDHELD_FINETUNE.md.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Live tests with real notes</a:t>
            </a:r>
            <a:endParaRPr lang="en-US" sz="3000" dirty="0"/>
          </a:p>
        </p:txBody>
      </p:sp>
      <p:pic>
        <p:nvPicPr>
          <p:cNvPr id="3" name="Live detection 1" descr="E:\Final SP\Thesis Report and paper\tools\deck\assets/test_2.jpg">    </p:cNvPr>
          <p:cNvPicPr>
            <a:picLocks noChangeAspect="1"/>
          </p:cNvPicPr>
          <p:nvPr/>
        </p:nvPicPr>
        <p:blipFill>
          <a:blip r:embed="rId1"/>
          <a:srcRect l="0" r="0" t="0" b="0"/>
          <a:stretch/>
        </p:blipFill>
        <p:spPr>
          <a:xfrm>
            <a:off x="548640" y="1325880"/>
            <a:ext cx="2651760" cy="2377440"/>
          </a:xfrm>
          <a:prstGeom prst="rect">
            <a:avLst/>
          </a:prstGeom>
        </p:spPr>
      </p:pic>
      <p:pic>
        <p:nvPicPr>
          <p:cNvPr id="4" name="Live detection 2" descr="E:\Final SP\Thesis Report and paper\tools\deck\assets/test_4.jpg">    </p:cNvPr>
          <p:cNvPicPr>
            <a:picLocks noChangeAspect="1"/>
          </p:cNvPicPr>
          <p:nvPr/>
        </p:nvPicPr>
        <p:blipFill>
          <a:blip r:embed="rId2"/>
          <a:srcRect l="0" r="0" t="0" b="0"/>
          <a:stretch/>
        </p:blipFill>
        <p:spPr>
          <a:xfrm>
            <a:off x="3337560" y="1325880"/>
            <a:ext cx="2651760" cy="2377440"/>
          </a:xfrm>
          <a:prstGeom prst="rect">
            <a:avLst/>
          </a:prstGeom>
        </p:spPr>
      </p:pic>
      <p:pic>
        <p:nvPicPr>
          <p:cNvPr id="5" name="Live detection 3" descr="E:\Final SP\Thesis Report and paper\tools\deck\assets/test_7.jpg">    </p:cNvPr>
          <p:cNvPicPr>
            <a:picLocks noChangeAspect="1"/>
          </p:cNvPicPr>
          <p:nvPr/>
        </p:nvPicPr>
        <p:blipFill>
          <a:blip r:embed="rId3"/>
          <a:srcRect l="0" r="0" t="0" b="0"/>
          <a:stretch/>
        </p:blipFill>
        <p:spPr>
          <a:xfrm>
            <a:off x="6126480" y="1325880"/>
            <a:ext cx="2651760" cy="2377440"/>
          </a:xfrm>
          <a:prstGeom prst="rect">
            <a:avLst/>
          </a:prstGeom>
        </p:spPr>
      </p:pic>
      <p:pic>
        <p:nvPicPr>
          <p:cNvPr id="6" name="Glass test 1" descr="E:\Final SP\Thesis Report and paper\tools\deck\assets/test_14.jpg">    </p:cNvPr>
          <p:cNvPicPr>
            <a:picLocks noChangeAspect="1"/>
          </p:cNvPicPr>
          <p:nvPr/>
        </p:nvPicPr>
        <p:blipFill>
          <a:blip r:embed="rId4"/>
          <a:srcRect l="0" r="0" t="0" b="0"/>
          <a:stretch/>
        </p:blipFill>
        <p:spPr>
          <a:xfrm>
            <a:off x="548640" y="3794760"/>
            <a:ext cx="2651760" cy="2148840"/>
          </a:xfrm>
          <a:prstGeom prst="rect">
            <a:avLst/>
          </a:prstGeom>
        </p:spPr>
      </p:pic>
      <p:pic>
        <p:nvPicPr>
          <p:cNvPr id="7" name="Glass test 2" descr="E:\Final SP\Thesis Report and paper\tools\deck\assets/test_16.jpg">    </p:cNvPr>
          <p:cNvPicPr>
            <a:picLocks noChangeAspect="1"/>
          </p:cNvPicPr>
          <p:nvPr/>
        </p:nvPicPr>
        <p:blipFill>
          <a:blip r:embed="rId5"/>
          <a:srcRect l="0" r="0" t="0" b="0"/>
          <a:stretch/>
        </p:blipFill>
        <p:spPr>
          <a:xfrm>
            <a:off x="3337560" y="3794760"/>
            <a:ext cx="2651760" cy="2148840"/>
          </a:xfrm>
          <a:prstGeom prst="rect">
            <a:avLst/>
          </a:prstGeom>
        </p:spPr>
      </p:pic>
      <p:pic>
        <p:nvPicPr>
          <p:cNvPr id="8" name="Glass test 3" descr="E:\Final SP\Thesis Report and paper\tools\deck\assets/test_8.jpg">    </p:cNvPr>
          <p:cNvPicPr>
            <a:picLocks noChangeAspect="1"/>
          </p:cNvPicPr>
          <p:nvPr/>
        </p:nvPicPr>
        <p:blipFill>
          <a:blip r:embed="rId6"/>
          <a:srcRect l="0" r="0" t="0" b="0"/>
          <a:stretch/>
        </p:blipFill>
        <p:spPr>
          <a:xfrm>
            <a:off x="6126480" y="3794760"/>
            <a:ext cx="2651760" cy="2148840"/>
          </a:xfrm>
          <a:prstGeom prst="rect">
            <a:avLst/>
          </a:prstGeom>
        </p:spPr>
      </p:pic>
      <p:sp>
        <p:nvSpPr>
          <p:cNvPr id="9" name="Live test points"/>
          <p:cNvSpPr txBox="1"/>
          <p:nvPr/>
        </p:nvSpPr>
        <p:spPr>
          <a:xfrm>
            <a:off x="9052560" y="1325880"/>
            <a:ext cx="26060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10, 50, 100, 200, 500 and 1,000 Taka named at 0.63–0.89 confidence</a:t>
            </a:r>
            <a:endParaRPr lang="en-US" sz="1500" dirty="0"/>
          </a:p>
          <a:p>
            <a:pPr marL="342900" indent="-342900">
              <a:spcAft>
                <a:spcPts val="1000"/>
              </a:spcAft>
              <a:buSzPct val="100000"/>
              <a:buChar char="•"/>
            </a:pPr>
            <a:r>
              <a:rPr lang="en-US" sz="1500" dirty="0">
                <a:solidFill>
                  <a:schemeClr val="tx1"/>
                </a:solidFill>
              </a:rPr>
              <a:t>Worn and folded notes, two or three notes at once</a:t>
            </a:r>
            <a:endParaRPr lang="en-US" sz="1500" dirty="0"/>
          </a:p>
          <a:p>
            <a:pPr marL="342900" indent="-342900">
              <a:spcAft>
                <a:spcPts val="1000"/>
              </a:spcAft>
              <a:buSzPct val="100000"/>
              <a:buChar char="•"/>
            </a:pPr>
            <a:r>
              <a:rPr lang="en-US" sz="1500" dirty="0">
                <a:solidFill>
                  <a:schemeClr val="tx1"/>
                </a:solidFill>
              </a:rPr>
              <a:t>Boxes are loose and can overlap when notes are close</a:t>
            </a:r>
            <a:endParaRPr lang="en-US" sz="1500" dirty="0"/>
          </a:p>
        </p:txBody>
      </p:sp>
      <p:sp>
        <p:nvSpPr>
          <p:cNvPr id="10" name="Live test note"/>
          <p:cNvSpPr txBox="1"/>
          <p:nvPr/>
        </p:nvSpPr>
        <p:spPr>
          <a:xfrm>
            <a:off x="9052560" y="4754880"/>
            <a:ext cx="2606040" cy="1188720"/>
          </a:xfrm>
          <a:prstGeom prst="rect">
            <a:avLst/>
          </a:prstGeom>
          <a:noFill/>
          <a:ln/>
        </p:spPr>
        <p:txBody>
          <a:bodyPr wrap="square" lIns="0" tIns="0" rIns="0" bIns="0" rtlCol="0" anchor="t"/>
          <a:lstStyle/>
          <a:p>
            <a:pPr indent="0" marL="0">
              <a:buNone/>
            </a:pPr>
            <a:r>
              <a:rPr lang="en-US" sz="1200" i="1" dirty="0">
                <a:solidFill>
                  <a:schemeClr val="accent5"/>
                </a:solidFill>
              </a:rPr>
              <a:t>Informal sessions with a laptop webcam (top row, bottom right) and the first glass prototype (bottom left, centre); no error rate was counted.</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Counterfeit check: one view is enough with prefix training</a:t>
            </a:r>
            <a:endParaRPr lang="en-US" sz="3000" dirty="0"/>
          </a:p>
        </p:txBody>
      </p:sp>
      <p:graphicFrame>
        <p:nvGraphicFramePr>
          <p:cNvPr id="3" name="Prefix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One view value"/>
          <p:cNvSpPr txBox="1"/>
          <p:nvPr/>
        </p:nvSpPr>
        <p:spPr>
          <a:xfrm>
            <a:off x="7863840" y="1463040"/>
            <a:ext cx="37490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71.2% → 98.2%</a:t>
            </a:r>
            <a:endParaRPr lang="en-US" sz="3600" dirty="0"/>
          </a:p>
        </p:txBody>
      </p:sp>
      <p:sp>
        <p:nvSpPr>
          <p:cNvPr id="5" name="One view label"/>
          <p:cNvSpPr txBox="1"/>
          <p:nvPr/>
        </p:nvSpPr>
        <p:spPr>
          <a:xfrm>
            <a:off x="7863840" y="2148840"/>
            <a:ext cx="3749040" cy="548640"/>
          </a:xfrm>
          <a:prstGeom prst="rect">
            <a:avLst/>
          </a:prstGeom>
          <a:noFill/>
          <a:ln/>
        </p:spPr>
        <p:txBody>
          <a:bodyPr wrap="square" lIns="0" tIns="0" rIns="0" bIns="0" rtlCol="0" anchor="t"/>
          <a:lstStyle/>
          <a:p>
            <a:pPr indent="0" marL="0">
              <a:buNone/>
            </a:pPr>
            <a:r>
              <a:rPr lang="en-US" sz="1300" dirty="0">
                <a:solidFill>
                  <a:schemeClr val="tx1"/>
                </a:solidFill>
              </a:rPr>
              <a:t>accuracy with a single view, JaalTaka test notes</a:t>
            </a:r>
            <a:endParaRPr lang="en-US" sz="1300" dirty="0"/>
          </a:p>
        </p:txBody>
      </p:sp>
      <p:sp>
        <p:nvSpPr>
          <p:cNvPr id="6" name="Prefix points"/>
          <p:cNvSpPr txBox="1"/>
          <p:nvPr/>
        </p:nvSpPr>
        <p:spPr>
          <a:xfrm>
            <a:off x="7863840" y="3017520"/>
            <a:ext cx="374904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blind user cannot promise six views</a:t>
            </a:r>
            <a:endParaRPr lang="en-US" sz="1600" dirty="0"/>
          </a:p>
          <a:p>
            <a:pPr marL="342900" indent="-342900">
              <a:spcAft>
                <a:spcPts val="1000"/>
              </a:spcAft>
              <a:buSzPct val="100000"/>
              <a:buChar char="•"/>
            </a:pPr>
            <a:r>
              <a:rPr lang="en-US" sz="1600" dirty="0">
                <a:solidFill>
                  <a:schemeClr val="tx1"/>
                </a:solidFill>
              </a:rPr>
              <a:t>Training on random first-k views removes the collapse</a:t>
            </a:r>
            <a:endParaRPr lang="en-US" sz="1600" dirty="0"/>
          </a:p>
          <a:p>
            <a:pPr marL="342900" indent="-342900">
              <a:spcAft>
                <a:spcPts val="1000"/>
              </a:spcAft>
              <a:buSzPct val="100000"/>
              <a:buChar char="•"/>
            </a:pPr>
            <a:r>
              <a:rPr lang="en-US" sz="1600" dirty="0">
                <a:solidFill>
                  <a:schemeClr val="tx1"/>
                </a:solidFill>
              </a:rPr>
              <a:t>No loss at six views; stable across seeds</a:t>
            </a:r>
            <a:endParaRPr lang="en-US" sz="1600" dirty="0"/>
          </a:p>
        </p:txBody>
      </p:sp>
      <p:sp>
        <p:nvSpPr>
          <p:cNvPr id="7"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[14, 15] Piyas et al., JaalTaka dataset and article, 2025-2026 (1,390 notes, six views each; counterfeits seized by the Rapid Action Battalion).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Unseen counterfeit prints: a stricter test</a:t>
            </a:r>
            <a:endParaRPr lang="en-US" sz="3000" dirty="0"/>
          </a:p>
        </p:txBody>
      </p:sp>
      <p:graphicFrame>
        <p:nvGraphicFramePr>
          <p:cNvPr id="3" name="Unseen prints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Serial value"/>
          <p:cNvSpPr txBox="1"/>
          <p:nvPr/>
        </p:nvSpPr>
        <p:spPr>
          <a:xfrm>
            <a:off x="7863840" y="1463040"/>
            <a:ext cx="37490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279 of 322</a:t>
            </a:r>
            <a:endParaRPr lang="en-US" sz="3600" dirty="0"/>
          </a:p>
        </p:txBody>
      </p:sp>
      <p:sp>
        <p:nvSpPr>
          <p:cNvPr id="5" name="Serial label"/>
          <p:cNvSpPr txBox="1"/>
          <p:nvPr/>
        </p:nvSpPr>
        <p:spPr>
          <a:xfrm>
            <a:off x="7863840" y="2148840"/>
            <a:ext cx="3749040" cy="548640"/>
          </a:xfrm>
          <a:prstGeom prst="rect">
            <a:avLst/>
          </a:prstGeom>
          <a:noFill/>
          <a:ln/>
        </p:spPr>
        <p:txBody>
          <a:bodyPr wrap="square" lIns="0" tIns="0" rIns="0" bIns="0" rtlCol="0" anchor="t"/>
          <a:lstStyle/>
          <a:p>
            <a:pPr indent="0" marL="0">
              <a:buNone/>
            </a:pPr>
            <a:r>
              <a:rPr lang="en-US" sz="1300" dirty="0">
                <a:solidFill>
                  <a:schemeClr val="tx1"/>
                </a:solidFill>
              </a:rPr>
              <a:t>readable 500 Taka counterfeits carry the same serial number</a:t>
            </a:r>
            <a:endParaRPr lang="en-US" sz="1300" dirty="0"/>
          </a:p>
        </p:txBody>
      </p:sp>
      <p:sp>
        <p:nvSpPr>
          <p:cNvPr id="6" name="Unseen text"/>
          <p:cNvSpPr txBox="1"/>
          <p:nvPr/>
        </p:nvSpPr>
        <p:spPr>
          <a:xfrm>
            <a:off x="7863840" y="2971800"/>
            <a:ext cx="3749040" cy="2468880"/>
          </a:xfrm>
          <a:prstGeom prst="rect">
            <a:avLst/>
          </a:prstGeom>
          <a:noFill/>
          <a:ln/>
        </p:spPr>
        <p:txBody>
          <a:bodyPr wrap="square" lIns="0" tIns="0" rIns="0" bIns="0" rtlCol="0" anchor="t"/>
          <a:lstStyle/>
          <a:p>
            <a:pPr indent="0" marL="0">
              <a:buNone/>
            </a:pPr>
            <a:r>
              <a:rPr lang="en-US" sz="1500" dirty="0">
                <a:solidFill>
                  <a:schemeClr val="tx1"/>
                </a:solidFill>
              </a:rPr>
              <a:t>The usual split puts copies of one print in training and test; a serial lookup alone scores 90.2%. In our split every test counterfeit is a new print. The watermark check lifts accuracy to 95.0%.</a:t>
            </a:r>
            <a:endParaRPr lang="en-US" sz="1500" dirty="0"/>
          </a:p>
        </p:txBody>
      </p:sp>
      <p:sp>
        <p:nvSpPr>
          <p:cNvPr id="7"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[14] JaalTaka; serial-number audit and print-disjoint split are ours. Earlier Taka counterfeit work: [16] SVM on security features; [17] CNNs; [19] UV flecks + RPN.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DMWR: a tiny, physics-based watermark checker</a:t>
            </a:r>
            <a:endParaRPr lang="en-US" sz="3000" dirty="0"/>
          </a:p>
        </p:txBody>
      </p:sp>
      <p:pic>
        <p:nvPicPr>
          <p:cNvPr id="3" name="DMWR steps" descr="E:/Final SP/Thesis Report and paper/thesis report/My report/DIagram fig tab/fig_dmwr_steps.png">    </p:cNvPr>
          <p:cNvPicPr>
            <a:picLocks noChangeAspect="1"/>
          </p:cNvPicPr>
          <p:nvPr/>
        </p:nvPicPr>
        <p:blipFill>
          <a:blip r:embed="rId1"/>
          <a:stretch>
            <a:fillRect/>
          </a:stretch>
        </p:blipFill>
        <p:spPr>
          <a:xfrm>
            <a:off x="548640" y="1325880"/>
            <a:ext cx="6949440" cy="3706368"/>
          </a:xfrm>
          <a:prstGeom prst="rect">
            <a:avLst/>
          </a:prstGeom>
        </p:spPr>
      </p:pic>
      <p:sp>
        <p:nvSpPr>
          <p:cNvPr id="4" name="DMWR steps text"/>
          <p:cNvSpPr txBox="1"/>
          <p:nvPr/>
        </p:nvSpPr>
        <p:spPr>
          <a:xfrm>
            <a:off x="548640" y="5120640"/>
            <a:ext cx="6949440" cy="868680"/>
          </a:xfrm>
          <a:prstGeom prst="rect">
            <a:avLst/>
          </a:prstGeom>
          <a:noFill/>
          <a:ln/>
        </p:spPr>
        <p:txBody>
          <a:bodyPr wrap="square" lIns="0" tIns="0" rIns="0" bIns="0" rtlCol="0" anchor="t"/>
          <a:lstStyle/>
          <a:p>
            <a:pPr indent="0" marL="0">
              <a:buNone/>
            </a:pPr>
            <a:r>
              <a:rPr lang="en-US" sz="1400" dirty="0">
                <a:solidFill>
                  <a:schemeClr val="tx1"/>
                </a:solidFill>
              </a:rPr>
              <a:t>1. Remove the lamp:  Q = I / (G∗I)</a:t>
            </a:r>
            <a:endParaRPr lang="en-US" sz="1400" dirty="0"/>
          </a:p>
          <a:p>
            <a:pPr indent="0" marL="0">
              <a:buNone/>
            </a:pPr>
            <a:r>
              <a:rPr lang="en-US" sz="1400" dirty="0">
                <a:solidFill>
                  <a:schemeClr val="tx1"/>
                </a:solidFill>
              </a:rPr>
              <a:t>2. Genuine portrait:  T = median of Q over genuine notes</a:t>
            </a:r>
            <a:endParaRPr lang="en-US" sz="1400" dirty="0"/>
          </a:p>
          <a:p>
            <a:pPr indent="0" marL="0">
              <a:buNone/>
            </a:pPr>
            <a:r>
              <a:rPr lang="en-US" sz="1400" dirty="0">
                <a:solidFill>
                  <a:schemeClr val="tx1"/>
                </a:solidFill>
              </a:rPr>
              <a:t>3. Residual R = Q − T → two small CNN streams → "watermark clear?"</a:t>
            </a:r>
            <a:endParaRPr lang="en-US" sz="1400" dirty="0"/>
          </a:p>
        </p:txBody>
      </p:sp>
      <p:sp>
        <p:nvSpPr>
          <p:cNvPr id="5" name="DMWR stats"/>
          <p:cNvSpPr/>
          <p:nvPr/>
        </p:nvSpPr>
        <p:spPr>
          <a:xfrm>
            <a:off x="7863840" y="1325880"/>
            <a:ext cx="3749040" cy="4572000"/>
          </a:xfrm>
          <a:prstGeom prst="roundRect">
            <a:avLst>
              <a:gd name="adj" fmla="val 2927"/>
            </a:avLst>
          </a:prstGeom>
          <a:solidFill>
            <a:schemeClr val="bg2"/>
          </a:solidFill>
          <a:ln w="12700">
            <a:solidFill>
              <a:schemeClr val="bg2"/>
            </a:solidFill>
            <a:prstDash val="solid"/>
          </a:ln>
        </p:spPr>
      </p:sp>
      <p:sp>
        <p:nvSpPr>
          <p:cNvPr id="6" name="DMWR acc value"/>
          <p:cNvSpPr txBox="1"/>
          <p:nvPr/>
        </p:nvSpPr>
        <p:spPr>
          <a:xfrm>
            <a:off x="8138160" y="155448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91.5%</a:t>
            </a:r>
            <a:endParaRPr lang="en-US" sz="3600" dirty="0"/>
          </a:p>
        </p:txBody>
      </p:sp>
      <p:sp>
        <p:nvSpPr>
          <p:cNvPr id="7" name="DMWR acc label"/>
          <p:cNvSpPr txBox="1"/>
          <p:nvPr/>
        </p:nvSpPr>
        <p:spPr>
          <a:xfrm>
            <a:off x="8138160" y="2240280"/>
            <a:ext cx="3291840" cy="548640"/>
          </a:xfrm>
          <a:prstGeom prst="rect">
            <a:avLst/>
          </a:prstGeom>
          <a:noFill/>
          <a:ln/>
        </p:spPr>
        <p:txBody>
          <a:bodyPr wrap="square" lIns="0" tIns="0" rIns="0" bIns="0" rtlCol="0" anchor="t"/>
          <a:lstStyle/>
          <a:p>
            <a:pPr indent="0" marL="0">
              <a:buNone/>
            </a:pPr>
            <a:r>
              <a:rPr lang="en-US" sz="1300" dirty="0">
                <a:solidFill>
                  <a:schemeClr val="tx1"/>
                </a:solidFill>
              </a:rPr>
              <a:t>on unseen counterfeit prints (3 seeds, ±0.3)</a:t>
            </a:r>
            <a:endParaRPr lang="en-US" sz="1300" dirty="0"/>
          </a:p>
        </p:txBody>
      </p:sp>
      <p:sp>
        <p:nvSpPr>
          <p:cNvPr id="8" name="DMWR params value"/>
          <p:cNvSpPr txBox="1"/>
          <p:nvPr/>
        </p:nvSpPr>
        <p:spPr>
          <a:xfrm>
            <a:off x="8138160" y="292608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47,818</a:t>
            </a:r>
            <a:endParaRPr lang="en-US" sz="3600" dirty="0"/>
          </a:p>
        </p:txBody>
      </p:sp>
      <p:sp>
        <p:nvSpPr>
          <p:cNvPr id="9" name="DMWR params label"/>
          <p:cNvSpPr txBox="1"/>
          <p:nvPr/>
        </p:nvSpPr>
        <p:spPr>
          <a:xfrm>
            <a:off x="8138160" y="3611880"/>
            <a:ext cx="3291840" cy="548640"/>
          </a:xfrm>
          <a:prstGeom prst="rect">
            <a:avLst/>
          </a:prstGeom>
          <a:noFill/>
          <a:ln/>
        </p:spPr>
        <p:txBody>
          <a:bodyPr wrap="square" lIns="0" tIns="0" rIns="0" bIns="0" rtlCol="0" anchor="t"/>
          <a:lstStyle/>
          <a:p>
            <a:pPr indent="0" marL="0">
              <a:buNone/>
            </a:pPr>
            <a:r>
              <a:rPr lang="en-US" sz="1300" dirty="0">
                <a:solidFill>
                  <a:schemeClr val="tx1"/>
                </a:solidFill>
              </a:rPr>
              <a:t>parameters (0.21 MB): 46× smaller than MobileNetV2 [18]</a:t>
            </a:r>
            <a:endParaRPr lang="en-US" sz="1300" dirty="0"/>
          </a:p>
        </p:txBody>
      </p:sp>
      <p:sp>
        <p:nvSpPr>
          <p:cNvPr id="10" name="DMWR p value"/>
          <p:cNvSpPr txBox="1"/>
          <p:nvPr/>
        </p:nvSpPr>
        <p:spPr>
          <a:xfrm>
            <a:off x="8138160" y="429768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p ≥ 0.375</a:t>
            </a:r>
            <a:endParaRPr lang="en-US" sz="3600" dirty="0"/>
          </a:p>
        </p:txBody>
      </p:sp>
      <p:sp>
        <p:nvSpPr>
          <p:cNvPr id="11" name="DMWR p label"/>
          <p:cNvSpPr txBox="1"/>
          <p:nvPr/>
        </p:nvSpPr>
        <p:spPr>
          <a:xfrm>
            <a:off x="8138160" y="4983480"/>
            <a:ext cx="3291840" cy="548640"/>
          </a:xfrm>
          <a:prstGeom prst="rect">
            <a:avLst/>
          </a:prstGeom>
          <a:noFill/>
          <a:ln/>
        </p:spPr>
        <p:txBody>
          <a:bodyPr wrap="square" lIns="0" tIns="0" rIns="0" bIns="0" rtlCol="0" anchor="t"/>
          <a:lstStyle/>
          <a:p>
            <a:pPr indent="0" marL="0">
              <a:buNone/>
            </a:pPr>
            <a:r>
              <a:rPr lang="en-US" sz="1300" dirty="0">
                <a:solidFill>
                  <a:schemeClr val="tx1"/>
                </a:solidFill>
              </a:rPr>
              <a:t>no significant difference from MobileNetV2 (92.9%)</a:t>
            </a:r>
            <a:endParaRPr lang="en-US" sz="1300" dirty="0"/>
          </a:p>
        </p:txBody>
      </p:sp>
      <p:sp>
        <p:nvSpPr>
          <p:cNvPr id="1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Baseline [18] Sandler et al., MobileNetV2, CVPR 2018; data [14] JaalTaka. DMWR (denomination-matched watermark residual) is our method.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Safe before decisive: the glass never says "counterfeit"</a:t>
            </a:r>
            <a:endParaRPr lang="en-US" sz="3000" dirty="0"/>
          </a:p>
        </p:txBody>
      </p:sp>
      <p:sp>
        <p:nvSpPr>
          <p:cNvPr id="3" name="Note circle"/>
          <p:cNvSpPr/>
          <p:nvPr/>
        </p:nvSpPr>
        <p:spPr>
          <a:xfrm>
            <a:off x="731520" y="2240280"/>
            <a:ext cx="1097280" cy="1097280"/>
          </a:xfrm>
          <a:prstGeom prst="ellipse">
            <a:avLst/>
          </a:prstGeom>
          <a:solidFill>
            <a:srgbClr val="0B4D3B"/>
          </a:solidFill>
          <a:ln w="12700">
            <a:solidFill>
              <a:srgbClr val="0B4D3B"/>
            </a:solidFill>
            <a:prstDash val="solid"/>
          </a:ln>
        </p:spPr>
      </p:sp>
      <p:pic>
        <p:nvPicPr>
          <p:cNvPr id="4" name="Note icon" descr="preencoded.png">    </p:cNvPr>
          <p:cNvPicPr>
            <a:picLocks noChangeAspect="1"/>
          </p:cNvPicPr>
          <p:nvPr/>
        </p:nvPicPr>
        <p:blipFill>
          <a:blip r:embed="rId1"/>
          <a:stretch>
            <a:fillRect/>
          </a:stretch>
        </p:blipFill>
        <p:spPr>
          <a:xfrm>
            <a:off x="994867" y="2503627"/>
            <a:ext cx="570586" cy="570586"/>
          </a:xfrm>
          <a:prstGeom prst="rect">
            <a:avLst/>
          </a:prstGeom>
        </p:spPr>
      </p:pic>
      <p:sp>
        <p:nvSpPr>
          <p:cNvPr id="5" name="Note label"/>
          <p:cNvSpPr txBox="1"/>
          <p:nvPr/>
        </p:nvSpPr>
        <p:spPr>
          <a:xfrm>
            <a:off x="411480" y="3429000"/>
            <a:ext cx="1737360" cy="365760"/>
          </a:xfrm>
          <a:prstGeom prst="rect">
            <a:avLst/>
          </a:prstGeom>
          <a:noFill/>
          <a:ln/>
        </p:spPr>
        <p:txBody>
          <a:bodyPr wrap="square" lIns="0" tIns="0" rIns="0" bIns="0" rtlCol="0" anchor="ctr"/>
          <a:lstStyle/>
          <a:p>
            <a:pPr algn="ctr" indent="0" marL="0">
              <a:buNone/>
            </a:pPr>
            <a:r>
              <a:rPr lang="en-US" sz="1400" dirty="0">
                <a:solidFill>
                  <a:schemeClr val="tx1"/>
                </a:solidFill>
              </a:rPr>
              <a:t>Note captured</a:t>
            </a:r>
            <a:endParaRPr lang="en-US" sz="1400" dirty="0"/>
          </a:p>
        </p:txBody>
      </p:sp>
      <p:sp>
        <p:nvSpPr>
          <p:cNvPr id="6" name="Decision"/>
          <p:cNvSpPr txBox="1"/>
          <p:nvPr/>
        </p:nvSpPr>
        <p:spPr>
          <a:xfrm>
            <a:off x="2651760" y="1783080"/>
            <a:ext cx="2560320" cy="2011680"/>
          </a:xfrm>
          <a:prstGeom prst="diamond">
            <a:avLst/>
          </a:prstGeom>
          <a:solidFill>
            <a:srgbClr val="EEF5F1"/>
          </a:solidFill>
          <a:ln w="19050">
            <a:solidFill>
              <a:srgbClr val="006A4E"/>
            </a:solidFill>
          </a:ln>
        </p:spPr>
        <p:txBody>
          <a:bodyPr wrap="square" lIns="2540" tIns="2540" rIns="2540" bIns="2540" rtlCol="0" anchor="ctr"/>
          <a:lstStyle/>
          <a:p>
            <a:pPr algn="ctr" indent="0" marL="0">
              <a:buNone/>
            </a:pPr>
            <a:r>
              <a:rPr lang="en-US" sz="1500" b="1" dirty="0">
                <a:solidFill>
                  <a:srgbClr val="0B4D3B"/>
                </a:solidFill>
              </a:rPr>
              <a:t>Score above the safe threshold?</a:t>
            </a:r>
            <a:endParaRPr lang="en-US" sz="1500" dirty="0"/>
          </a:p>
        </p:txBody>
      </p:sp>
      <p:sp>
        <p:nvSpPr>
          <p:cNvPr id="7" name="Arrow in"/>
          <p:cNvSpPr/>
          <p:nvPr/>
        </p:nvSpPr>
        <p:spPr>
          <a:xfrm>
            <a:off x="1828800" y="2788920"/>
            <a:ext cx="822960" cy="0"/>
          </a:xfrm>
          <a:prstGeom prst="line">
            <a:avLst/>
          </a:prstGeom>
          <a:noFill/>
          <a:ln w="15875">
            <a:solidFill>
              <a:srgbClr val="9DB8AD"/>
            </a:solidFill>
            <a:prstDash val="solid"/>
            <a:tailEnd type="triangle"/>
          </a:ln>
        </p:spPr>
      </p:sp>
      <p:sp>
        <p:nvSpPr>
          <p:cNvPr id="8" name="Genuine box"/>
          <p:cNvSpPr txBox="1"/>
          <p:nvPr/>
        </p:nvSpPr>
        <p:spPr>
          <a:xfrm>
            <a:off x="6035040" y="1463040"/>
            <a:ext cx="2743200" cy="822960"/>
          </a:xfrm>
          <a:prstGeom prst="roundRect">
            <a:avLst>
              <a:gd name="adj" fmla="val 11111"/>
            </a:avLst>
          </a:prstGeom>
          <a:solidFill>
            <a:srgbClr val="006A4E"/>
          </a:solidFill>
          <a:ln>
            <a:solidFill>
              <a:srgbClr val="006A4E"/>
            </a:solidFill>
          </a:ln>
        </p:spPr>
        <p:txBody>
          <a:bodyPr wrap="square" rtlCol="0" anchor="ctr"/>
          <a:lstStyle/>
          <a:p>
            <a:pPr algn="ctr" indent="0" marL="0">
              <a:buNone/>
            </a:pPr>
            <a:r>
              <a:rPr lang="en-US" sz="1800" b="1" dirty="0">
                <a:solidFill>
                  <a:srgbClr val="FFFFFF"/>
                </a:solidFill>
              </a:rPr>
              <a:t>"Likely genuine"</a:t>
            </a:r>
            <a:endParaRPr lang="en-US" sz="1800" dirty="0"/>
          </a:p>
        </p:txBody>
      </p:sp>
      <p:sp>
        <p:nvSpPr>
          <p:cNvPr id="9" name="Check box"/>
          <p:cNvSpPr txBox="1"/>
          <p:nvPr/>
        </p:nvSpPr>
        <p:spPr>
          <a:xfrm>
            <a:off x="6035040" y="3291840"/>
            <a:ext cx="2743200" cy="914400"/>
          </a:xfrm>
          <a:prstGeom prst="roundRect">
            <a:avLst>
              <a:gd name="adj" fmla="val 10000"/>
            </a:avLst>
          </a:prstGeom>
          <a:solidFill>
            <a:srgbClr val="E6A817"/>
          </a:solidFill>
          <a:ln>
            <a:solidFill>
              <a:srgbClr val="E6A817"/>
            </a:solidFill>
          </a:ln>
        </p:spPr>
        <p:txBody>
          <a:bodyPr wrap="square" rtlCol="0" anchor="ctr"/>
          <a:lstStyle/>
          <a:p>
            <a:pPr algn="ctr" indent="0" marL="0">
              <a:buNone/>
            </a:pPr>
            <a:r>
              <a:rPr lang="en-US" sz="1600" b="1" dirty="0">
                <a:solidFill>
                  <a:srgbClr val="1C2321"/>
                </a:solidFill>
              </a:rPr>
              <a:t>"Check by hand" + guided watermark check</a:t>
            </a:r>
            <a:endParaRPr lang="en-US" sz="1600" dirty="0"/>
          </a:p>
        </p:txBody>
      </p:sp>
      <p:sp>
        <p:nvSpPr>
          <p:cNvPr id="10" name="Arrow yes"/>
          <p:cNvSpPr/>
          <p:nvPr/>
        </p:nvSpPr>
        <p:spPr>
          <a:xfrm flipV="1">
            <a:off x="5212080" y="1874520"/>
            <a:ext cx="822960" cy="914400"/>
          </a:xfrm>
          <a:prstGeom prst="line">
            <a:avLst/>
          </a:prstGeom>
          <a:noFill/>
          <a:ln w="15875">
            <a:solidFill>
              <a:srgbClr val="9DB8AD"/>
            </a:solidFill>
            <a:prstDash val="solid"/>
            <a:tailEnd type="triangle"/>
          </a:ln>
        </p:spPr>
      </p:sp>
      <p:sp>
        <p:nvSpPr>
          <p:cNvPr id="11" name="Arrow no"/>
          <p:cNvSpPr/>
          <p:nvPr/>
        </p:nvSpPr>
        <p:spPr>
          <a:xfrm>
            <a:off x="5212080" y="2788920"/>
            <a:ext cx="822960" cy="960120"/>
          </a:xfrm>
          <a:prstGeom prst="line">
            <a:avLst/>
          </a:prstGeom>
          <a:noFill/>
          <a:ln w="15875">
            <a:solidFill>
              <a:srgbClr val="9DB8AD"/>
            </a:solidFill>
            <a:prstDash val="solid"/>
            <a:tailEnd type="triangle"/>
          </a:ln>
        </p:spPr>
      </p:sp>
      <p:sp>
        <p:nvSpPr>
          <p:cNvPr id="12" name="Yes label"/>
          <p:cNvSpPr txBox="1"/>
          <p:nvPr/>
        </p:nvSpPr>
        <p:spPr>
          <a:xfrm>
            <a:off x="5349240" y="187452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yes</a:t>
            </a:r>
            <a:endParaRPr lang="en-US" sz="1200" dirty="0"/>
          </a:p>
        </p:txBody>
      </p:sp>
      <p:sp>
        <p:nvSpPr>
          <p:cNvPr id="13" name="No label"/>
          <p:cNvSpPr txBox="1"/>
          <p:nvPr/>
        </p:nvSpPr>
        <p:spPr>
          <a:xfrm>
            <a:off x="5349240" y="342900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no</a:t>
            </a:r>
            <a:endParaRPr lang="en-US" sz="1200" dirty="0"/>
          </a:p>
        </p:txBody>
      </p:sp>
      <p:sp>
        <p:nvSpPr>
          <p:cNvPr id="14" name="Safety stat"/>
          <p:cNvSpPr/>
          <p:nvPr/>
        </p:nvSpPr>
        <p:spPr>
          <a:xfrm>
            <a:off x="9144000" y="1325880"/>
            <a:ext cx="2468880" cy="1783080"/>
          </a:xfrm>
          <a:prstGeom prst="roundRect">
            <a:avLst>
              <a:gd name="adj" fmla="val 6154"/>
            </a:avLst>
          </a:prstGeom>
          <a:solidFill>
            <a:schemeClr val="bg2"/>
          </a:solidFill>
          <a:ln w="12700">
            <a:solidFill>
              <a:schemeClr val="bg2"/>
            </a:solidFill>
            <a:prstDash val="solid"/>
          </a:ln>
        </p:spPr>
      </p:sp>
      <p:sp>
        <p:nvSpPr>
          <p:cNvPr id="15" name="Safety value"/>
          <p:cNvSpPr txBox="1"/>
          <p:nvPr/>
        </p:nvSpPr>
        <p:spPr>
          <a:xfrm>
            <a:off x="9372600" y="1554480"/>
            <a:ext cx="21031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 / 88</a:t>
            </a:r>
            <a:endParaRPr lang="en-US" sz="3600" dirty="0"/>
          </a:p>
        </p:txBody>
      </p:sp>
      <p:sp>
        <p:nvSpPr>
          <p:cNvPr id="16" name="Safety label"/>
          <p:cNvSpPr txBox="1"/>
          <p:nvPr/>
        </p:nvSpPr>
        <p:spPr>
          <a:xfrm>
            <a:off x="9372600" y="2240280"/>
            <a:ext cx="2103120" cy="548640"/>
          </a:xfrm>
          <a:prstGeom prst="rect">
            <a:avLst/>
          </a:prstGeom>
          <a:noFill/>
          <a:ln/>
        </p:spPr>
        <p:txBody>
          <a:bodyPr wrap="square" lIns="0" tIns="0" rIns="0" bIns="0" rtlCol="0" anchor="t"/>
          <a:lstStyle/>
          <a:p>
            <a:pPr indent="0" marL="0">
              <a:buNone/>
            </a:pPr>
            <a:r>
              <a:rPr lang="en-US" sz="1300" dirty="0">
                <a:solidFill>
                  <a:schemeClr val="tx1"/>
                </a:solidFill>
              </a:rPr>
              <a:t>test counterfeits passed as "likely genuine"</a:t>
            </a:r>
            <a:endParaRPr lang="en-US" sz="1300" dirty="0"/>
          </a:p>
        </p:txBody>
      </p:sp>
      <p:sp>
        <p:nvSpPr>
          <p:cNvPr id="17" name="Safety text"/>
          <p:cNvSpPr txBox="1"/>
          <p:nvPr/>
        </p:nvSpPr>
        <p:spPr>
          <a:xfrm>
            <a:off x="548640" y="4663440"/>
            <a:ext cx="11064240" cy="1097280"/>
          </a:xfrm>
          <a:prstGeom prst="rect">
            <a:avLst/>
          </a:prstGeom>
          <a:noFill/>
          <a:ln/>
        </p:spPr>
        <p:txBody>
          <a:bodyPr wrap="square" lIns="0" tIns="0" rIns="0" bIns="0" rtlCol="0" anchor="t"/>
          <a:lstStyle/>
          <a:p>
            <a:pPr indent="0" marL="0">
              <a:buNone/>
            </a:pPr>
            <a:r>
              <a:rPr lang="en-US" sz="1500" dirty="0">
                <a:solidFill>
                  <a:schemeClr val="tx1"/>
                </a:solidFill>
              </a:rPr>
              <a:t>Threshold = highest score of any validation counterfeit, so a new counterfeit passes with probability 1/(n+1) ≈ 1.1%. 57.5% of genuine notes are confirmed from close-up views; otherwise the glass asks for a check by hand.</a:t>
            </a:r>
            <a:endParaRPr lang="en-US" sz="1500" dirty="0"/>
          </a:p>
        </p:txBody>
      </p:sp>
      <p:sp>
        <p:nvSpPr>
          <p:cNvPr id="1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Test notes: [14] JaalTaka.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UV fibre check: the glass carries its own UV lamp</a:t>
            </a:r>
            <a:endParaRPr lang="en-US" sz="3000" dirty="0"/>
          </a:p>
        </p:txBody>
      </p:sp>
      <p:pic>
        <p:nvPicPr>
          <p:cNvPr id="3" name="UV fibres" descr="E:/Final SP/Thesis Report and paper/thesis report/My report/DIagram fig tab/fig_uv_fibres.jpg">    </p:cNvPr>
          <p:cNvPicPr>
            <a:picLocks noChangeAspect="1"/>
          </p:cNvPicPr>
          <p:nvPr/>
        </p:nvPicPr>
        <p:blipFill>
          <a:blip r:embed="rId1"/>
          <a:stretch>
            <a:fillRect/>
          </a:stretch>
        </p:blipFill>
        <p:spPr>
          <a:xfrm>
            <a:off x="548640" y="1325880"/>
            <a:ext cx="11064240" cy="3168174"/>
          </a:xfrm>
          <a:prstGeom prst="rect">
            <a:avLst/>
          </a:prstGeom>
        </p:spPr>
      </p:pic>
      <p:sp>
        <p:nvSpPr>
          <p:cNvPr id="4" name="UV genuine value"/>
          <p:cNvSpPr txBox="1"/>
          <p:nvPr/>
        </p:nvSpPr>
        <p:spPr>
          <a:xfrm>
            <a:off x="548640" y="46634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85.6%</a:t>
            </a:r>
            <a:endParaRPr lang="en-US" sz="3600" dirty="0"/>
          </a:p>
        </p:txBody>
      </p:sp>
      <p:sp>
        <p:nvSpPr>
          <p:cNvPr id="5" name="UV genuine label"/>
          <p:cNvSpPr txBox="1"/>
          <p:nvPr/>
        </p:nvSpPr>
        <p:spPr>
          <a:xfrm>
            <a:off x="548640" y="5349240"/>
            <a:ext cx="3291840" cy="548640"/>
          </a:xfrm>
          <a:prstGeom prst="rect">
            <a:avLst/>
          </a:prstGeom>
          <a:noFill/>
          <a:ln/>
        </p:spPr>
        <p:txBody>
          <a:bodyPr wrap="square" lIns="0" tIns="0" rIns="0" bIns="0" rtlCol="0" anchor="t"/>
          <a:lstStyle/>
          <a:p>
            <a:pPr indent="0" marL="0">
              <a:buNone/>
            </a:pPr>
            <a:r>
              <a:rPr lang="en-US" sz="1300" dirty="0">
                <a:solidFill>
                  <a:schemeClr val="tx1"/>
                </a:solidFill>
              </a:rPr>
              <a:t>of 111 real UV photos of genuine notes accepted</a:t>
            </a:r>
            <a:endParaRPr lang="en-US" sz="1300" dirty="0"/>
          </a:p>
        </p:txBody>
      </p:sp>
      <p:sp>
        <p:nvSpPr>
          <p:cNvPr id="6" name="UV sheets value"/>
          <p:cNvSpPr txBox="1"/>
          <p:nvPr/>
        </p:nvSpPr>
        <p:spPr>
          <a:xfrm>
            <a:off x="4206240" y="46634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88.6%</a:t>
            </a:r>
            <a:endParaRPr lang="en-US" sz="3600" dirty="0"/>
          </a:p>
        </p:txBody>
      </p:sp>
      <p:sp>
        <p:nvSpPr>
          <p:cNvPr id="7" name="UV sheets label"/>
          <p:cNvSpPr txBox="1"/>
          <p:nvPr/>
        </p:nvSpPr>
        <p:spPr>
          <a:xfrm>
            <a:off x="4206240" y="5349240"/>
            <a:ext cx="3291840" cy="548640"/>
          </a:xfrm>
          <a:prstGeom prst="rect">
            <a:avLst/>
          </a:prstGeom>
          <a:noFill/>
          <a:ln/>
        </p:spPr>
        <p:txBody>
          <a:bodyPr wrap="square" lIns="0" tIns="0" rIns="0" bIns="0" rtlCol="0" anchor="t"/>
          <a:lstStyle/>
          <a:p>
            <a:pPr indent="0" marL="0">
              <a:buNone/>
            </a:pPr>
            <a:r>
              <a:rPr lang="en-US" sz="1300" dirty="0">
                <a:solidFill>
                  <a:schemeClr val="tx1"/>
                </a:solidFill>
              </a:rPr>
              <a:t>of simulated fibre-free printed sheets rejected</a:t>
            </a:r>
            <a:endParaRPr lang="en-US" sz="13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The glass's lamp emits 360-395 nm, covering the 365 nm used for banknote checks; banknote paper stays dark while its fibres glow [20]. Prior Taka UV work: [19] (96.3%). Fibre check and photos are ours.</a:t>
            </a:r>
            <a:endParaRPr lang="en-US" sz="1000" dirty="0"/>
          </a:p>
        </p:txBody>
      </p:sp>
      <p:sp>
        <p:nvSpPr>
          <p:cNvPr id="9" name="UV caveat"/>
          <p:cNvSpPr txBox="1"/>
          <p:nvPr/>
        </p:nvSpPr>
        <p:spPr>
          <a:xfrm>
            <a:off x="7863840" y="4663440"/>
            <a:ext cx="3749040" cy="1188720"/>
          </a:xfrm>
          <a:prstGeom prst="rect">
            <a:avLst/>
          </a:prstGeom>
          <a:noFill/>
          <a:ln/>
        </p:spPr>
        <p:txBody>
          <a:bodyPr wrap="square" lIns="0" tIns="0" rIns="0" bIns="0" rtlCol="0" anchor="t"/>
          <a:lstStyle/>
          <a:p>
            <a:pPr indent="0" marL="0">
              <a:buNone/>
            </a:pPr>
            <a:r>
              <a:rPr lang="en-US" sz="1500" i="1" dirty="0">
                <a:solidFill>
                  <a:schemeClr val="accent2"/>
                </a:solidFill>
              </a:rPr>
              <a:t>A prototype, off by default: no real counterfeit has been photographed under the lamp yet.</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Bangla reading: rendered text and real street photos</a:t>
            </a:r>
            <a:endParaRPr lang="en-US" sz="3000" dirty="0"/>
          </a:p>
        </p:txBody>
      </p:sp>
      <p:graphicFrame>
        <p:nvGraphicFramePr>
          <p:cNvPr id="3" name="OCR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Helped heading"/>
          <p:cNvSpPr txBox="1"/>
          <p:nvPr/>
        </p:nvSpPr>
        <p:spPr>
          <a:xfrm>
            <a:off x="7863840" y="1325880"/>
            <a:ext cx="374904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helped</a:t>
            </a:r>
            <a:endParaRPr lang="en-US" sz="2000" dirty="0"/>
          </a:p>
        </p:txBody>
      </p:sp>
      <p:sp>
        <p:nvSpPr>
          <p:cNvPr id="5" name="Helped list"/>
          <p:cNvSpPr txBox="1"/>
          <p:nvPr/>
        </p:nvSpPr>
        <p:spPr>
          <a:xfrm>
            <a:off x="7863840" y="1783080"/>
            <a:ext cx="37490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Reading only the main block of text</a:t>
            </a:r>
            <a:endParaRPr lang="en-US" sz="1500" dirty="0"/>
          </a:p>
          <a:p>
            <a:pPr marL="342900" indent="-342900">
              <a:spcAft>
                <a:spcPts val="800"/>
              </a:spcAft>
              <a:buSzPct val="100000"/>
              <a:buChar char="•"/>
            </a:pPr>
            <a:r>
              <a:rPr lang="en-US" sz="1500" dirty="0">
                <a:solidFill>
                  <a:schemeClr val="tx1"/>
                </a:solidFill>
              </a:rPr>
              <a:t>Tuned detector settings, CLAHE, clean-up rules</a:t>
            </a:r>
            <a:endParaRPr lang="en-US" sz="1500" dirty="0"/>
          </a:p>
          <a:p>
            <a:pPr marL="342900" indent="-342900">
              <a:spcAft>
                <a:spcPts val="800"/>
              </a:spcAft>
              <a:buSzPct val="100000"/>
              <a:buChar char="•"/>
            </a:pPr>
            <a:r>
              <a:rPr lang="en-US" sz="1500" dirty="0">
                <a:solidFill>
                  <a:schemeClr val="tx1"/>
                </a:solidFill>
              </a:rPr>
              <a:t>Recogniser fine-tuned on real words, blended 50/50 with the original weights</a:t>
            </a:r>
            <a:endParaRPr lang="en-US" sz="1500" dirty="0"/>
          </a:p>
        </p:txBody>
      </p:sp>
      <p:sp>
        <p:nvSpPr>
          <p:cNvPr id="6" name="Not heading"/>
          <p:cNvSpPr txBox="1"/>
          <p:nvPr/>
        </p:nvSpPr>
        <p:spPr>
          <a:xfrm>
            <a:off x="7863840" y="3840480"/>
            <a:ext cx="374904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did not</a:t>
            </a:r>
            <a:endParaRPr lang="en-US" sz="2000" dirty="0"/>
          </a:p>
        </p:txBody>
      </p:sp>
      <p:sp>
        <p:nvSpPr>
          <p:cNvPr id="7" name="Not list"/>
          <p:cNvSpPr txBox="1"/>
          <p:nvPr/>
        </p:nvSpPr>
        <p:spPr>
          <a:xfrm>
            <a:off x="7863840" y="4297680"/>
            <a:ext cx="3749040" cy="1280160"/>
          </a:xfrm>
          <a:prstGeom prst="rect">
            <a:avLst/>
          </a:prstGeom>
          <a:noFill/>
          <a:ln/>
        </p:spPr>
        <p:txBody>
          <a:bodyPr wrap="square" lIns="0" tIns="0" rIns="0" bIns="0" rtlCol="0" anchor="t"/>
          <a:lstStyle/>
          <a:p>
            <a:pPr indent="0" marL="0">
              <a:buNone/>
            </a:pPr>
            <a:r>
              <a:rPr lang="en-US" sz="1500" dirty="0">
                <a:solidFill>
                  <a:schemeClr val="tx1"/>
                </a:solidFill>
              </a:rPr>
              <a:t>Binarisation, multi-scale reading, Tesseract, TrOCR, PaddleOCR, dictionaries, smaller pictures, rotation retry</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Engine [6] EasyOCR with [5] CRAFT; real words from [21] ICDAR 2019 MLT (1,000 test words). Every choice made on validation data.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Voice: a natural Bangla voice and spoken commands</a:t>
            </a:r>
            <a:endParaRPr lang="en-US" sz="3000" dirty="0"/>
          </a:p>
        </p:txBody>
      </p:sp>
      <p:sp>
        <p:nvSpPr>
          <p:cNvPr id="3" name="Speech card"/>
          <p:cNvSpPr/>
          <p:nvPr/>
        </p:nvSpPr>
        <p:spPr>
          <a:xfrm>
            <a:off x="548640" y="1325880"/>
            <a:ext cx="3657600" cy="4526280"/>
          </a:xfrm>
          <a:prstGeom prst="roundRect">
            <a:avLst>
              <a:gd name="adj" fmla="val 3000"/>
            </a:avLst>
          </a:prstGeom>
          <a:solidFill>
            <a:schemeClr val="bg2"/>
          </a:solidFill>
          <a:ln w="12700">
            <a:solidFill>
              <a:schemeClr val="bg2"/>
            </a:solidFill>
            <a:prstDash val="solid"/>
          </a:ln>
        </p:spPr>
      </p:sp>
      <p:sp>
        <p:nvSpPr>
          <p:cNvPr id="4" name="Voice circle"/>
          <p:cNvSpPr/>
          <p:nvPr/>
        </p:nvSpPr>
        <p:spPr>
          <a:xfrm>
            <a:off x="822960" y="1554480"/>
            <a:ext cx="777240" cy="777240"/>
          </a:xfrm>
          <a:prstGeom prst="ellipse">
            <a:avLst/>
          </a:prstGeom>
          <a:solidFill>
            <a:srgbClr val="006A4E"/>
          </a:solidFill>
          <a:ln w="12700">
            <a:solidFill>
              <a:srgbClr val="006A4E"/>
            </a:solidFill>
            <a:prstDash val="solid"/>
          </a:ln>
        </p:spPr>
      </p:sp>
      <p:pic>
        <p:nvPicPr>
          <p:cNvPr id="5" name="Voice icon" descr="preencoded.png">    </p:cNvPr>
          <p:cNvPicPr>
            <a:picLocks noChangeAspect="1"/>
          </p:cNvPicPr>
          <p:nvPr/>
        </p:nvPicPr>
        <p:blipFill>
          <a:blip r:embed="rId1"/>
          <a:stretch>
            <a:fillRect/>
          </a:stretch>
        </p:blipFill>
        <p:spPr>
          <a:xfrm>
            <a:off x="1009498" y="1741018"/>
            <a:ext cx="404165" cy="404165"/>
          </a:xfrm>
          <a:prstGeom prst="rect">
            <a:avLst/>
          </a:prstGeom>
        </p:spPr>
      </p:pic>
      <p:sp>
        <p:nvSpPr>
          <p:cNvPr id="6" name="Speaking heading"/>
          <p:cNvSpPr txBox="1"/>
          <p:nvPr/>
        </p:nvSpPr>
        <p:spPr>
          <a:xfrm>
            <a:off x="1783080" y="1691640"/>
            <a:ext cx="22860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Speaking</a:t>
            </a:r>
            <a:endParaRPr lang="en-US" sz="2000" dirty="0"/>
          </a:p>
        </p:txBody>
      </p:sp>
      <p:sp>
        <p:nvSpPr>
          <p:cNvPr id="7" name="Speaking list"/>
          <p:cNvSpPr txBox="1"/>
          <p:nvPr/>
        </p:nvSpPr>
        <p:spPr>
          <a:xfrm>
            <a:off x="822960" y="2560320"/>
            <a:ext cx="32004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Natural Piper voice for Bangla and English [10]; eSpeak NG as fallback [11]</a:t>
            </a:r>
            <a:endParaRPr lang="en-US" sz="1500" dirty="0"/>
          </a:p>
          <a:p>
            <a:pPr marL="342900" indent="-342900">
              <a:spcAft>
                <a:spcPts val="1000"/>
              </a:spcAft>
              <a:buSzPct val="100000"/>
              <a:buChar char="•"/>
            </a:pPr>
            <a:r>
              <a:rPr lang="en-US" sz="1500" dirty="0">
                <a:solidFill>
                  <a:schemeClr val="tx1"/>
                </a:solidFill>
              </a:rPr>
              <a:t>Each sentence rendered before it plays: no broken sound when the Pi is busy</a:t>
            </a:r>
            <a:endParaRPr lang="en-US" sz="1500" dirty="0"/>
          </a:p>
          <a:p>
            <a:pPr marL="342900" indent="-342900">
              <a:spcAft>
                <a:spcPts val="1000"/>
              </a:spcAft>
              <a:buSzPct val="100000"/>
              <a:buChar char="•"/>
            </a:pPr>
            <a:r>
              <a:rPr lang="en-US" sz="1500" dirty="0">
                <a:solidFill>
                  <a:schemeClr val="tx1"/>
                </a:solidFill>
              </a:rPr>
              <a:t>"পড়ছি" (reading) and a soft tick while a long capture runs</a:t>
            </a:r>
            <a:endParaRPr lang="en-US" sz="1500" dirty="0"/>
          </a:p>
        </p:txBody>
      </p:sp>
      <p:graphicFrame>
        <p:nvGraphicFramePr>
          <p:cNvPr id="8" name="Voice chart" descr=""/>
          <p:cNvGraphicFramePr/>
          <p:nvPr/>
        </p:nvGraphicFramePr>
        <p:xfrm>
          <a:off x="4480560" y="1325880"/>
          <a:ext cx="4572000" cy="4526280"/>
        </p:xfrm>
        <a:graphic xmlns:a="http://schemas.openxmlformats.org/drawingml/2006/main">
          <a:graphicData uri="http://schemas.openxmlformats.org/drawingml/2006/chart">
            <c:chart xmlns:c="http://schemas.openxmlformats.org/drawingml/2006/chart" r:id="rId2"/>
          </a:graphicData>
        </a:graphic>
      </p:graphicFrame>
      <p:sp>
        <p:nvSpPr>
          <p:cNvPr id="9" name="False commands value"/>
          <p:cNvSpPr txBox="1"/>
          <p:nvPr/>
        </p:nvSpPr>
        <p:spPr>
          <a:xfrm>
            <a:off x="9326880" y="146304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212 → 13</a:t>
            </a:r>
            <a:endParaRPr lang="en-US" sz="3600" dirty="0"/>
          </a:p>
        </p:txBody>
      </p:sp>
      <p:sp>
        <p:nvSpPr>
          <p:cNvPr id="10" name="False commands label"/>
          <p:cNvSpPr txBox="1"/>
          <p:nvPr/>
        </p:nvSpPr>
        <p:spPr>
          <a:xfrm>
            <a:off x="9326880" y="2148840"/>
            <a:ext cx="2286000" cy="548640"/>
          </a:xfrm>
          <a:prstGeom prst="rect">
            <a:avLst/>
          </a:prstGeom>
          <a:noFill/>
          <a:ln/>
        </p:spPr>
        <p:txBody>
          <a:bodyPr wrap="square" lIns="0" tIns="0" rIns="0" bIns="0" rtlCol="0" anchor="t"/>
          <a:lstStyle/>
          <a:p>
            <a:pPr indent="0" marL="0">
              <a:buNone/>
            </a:pPr>
            <a:r>
              <a:rPr lang="en-US" sz="1300" dirty="0">
                <a:solidFill>
                  <a:schemeClr val="tx1"/>
                </a:solidFill>
              </a:rPr>
              <a:t>false commands in 5,040 ordinary sentences, thanks to the wake word</a:t>
            </a:r>
            <a:endParaRPr lang="en-US" sz="1300" dirty="0"/>
          </a:p>
        </p:txBody>
      </p:sp>
      <p:sp>
        <p:nvSpPr>
          <p:cNvPr id="11" name="Response value"/>
          <p:cNvSpPr txBox="1"/>
          <p:nvPr/>
        </p:nvSpPr>
        <p:spPr>
          <a:xfrm>
            <a:off x="9326880" y="324612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0.86 s</a:t>
            </a:r>
            <a:endParaRPr lang="en-US" sz="3600" dirty="0"/>
          </a:p>
        </p:txBody>
      </p:sp>
      <p:sp>
        <p:nvSpPr>
          <p:cNvPr id="12" name="Response label"/>
          <p:cNvSpPr txBox="1"/>
          <p:nvPr/>
        </p:nvSpPr>
        <p:spPr>
          <a:xfrm>
            <a:off x="9326880" y="3931920"/>
            <a:ext cx="2286000" cy="548640"/>
          </a:xfrm>
          <a:prstGeom prst="rect">
            <a:avLst/>
          </a:prstGeom>
          <a:noFill/>
          <a:ln/>
        </p:spPr>
        <p:txBody>
          <a:bodyPr wrap="square" lIns="0" tIns="0" rIns="0" bIns="0" rtlCol="0" anchor="t"/>
          <a:lstStyle/>
          <a:p>
            <a:pPr indent="0" marL="0">
              <a:buNone/>
            </a:pPr>
            <a:r>
              <a:rPr lang="en-US" sz="1300" dirty="0">
                <a:solidFill>
                  <a:schemeClr val="tx1"/>
                </a:solidFill>
              </a:rPr>
              <a:t>from the end of speech to the action (median)</a:t>
            </a:r>
            <a:endParaRPr lang="en-US" sz="1300" dirty="0"/>
          </a:p>
        </p:txBody>
      </p:sp>
      <p:sp>
        <p:nvSpPr>
          <p:cNvPr id="13" name="Voice caveat"/>
          <p:cNvSpPr txBox="1"/>
          <p:nvPr/>
        </p:nvSpPr>
        <p:spPr>
          <a:xfrm>
            <a:off x="9326880" y="4937760"/>
            <a:ext cx="2286000" cy="822960"/>
          </a:xfrm>
          <a:prstGeom prst="rect">
            <a:avLst/>
          </a:prstGeom>
          <a:noFill/>
          <a:ln/>
        </p:spPr>
        <p:txBody>
          <a:bodyPr wrap="square" lIns="0" tIns="0" rIns="0" bIns="0" rtlCol="0" anchor="t"/>
          <a:lstStyle/>
          <a:p>
            <a:pPr indent="0" marL="0">
              <a:buNone/>
            </a:pPr>
            <a:r>
              <a:rPr lang="en-US" sz="1300" i="1" dirty="0">
                <a:solidFill>
                  <a:schemeClr val="accent2"/>
                </a:solidFill>
              </a:rPr>
              <a:t>Synthetic voices on a laptop; not yet people.</a:t>
            </a:r>
            <a:endParaRPr lang="en-US" sz="1300" dirty="0"/>
          </a:p>
        </p:txBody>
      </p:sp>
      <p:sp>
        <p:nvSpPr>
          <p:cNvPr id="14"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Recogniser [22] Vosk; noise from [23] Piczak, ESC-50; voices [10, 11]. Results: paper_evidence/VOICE_COMMANDS_FAST.md.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Running on the Raspberry Pi 5</a:t>
            </a:r>
            <a:endParaRPr lang="en-US" sz="3000" dirty="0"/>
          </a:p>
        </p:txBody>
      </p:sp>
      <p:sp>
        <p:nvSpPr>
          <p:cNvPr id="3" name="Pi stat 1"/>
          <p:cNvSpPr/>
          <p:nvPr/>
        </p:nvSpPr>
        <p:spPr>
          <a:xfrm>
            <a:off x="548640" y="1325880"/>
            <a:ext cx="2331720" cy="2011680"/>
          </a:xfrm>
          <a:prstGeom prst="roundRect">
            <a:avLst>
              <a:gd name="adj" fmla="val 5455"/>
            </a:avLst>
          </a:prstGeom>
          <a:solidFill>
            <a:schemeClr val="bg2"/>
          </a:solidFill>
          <a:ln w="12700">
            <a:solidFill>
              <a:schemeClr val="bg2"/>
            </a:solidFill>
            <a:prstDash val="solid"/>
          </a:ln>
        </p:spPr>
      </p:sp>
      <p:sp>
        <p:nvSpPr>
          <p:cNvPr id="4" name="Pi 1 value"/>
          <p:cNvSpPr txBox="1"/>
          <p:nvPr/>
        </p:nvSpPr>
        <p:spPr>
          <a:xfrm>
            <a:off x="7772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399 ms</a:t>
            </a:r>
            <a:endParaRPr lang="en-US" sz="3600" dirty="0"/>
          </a:p>
        </p:txBody>
      </p:sp>
      <p:sp>
        <p:nvSpPr>
          <p:cNvPr id="5" name="Pi 1 label"/>
          <p:cNvSpPr txBox="1"/>
          <p:nvPr/>
        </p:nvSpPr>
        <p:spPr>
          <a:xfrm>
            <a:off x="777240" y="2286000"/>
            <a:ext cx="1920240" cy="548640"/>
          </a:xfrm>
          <a:prstGeom prst="rect">
            <a:avLst/>
          </a:prstGeom>
          <a:noFill/>
          <a:ln/>
        </p:spPr>
        <p:txBody>
          <a:bodyPr wrap="square" lIns="0" tIns="0" rIns="0" bIns="0" rtlCol="0" anchor="t"/>
          <a:lstStyle/>
          <a:p>
            <a:pPr indent="0" marL="0">
              <a:buNone/>
            </a:pPr>
            <a:r>
              <a:rPr lang="en-US" sz="1300" dirty="0">
                <a:solidFill>
                  <a:schemeClr val="tx1"/>
                </a:solidFill>
              </a:rPr>
              <a:t>currency check, end to end</a:t>
            </a:r>
            <a:endParaRPr lang="en-US" sz="1300" dirty="0"/>
          </a:p>
        </p:txBody>
      </p:sp>
      <p:sp>
        <p:nvSpPr>
          <p:cNvPr id="6" name="Pi stat 2"/>
          <p:cNvSpPr/>
          <p:nvPr/>
        </p:nvSpPr>
        <p:spPr>
          <a:xfrm>
            <a:off x="3063240" y="1325880"/>
            <a:ext cx="2331720" cy="2011680"/>
          </a:xfrm>
          <a:prstGeom prst="roundRect">
            <a:avLst>
              <a:gd name="adj" fmla="val 5455"/>
            </a:avLst>
          </a:prstGeom>
          <a:solidFill>
            <a:schemeClr val="bg2"/>
          </a:solidFill>
          <a:ln w="12700">
            <a:solidFill>
              <a:schemeClr val="bg2"/>
            </a:solidFill>
            <a:prstDash val="solid"/>
          </a:ln>
        </p:spPr>
      </p:sp>
      <p:sp>
        <p:nvSpPr>
          <p:cNvPr id="7" name="Pi 2 value"/>
          <p:cNvSpPr txBox="1"/>
          <p:nvPr/>
        </p:nvSpPr>
        <p:spPr>
          <a:xfrm>
            <a:off x="32918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64 ms</a:t>
            </a:r>
            <a:endParaRPr lang="en-US" sz="3600" dirty="0"/>
          </a:p>
        </p:txBody>
      </p:sp>
      <p:sp>
        <p:nvSpPr>
          <p:cNvPr id="8" name="Pi 2 label"/>
          <p:cNvSpPr txBox="1"/>
          <p:nvPr/>
        </p:nvSpPr>
        <p:spPr>
          <a:xfrm>
            <a:off x="3291840" y="2286000"/>
            <a:ext cx="1920240" cy="548640"/>
          </a:xfrm>
          <a:prstGeom prst="rect">
            <a:avLst/>
          </a:prstGeom>
          <a:noFill/>
          <a:ln/>
        </p:spPr>
        <p:txBody>
          <a:bodyPr wrap="square" lIns="0" tIns="0" rIns="0" bIns="0" rtlCol="0" anchor="t"/>
          <a:lstStyle/>
          <a:p>
            <a:pPr indent="0" marL="0">
              <a:buNone/>
            </a:pPr>
            <a:r>
              <a:rPr lang="en-US" sz="1300" dirty="0">
                <a:solidFill>
                  <a:schemeClr val="tx1"/>
                </a:solidFill>
              </a:rPr>
              <a:t>watermark check</a:t>
            </a:r>
            <a:endParaRPr lang="en-US" sz="1300" dirty="0"/>
          </a:p>
        </p:txBody>
      </p:sp>
      <p:sp>
        <p:nvSpPr>
          <p:cNvPr id="9" name="Pi stat 3"/>
          <p:cNvSpPr/>
          <p:nvPr/>
        </p:nvSpPr>
        <p:spPr>
          <a:xfrm>
            <a:off x="5577840" y="1325880"/>
            <a:ext cx="2331720" cy="2011680"/>
          </a:xfrm>
          <a:prstGeom prst="roundRect">
            <a:avLst>
              <a:gd name="adj" fmla="val 5455"/>
            </a:avLst>
          </a:prstGeom>
          <a:solidFill>
            <a:schemeClr val="bg2"/>
          </a:solidFill>
          <a:ln w="12700">
            <a:solidFill>
              <a:schemeClr val="bg2"/>
            </a:solidFill>
            <a:prstDash val="solid"/>
          </a:ln>
        </p:spPr>
      </p:sp>
      <p:sp>
        <p:nvSpPr>
          <p:cNvPr id="10" name="Pi 3 value"/>
          <p:cNvSpPr txBox="1"/>
          <p:nvPr/>
        </p:nvSpPr>
        <p:spPr>
          <a:xfrm>
            <a:off x="58064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562 ms</a:t>
            </a:r>
            <a:endParaRPr lang="en-US" sz="3600" dirty="0"/>
          </a:p>
        </p:txBody>
      </p:sp>
      <p:sp>
        <p:nvSpPr>
          <p:cNvPr id="11" name="Pi 3 label"/>
          <p:cNvSpPr txBox="1"/>
          <p:nvPr/>
        </p:nvSpPr>
        <p:spPr>
          <a:xfrm>
            <a:off x="5806440" y="2286000"/>
            <a:ext cx="1920240" cy="548640"/>
          </a:xfrm>
          <a:prstGeom prst="rect">
            <a:avLst/>
          </a:prstGeom>
          <a:noFill/>
          <a:ln/>
        </p:spPr>
        <p:txBody>
          <a:bodyPr wrap="square" lIns="0" tIns="0" rIns="0" bIns="0" rtlCol="0" anchor="t"/>
          <a:lstStyle/>
          <a:p>
            <a:pPr indent="0" marL="0">
              <a:buNone/>
            </a:pPr>
            <a:r>
              <a:rPr lang="en-US" sz="1300" dirty="0">
                <a:solidFill>
                  <a:schemeClr val="tx1"/>
                </a:solidFill>
              </a:rPr>
              <a:t>object scan (YOLOv8s)</a:t>
            </a:r>
            <a:endParaRPr lang="en-US" sz="1300" dirty="0"/>
          </a:p>
        </p:txBody>
      </p:sp>
      <p:sp>
        <p:nvSpPr>
          <p:cNvPr id="12" name="Pi stat 4"/>
          <p:cNvSpPr/>
          <p:nvPr/>
        </p:nvSpPr>
        <p:spPr>
          <a:xfrm>
            <a:off x="548640" y="3566160"/>
            <a:ext cx="2331720" cy="2011680"/>
          </a:xfrm>
          <a:prstGeom prst="roundRect">
            <a:avLst>
              <a:gd name="adj" fmla="val 5455"/>
            </a:avLst>
          </a:prstGeom>
          <a:solidFill>
            <a:schemeClr val="bg2"/>
          </a:solidFill>
          <a:ln w="12700">
            <a:solidFill>
              <a:schemeClr val="bg2"/>
            </a:solidFill>
            <a:prstDash val="solid"/>
          </a:ln>
        </p:spPr>
      </p:sp>
      <p:sp>
        <p:nvSpPr>
          <p:cNvPr id="13" name="Pi 4 value"/>
          <p:cNvSpPr txBox="1"/>
          <p:nvPr/>
        </p:nvSpPr>
        <p:spPr>
          <a:xfrm>
            <a:off x="7772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680 ms</a:t>
            </a:r>
            <a:endParaRPr lang="en-US" sz="3600" dirty="0"/>
          </a:p>
        </p:txBody>
      </p:sp>
      <p:sp>
        <p:nvSpPr>
          <p:cNvPr id="14" name="Pi 4 label"/>
          <p:cNvSpPr txBox="1"/>
          <p:nvPr/>
        </p:nvSpPr>
        <p:spPr>
          <a:xfrm>
            <a:off x="777240" y="4526280"/>
            <a:ext cx="1920240" cy="548640"/>
          </a:xfrm>
          <a:prstGeom prst="rect">
            <a:avLst/>
          </a:prstGeom>
          <a:noFill/>
          <a:ln/>
        </p:spPr>
        <p:txBody>
          <a:bodyPr wrap="square" lIns="0" tIns="0" rIns="0" bIns="0" rtlCol="0" anchor="t"/>
          <a:lstStyle/>
          <a:p>
            <a:pPr indent="0" marL="0">
              <a:buNone/>
            </a:pPr>
            <a:r>
              <a:rPr lang="en-US" sz="1300" dirty="0">
                <a:solidFill>
                  <a:schemeClr val="tx1"/>
                </a:solidFill>
              </a:rPr>
              <a:t>emotion, face in view</a:t>
            </a:r>
            <a:endParaRPr lang="en-US" sz="1300" dirty="0"/>
          </a:p>
        </p:txBody>
      </p:sp>
      <p:sp>
        <p:nvSpPr>
          <p:cNvPr id="15" name="Pi stat 5"/>
          <p:cNvSpPr/>
          <p:nvPr/>
        </p:nvSpPr>
        <p:spPr>
          <a:xfrm>
            <a:off x="3063240" y="3566160"/>
            <a:ext cx="2331720" cy="2011680"/>
          </a:xfrm>
          <a:prstGeom prst="roundRect">
            <a:avLst>
              <a:gd name="adj" fmla="val 5455"/>
            </a:avLst>
          </a:prstGeom>
          <a:solidFill>
            <a:schemeClr val="bg2"/>
          </a:solidFill>
          <a:ln w="12700">
            <a:solidFill>
              <a:schemeClr val="bg2"/>
            </a:solidFill>
            <a:prstDash val="solid"/>
          </a:ln>
        </p:spPr>
      </p:sp>
      <p:sp>
        <p:nvSpPr>
          <p:cNvPr id="16" name="Pi 5 value"/>
          <p:cNvSpPr txBox="1"/>
          <p:nvPr/>
        </p:nvSpPr>
        <p:spPr>
          <a:xfrm>
            <a:off x="3291840" y="3840480"/>
            <a:ext cx="192024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18.3 s</a:t>
            </a:r>
            <a:endParaRPr lang="en-US" sz="3600" dirty="0"/>
          </a:p>
        </p:txBody>
      </p:sp>
      <p:sp>
        <p:nvSpPr>
          <p:cNvPr id="17" name="Pi 5 label"/>
          <p:cNvSpPr txBox="1"/>
          <p:nvPr/>
        </p:nvSpPr>
        <p:spPr>
          <a:xfrm>
            <a:off x="3291840" y="4526280"/>
            <a:ext cx="1920240" cy="548640"/>
          </a:xfrm>
          <a:prstGeom prst="rect">
            <a:avLst/>
          </a:prstGeom>
          <a:noFill/>
          <a:ln/>
        </p:spPr>
        <p:txBody>
          <a:bodyPr wrap="square" lIns="0" tIns="0" rIns="0" bIns="0" rtlCol="0" anchor="t"/>
          <a:lstStyle/>
          <a:p>
            <a:pPr indent="0" marL="0">
              <a:buNone/>
            </a:pPr>
            <a:r>
              <a:rPr lang="en-US" sz="1300" dirty="0">
                <a:solidFill>
                  <a:schemeClr val="tx1"/>
                </a:solidFill>
              </a:rPr>
              <a:t>3-line sign, text found once</a:t>
            </a:r>
            <a:endParaRPr lang="en-US" sz="1300" dirty="0"/>
          </a:p>
        </p:txBody>
      </p:sp>
      <p:sp>
        <p:nvSpPr>
          <p:cNvPr id="18" name="Pi stat 6"/>
          <p:cNvSpPr/>
          <p:nvPr/>
        </p:nvSpPr>
        <p:spPr>
          <a:xfrm>
            <a:off x="5577840" y="3566160"/>
            <a:ext cx="2331720" cy="2011680"/>
          </a:xfrm>
          <a:prstGeom prst="roundRect">
            <a:avLst>
              <a:gd name="adj" fmla="val 5455"/>
            </a:avLst>
          </a:prstGeom>
          <a:solidFill>
            <a:schemeClr val="bg2"/>
          </a:solidFill>
          <a:ln w="12700">
            <a:solidFill>
              <a:schemeClr val="bg2"/>
            </a:solidFill>
            <a:prstDash val="solid"/>
          </a:ln>
        </p:spPr>
      </p:sp>
      <p:sp>
        <p:nvSpPr>
          <p:cNvPr id="19" name="Pi 6 value"/>
          <p:cNvSpPr txBox="1"/>
          <p:nvPr/>
        </p:nvSpPr>
        <p:spPr>
          <a:xfrm>
            <a:off x="58064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1.48 GB</a:t>
            </a:r>
            <a:endParaRPr lang="en-US" sz="3600" dirty="0"/>
          </a:p>
        </p:txBody>
      </p:sp>
      <p:sp>
        <p:nvSpPr>
          <p:cNvPr id="20" name="Pi 6 label"/>
          <p:cNvSpPr txBox="1"/>
          <p:nvPr/>
        </p:nvSpPr>
        <p:spPr>
          <a:xfrm>
            <a:off x="5806440" y="4526280"/>
            <a:ext cx="1920240" cy="548640"/>
          </a:xfrm>
          <a:prstGeom prst="rect">
            <a:avLst/>
          </a:prstGeom>
          <a:noFill/>
          <a:ln/>
        </p:spPr>
        <p:txBody>
          <a:bodyPr wrap="square" lIns="0" tIns="0" rIns="0" bIns="0" rtlCol="0" anchor="t"/>
          <a:lstStyle/>
          <a:p>
            <a:pPr indent="0" marL="0">
              <a:buNone/>
            </a:pPr>
            <a:r>
              <a:rPr lang="en-US" sz="1300" dirty="0">
                <a:solidFill>
                  <a:schemeClr val="tx1"/>
                </a:solidFill>
              </a:rPr>
              <a:t>peak memory, 30-minute run</a:t>
            </a:r>
            <a:endParaRPr lang="en-US" sz="1300" dirty="0"/>
          </a:p>
        </p:txBody>
      </p:sp>
      <p:sp>
        <p:nvSpPr>
          <p:cNvPr id="21" name="Heat card"/>
          <p:cNvSpPr/>
          <p:nvPr/>
        </p:nvSpPr>
        <p:spPr>
          <a:xfrm>
            <a:off x="8183880" y="1325880"/>
            <a:ext cx="3429000" cy="4251960"/>
          </a:xfrm>
          <a:prstGeom prst="roundRect">
            <a:avLst>
              <a:gd name="adj" fmla="val 3200"/>
            </a:avLst>
          </a:prstGeom>
          <a:solidFill>
            <a:schemeClr val="tx2"/>
          </a:solidFill>
          <a:ln w="12700">
            <a:solidFill>
              <a:schemeClr val="tx2"/>
            </a:solidFill>
            <a:prstDash val="solid"/>
          </a:ln>
        </p:spPr>
      </p:sp>
      <p:sp>
        <p:nvSpPr>
          <p:cNvPr id="22" name="Heat circle"/>
          <p:cNvSpPr/>
          <p:nvPr/>
        </p:nvSpPr>
        <p:spPr>
          <a:xfrm>
            <a:off x="8458200" y="1554480"/>
            <a:ext cx="731520" cy="731520"/>
          </a:xfrm>
          <a:prstGeom prst="ellipse">
            <a:avLst/>
          </a:prstGeom>
          <a:solidFill>
            <a:srgbClr val="D7263D"/>
          </a:solidFill>
          <a:ln w="12700">
            <a:solidFill>
              <a:srgbClr val="D7263D"/>
            </a:solidFill>
            <a:prstDash val="solid"/>
          </a:ln>
        </p:spPr>
      </p:sp>
      <p:pic>
        <p:nvPicPr>
          <p:cNvPr id="23" name="Heat icon" descr="preencoded.png">    </p:cNvPr>
          <p:cNvPicPr>
            <a:picLocks noChangeAspect="1"/>
          </p:cNvPicPr>
          <p:nvPr/>
        </p:nvPicPr>
        <p:blipFill>
          <a:blip r:embed="rId1"/>
          <a:stretch>
            <a:fillRect/>
          </a:stretch>
        </p:blipFill>
        <p:spPr>
          <a:xfrm>
            <a:off x="8633765" y="1730045"/>
            <a:ext cx="380390" cy="380390"/>
          </a:xfrm>
          <a:prstGeom prst="rect">
            <a:avLst/>
          </a:prstGeom>
        </p:spPr>
      </p:pic>
      <p:sp>
        <p:nvSpPr>
          <p:cNvPr id="24" name="Heat heading"/>
          <p:cNvSpPr txBox="1"/>
          <p:nvPr/>
        </p:nvSpPr>
        <p:spPr>
          <a:xfrm>
            <a:off x="9372600" y="1691640"/>
            <a:ext cx="201168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Heat</a:t>
            </a:r>
            <a:endParaRPr lang="en-US" sz="2000" dirty="0"/>
          </a:p>
        </p:txBody>
      </p:sp>
      <p:sp>
        <p:nvSpPr>
          <p:cNvPr id="25" name="Heat list"/>
          <p:cNvSpPr txBox="1"/>
          <p:nvPr/>
        </p:nvSpPr>
        <p:spPr>
          <a:xfrm>
            <a:off x="8458200" y="2514600"/>
            <a:ext cx="297180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4EFEA"/>
                </a:solidFill>
              </a:rPr>
              <a:t>Board idled at 71 °C; peak 88.7 °C, throttled in 76% of samples</a:t>
            </a:r>
            <a:endParaRPr lang="en-US" sz="1400" dirty="0"/>
          </a:p>
          <a:p>
            <a:pPr marL="342900" indent="-342900">
              <a:spcAft>
                <a:spcPts val="800"/>
              </a:spcAft>
              <a:buSzPct val="100000"/>
              <a:buChar char="•"/>
            </a:pPr>
            <a:r>
              <a:rPr lang="en-US" sz="1400" dirty="0">
                <a:solidFill>
                  <a:srgbClr val="E4EFEA"/>
                </a:solidFill>
              </a:rPr>
              <a:t>Thermal governor slows background scans when hot</a:t>
            </a:r>
            <a:endParaRPr lang="en-US" sz="1400" dirty="0"/>
          </a:p>
          <a:p>
            <a:pPr marL="342900" indent="-342900">
              <a:spcAft>
                <a:spcPts val="800"/>
              </a:spcAft>
              <a:buSzPct val="100000"/>
              <a:buChar char="•"/>
            </a:pPr>
            <a:r>
              <a:rPr lang="en-US" sz="1400" dirty="0">
                <a:solidFill>
                  <a:srgbClr val="E4EFEA"/>
                </a:solidFill>
              </a:rPr>
              <a:t>Text reading is the slowest task</a:t>
            </a:r>
            <a:endParaRPr lang="en-US" sz="1400" dirty="0"/>
          </a:p>
        </p:txBody>
      </p:sp>
      <p:sp>
        <p:nvSpPr>
          <p:cNvPr id="26" name="Pi caveat"/>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200" i="1" dirty="0">
                <a:solidFill>
                  <a:schemeClr val="accent5"/>
                </a:solidFill>
              </a:rPr>
              <a:t>Measured on a Raspberry Pi 5 (8 GB) on 13 October 2026, board at its temperature limit; memory from the 1 October run. Changes after 13 October are not yet timed on the Pi.</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Testing the worn glass</a:t>
            </a:r>
            <a:endParaRPr lang="en-US" sz="3000" dirty="0"/>
          </a:p>
        </p:txBody>
      </p:sp>
      <p:pic>
        <p:nvPicPr>
          <p:cNvPr id="3" name="Worn glass 1" descr="E:\Final SP\Thesis Report and paper\tools\deck\assets/1_5.jpg">    </p:cNvPr>
          <p:cNvPicPr>
            <a:picLocks noChangeAspect="1"/>
          </p:cNvPicPr>
          <p:nvPr/>
        </p:nvPicPr>
        <p:blipFill>
          <a:blip r:embed="rId1"/>
          <a:srcRect l="0" r="0" t="0" b="0"/>
          <a:stretch/>
        </p:blipFill>
        <p:spPr>
          <a:xfrm>
            <a:off x="548640" y="1325880"/>
            <a:ext cx="2194560" cy="3904488"/>
          </a:xfrm>
          <a:prstGeom prst="rect">
            <a:avLst/>
          </a:prstGeom>
        </p:spPr>
      </p:pic>
      <p:pic>
        <p:nvPicPr>
          <p:cNvPr id="4" name="Worn glass 2" descr="E:\Final SP\Thesis Report and paper\tools\deck\assets/1_18.jpg">    </p:cNvPr>
          <p:cNvPicPr>
            <a:picLocks noChangeAspect="1"/>
          </p:cNvPicPr>
          <p:nvPr/>
        </p:nvPicPr>
        <p:blipFill>
          <a:blip r:embed="rId2"/>
          <a:srcRect l="0" r="0" t="0" b="0"/>
          <a:stretch/>
        </p:blipFill>
        <p:spPr>
          <a:xfrm>
            <a:off x="2880360" y="1325880"/>
            <a:ext cx="2194560" cy="3904488"/>
          </a:xfrm>
          <a:prstGeom prst="rect">
            <a:avLst/>
          </a:prstGeom>
        </p:spPr>
      </p:pic>
      <p:pic>
        <p:nvPicPr>
          <p:cNvPr id="5" name="Worn glass 3" descr="E:\Final SP\Thesis Report and paper\tools\deck\assets/1_1.jpg">    </p:cNvPr>
          <p:cNvPicPr>
            <a:picLocks noChangeAspect="1"/>
          </p:cNvPicPr>
          <p:nvPr/>
        </p:nvPicPr>
        <p:blipFill>
          <a:blip r:embed="rId3"/>
          <a:srcRect l="0" r="0" t="0" b="0"/>
          <a:stretch/>
        </p:blipFill>
        <p:spPr>
          <a:xfrm>
            <a:off x="5212080" y="1325880"/>
            <a:ext cx="2194560" cy="3904488"/>
          </a:xfrm>
          <a:prstGeom prst="rect">
            <a:avLst/>
          </a:prstGeom>
        </p:spPr>
      </p:pic>
      <p:sp>
        <p:nvSpPr>
          <p:cNvPr id="6" name="Worn caption"/>
          <p:cNvSpPr txBox="1"/>
          <p:nvPr/>
        </p:nvSpPr>
        <p:spPr>
          <a:xfrm>
            <a:off x="548640" y="5349240"/>
            <a:ext cx="6858000" cy="640080"/>
          </a:xfrm>
          <a:prstGeom prst="rect">
            <a:avLst/>
          </a:prstGeom>
          <a:noFill/>
          <a:ln/>
        </p:spPr>
        <p:txBody>
          <a:bodyPr wrap="square" lIns="0" tIns="0" rIns="0" bIns="0" rtlCol="0" anchor="t"/>
          <a:lstStyle/>
          <a:p>
            <a:pPr indent="0" marL="0">
              <a:buNone/>
            </a:pPr>
            <a:r>
              <a:rPr lang="en-US" sz="1300" i="1" dirty="0">
                <a:solidFill>
                  <a:schemeClr val="accent5"/>
                </a:solidFill>
              </a:rPr>
              <a:t>Prototype version 2 on team members: fit, weight and button reach are checked before user trials.</a:t>
            </a:r>
            <a:endParaRPr lang="en-US" sz="1300" dirty="0"/>
          </a:p>
        </p:txBody>
      </p:sp>
      <p:sp>
        <p:nvSpPr>
          <p:cNvPr id="7" name="Field test card"/>
          <p:cNvSpPr/>
          <p:nvPr/>
        </p:nvSpPr>
        <p:spPr>
          <a:xfrm>
            <a:off x="7726680" y="1325880"/>
            <a:ext cx="3886200" cy="2057400"/>
          </a:xfrm>
          <a:prstGeom prst="roundRect">
            <a:avLst>
              <a:gd name="adj" fmla="val 5333"/>
            </a:avLst>
          </a:prstGeom>
          <a:solidFill>
            <a:schemeClr val="bg2"/>
          </a:solidFill>
          <a:ln w="12700">
            <a:solidFill>
              <a:schemeClr val="bg2"/>
            </a:solidFill>
            <a:prstDash val="solid"/>
          </a:ln>
        </p:spPr>
      </p:sp>
      <p:sp>
        <p:nvSpPr>
          <p:cNvPr id="8" name="Field heading"/>
          <p:cNvSpPr txBox="1"/>
          <p:nvPr/>
        </p:nvSpPr>
        <p:spPr>
          <a:xfrm>
            <a:off x="7955280" y="1463040"/>
            <a:ext cx="347472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First field test</a:t>
            </a:r>
            <a:endParaRPr lang="en-US" sz="1900" dirty="0"/>
          </a:p>
        </p:txBody>
      </p:sp>
      <p:sp>
        <p:nvSpPr>
          <p:cNvPr id="9" name="Field text"/>
          <p:cNvSpPr txBox="1"/>
          <p:nvPr/>
        </p:nvSpPr>
        <p:spPr>
          <a:xfrm>
            <a:off x="7955280" y="1920240"/>
            <a:ext cx="3474720" cy="1371600"/>
          </a:xfrm>
          <a:prstGeom prst="rect">
            <a:avLst/>
          </a:prstGeom>
          <a:noFill/>
          <a:ln/>
        </p:spPr>
        <p:txBody>
          <a:bodyPr wrap="square" lIns="0" tIns="0" rIns="0" bIns="0" rtlCol="0" anchor="t"/>
          <a:lstStyle/>
          <a:p>
            <a:pPr indent="0" marL="0">
              <a:buNone/>
            </a:pPr>
            <a:r>
              <a:rPr lang="en-US" sz="1400" dirty="0">
                <a:solidFill>
                  <a:schemeClr val="tx1"/>
                </a:solidFill>
              </a:rPr>
              <a:t>With the glass camera, currency was unreliable and Bangla text was not read; we suspect the 640×480 fixed-focus picture.</a:t>
            </a:r>
            <a:endParaRPr lang="en-US" sz="1400" dirty="0"/>
          </a:p>
        </p:txBody>
      </p:sp>
      <p:sp>
        <p:nvSpPr>
          <p:cNvPr id="10" name="Trials card"/>
          <p:cNvSpPr/>
          <p:nvPr/>
        </p:nvSpPr>
        <p:spPr>
          <a:xfrm>
            <a:off x="7726680" y="3566160"/>
            <a:ext cx="3886200" cy="2057400"/>
          </a:xfrm>
          <a:prstGeom prst="roundRect">
            <a:avLst>
              <a:gd name="adj" fmla="val 5333"/>
            </a:avLst>
          </a:prstGeom>
          <a:solidFill>
            <a:schemeClr val="bg2"/>
          </a:solidFill>
          <a:ln w="12700">
            <a:solidFill>
              <a:schemeClr val="bg2"/>
            </a:solidFill>
            <a:prstDash val="solid"/>
          </a:ln>
        </p:spPr>
      </p:sp>
      <p:sp>
        <p:nvSpPr>
          <p:cNvPr id="11" name="Trials heading"/>
          <p:cNvSpPr txBox="1"/>
          <p:nvPr/>
        </p:nvSpPr>
        <p:spPr>
          <a:xfrm>
            <a:off x="7955280" y="3703320"/>
            <a:ext cx="347472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User trials</a:t>
            </a:r>
            <a:endParaRPr lang="en-US" sz="1900" dirty="0"/>
          </a:p>
        </p:txBody>
      </p:sp>
      <p:sp>
        <p:nvSpPr>
          <p:cNvPr id="12" name="Trials text"/>
          <p:cNvSpPr txBox="1"/>
          <p:nvPr/>
        </p:nvSpPr>
        <p:spPr>
          <a:xfrm>
            <a:off x="7955280" y="4160520"/>
            <a:ext cx="3474720" cy="1371600"/>
          </a:xfrm>
          <a:prstGeom prst="rect">
            <a:avLst/>
          </a:prstGeom>
          <a:noFill/>
          <a:ln/>
        </p:spPr>
        <p:txBody>
          <a:bodyPr wrap="square" lIns="0" tIns="0" rIns="0" bIns="0" rtlCol="0" anchor="t"/>
          <a:lstStyle/>
          <a:p>
            <a:pPr indent="0" marL="0">
              <a:buNone/>
            </a:pPr>
            <a:r>
              <a:rPr lang="en-US" sz="1400" dirty="0">
                <a:solidFill>
                  <a:schemeClr val="tx1"/>
                </a:solidFill>
              </a:rPr>
              <a:t>Sessions with a visually impaired participant have started; a Bangla voice questionnaire records answers.</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Limitations and next steps</a:t>
            </a:r>
            <a:endParaRPr lang="en-US" sz="3000" dirty="0"/>
          </a:p>
        </p:txBody>
      </p:sp>
      <p:sp>
        <p:nvSpPr>
          <p:cNvPr id="3" name="Better glass camera circle"/>
          <p:cNvSpPr/>
          <p:nvPr/>
        </p:nvSpPr>
        <p:spPr>
          <a:xfrm>
            <a:off x="548640" y="1399032"/>
            <a:ext cx="658368" cy="658368"/>
          </a:xfrm>
          <a:prstGeom prst="ellipse">
            <a:avLst/>
          </a:prstGeom>
          <a:solidFill>
            <a:srgbClr val="006A4E"/>
          </a:solidFill>
          <a:ln w="12700">
            <a:solidFill>
              <a:srgbClr val="006A4E"/>
            </a:solidFill>
            <a:prstDash val="solid"/>
          </a:ln>
        </p:spPr>
      </p:sp>
      <p:pic>
        <p:nvPicPr>
          <p:cNvPr id="4" name="Better glass camera icon" descr="preencoded.png">    </p:cNvPr>
          <p:cNvPicPr>
            <a:picLocks noChangeAspect="1"/>
          </p:cNvPicPr>
          <p:nvPr/>
        </p:nvPicPr>
        <p:blipFill>
          <a:blip r:embed="rId1"/>
          <a:stretch>
            <a:fillRect/>
          </a:stretch>
        </p:blipFill>
        <p:spPr>
          <a:xfrm>
            <a:off x="706648" y="1557040"/>
            <a:ext cx="342351" cy="342351"/>
          </a:xfrm>
          <a:prstGeom prst="rect">
            <a:avLst/>
          </a:prstGeom>
        </p:spPr>
      </p:pic>
      <p:sp>
        <p:nvSpPr>
          <p:cNvPr id="5" name="Better glass camera heading"/>
          <p:cNvSpPr txBox="1"/>
          <p:nvPr/>
        </p:nvSpPr>
        <p:spPr>
          <a:xfrm>
            <a:off x="1417320" y="1380744"/>
            <a:ext cx="3840480" cy="685800"/>
          </a:xfrm>
          <a:prstGeom prst="rect">
            <a:avLst/>
          </a:prstGeom>
          <a:noFill/>
          <a:ln/>
        </p:spPr>
        <p:txBody>
          <a:bodyPr wrap="square" lIns="0" tIns="0" rIns="0" bIns="0" rtlCol="0" anchor="ctr"/>
          <a:lstStyle/>
          <a:p>
            <a:pPr indent="0" marL="0">
              <a:buNone/>
            </a:pPr>
            <a:r>
              <a:rPr lang="en-US" sz="1800" b="1" dirty="0">
                <a:solidFill>
                  <a:schemeClr val="tx2"/>
                </a:solidFill>
              </a:rPr>
              <a:t>Better glass camera</a:t>
            </a:r>
            <a:endParaRPr lang="en-US" sz="1800" dirty="0"/>
          </a:p>
        </p:txBody>
      </p:sp>
      <p:sp>
        <p:nvSpPr>
          <p:cNvPr id="6" name="Better glass camera text"/>
          <p:cNvSpPr txBox="1"/>
          <p:nvPr/>
        </p:nvSpPr>
        <p:spPr>
          <a:xfrm>
            <a:off x="5303520" y="1380744"/>
            <a:ext cx="6309360" cy="685800"/>
          </a:xfrm>
          <a:prstGeom prst="rect">
            <a:avLst/>
          </a:prstGeom>
          <a:noFill/>
          <a:ln/>
        </p:spPr>
        <p:txBody>
          <a:bodyPr wrap="square" lIns="0" tIns="0" rIns="0" bIns="0" rtlCol="0" anchor="ctr"/>
          <a:lstStyle/>
          <a:p>
            <a:pPr indent="0" marL="0">
              <a:buNone/>
            </a:pPr>
            <a:r>
              <a:rPr lang="en-US" sz="1500" dirty="0">
                <a:solidFill>
                  <a:schemeClr val="tx1"/>
                </a:solidFill>
              </a:rPr>
              <a:t>Higher resolution or autofocus; a test set taken through the glass</a:t>
            </a:r>
            <a:endParaRPr lang="en-US" sz="1500" dirty="0"/>
          </a:p>
        </p:txBody>
      </p:sp>
      <p:sp>
        <p:nvSpPr>
          <p:cNvPr id="7" name="Complete the user study circle"/>
          <p:cNvSpPr/>
          <p:nvPr/>
        </p:nvSpPr>
        <p:spPr>
          <a:xfrm>
            <a:off x="548640" y="2331720"/>
            <a:ext cx="658368" cy="658368"/>
          </a:xfrm>
          <a:prstGeom prst="ellipse">
            <a:avLst/>
          </a:prstGeom>
          <a:solidFill>
            <a:srgbClr val="3A8F72"/>
          </a:solidFill>
          <a:ln w="12700">
            <a:solidFill>
              <a:srgbClr val="3A8F72"/>
            </a:solidFill>
            <a:prstDash val="solid"/>
          </a:ln>
        </p:spPr>
      </p:sp>
      <p:pic>
        <p:nvPicPr>
          <p:cNvPr id="8" name="Complete the user study icon" descr="preencoded.png">    </p:cNvPr>
          <p:cNvPicPr>
            <a:picLocks noChangeAspect="1"/>
          </p:cNvPicPr>
          <p:nvPr/>
        </p:nvPicPr>
        <p:blipFill>
          <a:blip r:embed="rId2"/>
          <a:stretch>
            <a:fillRect/>
          </a:stretch>
        </p:blipFill>
        <p:spPr>
          <a:xfrm>
            <a:off x="706648" y="2489728"/>
            <a:ext cx="342351" cy="342351"/>
          </a:xfrm>
          <a:prstGeom prst="rect">
            <a:avLst/>
          </a:prstGeom>
        </p:spPr>
      </p:pic>
      <p:sp>
        <p:nvSpPr>
          <p:cNvPr id="9" name="Complete the user study heading"/>
          <p:cNvSpPr txBox="1"/>
          <p:nvPr/>
        </p:nvSpPr>
        <p:spPr>
          <a:xfrm>
            <a:off x="1417320" y="2313432"/>
            <a:ext cx="3840480" cy="685800"/>
          </a:xfrm>
          <a:prstGeom prst="rect">
            <a:avLst/>
          </a:prstGeom>
          <a:noFill/>
          <a:ln/>
        </p:spPr>
        <p:txBody>
          <a:bodyPr wrap="square" lIns="0" tIns="0" rIns="0" bIns="0" rtlCol="0" anchor="ctr"/>
          <a:lstStyle/>
          <a:p>
            <a:pPr indent="0" marL="0">
              <a:buNone/>
            </a:pPr>
            <a:r>
              <a:rPr lang="en-US" sz="1800" b="1" dirty="0">
                <a:solidFill>
                  <a:schemeClr val="tx2"/>
                </a:solidFill>
              </a:rPr>
              <a:t>Complete the user study</a:t>
            </a:r>
            <a:endParaRPr lang="en-US" sz="1800" dirty="0"/>
          </a:p>
        </p:txBody>
      </p:sp>
      <p:sp>
        <p:nvSpPr>
          <p:cNvPr id="10" name="Complete the user study text"/>
          <p:cNvSpPr txBox="1"/>
          <p:nvPr/>
        </p:nvSpPr>
        <p:spPr>
          <a:xfrm>
            <a:off x="5303520" y="2313432"/>
            <a:ext cx="6309360" cy="685800"/>
          </a:xfrm>
          <a:prstGeom prst="rect">
            <a:avLst/>
          </a:prstGeom>
          <a:noFill/>
          <a:ln/>
        </p:spPr>
        <p:txBody>
          <a:bodyPr wrap="square" lIns="0" tIns="0" rIns="0" bIns="0" rtlCol="0" anchor="ctr"/>
          <a:lstStyle/>
          <a:p>
            <a:pPr indent="0" marL="0">
              <a:buNone/>
            </a:pPr>
            <a:r>
              <a:rPr lang="en-US" sz="1500" dirty="0">
                <a:solidFill>
                  <a:schemeClr val="tx1"/>
                </a:solidFill>
              </a:rPr>
              <a:t>8–12 participants: task time, accuracy, SUS and NASA-TLX</a:t>
            </a:r>
            <a:endParaRPr lang="en-US" sz="1500" dirty="0"/>
          </a:p>
        </p:txBody>
      </p:sp>
      <p:sp>
        <p:nvSpPr>
          <p:cNvPr id="11" name="More counterfeit prints circle"/>
          <p:cNvSpPr/>
          <p:nvPr/>
        </p:nvSpPr>
        <p:spPr>
          <a:xfrm>
            <a:off x="548640" y="3264408"/>
            <a:ext cx="658368" cy="658368"/>
          </a:xfrm>
          <a:prstGeom prst="ellipse">
            <a:avLst/>
          </a:prstGeom>
          <a:solidFill>
            <a:srgbClr val="006A4E"/>
          </a:solidFill>
          <a:ln w="12700">
            <a:solidFill>
              <a:srgbClr val="006A4E"/>
            </a:solidFill>
            <a:prstDash val="solid"/>
          </a:ln>
        </p:spPr>
      </p:sp>
      <p:pic>
        <p:nvPicPr>
          <p:cNvPr id="12" name="More counterfeit prints icon" descr="preencoded.png">    </p:cNvPr>
          <p:cNvPicPr>
            <a:picLocks noChangeAspect="1"/>
          </p:cNvPicPr>
          <p:nvPr/>
        </p:nvPicPr>
        <p:blipFill>
          <a:blip r:embed="rId3"/>
          <a:stretch>
            <a:fillRect/>
          </a:stretch>
        </p:blipFill>
        <p:spPr>
          <a:xfrm>
            <a:off x="706648" y="3422416"/>
            <a:ext cx="342351" cy="342351"/>
          </a:xfrm>
          <a:prstGeom prst="rect">
            <a:avLst/>
          </a:prstGeom>
        </p:spPr>
      </p:pic>
      <p:sp>
        <p:nvSpPr>
          <p:cNvPr id="13" name="More counterfeit prints heading"/>
          <p:cNvSpPr txBox="1"/>
          <p:nvPr/>
        </p:nvSpPr>
        <p:spPr>
          <a:xfrm>
            <a:off x="1417320" y="3246120"/>
            <a:ext cx="3840480" cy="685800"/>
          </a:xfrm>
          <a:prstGeom prst="rect">
            <a:avLst/>
          </a:prstGeom>
          <a:noFill/>
          <a:ln/>
        </p:spPr>
        <p:txBody>
          <a:bodyPr wrap="square" lIns="0" tIns="0" rIns="0" bIns="0" rtlCol="0" anchor="ctr"/>
          <a:lstStyle/>
          <a:p>
            <a:pPr indent="0" marL="0">
              <a:buNone/>
            </a:pPr>
            <a:r>
              <a:rPr lang="en-US" sz="1800" b="1" dirty="0">
                <a:solidFill>
                  <a:schemeClr val="tx2"/>
                </a:solidFill>
              </a:rPr>
              <a:t>More counterfeit prints</a:t>
            </a:r>
            <a:endParaRPr lang="en-US" sz="1800" dirty="0"/>
          </a:p>
        </p:txBody>
      </p:sp>
      <p:sp>
        <p:nvSpPr>
          <p:cNvPr id="14" name="More counterfeit prints text"/>
          <p:cNvSpPr txBox="1"/>
          <p:nvPr/>
        </p:nvSpPr>
        <p:spPr>
          <a:xfrm>
            <a:off x="5303520" y="3246120"/>
            <a:ext cx="6309360" cy="685800"/>
          </a:xfrm>
          <a:prstGeom prst="rect">
            <a:avLst/>
          </a:prstGeom>
          <a:noFill/>
          <a:ln/>
        </p:spPr>
        <p:txBody>
          <a:bodyPr wrap="square" lIns="0" tIns="0" rIns="0" bIns="0" rtlCol="0" anchor="ctr"/>
          <a:lstStyle/>
          <a:p>
            <a:pPr indent="0" marL="0">
              <a:buNone/>
            </a:pPr>
            <a:r>
              <a:rPr lang="en-US" sz="1500" dirty="0">
                <a:solidFill>
                  <a:schemeClr val="tx1"/>
                </a:solidFill>
              </a:rPr>
              <a:t>About 100 unseen prints with a bank or the police; UV check on real counterfeits</a:t>
            </a:r>
            <a:endParaRPr lang="en-US" sz="1500" dirty="0"/>
          </a:p>
        </p:txBody>
      </p:sp>
      <p:sp>
        <p:nvSpPr>
          <p:cNvPr id="15" name="People's voices, Bangla commands circle"/>
          <p:cNvSpPr/>
          <p:nvPr/>
        </p:nvSpPr>
        <p:spPr>
          <a:xfrm>
            <a:off x="548640" y="4197096"/>
            <a:ext cx="658368" cy="658368"/>
          </a:xfrm>
          <a:prstGeom prst="ellipse">
            <a:avLst/>
          </a:prstGeom>
          <a:solidFill>
            <a:srgbClr val="3A8F72"/>
          </a:solidFill>
          <a:ln w="12700">
            <a:solidFill>
              <a:srgbClr val="3A8F72"/>
            </a:solidFill>
            <a:prstDash val="solid"/>
          </a:ln>
        </p:spPr>
      </p:sp>
      <p:pic>
        <p:nvPicPr>
          <p:cNvPr id="16" name="People's voices, Bangla commands icon" descr="preencoded.png">    </p:cNvPr>
          <p:cNvPicPr>
            <a:picLocks noChangeAspect="1"/>
          </p:cNvPicPr>
          <p:nvPr/>
        </p:nvPicPr>
        <p:blipFill>
          <a:blip r:embed="rId4"/>
          <a:stretch>
            <a:fillRect/>
          </a:stretch>
        </p:blipFill>
        <p:spPr>
          <a:xfrm>
            <a:off x="706648" y="4355104"/>
            <a:ext cx="342351" cy="342351"/>
          </a:xfrm>
          <a:prstGeom prst="rect">
            <a:avLst/>
          </a:prstGeom>
        </p:spPr>
      </p:pic>
      <p:sp>
        <p:nvSpPr>
          <p:cNvPr id="17" name="People&amp;apos;s voices, Bangla commands heading"/>
          <p:cNvSpPr txBox="1"/>
          <p:nvPr/>
        </p:nvSpPr>
        <p:spPr>
          <a:xfrm>
            <a:off x="1417320" y="4178808"/>
            <a:ext cx="3840480" cy="685800"/>
          </a:xfrm>
          <a:prstGeom prst="rect">
            <a:avLst/>
          </a:prstGeom>
          <a:noFill/>
          <a:ln/>
        </p:spPr>
        <p:txBody>
          <a:bodyPr wrap="square" lIns="0" tIns="0" rIns="0" bIns="0" rtlCol="0" anchor="ctr"/>
          <a:lstStyle/>
          <a:p>
            <a:pPr indent="0" marL="0">
              <a:buNone/>
            </a:pPr>
            <a:r>
              <a:rPr lang="en-US" sz="1800" b="1" dirty="0">
                <a:solidFill>
                  <a:schemeClr val="tx2"/>
                </a:solidFill>
              </a:rPr>
              <a:t>People's voices, Bangla commands</a:t>
            </a:r>
            <a:endParaRPr lang="en-US" sz="1800" dirty="0"/>
          </a:p>
        </p:txBody>
      </p:sp>
      <p:sp>
        <p:nvSpPr>
          <p:cNvPr id="18" name="People&amp;apos;s voices, Bangla commands text"/>
          <p:cNvSpPr txBox="1"/>
          <p:nvPr/>
        </p:nvSpPr>
        <p:spPr>
          <a:xfrm>
            <a:off x="5303520" y="4178808"/>
            <a:ext cx="6309360" cy="685800"/>
          </a:xfrm>
          <a:prstGeom prst="rect">
            <a:avLst/>
          </a:prstGeom>
          <a:noFill/>
          <a:ln/>
        </p:spPr>
        <p:txBody>
          <a:bodyPr wrap="square" lIns="0" tIns="0" rIns="0" bIns="0" rtlCol="0" anchor="ctr"/>
          <a:lstStyle/>
          <a:p>
            <a:pPr indent="0" marL="0">
              <a:buNone/>
            </a:pPr>
            <a:r>
              <a:rPr lang="en-US" sz="1500" dirty="0">
                <a:solidFill>
                  <a:schemeClr val="tx1"/>
                </a:solidFill>
              </a:rPr>
              <a:t>Commands spoken by people into the glass; an offline Bangla recogniser</a:t>
            </a:r>
            <a:endParaRPr lang="en-US" sz="1500" dirty="0"/>
          </a:p>
        </p:txBody>
      </p:sp>
      <p:sp>
        <p:nvSpPr>
          <p:cNvPr id="19" name="Faster, cooler Pi circle"/>
          <p:cNvSpPr/>
          <p:nvPr/>
        </p:nvSpPr>
        <p:spPr>
          <a:xfrm>
            <a:off x="548640" y="5129784"/>
            <a:ext cx="658368" cy="658368"/>
          </a:xfrm>
          <a:prstGeom prst="ellipse">
            <a:avLst/>
          </a:prstGeom>
          <a:solidFill>
            <a:srgbClr val="006A4E"/>
          </a:solidFill>
          <a:ln w="12700">
            <a:solidFill>
              <a:srgbClr val="006A4E"/>
            </a:solidFill>
            <a:prstDash val="solid"/>
          </a:ln>
        </p:spPr>
      </p:sp>
      <p:pic>
        <p:nvPicPr>
          <p:cNvPr id="20" name="Faster, cooler Pi icon" descr="preencoded.png">    </p:cNvPr>
          <p:cNvPicPr>
            <a:picLocks noChangeAspect="1"/>
          </p:cNvPicPr>
          <p:nvPr/>
        </p:nvPicPr>
        <p:blipFill>
          <a:blip r:embed="rId5"/>
          <a:stretch>
            <a:fillRect/>
          </a:stretch>
        </p:blipFill>
        <p:spPr>
          <a:xfrm>
            <a:off x="706648" y="5287792"/>
            <a:ext cx="342351" cy="342351"/>
          </a:xfrm>
          <a:prstGeom prst="rect">
            <a:avLst/>
          </a:prstGeom>
        </p:spPr>
      </p:pic>
      <p:sp>
        <p:nvSpPr>
          <p:cNvPr id="21" name="Faster, cooler Pi heading"/>
          <p:cNvSpPr txBox="1"/>
          <p:nvPr/>
        </p:nvSpPr>
        <p:spPr>
          <a:xfrm>
            <a:off x="1417320" y="5111496"/>
            <a:ext cx="3840480" cy="685800"/>
          </a:xfrm>
          <a:prstGeom prst="rect">
            <a:avLst/>
          </a:prstGeom>
          <a:noFill/>
          <a:ln/>
        </p:spPr>
        <p:txBody>
          <a:bodyPr wrap="square" lIns="0" tIns="0" rIns="0" bIns="0" rtlCol="0" anchor="ctr"/>
          <a:lstStyle/>
          <a:p>
            <a:pPr indent="0" marL="0">
              <a:buNone/>
            </a:pPr>
            <a:r>
              <a:rPr lang="en-US" sz="1800" b="1" dirty="0">
                <a:solidFill>
                  <a:schemeClr val="tx2"/>
                </a:solidFill>
              </a:rPr>
              <a:t>Faster, cooler Pi</a:t>
            </a:r>
            <a:endParaRPr lang="en-US" sz="1800" dirty="0"/>
          </a:p>
        </p:txBody>
      </p:sp>
      <p:sp>
        <p:nvSpPr>
          <p:cNvPr id="22" name="Faster, cooler Pi text"/>
          <p:cNvSpPr txBox="1"/>
          <p:nvPr/>
        </p:nvSpPr>
        <p:spPr>
          <a:xfrm>
            <a:off x="5303520" y="5111496"/>
            <a:ext cx="6309360" cy="685800"/>
          </a:xfrm>
          <a:prstGeom prst="rect">
            <a:avLst/>
          </a:prstGeom>
          <a:noFill/>
          <a:ln/>
        </p:spPr>
        <p:txBody>
          <a:bodyPr wrap="square" lIns="0" tIns="0" rIns="0" bIns="0" rtlCol="0" anchor="ctr"/>
          <a:lstStyle/>
          <a:p>
            <a:pPr indent="0" marL="0">
              <a:buNone/>
            </a:pPr>
            <a:r>
              <a:rPr lang="en-US" sz="1500" dirty="0">
                <a:solidFill>
                  <a:schemeClr val="tx1"/>
                </a:solidFill>
              </a:rPr>
              <a:t>Time the new code on the Pi; better cooling; battery life</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Prototype worn" descr="E:\Final SP\Thesis Report and paper\tools\deck\assets/1_20.jpg">    </p:cNvPr>
          <p:cNvPicPr>
            <a:picLocks noChangeAspect="1"/>
          </p:cNvPicPr>
          <p:nvPr/>
        </p:nvPicPr>
        <p:blipFill>
          <a:blip r:embed="rId1"/>
          <a:srcRect l="0" r="0" t="0" b="0"/>
          <a:stretch/>
        </p:blipFill>
        <p:spPr>
          <a:xfrm>
            <a:off x="7982712" y="0"/>
            <a:ext cx="4206240" cy="6858000"/>
          </a:xfrm>
          <a:prstGeom prst="rect">
            <a:avLst/>
          </a:prstGeom>
        </p:spPr>
      </p:pic>
      <p:sp>
        <p:nvSpPr>
          <p:cNvPr id="3" name="Thanks"/>
          <p:cNvSpPr txBox="1"/>
          <p:nvPr/>
        </p:nvSpPr>
        <p:spPr>
          <a:xfrm>
            <a:off x="685800" y="1188720"/>
            <a:ext cx="68580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Questions"/>
          <p:cNvSpPr txBox="1"/>
          <p:nvPr/>
        </p:nvSpPr>
        <p:spPr>
          <a:xfrm>
            <a:off x="685800" y="2103120"/>
            <a:ext cx="6858000" cy="548640"/>
          </a:xfrm>
          <a:prstGeom prst="rect">
            <a:avLst/>
          </a:prstGeom>
          <a:noFill/>
          <a:ln/>
        </p:spPr>
        <p:txBody>
          <a:bodyPr wrap="square" lIns="0" tIns="0" rIns="0" bIns="0" rtlCol="0" anchor="ctr"/>
          <a:lstStyle/>
          <a:p>
            <a:pPr indent="0" marL="0">
              <a:buNone/>
            </a:pPr>
            <a:r>
              <a:rPr lang="en-US" sz="2200" dirty="0">
                <a:solidFill>
                  <a:srgbClr val="CFE2DA"/>
                </a:solidFill>
              </a:rPr>
              <a:t>Questions are welcome</a:t>
            </a:r>
            <a:endParaRPr lang="en-US" sz="2200" dirty="0"/>
          </a:p>
        </p:txBody>
      </p:sp>
      <p:sp>
        <p:nvSpPr>
          <p:cNvPr id="5" name="Summary"/>
          <p:cNvSpPr txBox="1"/>
          <p:nvPr/>
        </p:nvSpPr>
        <p:spPr>
          <a:xfrm>
            <a:off x="685800" y="3108960"/>
            <a:ext cx="6858000" cy="23774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E4EFEA"/>
                </a:solidFill>
              </a:rPr>
              <a:t>An offline glass that speaks Bangla, reads text, names objects and recognises Taka on a Raspberry Pi 5</a:t>
            </a:r>
            <a:endParaRPr lang="en-US" sz="1700" dirty="0"/>
          </a:p>
          <a:p>
            <a:pPr marL="342900" indent="-342900">
              <a:spcAft>
                <a:spcPts val="1200"/>
              </a:spcAft>
              <a:buSzPct val="100000"/>
              <a:buChar char="•"/>
            </a:pPr>
            <a:r>
              <a:rPr lang="en-US" sz="1700" dirty="0">
                <a:solidFill>
                  <a:srgbClr val="E4EFEA"/>
                </a:solidFill>
              </a:rPr>
              <a:t>New methods: prefix training, a safe verdict, the DMWR watermark checker, hand-held fine-tuning</a:t>
            </a:r>
            <a:endParaRPr lang="en-US" sz="1700" dirty="0"/>
          </a:p>
          <a:p>
            <a:pPr marL="342900" indent="-342900">
              <a:spcAft>
                <a:spcPts val="1200"/>
              </a:spcAft>
              <a:buSzPct val="100000"/>
              <a:buChar char="•"/>
            </a:pPr>
            <a:r>
              <a:rPr lang="en-US" sz="1700" dirty="0">
                <a:solidFill>
                  <a:srgbClr val="E4EFEA"/>
                </a:solidFill>
              </a:rPr>
              <a:t>Next: a better camera and the user trials</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References</a:t>
            </a:r>
            <a:endParaRPr lang="en-US" sz="3000" dirty="0"/>
          </a:p>
        </p:txBody>
      </p:sp>
      <p:sp>
        <p:nvSpPr>
          <p:cNvPr id="3" name="References 1"/>
          <p:cNvSpPr txBox="1"/>
          <p:nvPr/>
        </p:nvSpPr>
        <p:spPr>
          <a:xfrm>
            <a:off x="548640" y="1280160"/>
            <a:ext cx="5440680" cy="480060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[1]  World Health Organization. Blindness and vision impairment: fact sheet, 2023.</a:t>
            </a:r>
            <a:endParaRPr lang="en-US" sz="1100" dirty="0"/>
          </a:p>
          <a:p>
            <a:pPr indent="0" marL="0">
              <a:spcAft>
                <a:spcPts val="500"/>
              </a:spcAft>
              <a:buNone/>
            </a:pPr>
            <a:r>
              <a:rPr lang="en-US" sz="1100" dirty="0">
                <a:solidFill>
                  <a:schemeClr val="tx1"/>
                </a:solidFill>
              </a:rPr>
              <a:t>[2]  OrCam Technologies. OrCam MyEye.</a:t>
            </a:r>
            <a:endParaRPr lang="en-US" sz="1100" dirty="0"/>
          </a:p>
          <a:p>
            <a:pPr indent="0" marL="0">
              <a:spcAft>
                <a:spcPts val="500"/>
              </a:spcAft>
              <a:buNone/>
            </a:pPr>
            <a:r>
              <a:rPr lang="en-US" sz="1100" dirty="0">
                <a:solidFill>
                  <a:schemeClr val="tx1"/>
                </a:solidFill>
              </a:rPr>
              <a:t>[3]  Ali A., H. et al. A Google Glass based real-time scene analysis for the visually impaired. IEEE Access 9, 2021.</a:t>
            </a:r>
            <a:endParaRPr lang="en-US" sz="1100" dirty="0"/>
          </a:p>
          <a:p>
            <a:pPr indent="0" marL="0">
              <a:spcAft>
                <a:spcPts val="500"/>
              </a:spcAft>
              <a:buNone/>
            </a:pPr>
            <a:r>
              <a:rPr lang="en-US" sz="1100" dirty="0">
                <a:solidFill>
                  <a:schemeClr val="tx1"/>
                </a:solidFill>
              </a:rPr>
              <a:t>[4]  Brilli, D. D. et al. AIris: an AI-powered wearable assistive device for the visually impaired. arXiv:2405.07606, 2024.</a:t>
            </a:r>
            <a:endParaRPr lang="en-US" sz="1100" dirty="0"/>
          </a:p>
          <a:p>
            <a:pPr indent="0" marL="0">
              <a:spcAft>
                <a:spcPts val="500"/>
              </a:spcAft>
              <a:buNone/>
            </a:pPr>
            <a:r>
              <a:rPr lang="en-US" sz="1100" dirty="0">
                <a:solidFill>
                  <a:schemeClr val="tx1"/>
                </a:solidFill>
              </a:rPr>
              <a:t>[5]  Baek, Y. et al. Character region awareness for text detection (CRAFT). CVPR, 2019.</a:t>
            </a:r>
            <a:endParaRPr lang="en-US" sz="1100" dirty="0"/>
          </a:p>
          <a:p>
            <a:pPr indent="0" marL="0">
              <a:spcAft>
                <a:spcPts val="500"/>
              </a:spcAft>
              <a:buNone/>
            </a:pPr>
            <a:r>
              <a:rPr lang="en-US" sz="1100" dirty="0">
                <a:solidFill>
                  <a:schemeClr val="tx1"/>
                </a:solidFill>
              </a:rPr>
              <a:t>[6]  JaidedAI. EasyOCR: ready-to-use OCR with 80+ languages.</a:t>
            </a:r>
            <a:endParaRPr lang="en-US" sz="1100" dirty="0"/>
          </a:p>
          <a:p>
            <a:pPr indent="0" marL="0">
              <a:spcAft>
                <a:spcPts val="500"/>
              </a:spcAft>
              <a:buNone/>
            </a:pPr>
            <a:r>
              <a:rPr lang="en-US" sz="1100" dirty="0">
                <a:solidFill>
                  <a:schemeClr val="tx1"/>
                </a:solidFill>
              </a:rPr>
              <a:t>[7]  Jocher, G., Chaurasia, A., Qiu, J. Ultralytics YOLOv8.</a:t>
            </a:r>
            <a:endParaRPr lang="en-US" sz="1100" dirty="0"/>
          </a:p>
          <a:p>
            <a:pPr indent="0" marL="0">
              <a:spcAft>
                <a:spcPts val="500"/>
              </a:spcAft>
              <a:buNone/>
            </a:pPr>
            <a:r>
              <a:rPr lang="en-US" sz="1100" dirty="0">
                <a:solidFill>
                  <a:schemeClr val="tx1"/>
                </a:solidFill>
              </a:rPr>
              <a:t>[8]  Lin, T.-Y. et al. Microsoft COCO: common objects in context. ECCV, 2014.</a:t>
            </a:r>
            <a:endParaRPr lang="en-US" sz="1100" dirty="0"/>
          </a:p>
          <a:p>
            <a:pPr indent="0" marL="0">
              <a:spcAft>
                <a:spcPts val="500"/>
              </a:spcAft>
              <a:buNone/>
            </a:pPr>
            <a:r>
              <a:rPr lang="en-US" sz="1100" dirty="0">
                <a:solidFill>
                  <a:schemeClr val="tx1"/>
                </a:solidFill>
              </a:rPr>
              <a:t>[9]  Li, S., Deng, W., Du, J. Reliable crowdsourcing and deep locality-preserving learning for expression recognition in the wild (RAF-DB). CVPR, 2017.</a:t>
            </a:r>
            <a:endParaRPr lang="en-US" sz="1100" dirty="0"/>
          </a:p>
          <a:p>
            <a:pPr indent="0" marL="0">
              <a:spcAft>
                <a:spcPts val="500"/>
              </a:spcAft>
              <a:buNone/>
            </a:pPr>
            <a:r>
              <a:rPr lang="en-US" sz="1100" dirty="0">
                <a:solidFill>
                  <a:schemeClr val="tx1"/>
                </a:solidFill>
              </a:rPr>
              <a:t>[10]  Rhasspy. Piper: a fast, local neural text-to-speech system.</a:t>
            </a:r>
            <a:endParaRPr lang="en-US" sz="1100" dirty="0"/>
          </a:p>
          <a:p>
            <a:pPr indent="0" marL="0">
              <a:spcAft>
                <a:spcPts val="500"/>
              </a:spcAft>
              <a:buNone/>
            </a:pPr>
            <a:r>
              <a:rPr lang="en-US" sz="1100" dirty="0">
                <a:solidFill>
                  <a:schemeClr val="tx1"/>
                </a:solidFill>
              </a:rPr>
              <a:t>[11]  eSpeak NG text-to-speech.</a:t>
            </a:r>
            <a:endParaRPr lang="en-US" sz="1100" dirty="0"/>
          </a:p>
          <a:p>
            <a:pPr indent="0" marL="0">
              <a:spcAft>
                <a:spcPts val="500"/>
              </a:spcAft>
              <a:buNone/>
            </a:pPr>
            <a:r>
              <a:rPr lang="en-US" sz="1100" dirty="0">
                <a:solidFill>
                  <a:schemeClr val="tx1"/>
                </a:solidFill>
              </a:rPr>
              <a:t>[12]  A diverse image dataset for Bangladeshi currency recognition (BanglaTaka). Mendeley Data.</a:t>
            </a:r>
            <a:endParaRPr lang="en-US" sz="1100" dirty="0"/>
          </a:p>
        </p:txBody>
      </p:sp>
      <p:sp>
        <p:nvSpPr>
          <p:cNvPr id="4" name="References 2"/>
          <p:cNvSpPr txBox="1"/>
          <p:nvPr/>
        </p:nvSpPr>
        <p:spPr>
          <a:xfrm>
            <a:off x="6172200" y="1280160"/>
            <a:ext cx="5440680" cy="480060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[13]  Rafi, M. J. A., Rony, M., Majadi, N. NSTU-BDTAKA: an open dataset for Bangladeshi paper currency detection and recognition. Data in Brief 55, 2024.</a:t>
            </a:r>
            <a:endParaRPr lang="en-US" sz="1100" dirty="0"/>
          </a:p>
          <a:p>
            <a:pPr indent="0" marL="0">
              <a:spcAft>
                <a:spcPts val="500"/>
              </a:spcAft>
              <a:buNone/>
            </a:pPr>
            <a:r>
              <a:rPr lang="en-US" sz="1100" dirty="0">
                <a:solidFill>
                  <a:schemeClr val="tx1"/>
                </a:solidFill>
              </a:rPr>
              <a:t>[14]  Piyas, B. R. C. et al. JaalTaka: a benchmark dataset for detecting counterfeit Bangladeshi banknotes. Mendeley Data V2, 2025.</a:t>
            </a:r>
            <a:endParaRPr lang="en-US" sz="1100" dirty="0"/>
          </a:p>
          <a:p>
            <a:pPr indent="0" marL="0">
              <a:spcAft>
                <a:spcPts val="500"/>
              </a:spcAft>
              <a:buNone/>
            </a:pPr>
            <a:r>
              <a:rPr lang="en-US" sz="1100" dirty="0">
                <a:solidFill>
                  <a:schemeClr val="tx1"/>
                </a:solidFill>
              </a:rPr>
              <a:t>[15]  Piyas, B. R. C. et al. JaalTaka: a benchmark dataset for detecting counterfeit Bangladeshi banknotes. Data in Brief 64, 112377, 2026.</a:t>
            </a:r>
            <a:endParaRPr lang="en-US" sz="1100" dirty="0"/>
          </a:p>
          <a:p>
            <a:pPr indent="0" marL="0">
              <a:spcAft>
                <a:spcPts val="500"/>
              </a:spcAft>
              <a:buNone/>
            </a:pPr>
            <a:r>
              <a:rPr lang="en-US" sz="1100" dirty="0">
                <a:solidFill>
                  <a:schemeClr val="tx1"/>
                </a:solidFill>
              </a:rPr>
              <a:t>[16]  Uddin, M. S., Das, P. P., Roney, M. S. A. Image-based approach for the detection of counterfeit banknotes of Bangladesh. ICIEV, 2016.</a:t>
            </a:r>
            <a:endParaRPr lang="en-US" sz="1100" dirty="0"/>
          </a:p>
          <a:p>
            <a:pPr indent="0" marL="0">
              <a:spcAft>
                <a:spcPts val="500"/>
              </a:spcAft>
              <a:buNone/>
            </a:pPr>
            <a:r>
              <a:rPr lang="en-US" sz="1100" dirty="0">
                <a:solidFill>
                  <a:schemeClr val="tx1"/>
                </a:solidFill>
              </a:rPr>
              <a:t>[17]  Pathak, A. et al. Enhanced counterfeit detection of Bangladesh currency through convolutional neural networks. IJIRCST 12(2), 2024.</a:t>
            </a:r>
            <a:endParaRPr lang="en-US" sz="1100" dirty="0"/>
          </a:p>
          <a:p>
            <a:pPr indent="0" marL="0">
              <a:spcAft>
                <a:spcPts val="500"/>
              </a:spcAft>
              <a:buNone/>
            </a:pPr>
            <a:r>
              <a:rPr lang="en-US" sz="1100" dirty="0">
                <a:solidFill>
                  <a:schemeClr val="tx1"/>
                </a:solidFill>
              </a:rPr>
              <a:t>[18]  Sandler, M. et al. MobileNetV2: inverted residuals and linear bottlenecks. CVPR, 2018.</a:t>
            </a:r>
            <a:endParaRPr lang="en-US" sz="1100" dirty="0"/>
          </a:p>
          <a:p>
            <a:pPr indent="0" marL="0">
              <a:spcAft>
                <a:spcPts val="500"/>
              </a:spcAft>
              <a:buNone/>
            </a:pPr>
            <a:r>
              <a:rPr lang="en-US" sz="1100" dirty="0">
                <a:solidFill>
                  <a:schemeClr val="tx1"/>
                </a:solidFill>
              </a:rPr>
              <a:t>[19]  Chowdhury, A. A. et al. Evaluation of deep learning models on UV ink: a fake money detection scheme with RPN. ICCA (ACM), 2022.</a:t>
            </a:r>
            <a:endParaRPr lang="en-US" sz="1100" dirty="0"/>
          </a:p>
          <a:p>
            <a:pPr indent="0" marL="0">
              <a:spcAft>
                <a:spcPts val="500"/>
              </a:spcAft>
              <a:buNone/>
            </a:pPr>
            <a:r>
              <a:rPr lang="en-US" sz="1100" dirty="0">
                <a:solidFill>
                  <a:schemeClr val="tx1"/>
                </a:solidFill>
              </a:rPr>
              <a:t>[20]  Mutanen, J., Jaaskelainen, T., Parkkinen, J. P. S. Luminescent security properties of banknotes. IS&amp;T PICS Conference, 2003, pp. 421-424.</a:t>
            </a:r>
            <a:endParaRPr lang="en-US" sz="1100" dirty="0"/>
          </a:p>
          <a:p>
            <a:pPr indent="0" marL="0">
              <a:spcAft>
                <a:spcPts val="500"/>
              </a:spcAft>
              <a:buNone/>
            </a:pPr>
            <a:r>
              <a:rPr lang="en-US" sz="1100" dirty="0">
                <a:solidFill>
                  <a:schemeClr val="tx1"/>
                </a:solidFill>
              </a:rPr>
              <a:t>[21]  Nayef, N. et al. ICDAR2019 robust reading challenge on multi-lingual scene text (RRC-MLT-2019). ICDAR, 2019.</a:t>
            </a:r>
            <a:endParaRPr lang="en-US" sz="1100" dirty="0"/>
          </a:p>
          <a:p>
            <a:pPr indent="0" marL="0">
              <a:spcAft>
                <a:spcPts val="500"/>
              </a:spcAft>
              <a:buNone/>
            </a:pPr>
            <a:r>
              <a:rPr lang="en-US" sz="1100" dirty="0">
                <a:solidFill>
                  <a:schemeClr val="tx1"/>
                </a:solidFill>
              </a:rPr>
              <a:t>[22]  Alpha Cephei. Vosk offline speech recognition toolkit.</a:t>
            </a:r>
            <a:endParaRPr lang="en-US" sz="1100" dirty="0"/>
          </a:p>
          <a:p>
            <a:pPr indent="0" marL="0">
              <a:spcAft>
                <a:spcPts val="500"/>
              </a:spcAft>
              <a:buNone/>
            </a:pPr>
            <a:r>
              <a:rPr lang="en-US" sz="1100" dirty="0">
                <a:solidFill>
                  <a:schemeClr val="tx1"/>
                </a:solidFill>
              </a:rPr>
              <a:t>[23]  Piczak, K. J. ESC: dataset for environmental sound classification. ACM Multimedia, 2015.</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Links</a:t>
            </a:r>
            <a:endParaRPr lang="en-US" sz="3000" dirty="0"/>
          </a:p>
        </p:txBody>
      </p:sp>
      <p:sp>
        <p:nvSpPr>
          <p:cNvPr id="3" name="Our code and results card"/>
          <p:cNvSpPr/>
          <p:nvPr/>
        </p:nvSpPr>
        <p:spPr>
          <a:xfrm>
            <a:off x="548640" y="1325880"/>
            <a:ext cx="3520440" cy="4663440"/>
          </a:xfrm>
          <a:prstGeom prst="roundRect">
            <a:avLst>
              <a:gd name="adj" fmla="val 3117"/>
            </a:avLst>
          </a:prstGeom>
          <a:solidFill>
            <a:schemeClr val="bg2"/>
          </a:solidFill>
          <a:ln w="12700">
            <a:solidFill>
              <a:schemeClr val="bg2"/>
            </a:solidFill>
            <a:prstDash val="solid"/>
          </a:ln>
        </p:spPr>
      </p:sp>
      <p:pic>
        <p:nvPicPr>
          <p:cNvPr id="4" name="Our code and results icon" descr="preencoded.png">    </p:cNvPr>
          <p:cNvPicPr>
            <a:picLocks noChangeAspect="1"/>
          </p:cNvPicPr>
          <p:nvPr/>
        </p:nvPicPr>
        <p:blipFill>
          <a:blip r:embed="rId1"/>
          <a:stretch>
            <a:fillRect/>
          </a:stretch>
        </p:blipFill>
        <p:spPr>
          <a:xfrm>
            <a:off x="777240" y="1508760"/>
            <a:ext cx="457200" cy="457200"/>
          </a:xfrm>
          <a:prstGeom prst="rect">
            <a:avLst/>
          </a:prstGeom>
        </p:spPr>
      </p:pic>
      <p:sp>
        <p:nvSpPr>
          <p:cNvPr id="5" name="Our code and results heading"/>
          <p:cNvSpPr txBox="1"/>
          <p:nvPr/>
        </p:nvSpPr>
        <p:spPr>
          <a:xfrm>
            <a:off x="137160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Our code and results</a:t>
            </a:r>
            <a:endParaRPr lang="en-US" sz="1800" dirty="0"/>
          </a:p>
        </p:txBody>
      </p:sp>
      <p:sp>
        <p:nvSpPr>
          <p:cNvPr id="6" name="Our code and results links"/>
          <p:cNvSpPr txBox="1"/>
          <p:nvPr/>
        </p:nvSpPr>
        <p:spPr>
          <a:xfrm>
            <a:off x="777240" y="2148840"/>
            <a:ext cx="3108960" cy="3703320"/>
          </a:xfrm>
          <a:prstGeom prst="rect">
            <a:avLst/>
          </a:prstGeom>
          <a:noFill/>
          <a:ln/>
        </p:spPr>
        <p:txBody>
          <a:bodyPr wrap="square" lIns="0" tIns="0" rIns="0" bIns="0" rtlCol="0" anchor="t"/>
          <a:lstStyle/>
          <a:p>
            <a:pPr indent="0" marL="0">
              <a:buNone/>
            </a:pPr>
            <a:r>
              <a:rPr lang="en-US" sz="1300" b="1" u="sng" dirty="0">
                <a:solidFill>
                  <a:srgbClr val="006A4E"/>
                </a:solidFill>
                <a:hlinkClick r:id="rId2" invalidUrl="" action="" tgtFrame="" tooltip="https://github.com/aflam330/SARA" history="1" highlightClick="0" endSnd="0">
                  <a:extLst>
                    <a:ext uri="{A12FA001-AC4F-418D-AE19-62706E023703}">
                      <ahyp:hlinkClr xmlns:ahyp="http://schemas.microsoft.com/office/drawing/2018/hyperlinkcolor" val="tx"/>
                    </a:ext>
                  </a:extLst>
                </a:hlinkClick>
              </a:rPr>
              <a:t>SARA: glass software for the Raspberry Pi 5</a:t>
            </a:r>
            <a:endParaRPr lang="en-US" sz="1300" dirty="0"/>
          </a:p>
          <a:p>
            <a:pPr indent="0" marL="0">
              <a:spcAft>
                <a:spcPts val="700"/>
              </a:spcAft>
              <a:buNone/>
            </a:pPr>
            <a:r>
              <a:rPr lang="en-US" sz="1000" dirty="0">
                <a:solidFill>
                  <a:srgbClr val="5E6B66"/>
                </a:solidFill>
              </a:rPr>
              <a:t>github.com/aflam330/SARA</a:t>
            </a:r>
            <a:endParaRPr lang="en-US" sz="1300" dirty="0"/>
          </a:p>
          <a:p>
            <a:pPr indent="0" marL="0">
              <a:buNone/>
            </a:pPr>
            <a:r>
              <a:rPr lang="en-US" sz="1300" b="1" u="sng" dirty="0">
                <a:solidFill>
                  <a:srgbClr val="006A4E"/>
                </a:solidFill>
                <a:hlinkClick r:id="rId3" invalidUrl="" action="" tgtFrame="" tooltip="https://github.com/aflam330/Senior_project_wearable_glass_for_blind_people_using_ocr_and_ylo" history="1" highlightClick="0" endSnd="0">
                  <a:extLst>
                    <a:ext uri="{A12FA001-AC4F-418D-AE19-62706E023703}">
                      <ahyp:hlinkClr xmlns:ahyp="http://schemas.microsoft.com/office/drawing/2018/hyperlinkcolor" val="tx"/>
                    </a:ext>
                  </a:extLst>
                </a:hlinkClick>
              </a:rPr>
              <a:t>Research repository: experiments, results, thesis</a:t>
            </a:r>
            <a:endParaRPr lang="en-US" sz="1300" dirty="0"/>
          </a:p>
          <a:p>
            <a:pPr indent="0" marL="0">
              <a:spcAft>
                <a:spcPts val="700"/>
              </a:spcAft>
              <a:buNone/>
            </a:pPr>
            <a:r>
              <a:rPr lang="en-US" sz="1000" dirty="0">
                <a:solidFill>
                  <a:srgbClr val="5E6B66"/>
                </a:solidFill>
              </a:rPr>
              <a:t>github.com/aflam330/Senior_project_wearable_glass_for_blind_people_using_ocr_and_ylo</a:t>
            </a:r>
            <a:endParaRPr lang="en-US" sz="1300" dirty="0"/>
          </a:p>
        </p:txBody>
      </p:sp>
      <p:sp>
        <p:nvSpPr>
          <p:cNvPr id="7" name="Datasets card"/>
          <p:cNvSpPr/>
          <p:nvPr/>
        </p:nvSpPr>
        <p:spPr>
          <a:xfrm>
            <a:off x="4297680" y="1325880"/>
            <a:ext cx="3520440" cy="4663440"/>
          </a:xfrm>
          <a:prstGeom prst="roundRect">
            <a:avLst>
              <a:gd name="adj" fmla="val 3117"/>
            </a:avLst>
          </a:prstGeom>
          <a:solidFill>
            <a:schemeClr val="bg2"/>
          </a:solidFill>
          <a:ln w="12700">
            <a:solidFill>
              <a:schemeClr val="bg2"/>
            </a:solidFill>
            <a:prstDash val="solid"/>
          </a:ln>
        </p:spPr>
      </p:sp>
      <p:pic>
        <p:nvPicPr>
          <p:cNvPr id="8" name="Datasets icon" descr="preencoded.png">    </p:cNvPr>
          <p:cNvPicPr>
            <a:picLocks noChangeAspect="1"/>
          </p:cNvPicPr>
          <p:nvPr/>
        </p:nvPicPr>
        <p:blipFill>
          <a:blip r:embed="rId4"/>
          <a:stretch>
            <a:fillRect/>
          </a:stretch>
        </p:blipFill>
        <p:spPr>
          <a:xfrm>
            <a:off x="4526280" y="1508760"/>
            <a:ext cx="457200" cy="457200"/>
          </a:xfrm>
          <a:prstGeom prst="rect">
            <a:avLst/>
          </a:prstGeom>
        </p:spPr>
      </p:pic>
      <p:sp>
        <p:nvSpPr>
          <p:cNvPr id="9" name="Datasets heading"/>
          <p:cNvSpPr txBox="1"/>
          <p:nvPr/>
        </p:nvSpPr>
        <p:spPr>
          <a:xfrm>
            <a:off x="512064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Datasets</a:t>
            </a:r>
            <a:endParaRPr lang="en-US" sz="1800" dirty="0"/>
          </a:p>
        </p:txBody>
      </p:sp>
      <p:sp>
        <p:nvSpPr>
          <p:cNvPr id="10" name="Datasets links"/>
          <p:cNvSpPr txBox="1"/>
          <p:nvPr/>
        </p:nvSpPr>
        <p:spPr>
          <a:xfrm>
            <a:off x="4526280" y="2148840"/>
            <a:ext cx="3108960" cy="3703320"/>
          </a:xfrm>
          <a:prstGeom prst="rect">
            <a:avLst/>
          </a:prstGeom>
          <a:noFill/>
          <a:ln/>
        </p:spPr>
        <p:txBody>
          <a:bodyPr wrap="square" lIns="0" tIns="0" rIns="0" bIns="0" rtlCol="0" anchor="t"/>
          <a:lstStyle/>
          <a:p>
            <a:pPr indent="0" marL="0">
              <a:buNone/>
            </a:pPr>
            <a:r>
              <a:rPr lang="en-US" sz="1300" b="1" u="sng" dirty="0">
                <a:solidFill>
                  <a:srgbClr val="006A4E"/>
                </a:solidFill>
                <a:hlinkClick r:id="rId5" invalidUrl="" action="" tgtFrame="" tooltip="https://data.mendeley.com/datasets/2m7wk5cy4c/2" history="1" highlightClick="0" endSnd="0">
                  <a:extLst>
                    <a:ext uri="{A12FA001-AC4F-418D-AE19-62706E023703}">
                      <ahyp:hlinkClr xmlns:ahyp="http://schemas.microsoft.com/office/drawing/2018/hyperlinkcolor" val="tx"/>
                    </a:ext>
                  </a:extLst>
                </a:hlinkClick>
              </a:rPr>
              <a:t>JaalTaka (counterfeit notes)</a:t>
            </a:r>
            <a:endParaRPr lang="en-US" sz="1300" dirty="0"/>
          </a:p>
          <a:p>
            <a:pPr indent="0" marL="0">
              <a:spcAft>
                <a:spcPts val="700"/>
              </a:spcAft>
              <a:buNone/>
            </a:pPr>
            <a:r>
              <a:rPr lang="en-US" sz="1000" dirty="0">
                <a:solidFill>
                  <a:srgbClr val="5E6B66"/>
                </a:solidFill>
              </a:rPr>
              <a:t>data.mendeley.com/datasets/2m7wk5cy4c/2</a:t>
            </a:r>
            <a:endParaRPr lang="en-US" sz="1300" dirty="0"/>
          </a:p>
          <a:p>
            <a:pPr indent="0" marL="0">
              <a:buNone/>
            </a:pPr>
            <a:r>
              <a:rPr lang="en-US" sz="1300" b="1" u="sng" dirty="0">
                <a:solidFill>
                  <a:srgbClr val="006A4E"/>
                </a:solidFill>
                <a:hlinkClick r:id="rId6" invalidUrl="" action="" tgtFrame="" tooltip="https://data.mendeley.com/datasets/3cv2sypkkh/1" history="1" highlightClick="0" endSnd="0">
                  <a:extLst>
                    <a:ext uri="{A12FA001-AC4F-418D-AE19-62706E023703}">
                      <ahyp:hlinkClr xmlns:ahyp="http://schemas.microsoft.com/office/drawing/2018/hyperlinkcolor" val="tx"/>
                    </a:ext>
                  </a:extLst>
                </a:hlinkClick>
              </a:rPr>
              <a:t>BanglaTaka (note photos)</a:t>
            </a:r>
            <a:endParaRPr lang="en-US" sz="1300" dirty="0"/>
          </a:p>
          <a:p>
            <a:pPr indent="0" marL="0">
              <a:spcAft>
                <a:spcPts val="700"/>
              </a:spcAft>
              <a:buNone/>
            </a:pPr>
            <a:r>
              <a:rPr lang="en-US" sz="1000" dirty="0">
                <a:solidFill>
                  <a:srgbClr val="5E6B66"/>
                </a:solidFill>
              </a:rPr>
              <a:t>data.mendeley.com/datasets/3cv2sypkkh/1</a:t>
            </a:r>
            <a:endParaRPr lang="en-US" sz="1300" dirty="0"/>
          </a:p>
          <a:p>
            <a:pPr indent="0" marL="0">
              <a:buNone/>
            </a:pPr>
            <a:r>
              <a:rPr lang="en-US" sz="1300" b="1" u="sng" dirty="0">
                <a:solidFill>
                  <a:srgbClr val="006A4E"/>
                </a:solidFill>
                <a:hlinkClick r:id="rId7" invalidUrl="" action="" tgtFrame="" tooltip="https://www.sciencedirect.com/science/article/pii/S2352340924006681" history="1" highlightClick="0" endSnd="0">
                  <a:extLst>
                    <a:ext uri="{A12FA001-AC4F-418D-AE19-62706E023703}">
                      <ahyp:hlinkClr xmlns:ahyp="http://schemas.microsoft.com/office/drawing/2018/hyperlinkcolor" val="tx"/>
                    </a:ext>
                  </a:extLst>
                </a:hlinkClick>
              </a:rPr>
              <a:t>NSTU-BDTAKA (hand-held notes)</a:t>
            </a:r>
            <a:endParaRPr lang="en-US" sz="1300" dirty="0"/>
          </a:p>
          <a:p>
            <a:pPr indent="0" marL="0">
              <a:spcAft>
                <a:spcPts val="700"/>
              </a:spcAft>
              <a:buNone/>
            </a:pPr>
            <a:r>
              <a:rPr lang="en-US" sz="1000" dirty="0">
                <a:solidFill>
                  <a:srgbClr val="5E6B66"/>
                </a:solidFill>
              </a:rPr>
              <a:t>www.sciencedirect.com/science/article/pii/S2352340924006681</a:t>
            </a:r>
            <a:endParaRPr lang="en-US" sz="1300" dirty="0"/>
          </a:p>
          <a:p>
            <a:pPr indent="0" marL="0">
              <a:buNone/>
            </a:pPr>
            <a:r>
              <a:rPr lang="en-US" sz="1300" b="1" u="sng" dirty="0">
                <a:solidFill>
                  <a:srgbClr val="006A4E"/>
                </a:solidFill>
                <a:hlinkClick r:id="rId8" invalidUrl="" action="" tgtFrame="" tooltip="https://cocodataset.org" history="1" highlightClick="0" endSnd="0">
                  <a:extLst>
                    <a:ext uri="{A12FA001-AC4F-418D-AE19-62706E023703}">
                      <ahyp:hlinkClr xmlns:ahyp="http://schemas.microsoft.com/office/drawing/2018/hyperlinkcolor" val="tx"/>
                    </a:ext>
                  </a:extLst>
                </a:hlinkClick>
              </a:rPr>
              <a:t>Microsoft COCO</a:t>
            </a:r>
            <a:endParaRPr lang="en-US" sz="1300" dirty="0"/>
          </a:p>
          <a:p>
            <a:pPr indent="0" marL="0">
              <a:spcAft>
                <a:spcPts val="700"/>
              </a:spcAft>
              <a:buNone/>
            </a:pPr>
            <a:r>
              <a:rPr lang="en-US" sz="1000" dirty="0">
                <a:solidFill>
                  <a:srgbClr val="5E6B66"/>
                </a:solidFill>
              </a:rPr>
              <a:t>cocodataset.org</a:t>
            </a:r>
            <a:endParaRPr lang="en-US" sz="1300" dirty="0"/>
          </a:p>
          <a:p>
            <a:pPr indent="0" marL="0">
              <a:buNone/>
            </a:pPr>
            <a:r>
              <a:rPr lang="en-US" sz="1300" b="1" u="sng" dirty="0">
                <a:solidFill>
                  <a:srgbClr val="006A4E"/>
                </a:solidFill>
                <a:hlinkClick r:id="rId9" invalidUrl="" action="" tgtFrame="" tooltip="https://rrc.cvc.uab.es/?ch=15" history="1" highlightClick="0" endSnd="0">
                  <a:extLst>
                    <a:ext uri="{A12FA001-AC4F-418D-AE19-62706E023703}">
                      <ahyp:hlinkClr xmlns:ahyp="http://schemas.microsoft.com/office/drawing/2018/hyperlinkcolor" val="tx"/>
                    </a:ext>
                  </a:extLst>
                </a:hlinkClick>
              </a:rPr>
              <a:t>ICDAR 2019 MLT</a:t>
            </a:r>
            <a:endParaRPr lang="en-US" sz="1300" dirty="0"/>
          </a:p>
          <a:p>
            <a:pPr indent="0" marL="0">
              <a:spcAft>
                <a:spcPts val="700"/>
              </a:spcAft>
              <a:buNone/>
            </a:pPr>
            <a:r>
              <a:rPr lang="en-US" sz="1000" dirty="0">
                <a:solidFill>
                  <a:srgbClr val="5E6B66"/>
                </a:solidFill>
              </a:rPr>
              <a:t>rrc.cvc.uab.es/?ch=15</a:t>
            </a:r>
            <a:endParaRPr lang="en-US" sz="1300" dirty="0"/>
          </a:p>
          <a:p>
            <a:pPr indent="0" marL="0">
              <a:buNone/>
            </a:pPr>
            <a:r>
              <a:rPr lang="en-US" sz="1300" b="1" u="sng" dirty="0">
                <a:solidFill>
                  <a:srgbClr val="006A4E"/>
                </a:solidFill>
                <a:hlinkClick r:id="rId10" invalidUrl="" action="" tgtFrame="" tooltip="https://github.com/karolpiczak/ESC-50" history="1" highlightClick="0" endSnd="0">
                  <a:extLst>
                    <a:ext uri="{A12FA001-AC4F-418D-AE19-62706E023703}">
                      <ahyp:hlinkClr xmlns:ahyp="http://schemas.microsoft.com/office/drawing/2018/hyperlinkcolor" val="tx"/>
                    </a:ext>
                  </a:extLst>
                </a:hlinkClick>
              </a:rPr>
              <a:t>ESC-50 environmental sounds</a:t>
            </a:r>
            <a:endParaRPr lang="en-US" sz="1300" dirty="0"/>
          </a:p>
          <a:p>
            <a:pPr indent="0" marL="0">
              <a:spcAft>
                <a:spcPts val="700"/>
              </a:spcAft>
              <a:buNone/>
            </a:pPr>
            <a:r>
              <a:rPr lang="en-US" sz="1000" dirty="0">
                <a:solidFill>
                  <a:srgbClr val="5E6B66"/>
                </a:solidFill>
              </a:rPr>
              <a:t>github.com/karolpiczak/ESC-50</a:t>
            </a:r>
            <a:endParaRPr lang="en-US" sz="1300" dirty="0"/>
          </a:p>
        </p:txBody>
      </p:sp>
      <p:sp>
        <p:nvSpPr>
          <p:cNvPr id="11" name="Open-source tools card"/>
          <p:cNvSpPr/>
          <p:nvPr/>
        </p:nvSpPr>
        <p:spPr>
          <a:xfrm>
            <a:off x="8046720" y="1325880"/>
            <a:ext cx="3520440" cy="4663440"/>
          </a:xfrm>
          <a:prstGeom prst="roundRect">
            <a:avLst>
              <a:gd name="adj" fmla="val 3117"/>
            </a:avLst>
          </a:prstGeom>
          <a:solidFill>
            <a:schemeClr val="bg2"/>
          </a:solidFill>
          <a:ln w="12700">
            <a:solidFill>
              <a:schemeClr val="bg2"/>
            </a:solidFill>
            <a:prstDash val="solid"/>
          </a:ln>
        </p:spPr>
      </p:sp>
      <p:pic>
        <p:nvPicPr>
          <p:cNvPr id="12" name="Open-source tools icon" descr="preencoded.png">    </p:cNvPr>
          <p:cNvPicPr>
            <a:picLocks noChangeAspect="1"/>
          </p:cNvPicPr>
          <p:nvPr/>
        </p:nvPicPr>
        <p:blipFill>
          <a:blip r:embed="rId11"/>
          <a:stretch>
            <a:fillRect/>
          </a:stretch>
        </p:blipFill>
        <p:spPr>
          <a:xfrm>
            <a:off x="8275320" y="1508760"/>
            <a:ext cx="457200" cy="457200"/>
          </a:xfrm>
          <a:prstGeom prst="rect">
            <a:avLst/>
          </a:prstGeom>
        </p:spPr>
      </p:pic>
      <p:sp>
        <p:nvSpPr>
          <p:cNvPr id="13" name="Open-source tools heading"/>
          <p:cNvSpPr txBox="1"/>
          <p:nvPr/>
        </p:nvSpPr>
        <p:spPr>
          <a:xfrm>
            <a:off x="886968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Open-source tools</a:t>
            </a:r>
            <a:endParaRPr lang="en-US" sz="1800" dirty="0"/>
          </a:p>
        </p:txBody>
      </p:sp>
      <p:sp>
        <p:nvSpPr>
          <p:cNvPr id="14" name="Open-source tools links"/>
          <p:cNvSpPr txBox="1"/>
          <p:nvPr/>
        </p:nvSpPr>
        <p:spPr>
          <a:xfrm>
            <a:off x="8275320" y="2148840"/>
            <a:ext cx="3108960" cy="3703320"/>
          </a:xfrm>
          <a:prstGeom prst="rect">
            <a:avLst/>
          </a:prstGeom>
          <a:noFill/>
          <a:ln/>
        </p:spPr>
        <p:txBody>
          <a:bodyPr wrap="square" lIns="0" tIns="0" rIns="0" bIns="0" rtlCol="0" anchor="t"/>
          <a:lstStyle/>
          <a:p>
            <a:pPr indent="0" marL="0">
              <a:buNone/>
            </a:pPr>
            <a:r>
              <a:rPr lang="en-US" sz="1300" b="1" u="sng" dirty="0">
                <a:solidFill>
                  <a:srgbClr val="006A4E"/>
                </a:solidFill>
                <a:hlinkClick r:id="rId12" invalidUrl="" action="" tgtFrame="" tooltip="https://github.com/ultralytics/ultralytics" history="1" highlightClick="0" endSnd="0">
                  <a:extLst>
                    <a:ext uri="{A12FA001-AC4F-418D-AE19-62706E023703}">
                      <ahyp:hlinkClr xmlns:ahyp="http://schemas.microsoft.com/office/drawing/2018/hyperlinkcolor" val="tx"/>
                    </a:ext>
                  </a:extLst>
                </a:hlinkClick>
              </a:rPr>
              <a:t>Ultralytics YOLOv8</a:t>
            </a:r>
            <a:endParaRPr lang="en-US" sz="1300" dirty="0"/>
          </a:p>
          <a:p>
            <a:pPr indent="0" marL="0">
              <a:spcAft>
                <a:spcPts val="700"/>
              </a:spcAft>
              <a:buNone/>
            </a:pPr>
            <a:r>
              <a:rPr lang="en-US" sz="1000" dirty="0">
                <a:solidFill>
                  <a:srgbClr val="5E6B66"/>
                </a:solidFill>
              </a:rPr>
              <a:t>github.com/ultralytics/ultralytics</a:t>
            </a:r>
            <a:endParaRPr lang="en-US" sz="1300" dirty="0"/>
          </a:p>
          <a:p>
            <a:pPr indent="0" marL="0">
              <a:buNone/>
            </a:pPr>
            <a:r>
              <a:rPr lang="en-US" sz="1300" b="1" u="sng" dirty="0">
                <a:solidFill>
                  <a:srgbClr val="006A4E"/>
                </a:solidFill>
                <a:hlinkClick r:id="rId13" invalidUrl="" action="" tgtFrame="" tooltip="https://github.com/JaidedAI/EasyOCR" history="1" highlightClick="0" endSnd="0">
                  <a:extLst>
                    <a:ext uri="{A12FA001-AC4F-418D-AE19-62706E023703}">
                      <ahyp:hlinkClr xmlns:ahyp="http://schemas.microsoft.com/office/drawing/2018/hyperlinkcolor" val="tx"/>
                    </a:ext>
                  </a:extLst>
                </a:hlinkClick>
              </a:rPr>
              <a:t>EasyOCR</a:t>
            </a:r>
            <a:endParaRPr lang="en-US" sz="1300" dirty="0"/>
          </a:p>
          <a:p>
            <a:pPr indent="0" marL="0">
              <a:spcAft>
                <a:spcPts val="700"/>
              </a:spcAft>
              <a:buNone/>
            </a:pPr>
            <a:r>
              <a:rPr lang="en-US" sz="1000" dirty="0">
                <a:solidFill>
                  <a:srgbClr val="5E6B66"/>
                </a:solidFill>
              </a:rPr>
              <a:t>github.com/JaidedAI/EasyOCR</a:t>
            </a:r>
            <a:endParaRPr lang="en-US" sz="1300" dirty="0"/>
          </a:p>
          <a:p>
            <a:pPr indent="0" marL="0">
              <a:buNone/>
            </a:pPr>
            <a:r>
              <a:rPr lang="en-US" sz="1300" b="1" u="sng" dirty="0">
                <a:solidFill>
                  <a:srgbClr val="006A4E"/>
                </a:solidFill>
                <a:hlinkClick r:id="rId14" invalidUrl="" action="" tgtFrame="" tooltip="https://github.com/rhasspy/piper" history="1" highlightClick="0" endSnd="0">
                  <a:extLst>
                    <a:ext uri="{A12FA001-AC4F-418D-AE19-62706E023703}">
                      <ahyp:hlinkClr xmlns:ahyp="http://schemas.microsoft.com/office/drawing/2018/hyperlinkcolor" val="tx"/>
                    </a:ext>
                  </a:extLst>
                </a:hlinkClick>
              </a:rPr>
              <a:t>Piper text-to-speech</a:t>
            </a:r>
            <a:endParaRPr lang="en-US" sz="1300" dirty="0"/>
          </a:p>
          <a:p>
            <a:pPr indent="0" marL="0">
              <a:spcAft>
                <a:spcPts val="700"/>
              </a:spcAft>
              <a:buNone/>
            </a:pPr>
            <a:r>
              <a:rPr lang="en-US" sz="1000" dirty="0">
                <a:solidFill>
                  <a:srgbClr val="5E6B66"/>
                </a:solidFill>
              </a:rPr>
              <a:t>github.com/rhasspy/piper</a:t>
            </a:r>
            <a:endParaRPr lang="en-US" sz="1300" dirty="0"/>
          </a:p>
          <a:p>
            <a:pPr indent="0" marL="0">
              <a:buNone/>
            </a:pPr>
            <a:r>
              <a:rPr lang="en-US" sz="1300" b="1" u="sng" dirty="0">
                <a:solidFill>
                  <a:srgbClr val="006A4E"/>
                </a:solidFill>
                <a:hlinkClick r:id="rId15" invalidUrl="" action="" tgtFrame="" tooltip="https://alphacephei.com/vosk/" history="1" highlightClick="0" endSnd="0">
                  <a:extLst>
                    <a:ext uri="{A12FA001-AC4F-418D-AE19-62706E023703}">
                      <ahyp:hlinkClr xmlns:ahyp="http://schemas.microsoft.com/office/drawing/2018/hyperlinkcolor" val="tx"/>
                    </a:ext>
                  </a:extLst>
                </a:hlinkClick>
              </a:rPr>
              <a:t>Vosk speech recognition</a:t>
            </a:r>
            <a:endParaRPr lang="en-US" sz="1300" dirty="0"/>
          </a:p>
          <a:p>
            <a:pPr indent="0" marL="0">
              <a:spcAft>
                <a:spcPts val="700"/>
              </a:spcAft>
              <a:buNone/>
            </a:pPr>
            <a:r>
              <a:rPr lang="en-US" sz="1000" dirty="0">
                <a:solidFill>
                  <a:srgbClr val="5E6B66"/>
                </a:solidFill>
              </a:rPr>
              <a:t>alphacephei.com/vosk/</a:t>
            </a:r>
            <a:endParaRPr lang="en-US" sz="1300" dirty="0"/>
          </a:p>
          <a:p>
            <a:pPr indent="0" marL="0">
              <a:buNone/>
            </a:pPr>
            <a:r>
              <a:rPr lang="en-US" sz="1300" b="1" u="sng" dirty="0">
                <a:solidFill>
                  <a:srgbClr val="006A4E"/>
                </a:solidFill>
                <a:hlinkClick r:id="rId16" invalidUrl="" action="" tgtFrame="" tooltip="https://github.com/espeak-ng/espeak-ng" history="1" highlightClick="0" endSnd="0">
                  <a:extLst>
                    <a:ext uri="{A12FA001-AC4F-418D-AE19-62706E023703}">
                      <ahyp:hlinkClr xmlns:ahyp="http://schemas.microsoft.com/office/drawing/2018/hyperlinkcolor" val="tx"/>
                    </a:ext>
                  </a:extLst>
                </a:hlinkClick>
              </a:rPr>
              <a:t>eSpeak NG</a:t>
            </a:r>
            <a:endParaRPr lang="en-US" sz="1300" dirty="0"/>
          </a:p>
          <a:p>
            <a:pPr indent="0" marL="0">
              <a:spcAft>
                <a:spcPts val="700"/>
              </a:spcAft>
              <a:buNone/>
            </a:pPr>
            <a:r>
              <a:rPr lang="en-US" sz="1000" dirty="0">
                <a:solidFill>
                  <a:srgbClr val="5E6B66"/>
                </a:solidFill>
              </a:rPr>
              <a:t>github.com/espeak-ng/espeak-ng</a:t>
            </a:r>
            <a:endParaRPr lang="en-US" sz="1300" dirty="0"/>
          </a:p>
          <a:p>
            <a:pPr indent="0" marL="0">
              <a:buNone/>
            </a:pPr>
            <a:r>
              <a:rPr lang="en-US" sz="1300" b="1" u="sng" dirty="0">
                <a:solidFill>
                  <a:srgbClr val="006A4E"/>
                </a:solidFill>
                <a:hlinkClick r:id="rId17" invalidUrl="" action="" tgtFrame="" tooltip="https://www.who.int/news-room/fact-sheets/detail/blindness-and-visual-impairment" history="1" highlightClick="0" endSnd="0">
                  <a:extLst>
                    <a:ext uri="{A12FA001-AC4F-418D-AE19-62706E023703}">
                      <ahyp:hlinkClr xmlns:ahyp="http://schemas.microsoft.com/office/drawing/2018/hyperlinkcolor" val="tx"/>
                    </a:ext>
                  </a:extLst>
                </a:hlinkClick>
              </a:rPr>
              <a:t>WHO vision fact sheet</a:t>
            </a:r>
            <a:endParaRPr lang="en-US" sz="1300" dirty="0"/>
          </a:p>
          <a:p>
            <a:pPr indent="0" marL="0">
              <a:spcAft>
                <a:spcPts val="700"/>
              </a:spcAft>
              <a:buNone/>
            </a:pPr>
            <a:r>
              <a:rPr lang="en-US" sz="1000" dirty="0">
                <a:solidFill>
                  <a:srgbClr val="5E6B66"/>
                </a:solidFill>
              </a:rPr>
              <a:t>www.who.int/news-room/fact-sheets/detail/blindness-and-visual-impairment</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ARA">
  <a:themeElements>
    <a:clrScheme name="SARA">
      <a:dk1>
        <a:srgbClr val="1C2321"/>
      </a:dk1>
      <a:lt1>
        <a:srgbClr val="FFFFFF"/>
      </a:lt1>
      <a:dk2>
        <a:srgbClr val="0B4D3B"/>
      </a:dk2>
      <a:lt2>
        <a:srgbClr val="EEF5F1"/>
      </a:lt2>
      <a:accent1>
        <a:srgbClr val="006A4E"/>
      </a:accent1>
      <a:accent2>
        <a:srgbClr val="D7263D"/>
      </a:accent2>
      <a:accent3>
        <a:srgbClr val="3A8F72"/>
      </a:accent3>
      <a:accent4>
        <a:srgbClr val="E6A817"/>
      </a:accent4>
      <a:accent5>
        <a:srgbClr val="5E6B66"/>
      </a:accent5>
      <a:accent6>
        <a:srgbClr val="B9DCCD"/>
      </a:accent6>
      <a:hlink>
        <a:srgbClr val="006A4E"/>
      </a:hlink>
      <a:folHlink>
        <a:srgbClr val="3A8F72"/>
      </a:folHlink>
    </a:clrScheme>
    <a:fontScheme name="SA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Independent University, Bangladesh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 Smart Assistive Reading Aid</dc:title>
  <dc:subject>PptxGenJS Presentation</dc:subject>
  <dc:creator>MD Abdun Fattah Lam, Mukut Protim Memo, Tanjila Hossain Tapti</dc:creator>
  <cp:lastModifiedBy>MD Abdun Fattah Lam, Mukut Protim Memo, Tanjila Hossain Tapti</cp:lastModifiedBy>
  <cp:revision>1</cp:revision>
  <dcterms:created xsi:type="dcterms:W3CDTF">2026-10-26T11:44:29Z</dcterms:created>
  <dcterms:modified xsi:type="dcterms:W3CDTF">2026-10-26T11:44:29Z</dcterms:modified>
</cp:coreProperties>
</file>
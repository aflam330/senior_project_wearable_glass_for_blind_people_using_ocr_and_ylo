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1d8c28-1aaf-f0bd-f2f6-9fe5e9029997}">
          <p14:sldIdLst>
            <p14:sldId id="256"/>
          </p14:sldIdLst>
        </p14:section>
        <p14:section name="Problem" id="{43a554c1-3d0e-9fbc-7272-bf00cfb306b2}">
          <p14:sldIdLst>
            <p14:sldId id="257"/>
            <p14:sldId id="258"/>
            <p14:sldId id="259"/>
          </p14:sldIdLst>
        </p14:section>
        <p14:section name="Solution" id="{5e166af7-85a2-4865-cd5d-690d3890c6ec}">
          <p14:sldIdLst>
            <p14:sldId id="260"/>
            <p14:sldId id="261"/>
            <p14:sldId id="262"/>
            <p14:sldId id="263"/>
            <p14:sldId id="264"/>
          </p14:sldIdLst>
        </p14:section>
        <p14:section name="Currency" id="{363479ff-6531-629d-1c85-f0895f669f0f}">
          <p14:sldIdLst>
            <p14:sldId id="265"/>
            <p14:sldId id="266"/>
            <p14:sldId id="267"/>
            <p14:sldId id="268"/>
            <p14:sldId id="269"/>
            <p14:sldId id="270"/>
            <p14:sldId id="271"/>
            <p14:sldId id="272"/>
          </p14:sldIdLst>
        </p14:section>
        <p14:section name="Reading and voice" id="{08ff1439-54a7-14e1-e553-d91d09e78c53}">
          <p14:sldIdLst>
            <p14:sldId id="273"/>
            <p14:sldId id="274"/>
          </p14:sldIdLst>
        </p14:section>
        <p14:section name="Device" id="{36175add-780b-36ab-dada-70c6ad88a4af}">
          <p14:sldIdLst>
            <p14:sldId id="275"/>
            <p14:sldId id="276"/>
            <p14:sldId id="277"/>
          </p14:sldIdLst>
        </p14:section>
        <p14:section name="Closing" id="{e15ba6e2-6c09-60ad-88a3-c62a54fa635b}">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NSTU hand-held test (1,127 photos)</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Character error rate, held-out test sets (lower is better)</a:t>
            </a:r>
          </a:p>
        </c:rich>
      </c:tx>
      <c:layout/>
      <c:overlay val="0"/>
    </c:title>
    <c:autoTitleDeleted val="0"/>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Sheet1!$A$2:$A$4</c:f>
              <c:multiLvlStrCache>
                <c:ptCount val="3"/>
                <c:lvl>
                  <c:pt idx="0">
                    <c:v>Rendered test (all)</c:v>
                  </c:pt>
                  <c:pt idx="1">
                    <c:v>Real words: Bangla</c:v>
                  </c:pt>
                  <c:pt idx="2">
                    <c:v>Real words: Latin</c:v>
                  </c:pt>
                </c:lvl>
              </c:multiLvlStrCache>
            </c:multiLvlStrRef>
          </c:cat>
          <c:val>
            <c:numRef>
              <c:f>Sheet1!$B$2:$B$4</c:f>
              <c:numCache>
                <c:formatCode>General</c:formatCode>
                <c:ptCount val="3"/>
                <c:pt idx="0">
                  <c:v>9.3</c:v>
                </c:pt>
                <c:pt idx="1">
                  <c:v>39.2</c:v>
                </c:pt>
                <c:pt idx="2">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Sheet1!$A$2:$A$4</c:f>
              <c:multiLvlStrCache>
                <c:ptCount val="3"/>
                <c:lvl>
                  <c:pt idx="0">
                    <c:v>Rendered test (all)</c:v>
                  </c:pt>
                  <c:pt idx="1">
                    <c:v>Real words: Bangla</c:v>
                  </c:pt>
                  <c:pt idx="2">
                    <c:v>Real words: Latin</c:v>
                  </c:pt>
                </c:lvl>
              </c:multiLvlStrCache>
            </c:multiLvlStrRef>
          </c:cat>
          <c:val>
            <c:numRef>
              <c:f>Sheet1!$C$2:$C$4</c:f>
              <c:numCache>
                <c:formatCode>General</c:formatCode>
                <c:ptCount val="3"/>
                <c:pt idx="0">
                  <c:v>2.3</c:v>
                </c:pt>
                <c:pt idx="1">
                  <c:v>28.7</c:v>
                </c:pt>
                <c:pt idx="2">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devices are built for English, research glasses need a cloud server, and a blind user cannot check the device's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goes to the Taka detector on the Raspberry Pi, without the internet, and the glass answers in Bangla, one hundred Taka note, with a short vibration. The same steps read a medicine label or name objects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the system on the Pi, synthetic training data for currency, the number of views, unseen counterfeit prints, a safe spoken verdict, and Bangla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an LED on the bridge,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the notes onto real photographs and let the program write the labels. The detector scores 0.995 mAP on held-out composites and names 94.1 percent of independent photographs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We report the costs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a laptop webcam on top and the first glass prototype below. They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trained only with all six views of a note collapses to 71 percent with one view. Training on random prefixes of the views keeps it at about 98 percent from one to six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No test counterfeit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and each sentence is rendered before it plays, which fixed the broken sound on the Pi.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User trials have started and will add the survey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steps: a better glass camera, completing the user study, more counterfeit prints, testing voice commands with people and Bangla command words, and timing and cooling the new code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an assistive glass that speaks Bangla and runs on a Raspberry Pi 5, tested part by part on held-out data, with new methods for counterfeit checking and hand-held notes.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5-1.png"/><Relationship Id="rId4" Type="http://schemas.openxmlformats.org/officeDocument/2006/relationships/image" Target="../media/image-25-2.png"/><Relationship Id="rId11" Type="http://schemas.openxmlformats.org/officeDocument/2006/relationships/image" Target="../media/image-25-3.png"/><Relationship Id="rId18" Type="http://schemas.openxmlformats.org/officeDocument/2006/relationships/slideLayout" Target="../slideLayouts/slideLayout3.xml"/><Relationship Id="rId19"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totype worn, front" descr="E:\Final SP\Thesis Report and paper\tools\deck\assets/1_1.jpg">    </p:cNvPr>
          <p:cNvPicPr>
            <a:picLocks noChangeAspect="1"/>
          </p:cNvPicPr>
          <p:nvPr/>
        </p:nvPicPr>
        <p:blipFill>
          <a:blip r:embed="rId1"/>
          <a:srcRect l="0" r="0" t="0" b="0"/>
          <a:stretch/>
        </p:blipFill>
        <p:spPr>
          <a:xfrm>
            <a:off x="7982712" y="0"/>
            <a:ext cx="420624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Title"/>
          <p:cNvSpPr txBox="1"/>
          <p:nvPr/>
        </p:nvSpPr>
        <p:spPr>
          <a:xfrm>
            <a:off x="685800" y="1600200"/>
            <a:ext cx="68580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SARA</a:t>
            </a:r>
            <a:endParaRPr lang="en-US" sz="5400" dirty="0"/>
          </a:p>
        </p:txBody>
      </p:sp>
      <p:sp>
        <p:nvSpPr>
          <p:cNvPr id="6" name="Subtitle"/>
          <p:cNvSpPr txBox="1"/>
          <p:nvPr/>
        </p:nvSpPr>
        <p:spPr>
          <a:xfrm>
            <a:off x="685800" y="2560320"/>
            <a:ext cx="6858000" cy="1280160"/>
          </a:xfrm>
          <a:prstGeom prst="rect">
            <a:avLst/>
          </a:prstGeom>
          <a:noFill/>
          <a:ln/>
        </p:spPr>
        <p:txBody>
          <a:bodyPr wrap="square" lIns="0" tIns="0" rIns="0" bIns="0" rtlCol="0" anchor="t"/>
          <a:lstStyle/>
          <a:p>
            <a:pPr indent="0" marL="0">
              <a:buNone/>
            </a:pPr>
            <a:r>
              <a:rPr lang="en-US" sz="2000" dirty="0">
                <a:solidFill>
                  <a:srgbClr val="E4EFEA"/>
                </a:solidFill>
              </a:rPr>
              <a:t>Smart Assistive Reading Aid: an offline smart glass that reads Bangla and English, names objects, and recognises and checks Bangladeshi Taka notes</a:t>
            </a:r>
            <a:endParaRPr lang="en-US" sz="2000" dirty="0"/>
          </a:p>
        </p:txBody>
      </p:sp>
      <p:sp>
        <p:nvSpPr>
          <p:cNvPr id="7" name="Authors"/>
          <p:cNvSpPr txBox="1"/>
          <p:nvPr/>
        </p:nvSpPr>
        <p:spPr>
          <a:xfrm>
            <a:off x="685800" y="4663440"/>
            <a:ext cx="6949440" cy="109728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  ·  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questions a blind person cannot answer alone</a:t>
            </a:r>
            <a:endParaRPr lang="en-US" sz="3000" dirty="0"/>
          </a:p>
        </p:txBody>
      </p:sp>
      <p:sp>
        <p:nvSpPr>
          <p:cNvPr id="3" name="Scene 1 card"/>
          <p:cNvSpPr/>
          <p:nvPr/>
        </p:nvSpPr>
        <p:spPr>
          <a:xfrm>
            <a:off x="548640" y="1325880"/>
            <a:ext cx="3520440" cy="4343400"/>
          </a:xfrm>
          <a:prstGeom prst="roundRect">
            <a:avLst>
              <a:gd name="adj" fmla="val 3117"/>
            </a:avLst>
          </a:prstGeom>
          <a:solidFill>
            <a:schemeClr val="bg2"/>
          </a:solidFill>
          <a:ln w="12700">
            <a:solidFill>
              <a:schemeClr val="bg2"/>
            </a:solidFill>
            <a:prstDash val="solid"/>
          </a:ln>
        </p:spPr>
      </p:sp>
      <p:sp>
        <p:nvSpPr>
          <p:cNvPr id="4" name="Scene 1 heading"/>
          <p:cNvSpPr txBox="1"/>
          <p:nvPr/>
        </p:nvSpPr>
        <p:spPr>
          <a:xfrm>
            <a:off x="82296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1  At the shop</a:t>
            </a:r>
            <a:endParaRPr lang="en-US" sz="2000" dirty="0"/>
          </a:p>
        </p:txBody>
      </p:sp>
      <p:sp>
        <p:nvSpPr>
          <p:cNvPr id="5" name="Scene 1 question"/>
          <p:cNvSpPr txBox="1"/>
          <p:nvPr/>
        </p:nvSpPr>
        <p:spPr>
          <a:xfrm>
            <a:off x="82296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Which note did I get back? Is it real?</a:t>
            </a:r>
            <a:endParaRPr lang="en-US" sz="1400" dirty="0"/>
          </a:p>
        </p:txBody>
      </p:sp>
      <p:pic>
        <p:nvPicPr>
          <p:cNvPr id="6" name="Scene 1 blind person" descr="preencoded.png">    </p:cNvPr>
          <p:cNvPicPr>
            <a:picLocks noChangeAspect="1"/>
          </p:cNvPicPr>
          <p:nvPr/>
        </p:nvPicPr>
        <p:blipFill>
          <a:blip r:embed="rId1"/>
          <a:stretch>
            <a:fillRect/>
          </a:stretch>
        </p:blipFill>
        <p:spPr>
          <a:xfrm>
            <a:off x="960120" y="3246120"/>
            <a:ext cx="1188720" cy="1188720"/>
          </a:xfrm>
          <a:prstGeom prst="rect">
            <a:avLst/>
          </a:prstGeom>
        </p:spPr>
      </p:pic>
      <p:pic>
        <p:nvPicPr>
          <p:cNvPr id="7" name="Scene 1 place" descr="preencoded.png">    </p:cNvPr>
          <p:cNvPicPr>
            <a:picLocks noChangeAspect="1"/>
          </p:cNvPicPr>
          <p:nvPr/>
        </p:nvPicPr>
        <p:blipFill>
          <a:blip r:embed="rId2"/>
          <a:stretch>
            <a:fillRect/>
          </a:stretch>
        </p:blipFill>
        <p:spPr>
          <a:xfrm>
            <a:off x="2423160" y="3246120"/>
            <a:ext cx="1188720" cy="1188720"/>
          </a:xfrm>
          <a:prstGeom prst="rect">
            <a:avLst/>
          </a:prstGeom>
        </p:spPr>
      </p:pic>
      <p:sp>
        <p:nvSpPr>
          <p:cNvPr id="8" name="Scene 1 today"/>
          <p:cNvSpPr txBox="1"/>
          <p:nvPr/>
        </p:nvSpPr>
        <p:spPr>
          <a:xfrm>
            <a:off x="82296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Must trust the shopkeeper's word</a:t>
            </a:r>
            <a:endParaRPr lang="en-US" sz="1500" dirty="0"/>
          </a:p>
        </p:txBody>
      </p:sp>
      <p:sp>
        <p:nvSpPr>
          <p:cNvPr id="9" name="Scene 2 card"/>
          <p:cNvSpPr/>
          <p:nvPr/>
        </p:nvSpPr>
        <p:spPr>
          <a:xfrm>
            <a:off x="4297680" y="1325880"/>
            <a:ext cx="3520440" cy="4343400"/>
          </a:xfrm>
          <a:prstGeom prst="roundRect">
            <a:avLst>
              <a:gd name="adj" fmla="val 3117"/>
            </a:avLst>
          </a:prstGeom>
          <a:solidFill>
            <a:schemeClr val="bg2"/>
          </a:solidFill>
          <a:ln w="12700">
            <a:solidFill>
              <a:schemeClr val="bg2"/>
            </a:solidFill>
            <a:prstDash val="solid"/>
          </a:ln>
        </p:spPr>
      </p:sp>
      <p:sp>
        <p:nvSpPr>
          <p:cNvPr id="10" name="Scene 2 heading"/>
          <p:cNvSpPr txBox="1"/>
          <p:nvPr/>
        </p:nvSpPr>
        <p:spPr>
          <a:xfrm>
            <a:off x="457200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2  At the pharmacy</a:t>
            </a:r>
            <a:endParaRPr lang="en-US" sz="2000" dirty="0"/>
          </a:p>
        </p:txBody>
      </p:sp>
      <p:sp>
        <p:nvSpPr>
          <p:cNvPr id="11" name="Scene 2 question"/>
          <p:cNvSpPr txBox="1"/>
          <p:nvPr/>
        </p:nvSpPr>
        <p:spPr>
          <a:xfrm>
            <a:off x="457200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What does this label say? When do I take it?</a:t>
            </a:r>
            <a:endParaRPr lang="en-US" sz="1400" dirty="0"/>
          </a:p>
        </p:txBody>
      </p:sp>
      <p:pic>
        <p:nvPicPr>
          <p:cNvPr id="12" name="Scene 2 blind person" descr="preencoded.png">    </p:cNvPr>
          <p:cNvPicPr>
            <a:picLocks noChangeAspect="1"/>
          </p:cNvPicPr>
          <p:nvPr/>
        </p:nvPicPr>
        <p:blipFill>
          <a:blip r:embed="rId3"/>
          <a:stretch>
            <a:fillRect/>
          </a:stretch>
        </p:blipFill>
        <p:spPr>
          <a:xfrm>
            <a:off x="4709160" y="3246120"/>
            <a:ext cx="1188720" cy="1188720"/>
          </a:xfrm>
          <a:prstGeom prst="rect">
            <a:avLst/>
          </a:prstGeom>
        </p:spPr>
      </p:pic>
      <p:pic>
        <p:nvPicPr>
          <p:cNvPr id="13" name="Scene 2 place" descr="preencoded.png">    </p:cNvPr>
          <p:cNvPicPr>
            <a:picLocks noChangeAspect="1"/>
          </p:cNvPicPr>
          <p:nvPr/>
        </p:nvPicPr>
        <p:blipFill>
          <a:blip r:embed="rId4"/>
          <a:stretch>
            <a:fillRect/>
          </a:stretch>
        </p:blipFill>
        <p:spPr>
          <a:xfrm>
            <a:off x="6172200" y="3246120"/>
            <a:ext cx="1188720" cy="1188720"/>
          </a:xfrm>
          <a:prstGeom prst="rect">
            <a:avLst/>
          </a:prstGeom>
        </p:spPr>
      </p:pic>
      <p:sp>
        <p:nvSpPr>
          <p:cNvPr id="14" name="Scene 2 today"/>
          <p:cNvSpPr txBox="1"/>
          <p:nvPr/>
        </p:nvSpPr>
        <p:spPr>
          <a:xfrm>
            <a:off x="457200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Labels are in Bangla; no device reads them</a:t>
            </a:r>
            <a:endParaRPr lang="en-US" sz="1500" dirty="0"/>
          </a:p>
        </p:txBody>
      </p:sp>
      <p:sp>
        <p:nvSpPr>
          <p:cNvPr id="15" name="Scene 3 card"/>
          <p:cNvSpPr/>
          <p:nvPr/>
        </p:nvSpPr>
        <p:spPr>
          <a:xfrm>
            <a:off x="8046720" y="1325880"/>
            <a:ext cx="3520440" cy="4343400"/>
          </a:xfrm>
          <a:prstGeom prst="roundRect">
            <a:avLst>
              <a:gd name="adj" fmla="val 3117"/>
            </a:avLst>
          </a:prstGeom>
          <a:solidFill>
            <a:schemeClr val="bg2"/>
          </a:solidFill>
          <a:ln w="12700">
            <a:solidFill>
              <a:schemeClr val="bg2"/>
            </a:solidFill>
            <a:prstDash val="solid"/>
          </a:ln>
        </p:spPr>
      </p:sp>
      <p:sp>
        <p:nvSpPr>
          <p:cNvPr id="16" name="Scene 3 heading"/>
          <p:cNvSpPr txBox="1"/>
          <p:nvPr/>
        </p:nvSpPr>
        <p:spPr>
          <a:xfrm>
            <a:off x="832104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3  On the street</a:t>
            </a:r>
            <a:endParaRPr lang="en-US" sz="2000" dirty="0"/>
          </a:p>
        </p:txBody>
      </p:sp>
      <p:sp>
        <p:nvSpPr>
          <p:cNvPr id="17" name="Scene 3 question"/>
          <p:cNvSpPr txBox="1"/>
          <p:nvPr/>
        </p:nvSpPr>
        <p:spPr>
          <a:xfrm>
            <a:off x="832104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What is in front of me? Who is talking?</a:t>
            </a:r>
            <a:endParaRPr lang="en-US" sz="1400" dirty="0"/>
          </a:p>
        </p:txBody>
      </p:sp>
      <p:pic>
        <p:nvPicPr>
          <p:cNvPr id="18" name="Scene 3 blind person" descr="preencoded.png">    </p:cNvPr>
          <p:cNvPicPr>
            <a:picLocks noChangeAspect="1"/>
          </p:cNvPicPr>
          <p:nvPr/>
        </p:nvPicPr>
        <p:blipFill>
          <a:blip r:embed="rId5"/>
          <a:stretch>
            <a:fillRect/>
          </a:stretch>
        </p:blipFill>
        <p:spPr>
          <a:xfrm>
            <a:off x="8458200" y="3246120"/>
            <a:ext cx="1188720" cy="1188720"/>
          </a:xfrm>
          <a:prstGeom prst="rect">
            <a:avLst/>
          </a:prstGeom>
        </p:spPr>
      </p:pic>
      <p:pic>
        <p:nvPicPr>
          <p:cNvPr id="19" name="Scene 3 place" descr="preencoded.png">    </p:cNvPr>
          <p:cNvPicPr>
            <a:picLocks noChangeAspect="1"/>
          </p:cNvPicPr>
          <p:nvPr/>
        </p:nvPicPr>
        <p:blipFill>
          <a:blip r:embed="rId6"/>
          <a:stretch>
            <a:fillRect/>
          </a:stretch>
        </p:blipFill>
        <p:spPr>
          <a:xfrm>
            <a:off x="9921240" y="3246120"/>
            <a:ext cx="1188720" cy="1188720"/>
          </a:xfrm>
          <a:prstGeom prst="rect">
            <a:avLst/>
          </a:prstGeom>
        </p:spPr>
      </p:pic>
      <p:sp>
        <p:nvSpPr>
          <p:cNvPr id="20" name="Scene 3 today"/>
          <p:cNvSpPr txBox="1"/>
          <p:nvPr/>
        </p:nvSpPr>
        <p:spPr>
          <a:xfrm>
            <a:off x="832104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Must stop and ask a stranger</a:t>
            </a:r>
            <a:endParaRPr lang="en-US" sz="1500" dirty="0"/>
          </a:p>
        </p:txBody>
      </p:sp>
      <p:sp>
        <p:nvSpPr>
          <p:cNvPr id="21" name="Takeaway"/>
          <p:cNvSpPr txBox="1"/>
          <p:nvPr/>
        </p:nvSpPr>
        <p:spPr>
          <a:xfrm>
            <a:off x="548640" y="5715000"/>
            <a:ext cx="11064240" cy="320040"/>
          </a:xfrm>
          <a:prstGeom prst="rect">
            <a:avLst/>
          </a:prstGeom>
          <a:noFill/>
          <a:ln/>
        </p:spPr>
        <p:txBody>
          <a:bodyPr wrap="square" lIns="0" tIns="0" rIns="0" bIns="0" rtlCol="0" anchor="ctr"/>
          <a:lstStyle/>
          <a:p>
            <a:pPr indent="0" marL="0">
              <a:buNone/>
            </a:pPr>
            <a:r>
              <a:rPr lang="en-US" sz="1600" b="1" i="1" dirty="0">
                <a:solidFill>
                  <a:schemeClr val="accent1"/>
                </a:solidFill>
              </a:rPr>
              <a:t>Every answer depends on another person, and the blind person cannot check it.</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help does not reach Bangladeshi users</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05840"/>
          </a:xfrm>
          <a:prstGeom prst="rect">
            <a:avLst/>
          </a:prstGeom>
          <a:noFill/>
          <a:ln/>
        </p:spPr>
        <p:txBody>
          <a:bodyPr wrap="square" lIns="0" tIns="0" rIns="0" bIns="0" rtlCol="0" anchor="t"/>
          <a:lstStyle/>
          <a:p>
            <a:pPr indent="0" marL="0">
              <a:buNone/>
            </a:pPr>
            <a:r>
              <a:rPr lang="en-US" sz="1600" dirty="0">
                <a:solidFill>
                  <a:srgbClr val="E4EFEA"/>
                </a:solidFill>
              </a:rPr>
              <a:t>people worldwide have a near or distance vision impairment [1]</a:t>
            </a:r>
            <a:endParaRPr lang="en-US" sz="1600" dirty="0"/>
          </a:p>
        </p:txBody>
      </p:sp>
      <p:sp>
        <p:nvSpPr>
          <p:cNvPr id="6" name="WHO note"/>
          <p:cNvSpPr txBox="1"/>
          <p:nvPr/>
        </p:nvSpPr>
        <p:spPr>
          <a:xfrm>
            <a:off x="868680" y="4114800"/>
            <a:ext cx="3246120" cy="1188720"/>
          </a:xfrm>
          <a:prstGeom prst="rect">
            <a:avLst/>
          </a:prstGeom>
          <a:noFill/>
          <a:ln/>
        </p:spPr>
        <p:txBody>
          <a:bodyPr wrap="square" lIns="0" tIns="0" rIns="0" bIns="0" rtlCol="0" anchor="t"/>
          <a:lstStyle/>
          <a:p>
            <a:pPr indent="0" marL="0">
              <a:buNone/>
            </a:pPr>
            <a:r>
              <a:rPr lang="en-US" sz="1400" i="1" dirty="0">
                <a:solidFill>
                  <a:srgbClr val="CFE2DA"/>
                </a:solidFill>
              </a:rPr>
              <a:t>The burden falls most heavily on low- and middle-income regions [1]</a:t>
            </a:r>
            <a:endParaRPr lang="en-US" sz="14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27632"/>
            <a:ext cx="777240" cy="77724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24298" y="1814170"/>
            <a:ext cx="404165" cy="404165"/>
          </a:xfrm>
          <a:prstGeom prst="rect">
            <a:avLst/>
          </a:prstGeom>
        </p:spPr>
      </p:pic>
      <p:sp>
        <p:nvSpPr>
          <p:cNvPr id="10" name="Gap 1 heading"/>
          <p:cNvSpPr txBox="1"/>
          <p:nvPr/>
        </p:nvSpPr>
        <p:spPr>
          <a:xfrm>
            <a:off x="5943600" y="152704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Built for English</a:t>
            </a:r>
            <a:endParaRPr lang="en-US" sz="2000" dirty="0"/>
          </a:p>
        </p:txBody>
      </p:sp>
      <p:sp>
        <p:nvSpPr>
          <p:cNvPr id="11" name="Gap 1 text"/>
          <p:cNvSpPr txBox="1"/>
          <p:nvPr/>
        </p:nvSpPr>
        <p:spPr>
          <a:xfrm>
            <a:off x="5943600" y="1947672"/>
            <a:ext cx="5486400" cy="640080"/>
          </a:xfrm>
          <a:prstGeom prst="rect">
            <a:avLst/>
          </a:prstGeom>
          <a:noFill/>
          <a:ln/>
        </p:spPr>
        <p:txBody>
          <a:bodyPr wrap="square" lIns="0" tIns="0" rIns="0" bIns="0" rtlCol="0" anchor="t"/>
          <a:lstStyle/>
          <a:p>
            <a:pPr indent="0" marL="0">
              <a:buNone/>
            </a:pPr>
            <a:r>
              <a:rPr lang="en-US" sz="1500" dirty="0">
                <a:solidFill>
                  <a:schemeClr val="tx1"/>
                </a:solidFill>
              </a:rPr>
              <a:t>Commercial reading glasses do not read Bangla or know Taka notes [2].</a:t>
            </a:r>
            <a:endParaRPr lang="en-US" sz="15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82112"/>
            <a:ext cx="777240" cy="77724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24298" y="3368650"/>
            <a:ext cx="404165" cy="404165"/>
          </a:xfrm>
          <a:prstGeom prst="rect">
            <a:avLst/>
          </a:prstGeom>
        </p:spPr>
      </p:pic>
      <p:sp>
        <p:nvSpPr>
          <p:cNvPr id="15" name="Gap 2 heading"/>
          <p:cNvSpPr txBox="1"/>
          <p:nvPr/>
        </p:nvSpPr>
        <p:spPr>
          <a:xfrm>
            <a:off x="5943600" y="308152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Need the internet</a:t>
            </a:r>
            <a:endParaRPr lang="en-US" sz="2000" dirty="0"/>
          </a:p>
        </p:txBody>
      </p:sp>
      <p:sp>
        <p:nvSpPr>
          <p:cNvPr id="16" name="Gap 2 text"/>
          <p:cNvSpPr txBox="1"/>
          <p:nvPr/>
        </p:nvSpPr>
        <p:spPr>
          <a:xfrm>
            <a:off x="5943600" y="3502152"/>
            <a:ext cx="5486400" cy="640080"/>
          </a:xfrm>
          <a:prstGeom prst="rect">
            <a:avLst/>
          </a:prstGeom>
          <a:noFill/>
          <a:ln/>
        </p:spPr>
        <p:txBody>
          <a:bodyPr wrap="square" lIns="0" tIns="0" rIns="0" bIns="0" rtlCol="0" anchor="t"/>
          <a:lstStyle/>
          <a:p>
            <a:pPr indent="0" marL="0">
              <a:buNone/>
            </a:pPr>
            <a:r>
              <a:rPr lang="en-US" sz="1500" dirty="0">
                <a:solidFill>
                  <a:schemeClr val="tx1"/>
                </a:solidFill>
              </a:rPr>
              <a:t>Research glasses send every picture to a cloud server [3, 4]: no network, no answer.</a:t>
            </a:r>
            <a:endParaRPr lang="en-US" sz="15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36592"/>
            <a:ext cx="777240" cy="77724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24298" y="4923130"/>
            <a:ext cx="404165" cy="404165"/>
          </a:xfrm>
          <a:prstGeom prst="rect">
            <a:avLst/>
          </a:prstGeom>
        </p:spPr>
      </p:pic>
      <p:sp>
        <p:nvSpPr>
          <p:cNvPr id="20" name="Gap 3 heading"/>
          <p:cNvSpPr txBox="1"/>
          <p:nvPr/>
        </p:nvSpPr>
        <p:spPr>
          <a:xfrm>
            <a:off x="5943600" y="463600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Answers cannot be checked</a:t>
            </a:r>
            <a:endParaRPr lang="en-US" sz="2000" dirty="0"/>
          </a:p>
        </p:txBody>
      </p:sp>
      <p:sp>
        <p:nvSpPr>
          <p:cNvPr id="21" name="Gap 3 text"/>
          <p:cNvSpPr txBox="1"/>
          <p:nvPr/>
        </p:nvSpPr>
        <p:spPr>
          <a:xfrm>
            <a:off x="5943600" y="5056632"/>
            <a:ext cx="5486400" cy="640080"/>
          </a:xfrm>
          <a:prstGeom prst="rect">
            <a:avLst/>
          </a:prstGeom>
          <a:noFill/>
          <a:ln/>
        </p:spPr>
        <p:txBody>
          <a:bodyPr wrap="square" lIns="0" tIns="0" rIns="0" bIns="0" rtlCol="0" anchor="t"/>
          <a:lstStyle/>
          <a:p>
            <a:pPr indent="0" marL="0">
              <a:buNone/>
            </a:pPr>
            <a:r>
              <a:rPr lang="en-US" sz="1500" dirty="0">
                <a:solidFill>
                  <a:schemeClr val="tx1"/>
                </a:solidFill>
              </a:rPr>
              <a:t>A wrong note value or a false "counterfeit" costs money or causes an accusation.</a:t>
            </a:r>
            <a:endParaRPr lang="en-US" sz="15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same moment with SARA: ask the glass, not a stranger</a:t>
            </a:r>
            <a:endParaRPr lang="en-US" sz="3000" dirty="0"/>
          </a:p>
        </p:txBody>
      </p:sp>
      <p:pic>
        <p:nvPicPr>
          <p:cNvPr id="3" name="User holding a 100 Taka note" descr="E:\Final SP\Thesis Report and paper\tools\deck\assets/test_18.jpg">    </p:cNvPr>
          <p:cNvPicPr>
            <a:picLocks noChangeAspect="1"/>
          </p:cNvPicPr>
          <p:nvPr/>
        </p:nvPicPr>
        <p:blipFill>
          <a:blip r:embed="rId1"/>
          <a:srcRect l="0" r="0" t="0" b="0"/>
          <a:stretch/>
        </p:blipFill>
        <p:spPr>
          <a:xfrm>
            <a:off x="548640" y="1325880"/>
            <a:ext cx="3383280" cy="4617720"/>
          </a:xfrm>
          <a:prstGeom prst="rect">
            <a:avLst/>
          </a:prstGeom>
        </p:spPr>
      </p:pic>
      <p:sp>
        <p:nvSpPr>
          <p:cNvPr id="4" name="Step 1"/>
          <p:cNvSpPr/>
          <p:nvPr/>
        </p:nvSpPr>
        <p:spPr>
          <a:xfrm>
            <a:off x="4251960" y="1325880"/>
            <a:ext cx="7360920" cy="1371600"/>
          </a:xfrm>
          <a:prstGeom prst="roundRect">
            <a:avLst>
              <a:gd name="adj" fmla="val 8000"/>
            </a:avLst>
          </a:prstGeom>
          <a:solidFill>
            <a:schemeClr val="bg2"/>
          </a:solidFill>
          <a:ln w="12700">
            <a:solidFill>
              <a:schemeClr val="bg2"/>
            </a:solidFill>
            <a:prstDash val="solid"/>
          </a:ln>
        </p:spPr>
      </p:sp>
      <p:sp>
        <p:nvSpPr>
          <p:cNvPr id="5" name="Step 1 circle"/>
          <p:cNvSpPr/>
          <p:nvPr/>
        </p:nvSpPr>
        <p:spPr>
          <a:xfrm>
            <a:off x="4480560" y="1627632"/>
            <a:ext cx="777240" cy="777240"/>
          </a:xfrm>
          <a:prstGeom prst="ellipse">
            <a:avLst/>
          </a:prstGeom>
          <a:solidFill>
            <a:srgbClr val="006A4E"/>
          </a:solidFill>
          <a:ln w="12700">
            <a:solidFill>
              <a:srgbClr val="006A4E"/>
            </a:solidFill>
            <a:prstDash val="solid"/>
          </a:ln>
        </p:spPr>
      </p:sp>
      <p:pic>
        <p:nvPicPr>
          <p:cNvPr id="6" name="Step 1 icon" descr="preencoded.png">    </p:cNvPr>
          <p:cNvPicPr>
            <a:picLocks noChangeAspect="1"/>
          </p:cNvPicPr>
          <p:nvPr/>
        </p:nvPicPr>
        <p:blipFill>
          <a:blip r:embed="rId2"/>
          <a:stretch>
            <a:fillRect/>
          </a:stretch>
        </p:blipFill>
        <p:spPr>
          <a:xfrm>
            <a:off x="4667098" y="1814170"/>
            <a:ext cx="404165" cy="404165"/>
          </a:xfrm>
          <a:prstGeom prst="rect">
            <a:avLst/>
          </a:prstGeom>
        </p:spPr>
      </p:pic>
      <p:sp>
        <p:nvSpPr>
          <p:cNvPr id="7" name="Step 1 heading"/>
          <p:cNvSpPr txBox="1"/>
          <p:nvPr/>
        </p:nvSpPr>
        <p:spPr>
          <a:xfrm>
            <a:off x="5486400" y="1490472"/>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1  The user speaks</a:t>
            </a:r>
            <a:endParaRPr lang="en-US" sz="1900" dirty="0"/>
          </a:p>
        </p:txBody>
      </p:sp>
      <p:sp>
        <p:nvSpPr>
          <p:cNvPr id="8" name="Step 1 text"/>
          <p:cNvSpPr txBox="1"/>
          <p:nvPr/>
        </p:nvSpPr>
        <p:spPr>
          <a:xfrm>
            <a:off x="5486400" y="1929384"/>
            <a:ext cx="5943600" cy="548640"/>
          </a:xfrm>
          <a:prstGeom prst="rect">
            <a:avLst/>
          </a:prstGeom>
          <a:noFill/>
          <a:ln/>
        </p:spPr>
        <p:txBody>
          <a:bodyPr wrap="square" lIns="0" tIns="0" rIns="0" bIns="0" rtlCol="0" anchor="ctr"/>
          <a:lstStyle/>
          <a:p>
            <a:pPr indent="0" marL="0">
              <a:buNone/>
            </a:pPr>
            <a:r>
              <a:rPr lang="en-US" sz="1800" b="1" i="1" dirty="0">
                <a:solidFill>
                  <a:srgbClr val="006A4E"/>
                </a:solidFill>
              </a:rPr>
              <a:t>"Glass, check money"</a:t>
            </a:r>
            <a:endParaRPr lang="en-US" sz="1800" dirty="0"/>
          </a:p>
        </p:txBody>
      </p:sp>
      <p:sp>
        <p:nvSpPr>
          <p:cNvPr id="9" name="Step 2"/>
          <p:cNvSpPr/>
          <p:nvPr/>
        </p:nvSpPr>
        <p:spPr>
          <a:xfrm>
            <a:off x="4251960" y="2898648"/>
            <a:ext cx="7360920" cy="1371600"/>
          </a:xfrm>
          <a:prstGeom prst="roundRect">
            <a:avLst>
              <a:gd name="adj" fmla="val 8000"/>
            </a:avLst>
          </a:prstGeom>
          <a:solidFill>
            <a:schemeClr val="bg2"/>
          </a:solidFill>
          <a:ln w="12700">
            <a:solidFill>
              <a:schemeClr val="bg2"/>
            </a:solidFill>
            <a:prstDash val="solid"/>
          </a:ln>
        </p:spPr>
      </p:sp>
      <p:sp>
        <p:nvSpPr>
          <p:cNvPr id="10" name="Step 2 circle"/>
          <p:cNvSpPr/>
          <p:nvPr/>
        </p:nvSpPr>
        <p:spPr>
          <a:xfrm>
            <a:off x="4480560" y="3200400"/>
            <a:ext cx="777240" cy="777240"/>
          </a:xfrm>
          <a:prstGeom prst="ellipse">
            <a:avLst/>
          </a:prstGeom>
          <a:solidFill>
            <a:srgbClr val="3A8F72"/>
          </a:solidFill>
          <a:ln w="12700">
            <a:solidFill>
              <a:srgbClr val="3A8F72"/>
            </a:solidFill>
            <a:prstDash val="solid"/>
          </a:ln>
        </p:spPr>
      </p:sp>
      <p:pic>
        <p:nvPicPr>
          <p:cNvPr id="11" name="Step 2 icon" descr="preencoded.png">    </p:cNvPr>
          <p:cNvPicPr>
            <a:picLocks noChangeAspect="1"/>
          </p:cNvPicPr>
          <p:nvPr/>
        </p:nvPicPr>
        <p:blipFill>
          <a:blip r:embed="rId3"/>
          <a:stretch>
            <a:fillRect/>
          </a:stretch>
        </p:blipFill>
        <p:spPr>
          <a:xfrm>
            <a:off x="4667098" y="3386938"/>
            <a:ext cx="404165" cy="404165"/>
          </a:xfrm>
          <a:prstGeom prst="rect">
            <a:avLst/>
          </a:prstGeom>
        </p:spPr>
      </p:pic>
      <p:sp>
        <p:nvSpPr>
          <p:cNvPr id="12" name="Step 2 heading"/>
          <p:cNvSpPr txBox="1"/>
          <p:nvPr/>
        </p:nvSpPr>
        <p:spPr>
          <a:xfrm>
            <a:off x="5486400" y="3063240"/>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2  The glass looks</a:t>
            </a:r>
            <a:endParaRPr lang="en-US" sz="1900" dirty="0"/>
          </a:p>
        </p:txBody>
      </p:sp>
      <p:sp>
        <p:nvSpPr>
          <p:cNvPr id="13" name="Step 2 text"/>
          <p:cNvSpPr txBox="1"/>
          <p:nvPr/>
        </p:nvSpPr>
        <p:spPr>
          <a:xfrm>
            <a:off x="5486400" y="3502152"/>
            <a:ext cx="5943600" cy="548640"/>
          </a:xfrm>
          <a:prstGeom prst="rect">
            <a:avLst/>
          </a:prstGeom>
          <a:noFill/>
          <a:ln/>
        </p:spPr>
        <p:txBody>
          <a:bodyPr wrap="square" lIns="0" tIns="0" rIns="0" bIns="0" rtlCol="0" anchor="ctr"/>
          <a:lstStyle/>
          <a:p>
            <a:pPr indent="0" marL="0">
              <a:buNone/>
            </a:pPr>
            <a:r>
              <a:rPr lang="en-US" sz="1500" dirty="0">
                <a:solidFill>
                  <a:srgbClr val="1C2321"/>
                </a:solidFill>
              </a:rPr>
              <a:t>Camera picture → Taka detector on the Raspberry Pi 5, no internet</a:t>
            </a:r>
            <a:endParaRPr lang="en-US" sz="1500" dirty="0"/>
          </a:p>
        </p:txBody>
      </p:sp>
      <p:sp>
        <p:nvSpPr>
          <p:cNvPr id="14" name="Step 3"/>
          <p:cNvSpPr/>
          <p:nvPr/>
        </p:nvSpPr>
        <p:spPr>
          <a:xfrm>
            <a:off x="4251960" y="4471416"/>
            <a:ext cx="7360920" cy="1371600"/>
          </a:xfrm>
          <a:prstGeom prst="roundRect">
            <a:avLst>
              <a:gd name="adj" fmla="val 8000"/>
            </a:avLst>
          </a:prstGeom>
          <a:solidFill>
            <a:schemeClr val="bg2"/>
          </a:solidFill>
          <a:ln w="12700">
            <a:solidFill>
              <a:schemeClr val="bg2"/>
            </a:solidFill>
            <a:prstDash val="solid"/>
          </a:ln>
        </p:spPr>
      </p:sp>
      <p:sp>
        <p:nvSpPr>
          <p:cNvPr id="15" name="Step 3 circle"/>
          <p:cNvSpPr/>
          <p:nvPr/>
        </p:nvSpPr>
        <p:spPr>
          <a:xfrm>
            <a:off x="4480560" y="4773168"/>
            <a:ext cx="777240" cy="777240"/>
          </a:xfrm>
          <a:prstGeom prst="ellipse">
            <a:avLst/>
          </a:prstGeom>
          <a:solidFill>
            <a:srgbClr val="0B4D3B"/>
          </a:solidFill>
          <a:ln w="12700">
            <a:solidFill>
              <a:srgbClr val="0B4D3B"/>
            </a:solidFill>
            <a:prstDash val="solid"/>
          </a:ln>
        </p:spPr>
      </p:sp>
      <p:pic>
        <p:nvPicPr>
          <p:cNvPr id="16" name="Step 3 icon" descr="preencoded.png">    </p:cNvPr>
          <p:cNvPicPr>
            <a:picLocks noChangeAspect="1"/>
          </p:cNvPicPr>
          <p:nvPr/>
        </p:nvPicPr>
        <p:blipFill>
          <a:blip r:embed="rId4"/>
          <a:stretch>
            <a:fillRect/>
          </a:stretch>
        </p:blipFill>
        <p:spPr>
          <a:xfrm>
            <a:off x="4667098" y="4959706"/>
            <a:ext cx="404165" cy="404165"/>
          </a:xfrm>
          <a:prstGeom prst="rect">
            <a:avLst/>
          </a:prstGeom>
        </p:spPr>
      </p:pic>
      <p:sp>
        <p:nvSpPr>
          <p:cNvPr id="17" name="Step 3 heading"/>
          <p:cNvSpPr txBox="1"/>
          <p:nvPr/>
        </p:nvSpPr>
        <p:spPr>
          <a:xfrm>
            <a:off x="5486400" y="4636008"/>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3  The glass answers in Bangla</a:t>
            </a:r>
            <a:endParaRPr lang="en-US" sz="1900" dirty="0"/>
          </a:p>
        </p:txBody>
      </p:sp>
      <p:sp>
        <p:nvSpPr>
          <p:cNvPr id="18" name="Step 3 answer"/>
          <p:cNvSpPr txBox="1"/>
          <p:nvPr/>
        </p:nvSpPr>
        <p:spPr>
          <a:xfrm>
            <a:off x="5486400" y="5074920"/>
            <a:ext cx="5943600" cy="548640"/>
          </a:xfrm>
          <a:prstGeom prst="rect">
            <a:avLst/>
          </a:prstGeom>
          <a:noFill/>
          <a:ln/>
        </p:spPr>
        <p:txBody>
          <a:bodyPr wrap="square" lIns="0" tIns="0" rIns="0" bIns="0" rtlCol="0" anchor="ctr"/>
          <a:lstStyle/>
          <a:p>
            <a:pPr indent="0" marL="0">
              <a:buNone/>
            </a:pPr>
            <a:r>
              <a:rPr lang="en-US" sz="2000" b="1" dirty="0">
                <a:solidFill>
                  <a:srgbClr val="006A4E"/>
                </a:solidFill>
                <a:latin typeface="Nirmala UI" pitchFamily="34" charset="0"/>
                <a:ea typeface="Nirmala UI" pitchFamily="34" charset="-122"/>
                <a:cs typeface="Nirmala UI" pitchFamily="34" charset="-120"/>
              </a:rPr>
              <a:t>একশত টাকার নোট</a:t>
            </a:r>
            <a:pPr indent="0" marL="0">
              <a:buNone/>
            </a:pPr>
            <a:r>
              <a:rPr lang="en-US" sz="1400" dirty="0">
                <a:solidFill>
                  <a:srgbClr val="1C2321"/>
                </a:solidFill>
              </a:rPr>
              <a:t>   "100 Taka note", and a short vibration</a:t>
            </a:r>
            <a:endParaRPr lang="en-US" sz="2000" dirty="0"/>
          </a:p>
        </p:txBody>
      </p:sp>
      <p:sp>
        <p:nvSpPr>
          <p:cNvPr id="19" name="Other uses"/>
          <p:cNvSpPr txBox="1"/>
          <p:nvPr/>
        </p:nvSpPr>
        <p:spPr>
          <a:xfrm>
            <a:off x="4251960" y="6053328"/>
            <a:ext cx="7360920" cy="292608"/>
          </a:xfrm>
          <a:prstGeom prst="rect">
            <a:avLst/>
          </a:prstGeom>
          <a:noFill/>
          <a:ln/>
        </p:spPr>
        <p:txBody>
          <a:bodyPr wrap="square" lIns="0" tIns="0" rIns="0" bIns="0" rtlCol="0" anchor="ctr"/>
          <a:lstStyle/>
          <a:p>
            <a:pPr indent="0" marL="0">
              <a:buNone/>
            </a:pPr>
            <a:r>
              <a:rPr lang="en-US" sz="1300" i="1" dirty="0">
                <a:solidFill>
                  <a:schemeClr val="accent5"/>
                </a:solidFill>
              </a:rPr>
              <a:t>The same three steps read a medicine label ("glass, read text") or name what is ahead ("glass, objects").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at a glance: five modes, buttons or voice</a:t>
            </a:r>
            <a:endParaRPr lang="en-US" sz="3000" dirty="0"/>
          </a:p>
        </p:txBody>
      </p:sp>
      <p:pic>
        <p:nvPicPr>
          <p:cNvPr id="3" name="Prototype, side view" descr="E:\Final SP\Thesis Report and paper\tools\deck\assets/1_17.jpg">    </p:cNvPr>
          <p:cNvPicPr>
            <a:picLocks noChangeAspect="1"/>
          </p:cNvPicPr>
          <p:nvPr/>
        </p:nvPicPr>
        <p:blipFill>
          <a:blip r:embed="rId1"/>
          <a:srcRect l="0" r="0" t="0" b="0"/>
          <a:stretch/>
        </p:blipFill>
        <p:spPr>
          <a:xfrm>
            <a:off x="548640" y="1325880"/>
            <a:ext cx="4572000" cy="2569464"/>
          </a:xfrm>
          <a:prstGeom prst="rect">
            <a:avLst/>
          </a:prstGeom>
        </p:spPr>
      </p:pic>
      <p:pic>
        <p:nvPicPr>
          <p:cNvPr id="4" name="Prototype, rear enclosure" descr="E:\Final SP\Thesis Report and paper\tools\deck\assets/1_16.jpg">    </p:cNvPr>
          <p:cNvPicPr>
            <a:picLocks noChangeAspect="1"/>
          </p:cNvPicPr>
          <p:nvPr/>
        </p:nvPicPr>
        <p:blipFill>
          <a:blip r:embed="rId2"/>
          <a:srcRect l="0" r="0" t="0" b="0"/>
          <a:stretch/>
        </p:blipFill>
        <p:spPr>
          <a:xfrm>
            <a:off x="548640" y="3986784"/>
            <a:ext cx="4572000" cy="1956816"/>
          </a:xfrm>
          <a:prstGeom prst="rect">
            <a:avLst/>
          </a:prstGeom>
        </p:spPr>
      </p:pic>
      <p:sp>
        <p:nvSpPr>
          <p:cNvPr id="5" name="Text reading card"/>
          <p:cNvSpPr/>
          <p:nvPr/>
        </p:nvSpPr>
        <p:spPr>
          <a:xfrm>
            <a:off x="5486400" y="1325880"/>
            <a:ext cx="2971800" cy="1417320"/>
          </a:xfrm>
          <a:prstGeom prst="roundRect">
            <a:avLst>
              <a:gd name="adj" fmla="val 7742"/>
            </a:avLst>
          </a:prstGeom>
          <a:solidFill>
            <a:schemeClr val="bg2"/>
          </a:solidFill>
          <a:ln w="12700">
            <a:solidFill>
              <a:schemeClr val="bg2"/>
            </a:solidFill>
            <a:prstDash val="solid"/>
          </a:ln>
        </p:spPr>
      </p:sp>
      <p:sp>
        <p:nvSpPr>
          <p:cNvPr id="6" name="Text reading circle"/>
          <p:cNvSpPr/>
          <p:nvPr/>
        </p:nvSpPr>
        <p:spPr>
          <a:xfrm>
            <a:off x="5687568" y="1554480"/>
            <a:ext cx="658368" cy="658368"/>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3"/>
          <a:stretch>
            <a:fillRect/>
          </a:stretch>
        </p:blipFill>
        <p:spPr>
          <a:xfrm>
            <a:off x="5845576" y="1712488"/>
            <a:ext cx="342351" cy="342351"/>
          </a:xfrm>
          <a:prstGeom prst="rect">
            <a:avLst/>
          </a:prstGeom>
        </p:spPr>
      </p:pic>
      <p:sp>
        <p:nvSpPr>
          <p:cNvPr id="8" name="Text reading heading"/>
          <p:cNvSpPr txBox="1"/>
          <p:nvPr/>
        </p:nvSpPr>
        <p:spPr>
          <a:xfrm>
            <a:off x="6492240" y="1508760"/>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Text reading</a:t>
            </a:r>
            <a:endParaRPr lang="en-US" sz="1600" dirty="0"/>
          </a:p>
        </p:txBody>
      </p:sp>
      <p:sp>
        <p:nvSpPr>
          <p:cNvPr id="9" name="Text reading text"/>
          <p:cNvSpPr txBox="1"/>
          <p:nvPr/>
        </p:nvSpPr>
        <p:spPr>
          <a:xfrm>
            <a:off x="6492240" y="1892808"/>
            <a:ext cx="1874520" cy="731520"/>
          </a:xfrm>
          <a:prstGeom prst="rect">
            <a:avLst/>
          </a:prstGeom>
          <a:noFill/>
          <a:ln/>
        </p:spPr>
        <p:txBody>
          <a:bodyPr wrap="square" lIns="0" tIns="0" rIns="0" bIns="0" rtlCol="0" anchor="t"/>
          <a:lstStyle/>
          <a:p>
            <a:pPr indent="0" marL="0">
              <a:buNone/>
            </a:pPr>
            <a:r>
              <a:rPr lang="en-US" sz="1300" dirty="0">
                <a:solidFill>
                  <a:schemeClr val="tx1"/>
                </a:solidFill>
              </a:rPr>
              <a:t>Bangla and English, read aloud</a:t>
            </a:r>
            <a:endParaRPr lang="en-US" sz="1300" dirty="0"/>
          </a:p>
        </p:txBody>
      </p:sp>
      <p:sp>
        <p:nvSpPr>
          <p:cNvPr id="10" name="Objects card"/>
          <p:cNvSpPr/>
          <p:nvPr/>
        </p:nvSpPr>
        <p:spPr>
          <a:xfrm>
            <a:off x="8595360" y="1325880"/>
            <a:ext cx="2971800" cy="1417320"/>
          </a:xfrm>
          <a:prstGeom prst="roundRect">
            <a:avLst>
              <a:gd name="adj" fmla="val 7742"/>
            </a:avLst>
          </a:prstGeom>
          <a:solidFill>
            <a:schemeClr val="bg2"/>
          </a:solidFill>
          <a:ln w="12700">
            <a:solidFill>
              <a:schemeClr val="bg2"/>
            </a:solidFill>
            <a:prstDash val="solid"/>
          </a:ln>
        </p:spPr>
      </p:sp>
      <p:sp>
        <p:nvSpPr>
          <p:cNvPr id="11" name="Objects circle"/>
          <p:cNvSpPr/>
          <p:nvPr/>
        </p:nvSpPr>
        <p:spPr>
          <a:xfrm>
            <a:off x="8796528" y="1554480"/>
            <a:ext cx="658368" cy="658368"/>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4"/>
          <a:stretch>
            <a:fillRect/>
          </a:stretch>
        </p:blipFill>
        <p:spPr>
          <a:xfrm>
            <a:off x="8954536" y="1712488"/>
            <a:ext cx="342351" cy="342351"/>
          </a:xfrm>
          <a:prstGeom prst="rect">
            <a:avLst/>
          </a:prstGeom>
        </p:spPr>
      </p:pic>
      <p:sp>
        <p:nvSpPr>
          <p:cNvPr id="13" name="Objects heading"/>
          <p:cNvSpPr txBox="1"/>
          <p:nvPr/>
        </p:nvSpPr>
        <p:spPr>
          <a:xfrm>
            <a:off x="9601200" y="1508760"/>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Objects</a:t>
            </a:r>
            <a:endParaRPr lang="en-US" sz="1600" dirty="0"/>
          </a:p>
        </p:txBody>
      </p:sp>
      <p:sp>
        <p:nvSpPr>
          <p:cNvPr id="14" name="Objects text"/>
          <p:cNvSpPr txBox="1"/>
          <p:nvPr/>
        </p:nvSpPr>
        <p:spPr>
          <a:xfrm>
            <a:off x="9601200" y="1892808"/>
            <a:ext cx="1874520" cy="731520"/>
          </a:xfrm>
          <a:prstGeom prst="rect">
            <a:avLst/>
          </a:prstGeom>
          <a:noFill/>
          <a:ln/>
        </p:spPr>
        <p:txBody>
          <a:bodyPr wrap="square" lIns="0" tIns="0" rIns="0" bIns="0" rtlCol="0" anchor="t"/>
          <a:lstStyle/>
          <a:p>
            <a:pPr indent="0" marL="0">
              <a:buNone/>
            </a:pPr>
            <a:r>
              <a:rPr lang="en-US" sz="1300" dirty="0">
                <a:solidFill>
                  <a:schemeClr val="tx1"/>
                </a:solidFill>
              </a:rPr>
              <a:t>Names what is in front, in Bangla</a:t>
            </a:r>
            <a:endParaRPr lang="en-US" sz="1300" dirty="0"/>
          </a:p>
        </p:txBody>
      </p:sp>
      <p:sp>
        <p:nvSpPr>
          <p:cNvPr id="15" name="Taka notes card"/>
          <p:cNvSpPr/>
          <p:nvPr/>
        </p:nvSpPr>
        <p:spPr>
          <a:xfrm>
            <a:off x="5486400" y="2898648"/>
            <a:ext cx="2971800" cy="1417320"/>
          </a:xfrm>
          <a:prstGeom prst="roundRect">
            <a:avLst>
              <a:gd name="adj" fmla="val 7742"/>
            </a:avLst>
          </a:prstGeom>
          <a:solidFill>
            <a:schemeClr val="bg2"/>
          </a:solidFill>
          <a:ln w="12700">
            <a:solidFill>
              <a:schemeClr val="bg2"/>
            </a:solidFill>
            <a:prstDash val="solid"/>
          </a:ln>
        </p:spPr>
      </p:sp>
      <p:sp>
        <p:nvSpPr>
          <p:cNvPr id="16" name="Taka notes circle"/>
          <p:cNvSpPr/>
          <p:nvPr/>
        </p:nvSpPr>
        <p:spPr>
          <a:xfrm>
            <a:off x="5687568" y="3127248"/>
            <a:ext cx="658368" cy="658368"/>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5"/>
          <a:stretch>
            <a:fillRect/>
          </a:stretch>
        </p:blipFill>
        <p:spPr>
          <a:xfrm>
            <a:off x="5845576" y="3285256"/>
            <a:ext cx="342351" cy="342351"/>
          </a:xfrm>
          <a:prstGeom prst="rect">
            <a:avLst/>
          </a:prstGeom>
        </p:spPr>
      </p:pic>
      <p:sp>
        <p:nvSpPr>
          <p:cNvPr id="18" name="Taka notes heading"/>
          <p:cNvSpPr txBox="1"/>
          <p:nvPr/>
        </p:nvSpPr>
        <p:spPr>
          <a:xfrm>
            <a:off x="6492240" y="3081528"/>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Taka notes</a:t>
            </a:r>
            <a:endParaRPr lang="en-US" sz="1600" dirty="0"/>
          </a:p>
        </p:txBody>
      </p:sp>
      <p:sp>
        <p:nvSpPr>
          <p:cNvPr id="19" name="Taka notes text"/>
          <p:cNvSpPr txBox="1"/>
          <p:nvPr/>
        </p:nvSpPr>
        <p:spPr>
          <a:xfrm>
            <a:off x="6492240" y="3465576"/>
            <a:ext cx="1874520" cy="731520"/>
          </a:xfrm>
          <a:prstGeom prst="rect">
            <a:avLst/>
          </a:prstGeom>
          <a:noFill/>
          <a:ln/>
        </p:spPr>
        <p:txBody>
          <a:bodyPr wrap="square" lIns="0" tIns="0" rIns="0" bIns="0" rtlCol="0" anchor="t"/>
          <a:lstStyle/>
          <a:p>
            <a:pPr indent="0" marL="0">
              <a:buNone/>
            </a:pPr>
            <a:r>
              <a:rPr lang="en-US" sz="1300" dirty="0">
                <a:solidFill>
                  <a:schemeClr val="tx1"/>
                </a:solidFill>
              </a:rPr>
              <a:t>All nine notes + a careful counterfeit check</a:t>
            </a:r>
            <a:endParaRPr lang="en-US" sz="1300" dirty="0"/>
          </a:p>
        </p:txBody>
      </p:sp>
      <p:sp>
        <p:nvSpPr>
          <p:cNvPr id="20" name="Emotion card"/>
          <p:cNvSpPr/>
          <p:nvPr/>
        </p:nvSpPr>
        <p:spPr>
          <a:xfrm>
            <a:off x="8595360" y="2898648"/>
            <a:ext cx="2971800" cy="1417320"/>
          </a:xfrm>
          <a:prstGeom prst="roundRect">
            <a:avLst>
              <a:gd name="adj" fmla="val 7742"/>
            </a:avLst>
          </a:prstGeom>
          <a:solidFill>
            <a:schemeClr val="bg2"/>
          </a:solidFill>
          <a:ln w="12700">
            <a:solidFill>
              <a:schemeClr val="bg2"/>
            </a:solidFill>
            <a:prstDash val="solid"/>
          </a:ln>
        </p:spPr>
      </p:sp>
      <p:sp>
        <p:nvSpPr>
          <p:cNvPr id="21" name="Emotion circle"/>
          <p:cNvSpPr/>
          <p:nvPr/>
        </p:nvSpPr>
        <p:spPr>
          <a:xfrm>
            <a:off x="8796528" y="3127248"/>
            <a:ext cx="658368" cy="658368"/>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6"/>
          <a:stretch>
            <a:fillRect/>
          </a:stretch>
        </p:blipFill>
        <p:spPr>
          <a:xfrm>
            <a:off x="8954536" y="3285256"/>
            <a:ext cx="342351" cy="342351"/>
          </a:xfrm>
          <a:prstGeom prst="rect">
            <a:avLst/>
          </a:prstGeom>
        </p:spPr>
      </p:pic>
      <p:sp>
        <p:nvSpPr>
          <p:cNvPr id="23" name="Emotion heading"/>
          <p:cNvSpPr txBox="1"/>
          <p:nvPr/>
        </p:nvSpPr>
        <p:spPr>
          <a:xfrm>
            <a:off x="9601200" y="3081528"/>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Emotion</a:t>
            </a:r>
            <a:endParaRPr lang="en-US" sz="1600" dirty="0"/>
          </a:p>
        </p:txBody>
      </p:sp>
      <p:sp>
        <p:nvSpPr>
          <p:cNvPr id="24" name="Emotion text"/>
          <p:cNvSpPr txBox="1"/>
          <p:nvPr/>
        </p:nvSpPr>
        <p:spPr>
          <a:xfrm>
            <a:off x="9601200" y="3465576"/>
            <a:ext cx="1874520" cy="731520"/>
          </a:xfrm>
          <a:prstGeom prst="rect">
            <a:avLst/>
          </a:prstGeom>
          <a:noFill/>
          <a:ln/>
        </p:spPr>
        <p:txBody>
          <a:bodyPr wrap="square" lIns="0" tIns="0" rIns="0" bIns="0" rtlCol="0" anchor="t"/>
          <a:lstStyle/>
          <a:p>
            <a:pPr indent="0" marL="0">
              <a:buNone/>
            </a:pPr>
            <a:r>
              <a:rPr lang="en-US" sz="1300" dirty="0">
                <a:solidFill>
                  <a:schemeClr val="tx1"/>
                </a:solidFill>
              </a:rPr>
              <a:t>Facial expression of the person in front</a:t>
            </a:r>
            <a:endParaRPr lang="en-US" sz="1300" dirty="0"/>
          </a:p>
        </p:txBody>
      </p:sp>
      <p:sp>
        <p:nvSpPr>
          <p:cNvPr id="25" name="Online description card"/>
          <p:cNvSpPr/>
          <p:nvPr/>
        </p:nvSpPr>
        <p:spPr>
          <a:xfrm>
            <a:off x="5486400" y="4471416"/>
            <a:ext cx="2971800" cy="1417320"/>
          </a:xfrm>
          <a:prstGeom prst="roundRect">
            <a:avLst>
              <a:gd name="adj" fmla="val 7742"/>
            </a:avLst>
          </a:prstGeom>
          <a:solidFill>
            <a:schemeClr val="bg2"/>
          </a:solidFill>
          <a:ln w="12700">
            <a:solidFill>
              <a:schemeClr val="bg2"/>
            </a:solidFill>
            <a:prstDash val="solid"/>
          </a:ln>
        </p:spPr>
      </p:sp>
      <p:sp>
        <p:nvSpPr>
          <p:cNvPr id="26" name="Online description circle"/>
          <p:cNvSpPr/>
          <p:nvPr/>
        </p:nvSpPr>
        <p:spPr>
          <a:xfrm>
            <a:off x="5687568" y="4700016"/>
            <a:ext cx="658368" cy="658368"/>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7"/>
          <a:stretch>
            <a:fillRect/>
          </a:stretch>
        </p:blipFill>
        <p:spPr>
          <a:xfrm>
            <a:off x="5845576" y="4858024"/>
            <a:ext cx="342351" cy="342351"/>
          </a:xfrm>
          <a:prstGeom prst="rect">
            <a:avLst/>
          </a:prstGeom>
        </p:spPr>
      </p:pic>
      <p:sp>
        <p:nvSpPr>
          <p:cNvPr id="28" name="Online description heading"/>
          <p:cNvSpPr txBox="1"/>
          <p:nvPr/>
        </p:nvSpPr>
        <p:spPr>
          <a:xfrm>
            <a:off x="6492240" y="4654296"/>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Online description</a:t>
            </a:r>
            <a:endParaRPr lang="en-US" sz="1600" dirty="0"/>
          </a:p>
        </p:txBody>
      </p:sp>
      <p:sp>
        <p:nvSpPr>
          <p:cNvPr id="29" name="Online description text"/>
          <p:cNvSpPr txBox="1"/>
          <p:nvPr/>
        </p:nvSpPr>
        <p:spPr>
          <a:xfrm>
            <a:off x="6492240" y="5038344"/>
            <a:ext cx="1874520" cy="731520"/>
          </a:xfrm>
          <a:prstGeom prst="rect">
            <a:avLst/>
          </a:prstGeom>
          <a:noFill/>
          <a:ln/>
        </p:spPr>
        <p:txBody>
          <a:bodyPr wrap="square" lIns="0" tIns="0" rIns="0" bIns="0" rtlCol="0" anchor="t"/>
          <a:lstStyle/>
          <a:p>
            <a:pPr indent="0" marL="0">
              <a:buNone/>
            </a:pPr>
            <a:r>
              <a:rPr lang="en-US" sz="1300" dirty="0">
                <a:solidFill>
                  <a:schemeClr val="tx1"/>
                </a:solidFill>
              </a:rPr>
              <a:t>Optional; the only mode needing internet</a:t>
            </a:r>
            <a:endParaRPr lang="en-US" sz="1300" dirty="0"/>
          </a:p>
        </p:txBody>
      </p:sp>
      <p:sp>
        <p:nvSpPr>
          <p:cNvPr id="30" name="Voice commands card"/>
          <p:cNvSpPr/>
          <p:nvPr/>
        </p:nvSpPr>
        <p:spPr>
          <a:xfrm>
            <a:off x="8595360" y="4471416"/>
            <a:ext cx="2971800" cy="1417320"/>
          </a:xfrm>
          <a:prstGeom prst="roundRect">
            <a:avLst>
              <a:gd name="adj" fmla="val 7742"/>
            </a:avLst>
          </a:prstGeom>
          <a:solidFill>
            <a:schemeClr val="bg2"/>
          </a:solidFill>
          <a:ln w="12700">
            <a:solidFill>
              <a:schemeClr val="bg2"/>
            </a:solidFill>
            <a:prstDash val="solid"/>
          </a:ln>
        </p:spPr>
      </p:sp>
      <p:sp>
        <p:nvSpPr>
          <p:cNvPr id="31" name="Voice commands circle"/>
          <p:cNvSpPr/>
          <p:nvPr/>
        </p:nvSpPr>
        <p:spPr>
          <a:xfrm>
            <a:off x="8796528" y="4700016"/>
            <a:ext cx="658368" cy="658368"/>
          </a:xfrm>
          <a:prstGeom prst="ellipse">
            <a:avLst/>
          </a:prstGeom>
          <a:solidFill>
            <a:srgbClr val="D7263D"/>
          </a:solidFill>
          <a:ln w="12700">
            <a:solidFill>
              <a:srgbClr val="D7263D"/>
            </a:solidFill>
            <a:prstDash val="solid"/>
          </a:ln>
        </p:spPr>
      </p:sp>
      <p:pic>
        <p:nvPicPr>
          <p:cNvPr id="32" name="Voice commands icon" descr="preencoded.png">    </p:cNvPr>
          <p:cNvPicPr>
            <a:picLocks noChangeAspect="1"/>
          </p:cNvPicPr>
          <p:nvPr/>
        </p:nvPicPr>
        <p:blipFill>
          <a:blip r:embed="rId8"/>
          <a:stretch>
            <a:fillRect/>
          </a:stretch>
        </p:blipFill>
        <p:spPr>
          <a:xfrm>
            <a:off x="8954536" y="4858024"/>
            <a:ext cx="342351" cy="342351"/>
          </a:xfrm>
          <a:prstGeom prst="rect">
            <a:avLst/>
          </a:prstGeom>
        </p:spPr>
      </p:pic>
      <p:sp>
        <p:nvSpPr>
          <p:cNvPr id="33" name="Voice commands heading"/>
          <p:cNvSpPr txBox="1"/>
          <p:nvPr/>
        </p:nvSpPr>
        <p:spPr>
          <a:xfrm>
            <a:off x="9601200" y="4654296"/>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Voice commands</a:t>
            </a:r>
            <a:endParaRPr lang="en-US" sz="1600" dirty="0"/>
          </a:p>
        </p:txBody>
      </p:sp>
      <p:sp>
        <p:nvSpPr>
          <p:cNvPr id="34" name="Voice commands text"/>
          <p:cNvSpPr txBox="1"/>
          <p:nvPr/>
        </p:nvSpPr>
        <p:spPr>
          <a:xfrm>
            <a:off x="9601200" y="5038344"/>
            <a:ext cx="1874520" cy="731520"/>
          </a:xfrm>
          <a:prstGeom prst="rect">
            <a:avLst/>
          </a:prstGeom>
          <a:noFill/>
          <a:ln/>
        </p:spPr>
        <p:txBody>
          <a:bodyPr wrap="square" lIns="0" tIns="0" rIns="0" bIns="0" rtlCol="0" anchor="t"/>
          <a:lstStyle/>
          <a:p>
            <a:pPr indent="0" marL="0">
              <a:buNone/>
            </a:pPr>
            <a:r>
              <a:rPr lang="en-US" sz="1300" dirty="0">
                <a:solidFill>
                  <a:schemeClr val="tx1"/>
                </a:solidFill>
              </a:rPr>
              <a:t>"Glass, read text", "glass, stop" ...</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System</a:t>
            </a:r>
            <a:endParaRPr lang="en-US" sz="1900" dirty="0"/>
          </a:p>
        </p:txBody>
      </p:sp>
      <p:sp>
        <p:nvSpPr>
          <p:cNvPr id="6" name="RQ1 text"/>
          <p:cNvSpPr txBox="1"/>
          <p:nvPr/>
        </p:nvSpPr>
        <p:spPr>
          <a:xfrm>
            <a:off x="77724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a multi-function Bangla glass run on a Raspberry Pi 5, and how fast?</a:t>
            </a:r>
            <a:endParaRPr lang="en-US" sz="15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Synthetic data</a:t>
            </a:r>
            <a:endParaRPr lang="en-US" sz="1900" dirty="0"/>
          </a:p>
        </p:txBody>
      </p:sp>
      <p:sp>
        <p:nvSpPr>
          <p:cNvPr id="10" name="RQ2 text"/>
          <p:cNvSpPr txBox="1"/>
          <p:nvPr/>
        </p:nvSpPr>
        <p:spPr>
          <a:xfrm>
            <a:off x="452628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a Taka detector trained without hand labels work on real, hand-held photos?</a:t>
            </a:r>
            <a:endParaRPr lang="en-US" sz="15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Number of views</a:t>
            </a:r>
            <a:endParaRPr lang="en-US" sz="1900" dirty="0"/>
          </a:p>
        </p:txBody>
      </p:sp>
      <p:sp>
        <p:nvSpPr>
          <p:cNvPr id="14" name="RQ3 text"/>
          <p:cNvSpPr txBox="1"/>
          <p:nvPr/>
        </p:nvSpPr>
        <p:spPr>
          <a:xfrm>
            <a:off x="827532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Why do multi-view counterfeit models fail with fewer views, and can training fix it?</a:t>
            </a:r>
            <a:endParaRPr lang="en-US" sz="15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Unseen prints</a:t>
            </a:r>
            <a:endParaRPr lang="en-US" sz="1900" dirty="0"/>
          </a:p>
        </p:txBody>
      </p:sp>
      <p:sp>
        <p:nvSpPr>
          <p:cNvPr id="18" name="RQ4 text"/>
          <p:cNvSpPr txBox="1"/>
          <p:nvPr/>
        </p:nvSpPr>
        <p:spPr>
          <a:xfrm>
            <a:off x="77724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How much does accuracy drop on counterfeit prints never seen in training?</a:t>
            </a:r>
            <a:endParaRPr lang="en-US" sz="15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Safety</a:t>
            </a:r>
            <a:endParaRPr lang="en-US" sz="1900" dirty="0"/>
          </a:p>
        </p:txBody>
      </p:sp>
      <p:sp>
        <p:nvSpPr>
          <p:cNvPr id="22" name="RQ5 text"/>
          <p:cNvSpPr txBox="1"/>
          <p:nvPr/>
        </p:nvSpPr>
        <p:spPr>
          <a:xfrm>
            <a:off x="452628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the glass give counterfeit advice that never accuses a genuine note?</a:t>
            </a:r>
            <a:endParaRPr lang="en-US" sz="15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Bangla OCR</a:t>
            </a:r>
            <a:endParaRPr lang="en-US" sz="1900" dirty="0"/>
          </a:p>
        </p:txBody>
      </p:sp>
      <p:sp>
        <p:nvSpPr>
          <p:cNvPr id="26" name="RQ6 text"/>
          <p:cNvSpPr txBox="1"/>
          <p:nvPr/>
        </p:nvSpPr>
        <p:spPr>
          <a:xfrm>
            <a:off x="827532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Which part of a Bangla OCR pipeline matters most for a wearable camera?</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1325880"/>
            <a:ext cx="2103120" cy="1371600"/>
          </a:xfrm>
          <a:prstGeom prst="rect">
            <a:avLst/>
          </a:prstGeom>
        </p:spPr>
      </p:pic>
      <p:sp>
        <p:nvSpPr>
          <p:cNvPr id="4" name="Caption 1"/>
          <p:cNvSpPr txBox="1"/>
          <p:nvPr/>
        </p:nvSpPr>
        <p:spPr>
          <a:xfrm>
            <a:off x="54864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2788920" y="1325880"/>
            <a:ext cx="2103120" cy="1371600"/>
          </a:xfrm>
          <a:prstGeom prst="rect">
            <a:avLst/>
          </a:prstGeom>
        </p:spPr>
      </p:pic>
      <p:sp>
        <p:nvSpPr>
          <p:cNvPr id="6" name="Caption 2"/>
          <p:cNvSpPr txBox="1"/>
          <p:nvPr/>
        </p:nvSpPr>
        <p:spPr>
          <a:xfrm>
            <a:off x="278892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029200" y="1325880"/>
            <a:ext cx="2103120" cy="1371600"/>
          </a:xfrm>
          <a:prstGeom prst="rect">
            <a:avLst/>
          </a:prstGeom>
        </p:spPr>
      </p:pic>
      <p:sp>
        <p:nvSpPr>
          <p:cNvPr id="8" name="Caption 3"/>
          <p:cNvSpPr txBox="1"/>
          <p:nvPr/>
        </p:nvSpPr>
        <p:spPr>
          <a:xfrm>
            <a:off x="502920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3246120"/>
          <a:ext cx="6675120" cy="914400"/>
        </p:xfrm>
        <a:graphic>
          <a:graphicData uri="http://schemas.openxmlformats.org/drawingml/2006/table">
            <a:tbl>
              <a:tblPr/>
              <a:tblGrid>
                <a:gridCol w="2651760"/>
                <a:gridCol w="1005840"/>
                <a:gridCol w="1005840"/>
                <a:gridCol w="1005840"/>
                <a:gridCol w="1005840"/>
              </a:tblGrid>
              <a:tr h="384048">
                <a:tc>
                  <a:txBody>
                    <a:bodyPr/>
                    <a:lstStyle/>
                    <a:p>
                      <a:pPr algn="ctr" indent="0" marL="0">
                        <a:buNone/>
                      </a:pPr>
                      <a:r>
                        <a:rPr lang="en-US" sz="1300" b="1" dirty="0">
                          <a:solidFill>
                            <a:srgbClr val="FFFFFF"/>
                          </a:solidFill>
                        </a:rPr>
                        <a:t>System</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Reads Bangla</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Knows Taka</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Works offline</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Wearable</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384048">
                <a:tc>
                  <a:txBody>
                    <a:bodyPr/>
                    <a:lstStyle/>
                    <a:p>
                      <a:pPr indent="0" marL="0">
                        <a:buNone/>
                      </a:pPr>
                      <a:r>
                        <a:rPr lang="en-US" sz="1300" dirty="0">
                          <a:solidFill>
                            <a:srgbClr val="1C2321"/>
                          </a:solidFill>
                        </a:rPr>
                        <a:t>OrCam MyEye [2]</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Google Glass scene analysis [3]</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AIris (2024) [4]</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Raspberry Pi reading aids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5E6B66"/>
                          </a:solidFill>
                        </a:rPr>
                        <a:t>Partly</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5E6B66"/>
                          </a:solidFill>
                        </a:rPr>
                        <a:t>Partly</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b="1" dirty="0">
                          <a:solidFill>
                            <a:srgbClr val="1C2321"/>
                          </a:solidFill>
                        </a:rPr>
                        <a:t>SARA (ours)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7589520" y="1325880"/>
            <a:ext cx="4023360" cy="4480560"/>
          </a:xfrm>
          <a:prstGeom prst="roundRect">
            <a:avLst>
              <a:gd name="adj" fmla="val 2727"/>
            </a:avLst>
          </a:prstGeom>
          <a:solidFill>
            <a:schemeClr val="tx2"/>
          </a:solidFill>
          <a:ln w="12700">
            <a:solidFill>
              <a:schemeClr val="tx2"/>
            </a:solidFill>
            <a:prstDash val="solid"/>
          </a:ln>
        </p:spPr>
      </p:sp>
      <p:sp>
        <p:nvSpPr>
          <p:cNvPr id="11" name="Gap heading"/>
          <p:cNvSpPr txBox="1"/>
          <p:nvPr/>
        </p:nvSpPr>
        <p:spPr>
          <a:xfrm>
            <a:off x="7863840" y="1600200"/>
            <a:ext cx="34747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gap</a:t>
            </a:r>
            <a:endParaRPr lang="en-US" sz="2400" dirty="0"/>
          </a:p>
        </p:txBody>
      </p:sp>
      <p:sp>
        <p:nvSpPr>
          <p:cNvPr id="12" name="Gap list"/>
          <p:cNvSpPr txBox="1"/>
          <p:nvPr/>
        </p:nvSpPr>
        <p:spPr>
          <a:xfrm>
            <a:off x="7863840" y="2194560"/>
            <a:ext cx="3520440" cy="33832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4EFEA"/>
                </a:solidFill>
              </a:rPr>
              <a:t>No device combines Bangla, Taka and offline use.</a:t>
            </a:r>
            <a:endParaRPr lang="en-US" sz="1600" dirty="0"/>
          </a:p>
          <a:p>
            <a:pPr marL="342900" indent="-342900">
              <a:spcAft>
                <a:spcPts val="1000"/>
              </a:spcAft>
              <a:buSzPct val="100000"/>
              <a:buChar char="•"/>
            </a:pPr>
            <a:r>
              <a:rPr lang="en-US" sz="1600" dirty="0">
                <a:solidFill>
                  <a:srgbClr val="E4EFEA"/>
                </a:solidFill>
              </a:rPr>
              <a:t>Counterfeit studies never check whether test notes are copies of prints seen in training.</a:t>
            </a:r>
            <a:endParaRPr lang="en-US" sz="1600" dirty="0"/>
          </a:p>
          <a:p>
            <a:pPr marL="342900" indent="-342900">
              <a:spcAft>
                <a:spcPts val="1000"/>
              </a:spcAft>
              <a:buSzPct val="100000"/>
              <a:buChar char="•"/>
            </a:pPr>
            <a:r>
              <a:rPr lang="en-US" sz="1600" dirty="0">
                <a:solidFill>
                  <a:srgbClr val="E4EFEA"/>
                </a:solidFill>
              </a:rPr>
              <a:t>Few prototypes report accuracy per feature or speed on the real device.</a:t>
            </a:r>
            <a:endParaRPr lang="en-US" sz="16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circle"/>
          <p:cNvSpPr/>
          <p:nvPr/>
        </p:nvSpPr>
        <p:spPr>
          <a:xfrm>
            <a:off x="731520" y="1828800"/>
            <a:ext cx="914400" cy="914400"/>
          </a:xfrm>
          <a:prstGeom prst="ellipse">
            <a:avLst/>
          </a:prstGeom>
          <a:solidFill>
            <a:srgbClr val="006A4E"/>
          </a:solidFill>
          <a:ln w="12700">
            <a:solidFill>
              <a:srgbClr val="006A4E"/>
            </a:solidFill>
            <a:prstDash val="solid"/>
          </a:ln>
        </p:spPr>
      </p:sp>
      <p:pic>
        <p:nvPicPr>
          <p:cNvPr id="4" name="Camera icon" descr="preencoded.png">    </p:cNvPr>
          <p:cNvPicPr>
            <a:picLocks noChangeAspect="1"/>
          </p:cNvPicPr>
          <p:nvPr/>
        </p:nvPicPr>
        <p:blipFill>
          <a:blip r:embed="rId1"/>
          <a:stretch>
            <a:fillRect/>
          </a:stretch>
        </p:blipFill>
        <p:spPr>
          <a:xfrm>
            <a:off x="950976" y="2048256"/>
            <a:ext cx="475488" cy="475488"/>
          </a:xfrm>
          <a:prstGeom prst="rect">
            <a:avLst/>
          </a:prstGeom>
        </p:spPr>
      </p:pic>
      <p:sp>
        <p:nvSpPr>
          <p:cNvPr id="5" name="Camera label"/>
          <p:cNvSpPr txBox="1"/>
          <p:nvPr/>
        </p:nvSpPr>
        <p:spPr>
          <a:xfrm>
            <a:off x="411480" y="2788920"/>
            <a:ext cx="1554480" cy="320040"/>
          </a:xfrm>
          <a:prstGeom prst="rect">
            <a:avLst/>
          </a:prstGeom>
          <a:noFill/>
          <a:ln/>
        </p:spPr>
        <p:txBody>
          <a:bodyPr wrap="square" lIns="0" tIns="0" rIns="0" bIns="0" rtlCol="0" anchor="ctr"/>
          <a:lstStyle/>
          <a:p>
            <a:pPr algn="ctr" indent="0" marL="0">
              <a:buNone/>
            </a:pPr>
            <a:r>
              <a:rPr lang="en-US" sz="1300" dirty="0">
                <a:solidFill>
                  <a:schemeClr val="tx1"/>
                </a:solidFill>
              </a:rPr>
              <a:t>Camera 640×480</a:t>
            </a:r>
            <a:endParaRPr lang="en-US" sz="1300" dirty="0"/>
          </a:p>
        </p:txBody>
      </p:sp>
      <p:sp>
        <p:nvSpPr>
          <p:cNvPr id="6" name="Buttons circle"/>
          <p:cNvSpPr/>
          <p:nvPr/>
        </p:nvSpPr>
        <p:spPr>
          <a:xfrm>
            <a:off x="731520" y="3429000"/>
            <a:ext cx="914400" cy="914400"/>
          </a:xfrm>
          <a:prstGeom prst="ellipse">
            <a:avLst/>
          </a:prstGeom>
          <a:solidFill>
            <a:srgbClr val="3A8F72"/>
          </a:solidFill>
          <a:ln w="12700">
            <a:solidFill>
              <a:srgbClr val="3A8F72"/>
            </a:solidFill>
            <a:prstDash val="solid"/>
          </a:ln>
        </p:spPr>
      </p:sp>
      <p:pic>
        <p:nvPicPr>
          <p:cNvPr id="7" name="Buttons icon" descr="preencoded.png">    </p:cNvPr>
          <p:cNvPicPr>
            <a:picLocks noChangeAspect="1"/>
          </p:cNvPicPr>
          <p:nvPr/>
        </p:nvPicPr>
        <p:blipFill>
          <a:blip r:embed="rId2"/>
          <a:stretch>
            <a:fillRect/>
          </a:stretch>
        </p:blipFill>
        <p:spPr>
          <a:xfrm>
            <a:off x="950976" y="3648456"/>
            <a:ext cx="475488" cy="475488"/>
          </a:xfrm>
          <a:prstGeom prst="rect">
            <a:avLst/>
          </a:prstGeom>
        </p:spPr>
      </p:pic>
      <p:sp>
        <p:nvSpPr>
          <p:cNvPr id="8" name="Buttons label"/>
          <p:cNvSpPr txBox="1"/>
          <p:nvPr/>
        </p:nvSpPr>
        <p:spPr>
          <a:xfrm>
            <a:off x="411480" y="4389120"/>
            <a:ext cx="1554480" cy="320040"/>
          </a:xfrm>
          <a:prstGeom prst="rect">
            <a:avLst/>
          </a:prstGeom>
          <a:noFill/>
          <a:ln/>
        </p:spPr>
        <p:txBody>
          <a:bodyPr wrap="square" lIns="0" tIns="0" rIns="0" bIns="0" rtlCol="0" anchor="ctr"/>
          <a:lstStyle/>
          <a:p>
            <a:pPr algn="ctr" indent="0" marL="0">
              <a:buNone/>
            </a:pPr>
            <a:r>
              <a:rPr lang="en-US" sz="1300" dirty="0">
                <a:solidFill>
                  <a:schemeClr val="tx1"/>
                </a:solidFill>
              </a:rPr>
              <a:t>5 buttons</a:t>
            </a:r>
            <a:endParaRPr lang="en-US" sz="1300" dirty="0"/>
          </a:p>
        </p:txBody>
      </p:sp>
      <p:sp>
        <p:nvSpPr>
          <p:cNvPr id="9" name="Microphone circle"/>
          <p:cNvSpPr/>
          <p:nvPr/>
        </p:nvSpPr>
        <p:spPr>
          <a:xfrm>
            <a:off x="731520" y="4892040"/>
            <a:ext cx="777240" cy="777240"/>
          </a:xfrm>
          <a:prstGeom prst="ellipse">
            <a:avLst/>
          </a:prstGeom>
          <a:solidFill>
            <a:srgbClr val="D7263D"/>
          </a:solidFill>
          <a:ln w="12700">
            <a:solidFill>
              <a:srgbClr val="D7263D"/>
            </a:solidFill>
            <a:prstDash val="solid"/>
          </a:ln>
        </p:spPr>
      </p:sp>
      <p:pic>
        <p:nvPicPr>
          <p:cNvPr id="10" name="Microphone icon" descr="preencoded.png">    </p:cNvPr>
          <p:cNvPicPr>
            <a:picLocks noChangeAspect="1"/>
          </p:cNvPicPr>
          <p:nvPr/>
        </p:nvPicPr>
        <p:blipFill>
          <a:blip r:embed="rId3"/>
          <a:stretch>
            <a:fillRect/>
          </a:stretch>
        </p:blipFill>
        <p:spPr>
          <a:xfrm>
            <a:off x="918058" y="5078578"/>
            <a:ext cx="404165" cy="404165"/>
          </a:xfrm>
          <a:prstGeom prst="rect">
            <a:avLst/>
          </a:prstGeom>
        </p:spPr>
      </p:pic>
      <p:sp>
        <p:nvSpPr>
          <p:cNvPr id="11" name="Mic label"/>
          <p:cNvSpPr txBox="1"/>
          <p:nvPr/>
        </p:nvSpPr>
        <p:spPr>
          <a:xfrm>
            <a:off x="320040" y="5687568"/>
            <a:ext cx="1737360" cy="320040"/>
          </a:xfrm>
          <a:prstGeom prst="rect">
            <a:avLst/>
          </a:prstGeom>
          <a:noFill/>
          <a:ln/>
        </p:spPr>
        <p:txBody>
          <a:bodyPr wrap="square" lIns="0" tIns="0" rIns="0" bIns="0" rtlCol="0" anchor="ctr"/>
          <a:lstStyle/>
          <a:p>
            <a:pPr algn="ctr" indent="0" marL="0">
              <a:buNone/>
            </a:pPr>
            <a:r>
              <a:rPr lang="en-US" sz="1300" dirty="0">
                <a:solidFill>
                  <a:schemeClr val="tx1"/>
                </a:solidFill>
              </a:rPr>
              <a:t>Voice: "glass, …"</a:t>
            </a:r>
            <a:endParaRPr lang="en-US" sz="1300" dirty="0"/>
          </a:p>
        </p:txBody>
      </p:sp>
      <p:sp>
        <p:nvSpPr>
          <p:cNvPr id="12" name="Pi box"/>
          <p:cNvSpPr txBox="1"/>
          <p:nvPr/>
        </p:nvSpPr>
        <p:spPr>
          <a:xfrm>
            <a:off x="2743200" y="2651760"/>
            <a:ext cx="2286000" cy="1554480"/>
          </a:xfrm>
          <a:prstGeom prst="roundRect">
            <a:avLst>
              <a:gd name="adj" fmla="val 5882"/>
            </a:avLst>
          </a:prstGeom>
          <a:solidFill>
            <a:srgbClr val="0B4D3B"/>
          </a:solidFill>
          <a:ln>
            <a:solidFill>
              <a:srgbClr val="0B4D3B"/>
            </a:solidFill>
          </a:ln>
        </p:spPr>
        <p:txBody>
          <a:bodyPr wrap="square" rtlCol="0" anchor="ctr"/>
          <a:lstStyle/>
          <a:p>
            <a:pPr algn="ctr" indent="0" marL="0">
              <a:buNone/>
            </a:pPr>
            <a:r>
              <a:rPr lang="en-US" sz="1600" b="1" dirty="0">
                <a:solidFill>
                  <a:srgbClr val="FFFFFF"/>
                </a:solidFill>
              </a:rPr>
              <a:t>Raspberry Pi 5</a:t>
            </a:r>
            <a:endParaRPr lang="en-US" sz="1600" dirty="0"/>
          </a:p>
          <a:p>
            <a:pPr algn="ctr" indent="0" marL="0">
              <a:buNone/>
            </a:pPr>
            <a:r>
              <a:rPr lang="en-US" sz="1600" b="1" dirty="0">
                <a:solidFill>
                  <a:srgbClr val="FFFFFF"/>
                </a:solidFill>
              </a:rPr>
              <a:t>mode manager</a:t>
            </a:r>
            <a:endParaRPr lang="en-US" sz="1600" dirty="0"/>
          </a:p>
          <a:p>
            <a:pPr algn="ctr" indent="0" marL="0">
              <a:buNone/>
            </a:pPr>
            <a:r>
              <a:rPr lang="en-US" sz="1600" b="1" dirty="0">
                <a:solidFill>
                  <a:srgbClr val="FFFFFF"/>
                </a:solidFill>
              </a:rPr>
              <a:t>(all on the CPU)</a:t>
            </a:r>
            <a:endParaRPr lang="en-US" sz="1600" dirty="0"/>
          </a:p>
        </p:txBody>
      </p:sp>
      <p:sp>
        <p:nvSpPr>
          <p:cNvPr id="13" name="Text module"/>
          <p:cNvSpPr txBox="1"/>
          <p:nvPr/>
        </p:nvSpPr>
        <p:spPr>
          <a:xfrm>
            <a:off x="5760720" y="1325880"/>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Text: </a:t>
            </a:r>
            <a:pPr indent="0" marL="0">
              <a:buNone/>
            </a:pPr>
            <a:r>
              <a:rPr lang="en-US" sz="1300" dirty="0">
                <a:solidFill>
                  <a:srgbClr val="1C2321"/>
                </a:solidFill>
              </a:rPr>
              <a:t>CRAFT detector + EasyOCR recogniser [5, 6]</a:t>
            </a:r>
            <a:endParaRPr lang="en-US" sz="1300" dirty="0"/>
          </a:p>
        </p:txBody>
      </p:sp>
      <p:sp>
        <p:nvSpPr>
          <p:cNvPr id="14" name="Text link"/>
          <p:cNvSpPr/>
          <p:nvPr/>
        </p:nvSpPr>
        <p:spPr>
          <a:xfrm flipV="1">
            <a:off x="5029200" y="1700784"/>
            <a:ext cx="731520" cy="1728216"/>
          </a:xfrm>
          <a:prstGeom prst="line">
            <a:avLst/>
          </a:prstGeom>
          <a:noFill/>
          <a:ln w="15875">
            <a:solidFill>
              <a:srgbClr val="9DB8AD"/>
            </a:solidFill>
            <a:prstDash val="solid"/>
            <a:tailEnd type="triangle"/>
          </a:ln>
        </p:spPr>
      </p:sp>
      <p:sp>
        <p:nvSpPr>
          <p:cNvPr id="15" name="Objects module"/>
          <p:cNvSpPr txBox="1"/>
          <p:nvPr/>
        </p:nvSpPr>
        <p:spPr>
          <a:xfrm>
            <a:off x="5760720" y="2258568"/>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Objects: </a:t>
            </a:r>
            <a:pPr indent="0" marL="0">
              <a:buNone/>
            </a:pPr>
            <a:r>
              <a:rPr lang="en-US" sz="1300" dirty="0">
                <a:solidFill>
                  <a:srgbClr val="1C2321"/>
                </a:solidFill>
              </a:rPr>
              <a:t>YOLOv8s, COCO classes [7, 8]</a:t>
            </a:r>
            <a:endParaRPr lang="en-US" sz="1300" dirty="0"/>
          </a:p>
        </p:txBody>
      </p:sp>
      <p:sp>
        <p:nvSpPr>
          <p:cNvPr id="16" name="Objects link"/>
          <p:cNvSpPr/>
          <p:nvPr/>
        </p:nvSpPr>
        <p:spPr>
          <a:xfrm flipV="1">
            <a:off x="5029200" y="2633472"/>
            <a:ext cx="731520" cy="795528"/>
          </a:xfrm>
          <a:prstGeom prst="line">
            <a:avLst/>
          </a:prstGeom>
          <a:noFill/>
          <a:ln w="15875">
            <a:solidFill>
              <a:srgbClr val="9DB8AD"/>
            </a:solidFill>
            <a:prstDash val="solid"/>
            <a:tailEnd type="triangle"/>
          </a:ln>
        </p:spPr>
      </p:sp>
      <p:sp>
        <p:nvSpPr>
          <p:cNvPr id="17" name="Currency module"/>
          <p:cNvSpPr txBox="1"/>
          <p:nvPr/>
        </p:nvSpPr>
        <p:spPr>
          <a:xfrm>
            <a:off x="5760720" y="3191256"/>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Currency: </a:t>
            </a:r>
            <a:pPr indent="0" marL="0">
              <a:buNone/>
            </a:pPr>
            <a:r>
              <a:rPr lang="en-US" sz="1300" dirty="0">
                <a:solidFill>
                  <a:srgbClr val="1C2321"/>
                </a:solidFill>
              </a:rPr>
              <a:t>YOLOv8s + safe counterfeit + watermark checks</a:t>
            </a:r>
            <a:endParaRPr lang="en-US" sz="1300" dirty="0"/>
          </a:p>
        </p:txBody>
      </p:sp>
      <p:sp>
        <p:nvSpPr>
          <p:cNvPr id="18" name="Currency link"/>
          <p:cNvSpPr/>
          <p:nvPr/>
        </p:nvSpPr>
        <p:spPr>
          <a:xfrm>
            <a:off x="5029200" y="3429000"/>
            <a:ext cx="731520" cy="137160"/>
          </a:xfrm>
          <a:prstGeom prst="line">
            <a:avLst/>
          </a:prstGeom>
          <a:noFill/>
          <a:ln w="15875">
            <a:solidFill>
              <a:srgbClr val="9DB8AD"/>
            </a:solidFill>
            <a:prstDash val="solid"/>
            <a:tailEnd type="triangle"/>
          </a:ln>
        </p:spPr>
      </p:sp>
      <p:sp>
        <p:nvSpPr>
          <p:cNvPr id="19" name="Emotion module"/>
          <p:cNvSpPr txBox="1"/>
          <p:nvPr/>
        </p:nvSpPr>
        <p:spPr>
          <a:xfrm>
            <a:off x="5760720" y="4123944"/>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Emotion: </a:t>
            </a:r>
            <a:pPr indent="0" marL="0">
              <a:buNone/>
            </a:pPr>
            <a:r>
              <a:rPr lang="en-US" sz="1300" dirty="0">
                <a:solidFill>
                  <a:srgbClr val="1C2321"/>
                </a:solidFill>
              </a:rPr>
              <a:t>YuNet face + EfficientNet, RAF-DB [9]</a:t>
            </a:r>
            <a:endParaRPr lang="en-US" sz="1300" dirty="0"/>
          </a:p>
        </p:txBody>
      </p:sp>
      <p:sp>
        <p:nvSpPr>
          <p:cNvPr id="20" name="Emotion link"/>
          <p:cNvSpPr/>
          <p:nvPr/>
        </p:nvSpPr>
        <p:spPr>
          <a:xfrm>
            <a:off x="5029200" y="3429000"/>
            <a:ext cx="731520" cy="1069848"/>
          </a:xfrm>
          <a:prstGeom prst="line">
            <a:avLst/>
          </a:prstGeom>
          <a:noFill/>
          <a:ln w="15875">
            <a:solidFill>
              <a:srgbClr val="9DB8AD"/>
            </a:solidFill>
            <a:prstDash val="solid"/>
            <a:tailEnd type="triangle"/>
          </a:ln>
        </p:spPr>
      </p:sp>
      <p:sp>
        <p:nvSpPr>
          <p:cNvPr id="21" name="Online module"/>
          <p:cNvSpPr txBox="1"/>
          <p:nvPr/>
        </p:nvSpPr>
        <p:spPr>
          <a:xfrm>
            <a:off x="5760720" y="5056632"/>
            <a:ext cx="3840480" cy="749808"/>
          </a:xfrm>
          <a:prstGeom prst="roundRect">
            <a:avLst>
              <a:gd name="adj" fmla="val 9756"/>
            </a:avLst>
          </a:prstGeom>
          <a:solidFill>
            <a:srgbClr val="F3F5F4"/>
          </a:solidFill>
          <a:ln>
            <a:solidFill>
              <a:srgbClr val="F3F5F4"/>
            </a:solidFill>
          </a:ln>
        </p:spPr>
        <p:txBody>
          <a:bodyPr wrap="square" lIns="152400" tIns="152400" rIns="152400" bIns="152400" rtlCol="0" anchor="ctr"/>
          <a:lstStyle/>
          <a:p>
            <a:pPr indent="0" marL="0">
              <a:buNone/>
            </a:pPr>
            <a:r>
              <a:rPr lang="en-US" sz="1300" b="1" dirty="0">
                <a:solidFill>
                  <a:srgbClr val="0B4D3B"/>
                </a:solidFill>
              </a:rPr>
              <a:t>Online: </a:t>
            </a:r>
            <a:pPr indent="0" marL="0">
              <a:buNone/>
            </a:pPr>
            <a:r>
              <a:rPr lang="en-US" sz="1300" dirty="0">
                <a:solidFill>
                  <a:srgbClr val="1C2321"/>
                </a:solidFill>
              </a:rPr>
              <a:t>Cloud vision model (optional)</a:t>
            </a:r>
            <a:endParaRPr lang="en-US" sz="1300" dirty="0"/>
          </a:p>
        </p:txBody>
      </p:sp>
      <p:sp>
        <p:nvSpPr>
          <p:cNvPr id="22" name="Online link"/>
          <p:cNvSpPr/>
          <p:nvPr/>
        </p:nvSpPr>
        <p:spPr>
          <a:xfrm>
            <a:off x="5029200" y="3429000"/>
            <a:ext cx="731520" cy="2002536"/>
          </a:xfrm>
          <a:prstGeom prst="line">
            <a:avLst/>
          </a:prstGeom>
          <a:noFill/>
          <a:ln w="15875">
            <a:solidFill>
              <a:srgbClr val="9DB8AD"/>
            </a:solidFill>
            <a:prstDash val="solid"/>
            <a:tailEnd type="triangle"/>
          </a:ln>
        </p:spPr>
      </p:sp>
      <p:sp>
        <p:nvSpPr>
          <p:cNvPr id="23" name="Input 1"/>
          <p:cNvSpPr/>
          <p:nvPr/>
        </p:nvSpPr>
        <p:spPr>
          <a:xfrm>
            <a:off x="1645920" y="2286000"/>
            <a:ext cx="1097280" cy="1143000"/>
          </a:xfrm>
          <a:prstGeom prst="line">
            <a:avLst/>
          </a:prstGeom>
          <a:noFill/>
          <a:ln w="15875">
            <a:solidFill>
              <a:srgbClr val="9DB8AD"/>
            </a:solidFill>
            <a:prstDash val="solid"/>
            <a:tailEnd type="triangle"/>
          </a:ln>
        </p:spPr>
      </p:sp>
      <p:sp>
        <p:nvSpPr>
          <p:cNvPr id="24" name="Input 2"/>
          <p:cNvSpPr/>
          <p:nvPr/>
        </p:nvSpPr>
        <p:spPr>
          <a:xfrm flipV="1">
            <a:off x="1645920" y="3429000"/>
            <a:ext cx="1097280" cy="457200"/>
          </a:xfrm>
          <a:prstGeom prst="line">
            <a:avLst/>
          </a:prstGeom>
          <a:noFill/>
          <a:ln w="15875">
            <a:solidFill>
              <a:srgbClr val="9DB8AD"/>
            </a:solidFill>
            <a:prstDash val="solid"/>
            <a:tailEnd type="triangle"/>
          </a:ln>
        </p:spPr>
      </p:sp>
      <p:sp>
        <p:nvSpPr>
          <p:cNvPr id="25" name="Input 3"/>
          <p:cNvSpPr/>
          <p:nvPr/>
        </p:nvSpPr>
        <p:spPr>
          <a:xfrm flipV="1">
            <a:off x="1508760" y="3429000"/>
            <a:ext cx="1234440" cy="1856232"/>
          </a:xfrm>
          <a:prstGeom prst="line">
            <a:avLst/>
          </a:prstGeom>
          <a:noFill/>
          <a:ln w="15875">
            <a:solidFill>
              <a:srgbClr val="9DB8AD"/>
            </a:solidFill>
            <a:prstDash val="solid"/>
            <a:tailEnd type="triangle"/>
          </a:ln>
        </p:spPr>
      </p:sp>
      <p:sp>
        <p:nvSpPr>
          <p:cNvPr id="26" name="Speech circle"/>
          <p:cNvSpPr/>
          <p:nvPr/>
        </p:nvSpPr>
        <p:spPr>
          <a:xfrm>
            <a:off x="10241280" y="2743200"/>
            <a:ext cx="914400" cy="914400"/>
          </a:xfrm>
          <a:prstGeom prst="ellipse">
            <a:avLst/>
          </a:prstGeom>
          <a:solidFill>
            <a:srgbClr val="006A4E"/>
          </a:solidFill>
          <a:ln w="12700">
            <a:solidFill>
              <a:srgbClr val="006A4E"/>
            </a:solidFill>
            <a:prstDash val="solid"/>
          </a:ln>
        </p:spPr>
      </p:sp>
      <p:pic>
        <p:nvPicPr>
          <p:cNvPr id="27" name="Speech icon" descr="preencoded.png">    </p:cNvPr>
          <p:cNvPicPr>
            <a:picLocks noChangeAspect="1"/>
          </p:cNvPicPr>
          <p:nvPr/>
        </p:nvPicPr>
        <p:blipFill>
          <a:blip r:embed="rId4"/>
          <a:stretch>
            <a:fillRect/>
          </a:stretch>
        </p:blipFill>
        <p:spPr>
          <a:xfrm>
            <a:off x="10460736" y="2962656"/>
            <a:ext cx="475488" cy="475488"/>
          </a:xfrm>
          <a:prstGeom prst="rect">
            <a:avLst/>
          </a:prstGeom>
        </p:spPr>
      </p:pic>
      <p:sp>
        <p:nvSpPr>
          <p:cNvPr id="28" name="Speech label"/>
          <p:cNvSpPr txBox="1"/>
          <p:nvPr/>
        </p:nvSpPr>
        <p:spPr>
          <a:xfrm>
            <a:off x="9829800" y="3749040"/>
            <a:ext cx="1783080" cy="868680"/>
          </a:xfrm>
          <a:prstGeom prst="rect">
            <a:avLst/>
          </a:prstGeom>
          <a:noFill/>
          <a:ln/>
        </p:spPr>
        <p:txBody>
          <a:bodyPr wrap="square" lIns="0" tIns="0" rIns="0" bIns="0" rtlCol="0" anchor="t"/>
          <a:lstStyle/>
          <a:p>
            <a:pPr algn="ctr" indent="0" marL="0">
              <a:buNone/>
            </a:pPr>
            <a:r>
              <a:rPr lang="en-US" sz="1300" dirty="0">
                <a:solidFill>
                  <a:schemeClr val="tx1"/>
                </a:solidFill>
              </a:rPr>
              <a:t>Bangla / English speech + vibration [10, 11]</a:t>
            </a:r>
            <a:endParaRPr lang="en-US" sz="1300" dirty="0"/>
          </a:p>
        </p:txBody>
      </p:sp>
      <p:sp>
        <p:nvSpPr>
          <p:cNvPr id="29" name="Output link"/>
          <p:cNvSpPr/>
          <p:nvPr/>
        </p:nvSpPr>
        <p:spPr>
          <a:xfrm>
            <a:off x="9601200" y="3200400"/>
            <a:ext cx="640080" cy="0"/>
          </a:xfrm>
          <a:prstGeom prst="line">
            <a:avLst/>
          </a:prstGeom>
          <a:noFill/>
          <a:ln w="15875">
            <a:solidFill>
              <a:srgbClr val="9DB8AD"/>
            </a:solidFill>
            <a:prstDash val="solid"/>
            <a:tailEnd type="triangle"/>
          </a:ln>
        </p:spPr>
      </p:sp>
      <p:sp>
        <p:nvSpPr>
          <p:cNvPr id="3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Version 1: board and fan on one temple</a:t>
            </a:r>
            <a:endParaRPr lang="en-US" sz="1200" dirty="0"/>
          </a:p>
        </p:txBody>
      </p:sp>
      <p:pic>
        <p:nvPicPr>
          <p:cNvPr id="5" name="Front: camera and LED on the bridge"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Front: camera and LED on the bridge</a:t>
            </a:r>
            <a:endParaRPr lang="en-US" sz="1200" dirty="0"/>
          </a:p>
        </p:txBody>
      </p:sp>
      <p:pic>
        <p:nvPicPr>
          <p:cNvPr id="7" name="Side: five buttons, bone-conduction earphone" descr="E:\Final SP\Thesis Report and paper\tools\deck\assets/1_2.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Side: five buttons, bone-conduction earphone</a:t>
            </a:r>
            <a:endParaRPr lang="en-US" sz="1200" dirty="0"/>
          </a:p>
        </p:txBody>
      </p:sp>
      <p:pic>
        <p:nvPicPr>
          <p:cNvPr id="9" name="Back: Pi 5 in a ventilated enclosur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Back: Pi 5 in a ventilated enclosure</a:t>
            </a:r>
            <a:endParaRPr lang="en-US" sz="12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749040"/>
            <a:ext cx="7498080" cy="822960"/>
          </a:xfrm>
          <a:prstGeom prst="rect">
            <a:avLst/>
          </a:prstGeom>
          <a:noFill/>
          <a:ln/>
        </p:spPr>
        <p:txBody>
          <a:bodyPr wrap="square" lIns="0" tIns="0" rIns="0" bIns="0" rtlCol="0" anchor="t"/>
          <a:lstStyle/>
          <a:p>
            <a:pPr indent="0" marL="0">
              <a:buNone/>
            </a:pPr>
            <a:r>
              <a:rPr lang="en-US" sz="1600" dirty="0">
                <a:solidFill>
                  <a:schemeClr val="tx1"/>
                </a:solidFill>
              </a:rPr>
              <a:t>5,073 note photos [12] are pasted onto real COCO pictures [8] with random angle, scale, light and blur; the program writes every box label itself.</a:t>
            </a:r>
            <a:endParaRPr lang="en-US" sz="1600" dirty="0"/>
          </a:p>
        </p:txBody>
      </p:sp>
      <p:sp>
        <p:nvSpPr>
          <p:cNvPr id="5" name="Stats card"/>
          <p:cNvSpPr/>
          <p:nvPr/>
        </p:nvSpPr>
        <p:spPr>
          <a:xfrm>
            <a:off x="8412480" y="1371600"/>
            <a:ext cx="3200400" cy="4480560"/>
          </a:xfrm>
          <a:prstGeom prst="roundRect">
            <a:avLst>
              <a:gd name="adj" fmla="val 3429"/>
            </a:avLst>
          </a:prstGeom>
          <a:solidFill>
            <a:schemeClr val="bg2"/>
          </a:solidFill>
          <a:ln w="12700">
            <a:solidFill>
              <a:schemeClr val="bg2"/>
            </a:solidFill>
            <a:prstDash val="solid"/>
          </a:ln>
        </p:spPr>
      </p:sp>
      <p:sp>
        <p:nvSpPr>
          <p:cNvPr id="6" name="mAP value"/>
          <p:cNvSpPr txBox="1"/>
          <p:nvPr/>
        </p:nvSpPr>
        <p:spPr>
          <a:xfrm>
            <a:off x="8686800" y="160020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7" name="mAP label"/>
          <p:cNvSpPr txBox="1"/>
          <p:nvPr/>
        </p:nvSpPr>
        <p:spPr>
          <a:xfrm>
            <a:off x="8686800" y="2286000"/>
            <a:ext cx="2743200" cy="548640"/>
          </a:xfrm>
          <a:prstGeom prst="rect">
            <a:avLst/>
          </a:prstGeom>
          <a:noFill/>
          <a:ln/>
        </p:spPr>
        <p:txBody>
          <a:bodyPr wrap="square" lIns="0" tIns="0" rIns="0" bIns="0" rtlCol="0" anchor="t"/>
          <a:lstStyle/>
          <a:p>
            <a:pPr indent="0" marL="0">
              <a:buNone/>
            </a:pPr>
            <a:r>
              <a:rPr lang="en-US" sz="1300" dirty="0">
                <a:solidFill>
                  <a:schemeClr val="tx1"/>
                </a:solidFill>
              </a:rPr>
              <a:t>mAP@0.5 on 2,282 held-out composites</a:t>
            </a:r>
            <a:endParaRPr lang="en-US" sz="1300" dirty="0"/>
          </a:p>
        </p:txBody>
      </p:sp>
      <p:sp>
        <p:nvSpPr>
          <p:cNvPr id="8" name="Bangla Money value"/>
          <p:cNvSpPr txBox="1"/>
          <p:nvPr/>
        </p:nvSpPr>
        <p:spPr>
          <a:xfrm>
            <a:off x="8686800" y="301752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94.1%</a:t>
            </a:r>
            <a:endParaRPr lang="en-US" sz="3600" dirty="0"/>
          </a:p>
        </p:txBody>
      </p:sp>
      <p:sp>
        <p:nvSpPr>
          <p:cNvPr id="9" name="Bangla Money label"/>
          <p:cNvSpPr txBox="1"/>
          <p:nvPr/>
        </p:nvSpPr>
        <p:spPr>
          <a:xfrm>
            <a:off x="8686800" y="3703320"/>
            <a:ext cx="2743200" cy="548640"/>
          </a:xfrm>
          <a:prstGeom prst="rect">
            <a:avLst/>
          </a:prstGeom>
          <a:noFill/>
          <a:ln/>
        </p:spPr>
        <p:txBody>
          <a:bodyPr wrap="square" lIns="0" tIns="0" rIns="0" bIns="0" rtlCol="0" anchor="t"/>
          <a:lstStyle/>
          <a:p>
            <a:pPr indent="0" marL="0">
              <a:buNone/>
            </a:pPr>
            <a:r>
              <a:rPr lang="en-US" sz="1300" dirty="0">
                <a:solidFill>
                  <a:schemeClr val="tx1"/>
                </a:solidFill>
              </a:rPr>
              <a:t>right on 1,536 photos taken by other people</a:t>
            </a:r>
            <a:endParaRPr lang="en-US" sz="1300" dirty="0"/>
          </a:p>
        </p:txBody>
      </p:sp>
      <p:sp>
        <p:nvSpPr>
          <p:cNvPr id="10" name="No labels value"/>
          <p:cNvSpPr txBox="1"/>
          <p:nvPr/>
        </p:nvSpPr>
        <p:spPr>
          <a:xfrm>
            <a:off x="8686800" y="443484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a:t>
            </a:r>
            <a:endParaRPr lang="en-US" sz="3600" dirty="0"/>
          </a:p>
        </p:txBody>
      </p:sp>
      <p:sp>
        <p:nvSpPr>
          <p:cNvPr id="11" name="No labels label"/>
          <p:cNvSpPr txBox="1"/>
          <p:nvPr/>
        </p:nvSpPr>
        <p:spPr>
          <a:xfrm>
            <a:off x="8686800" y="5120640"/>
            <a:ext cx="2743200" cy="548640"/>
          </a:xfrm>
          <a:prstGeom prst="rect">
            <a:avLst/>
          </a:prstGeom>
          <a:noFill/>
          <a:ln/>
        </p:spPr>
        <p:txBody>
          <a:bodyPr wrap="square" lIns="0" tIns="0" rIns="0" bIns="0" rtlCol="0" anchor="t"/>
          <a:lstStyle/>
          <a:p>
            <a:pPr indent="0" marL="0">
              <a:buNone/>
            </a:pPr>
            <a:r>
              <a:rPr lang="en-US" sz="1300" dirty="0">
                <a:solidFill>
                  <a:schemeClr val="tx1"/>
                </a:solidFill>
              </a:rPr>
              <a:t>hand-drawn boxes needed</a:t>
            </a:r>
            <a:endParaRPr lang="en-US" sz="13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pic>
        <p:nvPicPr>
          <p:cNvPr id="3" name="Synthetic close-ups" descr="E:/Final SP/Thesis Report and paper/thesis report/My report/fig58_handheld_closeups.png">    </p:cNvPr>
          <p:cNvPicPr>
            <a:picLocks noChangeAspect="1"/>
          </p:cNvPicPr>
          <p:nvPr/>
        </p:nvPicPr>
        <p:blipFill>
          <a:blip r:embed="rId1"/>
          <a:stretch>
            <a:fillRect/>
          </a:stretch>
        </p:blipFill>
        <p:spPr>
          <a:xfrm>
            <a:off x="548640" y="1325880"/>
            <a:ext cx="6400800" cy="2560320"/>
          </a:xfrm>
          <a:prstGeom prst="rect">
            <a:avLst/>
          </a:prstGeom>
        </p:spPr>
      </p:pic>
      <p:sp>
        <p:nvSpPr>
          <p:cNvPr id="4" name="Close-up text"/>
          <p:cNvSpPr txBox="1"/>
          <p:nvPr/>
        </p:nvSpPr>
        <p:spPr>
          <a:xfrm>
            <a:off x="548640" y="4023360"/>
            <a:ext cx="6400800" cy="914400"/>
          </a:xfrm>
          <a:prstGeom prst="rect">
            <a:avLst/>
          </a:prstGeom>
          <a:noFill/>
          <a:ln/>
        </p:spPr>
        <p:txBody>
          <a:bodyPr wrap="square" lIns="0" tIns="0" rIns="0" bIns="0" rtlCol="0" anchor="t"/>
          <a:lstStyle/>
          <a:p>
            <a:pPr indent="0" marL="0">
              <a:buNone/>
            </a:pPr>
            <a:r>
              <a:rPr lang="en-US" sz="1500" dirty="0">
                <a:solidFill>
                  <a:schemeClr val="tx1"/>
                </a:solidFill>
              </a:rPr>
              <a:t>6,000 synthetic close-ups: notes overflowing the frame, folded, turned, blurred, under fingers. Built from training notes only; epoch and threshold chosen on validation; test read once.</a:t>
            </a:r>
            <a:endParaRPr lang="en-US" sz="1500" dirty="0"/>
          </a:p>
        </p:txBody>
      </p:sp>
      <p:graphicFrame>
        <p:nvGraphicFramePr>
          <p:cNvPr id="5"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6" name="Costs"/>
          <p:cNvSpPr txBox="1"/>
          <p:nvPr/>
        </p:nvSpPr>
        <p:spPr>
          <a:xfrm>
            <a:off x="548640" y="5074920"/>
            <a:ext cx="6400800" cy="731520"/>
          </a:xfrm>
          <a:prstGeom prst="rect">
            <a:avLst/>
          </a:prstGeom>
          <a:noFill/>
          <a:ln/>
        </p:spPr>
        <p:txBody>
          <a:bodyPr wrap="square" lIns="0" tIns="0" rIns="0" bIns="0" rtlCol="0" anchor="t"/>
          <a:lstStyle/>
          <a:p>
            <a:pPr indent="0" marL="0">
              <a:buNone/>
            </a:pPr>
            <a:r>
              <a:rPr lang="en-US" sz="1300" i="1" dirty="0">
                <a:solidFill>
                  <a:schemeClr val="accent2"/>
                </a:solidFill>
              </a:rPr>
              <a:t>Costs, reported: one-taka notes named more often (36.6%); 3 notes in view: total right 97.0% (was 99.2%).</a:t>
            </a:r>
            <a:endParaRPr lang="en-US" sz="13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pic>
        <p:nvPicPr>
          <p:cNvPr id="3" name="Live detection 1" descr="E:\Final SP\Thesis Report and paper\tools\deck\assets/test_2.jpg">    </p:cNvPr>
          <p:cNvPicPr>
            <a:picLocks noChangeAspect="1"/>
          </p:cNvPicPr>
          <p:nvPr/>
        </p:nvPicPr>
        <p:blipFill>
          <a:blip r:embed="rId1"/>
          <a:srcRect l="0" r="0" t="0" b="0"/>
          <a:stretch/>
        </p:blipFill>
        <p:spPr>
          <a:xfrm>
            <a:off x="548640" y="1325880"/>
            <a:ext cx="2651760" cy="2377440"/>
          </a:xfrm>
          <a:prstGeom prst="rect">
            <a:avLst/>
          </a:prstGeom>
        </p:spPr>
      </p:pic>
      <p:pic>
        <p:nvPicPr>
          <p:cNvPr id="4" name="Live detection 2" descr="E:\Final SP\Thesis Report and paper\tools\deck\assets/test_4.jpg">    </p:cNvPr>
          <p:cNvPicPr>
            <a:picLocks noChangeAspect="1"/>
          </p:cNvPicPr>
          <p:nvPr/>
        </p:nvPicPr>
        <p:blipFill>
          <a:blip r:embed="rId2"/>
          <a:srcRect l="0" r="0" t="0" b="0"/>
          <a:stretch/>
        </p:blipFill>
        <p:spPr>
          <a:xfrm>
            <a:off x="3337560" y="1325880"/>
            <a:ext cx="2651760" cy="2377440"/>
          </a:xfrm>
          <a:prstGeom prst="rect">
            <a:avLst/>
          </a:prstGeom>
        </p:spPr>
      </p:pic>
      <p:pic>
        <p:nvPicPr>
          <p:cNvPr id="5" name="Live detection 3" descr="E:\Final SP\Thesis Report and paper\tools\deck\assets/test_7.jpg">    </p:cNvPr>
          <p:cNvPicPr>
            <a:picLocks noChangeAspect="1"/>
          </p:cNvPicPr>
          <p:nvPr/>
        </p:nvPicPr>
        <p:blipFill>
          <a:blip r:embed="rId3"/>
          <a:srcRect l="0" r="0" t="0" b="0"/>
          <a:stretch/>
        </p:blipFill>
        <p:spPr>
          <a:xfrm>
            <a:off x="6126480" y="1325880"/>
            <a:ext cx="2651760" cy="2377440"/>
          </a:xfrm>
          <a:prstGeom prst="rect">
            <a:avLst/>
          </a:prstGeom>
        </p:spPr>
      </p:pic>
      <p:pic>
        <p:nvPicPr>
          <p:cNvPr id="6" name="Glass test 1" descr="E:\Final SP\Thesis Report and paper\tools\deck\assets/test_14.jpg">    </p:cNvPr>
          <p:cNvPicPr>
            <a:picLocks noChangeAspect="1"/>
          </p:cNvPicPr>
          <p:nvPr/>
        </p:nvPicPr>
        <p:blipFill>
          <a:blip r:embed="rId4"/>
          <a:srcRect l="0" r="0" t="0" b="0"/>
          <a:stretch/>
        </p:blipFill>
        <p:spPr>
          <a:xfrm>
            <a:off x="548640" y="3794760"/>
            <a:ext cx="2651760" cy="2148840"/>
          </a:xfrm>
          <a:prstGeom prst="rect">
            <a:avLst/>
          </a:prstGeom>
        </p:spPr>
      </p:pic>
      <p:pic>
        <p:nvPicPr>
          <p:cNvPr id="7" name="Glass test 2" descr="E:\Final SP\Thesis Report and paper\tools\deck\assets/test_16.jpg">    </p:cNvPr>
          <p:cNvPicPr>
            <a:picLocks noChangeAspect="1"/>
          </p:cNvPicPr>
          <p:nvPr/>
        </p:nvPicPr>
        <p:blipFill>
          <a:blip r:embed="rId5"/>
          <a:srcRect l="0" r="0" t="0" b="0"/>
          <a:stretch/>
        </p:blipFill>
        <p:spPr>
          <a:xfrm>
            <a:off x="3337560" y="3794760"/>
            <a:ext cx="2651760" cy="2148840"/>
          </a:xfrm>
          <a:prstGeom prst="rect">
            <a:avLst/>
          </a:prstGeom>
        </p:spPr>
      </p:pic>
      <p:pic>
        <p:nvPicPr>
          <p:cNvPr id="8" name="Glass test 3" descr="E:\Final SP\Thesis Report and paper\tools\deck\assets/test_8.jpg">    </p:cNvPr>
          <p:cNvPicPr>
            <a:picLocks noChangeAspect="1"/>
          </p:cNvPicPr>
          <p:nvPr/>
        </p:nvPicPr>
        <p:blipFill>
          <a:blip r:embed="rId6"/>
          <a:srcRect l="0" r="0" t="0" b="0"/>
          <a:stretch/>
        </p:blipFill>
        <p:spPr>
          <a:xfrm>
            <a:off x="6126480" y="3794760"/>
            <a:ext cx="2651760" cy="2148840"/>
          </a:xfrm>
          <a:prstGeom prst="rect">
            <a:avLst/>
          </a:prstGeom>
        </p:spPr>
      </p:pic>
      <p:sp>
        <p:nvSpPr>
          <p:cNvPr id="9" name="Live test points"/>
          <p:cNvSpPr txBox="1"/>
          <p:nvPr/>
        </p:nvSpPr>
        <p:spPr>
          <a:xfrm>
            <a:off x="9052560" y="1325880"/>
            <a:ext cx="260604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10, 50, 100, 200, 500 and 1,000 Taka named at 0.63–0.89 confidence</a:t>
            </a:r>
            <a:endParaRPr lang="en-US" sz="1500" dirty="0"/>
          </a:p>
          <a:p>
            <a:pPr marL="342900" indent="-342900">
              <a:spcAft>
                <a:spcPts val="1000"/>
              </a:spcAft>
              <a:buSzPct val="100000"/>
              <a:buChar char="•"/>
            </a:pPr>
            <a:r>
              <a:rPr lang="en-US" sz="1500" dirty="0">
                <a:solidFill>
                  <a:schemeClr val="tx1"/>
                </a:solidFill>
              </a:rPr>
              <a:t>Worn and folded notes, two or three notes at once</a:t>
            </a:r>
            <a:endParaRPr lang="en-US" sz="1500" dirty="0"/>
          </a:p>
          <a:p>
            <a:pPr marL="342900" indent="-342900">
              <a:spcAft>
                <a:spcPts val="1000"/>
              </a:spcAft>
              <a:buSzPct val="100000"/>
              <a:buChar char="•"/>
            </a:pPr>
            <a:r>
              <a:rPr lang="en-US" sz="1500" dirty="0">
                <a:solidFill>
                  <a:schemeClr val="tx1"/>
                </a:solidFill>
              </a:rPr>
              <a:t>Boxes are loose and can overlap when notes are close</a:t>
            </a:r>
            <a:endParaRPr lang="en-US" sz="1500" dirty="0"/>
          </a:p>
        </p:txBody>
      </p:sp>
      <p:sp>
        <p:nvSpPr>
          <p:cNvPr id="10" name="Live test note"/>
          <p:cNvSpPr txBox="1"/>
          <p:nvPr/>
        </p:nvSpPr>
        <p:spPr>
          <a:xfrm>
            <a:off x="9052560" y="4754880"/>
            <a:ext cx="2606040" cy="1188720"/>
          </a:xfrm>
          <a:prstGeom prst="rect">
            <a:avLst/>
          </a:prstGeom>
          <a:noFill/>
          <a:ln/>
        </p:spPr>
        <p:txBody>
          <a:bodyPr wrap="square" lIns="0" tIns="0" rIns="0" bIns="0" rtlCol="0" anchor="t"/>
          <a:lstStyle/>
          <a:p>
            <a:pPr indent="0" marL="0">
              <a:buNone/>
            </a:pPr>
            <a:r>
              <a:rPr lang="en-US" sz="1200" i="1" dirty="0">
                <a:solidFill>
                  <a:schemeClr val="accent5"/>
                </a:solidFill>
              </a:rPr>
              <a:t>Informal sessions with a laptop webcam (top row, bottom right) and the first glass prototype (bottom left, centre); no error rate was counted.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One view value"/>
          <p:cNvSpPr txBox="1"/>
          <p:nvPr/>
        </p:nvSpPr>
        <p:spPr>
          <a:xfrm>
            <a:off x="7863840" y="1463040"/>
            <a:ext cx="37490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71.2% → 98.2%</a:t>
            </a:r>
            <a:endParaRPr lang="en-US" sz="3600" dirty="0"/>
          </a:p>
        </p:txBody>
      </p:sp>
      <p:sp>
        <p:nvSpPr>
          <p:cNvPr id="5" name="One view label"/>
          <p:cNvSpPr txBox="1"/>
          <p:nvPr/>
        </p:nvSpPr>
        <p:spPr>
          <a:xfrm>
            <a:off x="7863840" y="2148840"/>
            <a:ext cx="3749040" cy="548640"/>
          </a:xfrm>
          <a:prstGeom prst="rect">
            <a:avLst/>
          </a:prstGeom>
          <a:noFill/>
          <a:ln/>
        </p:spPr>
        <p:txBody>
          <a:bodyPr wrap="square" lIns="0" tIns="0" rIns="0" bIns="0" rtlCol="0" anchor="t"/>
          <a:lstStyle/>
          <a:p>
            <a:pPr indent="0" marL="0">
              <a:buNone/>
            </a:pPr>
            <a:r>
              <a:rPr lang="en-US" sz="1300" dirty="0">
                <a:solidFill>
                  <a:schemeClr val="tx1"/>
                </a:solidFill>
              </a:rPr>
              <a:t>accuracy with a single view, JaalTaka test notes</a:t>
            </a:r>
            <a:endParaRPr lang="en-US" sz="1300" dirty="0"/>
          </a:p>
        </p:txBody>
      </p:sp>
      <p:sp>
        <p:nvSpPr>
          <p:cNvPr id="6" name="Prefix points"/>
          <p:cNvSpPr txBox="1"/>
          <p:nvPr/>
        </p:nvSpPr>
        <p:spPr>
          <a:xfrm>
            <a:off x="7863840" y="3017520"/>
            <a:ext cx="374904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blind user cannot promise six views</a:t>
            </a:r>
            <a:endParaRPr lang="en-US" sz="1600" dirty="0"/>
          </a:p>
          <a:p>
            <a:pPr marL="342900" indent="-342900">
              <a:spcAft>
                <a:spcPts val="1000"/>
              </a:spcAft>
              <a:buSzPct val="100000"/>
              <a:buChar char="•"/>
            </a:pPr>
            <a:r>
              <a:rPr lang="en-US" sz="1600" dirty="0">
                <a:solidFill>
                  <a:schemeClr val="tx1"/>
                </a:solidFill>
              </a:rPr>
              <a:t>Training on random first-k views removes the collapse</a:t>
            </a:r>
            <a:endParaRPr lang="en-US" sz="1600" dirty="0"/>
          </a:p>
          <a:p>
            <a:pPr marL="342900" indent="-342900">
              <a:spcAft>
                <a:spcPts val="1000"/>
              </a:spcAft>
              <a:buSzPct val="100000"/>
              <a:buChar char="•"/>
            </a:pPr>
            <a:r>
              <a:rPr lang="en-US" sz="1600" dirty="0">
                <a:solidFill>
                  <a:schemeClr val="tx1"/>
                </a:solidFill>
              </a:rPr>
              <a:t>No loss at six views; stable across seeds</a:t>
            </a:r>
            <a:endParaRPr lang="en-US" sz="16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Piyas et al., JaalTaka benchmark, Mendeley Data 2025 (1,390 notes, six views each).</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Serial value"/>
          <p:cNvSpPr txBox="1"/>
          <p:nvPr/>
        </p:nvSpPr>
        <p:spPr>
          <a:xfrm>
            <a:off x="7863840" y="1463040"/>
            <a:ext cx="37490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279 of 322</a:t>
            </a:r>
            <a:endParaRPr lang="en-US" sz="3600" dirty="0"/>
          </a:p>
        </p:txBody>
      </p:sp>
      <p:sp>
        <p:nvSpPr>
          <p:cNvPr id="5" name="Serial label"/>
          <p:cNvSpPr txBox="1"/>
          <p:nvPr/>
        </p:nvSpPr>
        <p:spPr>
          <a:xfrm>
            <a:off x="7863840" y="2148840"/>
            <a:ext cx="3749040" cy="548640"/>
          </a:xfrm>
          <a:prstGeom prst="rect">
            <a:avLst/>
          </a:prstGeom>
          <a:noFill/>
          <a:ln/>
        </p:spPr>
        <p:txBody>
          <a:bodyPr wrap="square" lIns="0" tIns="0" rIns="0" bIns="0" rtlCol="0" anchor="t"/>
          <a:lstStyle/>
          <a:p>
            <a:pPr indent="0" marL="0">
              <a:buNone/>
            </a:pPr>
            <a:r>
              <a:rPr lang="en-US" sz="1300" dirty="0">
                <a:solidFill>
                  <a:schemeClr val="tx1"/>
                </a:solidFill>
              </a:rPr>
              <a:t>readable 500 Taka counterfeits carry the same serial number</a:t>
            </a:r>
            <a:endParaRPr lang="en-US" sz="1300" dirty="0"/>
          </a:p>
        </p:txBody>
      </p:sp>
      <p:sp>
        <p:nvSpPr>
          <p:cNvPr id="6" name="Unseen text"/>
          <p:cNvSpPr txBox="1"/>
          <p:nvPr/>
        </p:nvSpPr>
        <p:spPr>
          <a:xfrm>
            <a:off x="7863840" y="2971800"/>
            <a:ext cx="3749040" cy="2468880"/>
          </a:xfrm>
          <a:prstGeom prst="rect">
            <a:avLst/>
          </a:prstGeom>
          <a:noFill/>
          <a:ln/>
        </p:spPr>
        <p:txBody>
          <a:bodyPr wrap="square" lIns="0" tIns="0" rIns="0" bIns="0" rtlCol="0" anchor="t"/>
          <a:lstStyle/>
          <a:p>
            <a:pPr indent="0" marL="0">
              <a:buNone/>
            </a:pPr>
            <a:r>
              <a:rPr lang="en-US" sz="1500" dirty="0">
                <a:solidFill>
                  <a:schemeClr val="tx1"/>
                </a:solidFill>
              </a:rPr>
              <a:t>The usual split puts copies of one print in training and test; a serial lookup alone scores 90.2%. In our split every test counterfeit is a new print. The watermark check lifts accuracy to 95.0%.</a:t>
            </a:r>
            <a:endParaRPr lang="en-US" sz="15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acc value"/>
          <p:cNvSpPr txBox="1"/>
          <p:nvPr/>
        </p:nvSpPr>
        <p:spPr>
          <a:xfrm>
            <a:off x="8138160" y="15544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91.5%</a:t>
            </a:r>
            <a:endParaRPr lang="en-US" sz="3600" dirty="0"/>
          </a:p>
        </p:txBody>
      </p:sp>
      <p:sp>
        <p:nvSpPr>
          <p:cNvPr id="7" name="DMWR acc label"/>
          <p:cNvSpPr txBox="1"/>
          <p:nvPr/>
        </p:nvSpPr>
        <p:spPr>
          <a:xfrm>
            <a:off x="8138160" y="2240280"/>
            <a:ext cx="3291840" cy="548640"/>
          </a:xfrm>
          <a:prstGeom prst="rect">
            <a:avLst/>
          </a:prstGeom>
          <a:noFill/>
          <a:ln/>
        </p:spPr>
        <p:txBody>
          <a:bodyPr wrap="square" lIns="0" tIns="0" rIns="0" bIns="0" rtlCol="0" anchor="t"/>
          <a:lstStyle/>
          <a:p>
            <a:pPr indent="0" marL="0">
              <a:buNone/>
            </a:pPr>
            <a:r>
              <a:rPr lang="en-US" sz="1300" dirty="0">
                <a:solidFill>
                  <a:schemeClr val="tx1"/>
                </a:solidFill>
              </a:rPr>
              <a:t>on unseen counterfeit prints (3 seeds, ±0.3)</a:t>
            </a:r>
            <a:endParaRPr lang="en-US" sz="1300" dirty="0"/>
          </a:p>
        </p:txBody>
      </p:sp>
      <p:sp>
        <p:nvSpPr>
          <p:cNvPr id="8" name="DMWR params value"/>
          <p:cNvSpPr txBox="1"/>
          <p:nvPr/>
        </p:nvSpPr>
        <p:spPr>
          <a:xfrm>
            <a:off x="8138160" y="29260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47,818</a:t>
            </a:r>
            <a:endParaRPr lang="en-US" sz="3600" dirty="0"/>
          </a:p>
        </p:txBody>
      </p:sp>
      <p:sp>
        <p:nvSpPr>
          <p:cNvPr id="9" name="DMWR params label"/>
          <p:cNvSpPr txBox="1"/>
          <p:nvPr/>
        </p:nvSpPr>
        <p:spPr>
          <a:xfrm>
            <a:off x="8138160" y="3611880"/>
            <a:ext cx="3291840" cy="548640"/>
          </a:xfrm>
          <a:prstGeom prst="rect">
            <a:avLst/>
          </a:prstGeom>
          <a:noFill/>
          <a:ln/>
        </p:spPr>
        <p:txBody>
          <a:bodyPr wrap="square" lIns="0" tIns="0" rIns="0" bIns="0" rtlCol="0" anchor="t"/>
          <a:lstStyle/>
          <a:p>
            <a:pPr indent="0" marL="0">
              <a:buNone/>
            </a:pPr>
            <a:r>
              <a:rPr lang="en-US" sz="1300" dirty="0">
                <a:solidFill>
                  <a:schemeClr val="tx1"/>
                </a:solidFill>
              </a:rPr>
              <a:t>parameters (0.21 MB): 46× smaller than MobileNetV2 [15]</a:t>
            </a:r>
            <a:endParaRPr lang="en-US" sz="1300" dirty="0"/>
          </a:p>
        </p:txBody>
      </p:sp>
      <p:sp>
        <p:nvSpPr>
          <p:cNvPr id="10" name="DMWR p value"/>
          <p:cNvSpPr txBox="1"/>
          <p:nvPr/>
        </p:nvSpPr>
        <p:spPr>
          <a:xfrm>
            <a:off x="8138160" y="42976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p ≥ 0.375</a:t>
            </a:r>
            <a:endParaRPr lang="en-US" sz="3600" dirty="0"/>
          </a:p>
        </p:txBody>
      </p:sp>
      <p:sp>
        <p:nvSpPr>
          <p:cNvPr id="11" name="DMWR p label"/>
          <p:cNvSpPr txBox="1"/>
          <p:nvPr/>
        </p:nvSpPr>
        <p:spPr>
          <a:xfrm>
            <a:off x="8138160" y="4983480"/>
            <a:ext cx="3291840" cy="548640"/>
          </a:xfrm>
          <a:prstGeom prst="rect">
            <a:avLst/>
          </a:prstGeom>
          <a:noFill/>
          <a:ln/>
        </p:spPr>
        <p:txBody>
          <a:bodyPr wrap="square" lIns="0" tIns="0" rIns="0" bIns="0" rtlCol="0" anchor="t"/>
          <a:lstStyle/>
          <a:p>
            <a:pPr indent="0" marL="0">
              <a:buNone/>
            </a:pPr>
            <a:r>
              <a:rPr lang="en-US" sz="1300" dirty="0">
                <a:solidFill>
                  <a:schemeClr val="tx1"/>
                </a:solidFill>
              </a:rPr>
              <a:t>no significant difference from MobileNetV2 (92.9%)</a:t>
            </a:r>
            <a:endParaRPr lang="en-US" sz="13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[15]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548640"/>
          </a:xfrm>
          <a:prstGeom prst="rect">
            <a:avLst/>
          </a:prstGeom>
          <a:noFill/>
          <a:ln/>
        </p:spPr>
        <p:txBody>
          <a:bodyPr wrap="square" lIns="0" tIns="0" rIns="0" bIns="0" rtlCol="0" anchor="t"/>
          <a:lstStyle/>
          <a:p>
            <a:pPr indent="0" marL="0">
              <a:buNone/>
            </a:pPr>
            <a:r>
              <a:rPr lang="en-US" sz="1300" dirty="0">
                <a:solidFill>
                  <a:schemeClr val="tx1"/>
                </a:solidFill>
              </a:rPr>
              <a:t>test counterfeits passed as "likely genuine"</a:t>
            </a:r>
            <a:endParaRPr lang="en-US" sz="1300" dirty="0"/>
          </a:p>
        </p:txBody>
      </p:sp>
      <p:sp>
        <p:nvSpPr>
          <p:cNvPr id="17" name="Safety text"/>
          <p:cNvSpPr txBox="1"/>
          <p:nvPr/>
        </p:nvSpPr>
        <p:spPr>
          <a:xfrm>
            <a:off x="548640" y="4663440"/>
            <a:ext cx="11064240" cy="1097280"/>
          </a:xfrm>
          <a:prstGeom prst="rect">
            <a:avLst/>
          </a:prstGeom>
          <a:noFill/>
          <a:ln/>
        </p:spPr>
        <p:txBody>
          <a:bodyPr wrap="square" lIns="0" tIns="0" rIns="0" bIns="0" rtlCol="0" anchor="t"/>
          <a:lstStyle/>
          <a:p>
            <a:pPr indent="0" marL="0">
              <a:buNone/>
            </a:pPr>
            <a:r>
              <a:rPr lang="en-US" sz="1500" dirty="0">
                <a:solidFill>
                  <a:schemeClr val="tx1"/>
                </a:solidFill>
              </a:rPr>
              <a:t>Threshold = highest score of any validation counterfeit, so a new counterfeit passes with probability 1/(n+1) ≈ 1.1%. 57.5% of genuine notes are confirmed from close-up views; otherwise the glass asks for a check by hand.</a:t>
            </a:r>
            <a:endParaRPr lang="en-US" sz="1500" dirty="0"/>
          </a:p>
        </p:txBody>
      </p:sp>
      <p:sp>
        <p:nvSpPr>
          <p:cNvPr id="1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security fibres light up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111 real UV photos of genuine notes accepted</a:t>
            </a:r>
            <a:endParaRPr lang="en-US" sz="13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simulated fibre-free printed sheets rejected</a:t>
            </a:r>
            <a:endParaRPr lang="en-US" sz="1300" dirty="0"/>
          </a:p>
        </p:txBody>
      </p:sp>
      <p:sp>
        <p:nvSpPr>
          <p:cNvPr id="8" name="UV caveat"/>
          <p:cNvSpPr txBox="1"/>
          <p:nvPr/>
        </p:nvSpPr>
        <p:spPr>
          <a:xfrm>
            <a:off x="7863840" y="4663440"/>
            <a:ext cx="3749040" cy="1188720"/>
          </a:xfrm>
          <a:prstGeom prst="rect">
            <a:avLst/>
          </a:prstGeom>
          <a:noFill/>
          <a:ln/>
        </p:spPr>
        <p:txBody>
          <a:bodyPr wrap="square" lIns="0" tIns="0" rIns="0" bIns="0" rtlCol="0" anchor="t"/>
          <a:lstStyle/>
          <a:p>
            <a:pPr indent="0" marL="0">
              <a:buNone/>
            </a:pPr>
            <a:r>
              <a:rPr lang="en-US" sz="1500" i="1" dirty="0">
                <a:solidFill>
                  <a:schemeClr val="accent2"/>
                </a:solidFill>
              </a:rPr>
              <a:t>A prototype, off by default: no real counterfeit has been photographed under the lamp yet.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graphicFrame>
        <p:nvGraphicFramePr>
          <p:cNvPr id="3" name="OCR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Helped heading"/>
          <p:cNvSpPr txBox="1"/>
          <p:nvPr/>
        </p:nvSpPr>
        <p:spPr>
          <a:xfrm>
            <a:off x="7863840" y="1325880"/>
            <a:ext cx="374904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5" name="Helped list"/>
          <p:cNvSpPr txBox="1"/>
          <p:nvPr/>
        </p:nvSpPr>
        <p:spPr>
          <a:xfrm>
            <a:off x="7863840" y="1783080"/>
            <a:ext cx="374904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Reading only the main block of text</a:t>
            </a:r>
            <a:endParaRPr lang="en-US" sz="1500" dirty="0"/>
          </a:p>
          <a:p>
            <a:pPr marL="342900" indent="-342900">
              <a:spcAft>
                <a:spcPts val="800"/>
              </a:spcAft>
              <a:buSzPct val="100000"/>
              <a:buChar char="•"/>
            </a:pPr>
            <a:r>
              <a:rPr lang="en-US" sz="1500" dirty="0">
                <a:solidFill>
                  <a:schemeClr val="tx1"/>
                </a:solidFill>
              </a:rPr>
              <a:t>Tuned detector settings, CLAHE, clean-up rules</a:t>
            </a:r>
            <a:endParaRPr lang="en-US" sz="1500" dirty="0"/>
          </a:p>
          <a:p>
            <a:pPr marL="342900" indent="-342900">
              <a:spcAft>
                <a:spcPts val="800"/>
              </a:spcAft>
              <a:buSzPct val="100000"/>
              <a:buChar char="•"/>
            </a:pPr>
            <a:r>
              <a:rPr lang="en-US" sz="1500" dirty="0">
                <a:solidFill>
                  <a:schemeClr val="tx1"/>
                </a:solidFill>
              </a:rPr>
              <a:t>Recogniser fine-tuned on real words, blended 50/50 with the original weights</a:t>
            </a:r>
            <a:endParaRPr lang="en-US" sz="1500" dirty="0"/>
          </a:p>
        </p:txBody>
      </p:sp>
      <p:sp>
        <p:nvSpPr>
          <p:cNvPr id="6" name="Not heading"/>
          <p:cNvSpPr txBox="1"/>
          <p:nvPr/>
        </p:nvSpPr>
        <p:spPr>
          <a:xfrm>
            <a:off x="7863840" y="3840480"/>
            <a:ext cx="374904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7" name="Not list"/>
          <p:cNvSpPr txBox="1"/>
          <p:nvPr/>
        </p:nvSpPr>
        <p:spPr>
          <a:xfrm>
            <a:off x="7863840" y="4297680"/>
            <a:ext cx="3749040" cy="1280160"/>
          </a:xfrm>
          <a:prstGeom prst="rect">
            <a:avLst/>
          </a:prstGeom>
          <a:noFill/>
          <a:ln/>
        </p:spPr>
        <p:txBody>
          <a:bodyPr wrap="square" lIns="0" tIns="0" rIns="0" bIns="0" rtlCol="0" anchor="t"/>
          <a:lstStyle/>
          <a:p>
            <a:pPr indent="0" marL="0">
              <a:buNone/>
            </a:pPr>
            <a:r>
              <a:rPr lang="en-US" sz="1500" dirty="0">
                <a:solidFill>
                  <a:schemeClr val="tx1"/>
                </a:solidFill>
              </a:rPr>
              <a:t>Binarisation, multi-scale reading, Tesseract, TrOCR, PaddleOCR, dictionaries, smaller pictures, rotation retry</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[16]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52628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Natural Piper voice for Bangla and English [10]; eSpeak NG as fallback [11]</a:t>
            </a:r>
            <a:endParaRPr lang="en-US" sz="1500" dirty="0"/>
          </a:p>
          <a:p>
            <a:pPr marL="342900" indent="-342900">
              <a:spcAft>
                <a:spcPts val="1000"/>
              </a:spcAft>
              <a:buSzPct val="100000"/>
              <a:buChar char="•"/>
            </a:pPr>
            <a:r>
              <a:rPr lang="en-US" sz="1500" dirty="0">
                <a:solidFill>
                  <a:schemeClr val="tx1"/>
                </a:solidFill>
              </a:rPr>
              <a:t>Each sentence rendered before it plays: no broken sound when the Pi is busy</a:t>
            </a:r>
            <a:endParaRPr lang="en-US" sz="1500" dirty="0"/>
          </a:p>
          <a:p>
            <a:pPr marL="342900" indent="-342900">
              <a:spcAft>
                <a:spcPts val="1000"/>
              </a:spcAft>
              <a:buSzPct val="100000"/>
              <a:buChar char="•"/>
            </a:pPr>
            <a:r>
              <a:rPr lang="en-US" sz="1500" dirty="0">
                <a:solidFill>
                  <a:schemeClr val="tx1"/>
                </a:solidFill>
              </a:rPr>
              <a:t>"পড়ছি" (reading) and a soft tick while a long capture runs</a:t>
            </a:r>
            <a:endParaRPr lang="en-US" sz="1500" dirty="0"/>
          </a:p>
        </p:txBody>
      </p:sp>
      <p:graphicFrame>
        <p:nvGraphicFramePr>
          <p:cNvPr id="8" name="Voice chart" descr=""/>
          <p:cNvGraphicFramePr/>
          <p:nvPr/>
        </p:nvGraphicFramePr>
        <p:xfrm>
          <a:off x="4480560" y="1325880"/>
          <a:ext cx="4572000" cy="4526280"/>
        </p:xfrm>
        <a:graphic xmlns:a="http://schemas.openxmlformats.org/drawingml/2006/main">
          <a:graphicData uri="http://schemas.openxmlformats.org/drawingml/2006/chart">
            <c:chart xmlns:c="http://schemas.openxmlformats.org/drawingml/2006/chart" r:id="rId2"/>
          </a:graphicData>
        </a:graphic>
      </p:graphicFrame>
      <p:sp>
        <p:nvSpPr>
          <p:cNvPr id="9"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0" name="False commands label"/>
          <p:cNvSpPr txBox="1"/>
          <p:nvPr/>
        </p:nvSpPr>
        <p:spPr>
          <a:xfrm>
            <a:off x="9326880" y="2148840"/>
            <a:ext cx="2286000" cy="548640"/>
          </a:xfrm>
          <a:prstGeom prst="rect">
            <a:avLst/>
          </a:prstGeom>
          <a:noFill/>
          <a:ln/>
        </p:spPr>
        <p:txBody>
          <a:bodyPr wrap="square" lIns="0" tIns="0" rIns="0" bIns="0" rtlCol="0" anchor="t"/>
          <a:lstStyle/>
          <a:p>
            <a:pPr indent="0" marL="0">
              <a:buNone/>
            </a:pPr>
            <a:r>
              <a:rPr lang="en-US" sz="1300" dirty="0">
                <a:solidFill>
                  <a:schemeClr val="tx1"/>
                </a:solidFill>
              </a:rPr>
              <a:t>false commands in 5,040 ordinary sentences, thanks to the wake word</a:t>
            </a:r>
            <a:endParaRPr lang="en-US" sz="1300" dirty="0"/>
          </a:p>
        </p:txBody>
      </p:sp>
      <p:sp>
        <p:nvSpPr>
          <p:cNvPr id="11"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2" name="Response label"/>
          <p:cNvSpPr txBox="1"/>
          <p:nvPr/>
        </p:nvSpPr>
        <p:spPr>
          <a:xfrm>
            <a:off x="9326880" y="3931920"/>
            <a:ext cx="2286000" cy="548640"/>
          </a:xfrm>
          <a:prstGeom prst="rect">
            <a:avLst/>
          </a:prstGeom>
          <a:noFill/>
          <a:ln/>
        </p:spPr>
        <p:txBody>
          <a:bodyPr wrap="square" lIns="0" tIns="0" rIns="0" bIns="0" rtlCol="0" anchor="t"/>
          <a:lstStyle/>
          <a:p>
            <a:pPr indent="0" marL="0">
              <a:buNone/>
            </a:pPr>
            <a:r>
              <a:rPr lang="en-US" sz="1300" dirty="0">
                <a:solidFill>
                  <a:schemeClr val="tx1"/>
                </a:solidFill>
              </a:rPr>
              <a:t>from the end of speech to the action (median)</a:t>
            </a:r>
            <a:endParaRPr lang="en-US" sz="1300" dirty="0"/>
          </a:p>
        </p:txBody>
      </p:sp>
      <p:sp>
        <p:nvSpPr>
          <p:cNvPr id="13" name="Voice caveat"/>
          <p:cNvSpPr txBox="1"/>
          <p:nvPr/>
        </p:nvSpPr>
        <p:spPr>
          <a:xfrm>
            <a:off x="9326880" y="4937760"/>
            <a:ext cx="2286000" cy="822960"/>
          </a:xfrm>
          <a:prstGeom prst="rect">
            <a:avLst/>
          </a:prstGeom>
          <a:noFill/>
          <a:ln/>
        </p:spPr>
        <p:txBody>
          <a:bodyPr wrap="square" lIns="0" tIns="0" rIns="0" bIns="0" rtlCol="0" anchor="t"/>
          <a:lstStyle/>
          <a:p>
            <a:pPr indent="0" marL="0">
              <a:buNone/>
            </a:pPr>
            <a:r>
              <a:rPr lang="en-US" sz="1300" i="1" dirty="0">
                <a:solidFill>
                  <a:schemeClr val="accent2"/>
                </a:solidFill>
              </a:rPr>
              <a:t>Synthetic voices on a laptop; not yet people.</a:t>
            </a:r>
            <a:endParaRPr lang="en-US" sz="13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[17] Vosk; noise from [18]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currency check, end to end</a:t>
            </a:r>
            <a:endParaRPr lang="en-US" sz="13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watermark check</a:t>
            </a:r>
            <a:endParaRPr lang="en-US" sz="13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object scan (YOLOv8s)</a:t>
            </a:r>
            <a:endParaRPr lang="en-US" sz="13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emotion, face in view</a:t>
            </a:r>
            <a:endParaRPr lang="en-US" sz="13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3-line sign, text found once</a:t>
            </a:r>
            <a:endParaRPr lang="en-US" sz="13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peak memory, 30-minute run</a:t>
            </a:r>
            <a:endParaRPr lang="en-US" sz="13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72600" y="1691640"/>
            <a:ext cx="201168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Heat</a:t>
            </a:r>
            <a:endParaRPr lang="en-US" sz="2000" dirty="0"/>
          </a:p>
        </p:txBody>
      </p:sp>
      <p:sp>
        <p:nvSpPr>
          <p:cNvPr id="25" name="Heat list"/>
          <p:cNvSpPr txBox="1"/>
          <p:nvPr/>
        </p:nvSpPr>
        <p:spPr>
          <a:xfrm>
            <a:off x="8458200" y="2514600"/>
            <a:ext cx="297180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4EFEA"/>
                </a:solidFill>
              </a:rPr>
              <a:t>Board idled at 71 °C; peak 88.7 °C, throttled in 76% of samples</a:t>
            </a:r>
            <a:endParaRPr lang="en-US" sz="1400" dirty="0"/>
          </a:p>
          <a:p>
            <a:pPr marL="342900" indent="-342900">
              <a:spcAft>
                <a:spcPts val="800"/>
              </a:spcAft>
              <a:buSzPct val="100000"/>
              <a:buChar char="•"/>
            </a:pPr>
            <a:r>
              <a:rPr lang="en-US" sz="1400" dirty="0">
                <a:solidFill>
                  <a:srgbClr val="E4EFEA"/>
                </a:solidFill>
              </a:rPr>
              <a:t>Thermal governor slows background scans when hot</a:t>
            </a:r>
            <a:endParaRPr lang="en-US" sz="1400" dirty="0"/>
          </a:p>
          <a:p>
            <a:pPr marL="342900" indent="-342900">
              <a:spcAft>
                <a:spcPts val="800"/>
              </a:spcAft>
              <a:buSzPct val="100000"/>
              <a:buChar char="•"/>
            </a:pPr>
            <a:r>
              <a:rPr lang="en-US" sz="1400" dirty="0">
                <a:solidFill>
                  <a:srgbClr val="E4EFEA"/>
                </a:solidFill>
              </a:rPr>
              <a:t>Text reading is the slowest task</a:t>
            </a:r>
            <a:endParaRPr lang="en-US" sz="1400" dirty="0"/>
          </a:p>
        </p:txBody>
      </p:sp>
      <p:sp>
        <p:nvSpPr>
          <p:cNvPr id="26"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a:t>
            </a:r>
            <a:endParaRPr lang="en-US" sz="3000" dirty="0"/>
          </a:p>
        </p:txBody>
      </p:sp>
      <p:pic>
        <p:nvPicPr>
          <p:cNvPr id="3" name="Worn glass 1" descr="E:\Final SP\Thesis Report and paper\tools\deck\assets/1_5.jpg">    </p:cNvPr>
          <p:cNvPicPr>
            <a:picLocks noChangeAspect="1"/>
          </p:cNvPicPr>
          <p:nvPr/>
        </p:nvPicPr>
        <p:blipFill>
          <a:blip r:embed="rId1"/>
          <a:srcRect l="0" r="0" t="0" b="0"/>
          <a:stretch/>
        </p:blipFill>
        <p:spPr>
          <a:xfrm>
            <a:off x="548640" y="1325880"/>
            <a:ext cx="2194560" cy="3904488"/>
          </a:xfrm>
          <a:prstGeom prst="rect">
            <a:avLst/>
          </a:prstGeom>
        </p:spPr>
      </p:pic>
      <p:pic>
        <p:nvPicPr>
          <p:cNvPr id="4" name="Worn glass 2" descr="E:\Final SP\Thesis Report and paper\tools\deck\assets/1_18.jpg">    </p:cNvPr>
          <p:cNvPicPr>
            <a:picLocks noChangeAspect="1"/>
          </p:cNvPicPr>
          <p:nvPr/>
        </p:nvPicPr>
        <p:blipFill>
          <a:blip r:embed="rId2"/>
          <a:srcRect l="0" r="0" t="0" b="0"/>
          <a:stretch/>
        </p:blipFill>
        <p:spPr>
          <a:xfrm>
            <a:off x="2880360" y="1325880"/>
            <a:ext cx="2194560" cy="3904488"/>
          </a:xfrm>
          <a:prstGeom prst="rect">
            <a:avLst/>
          </a:prstGeom>
        </p:spPr>
      </p:pic>
      <p:pic>
        <p:nvPicPr>
          <p:cNvPr id="5" name="Worn glass 3" descr="E:\Final SP\Thesis Report and paper\tools\deck\assets/1_1.jpg">    </p:cNvPr>
          <p:cNvPicPr>
            <a:picLocks noChangeAspect="1"/>
          </p:cNvPicPr>
          <p:nvPr/>
        </p:nvPicPr>
        <p:blipFill>
          <a:blip r:embed="rId3"/>
          <a:srcRect l="0" r="0" t="0" b="0"/>
          <a:stretch/>
        </p:blipFill>
        <p:spPr>
          <a:xfrm>
            <a:off x="5212080" y="1325880"/>
            <a:ext cx="2194560" cy="3904488"/>
          </a:xfrm>
          <a:prstGeom prst="rect">
            <a:avLst/>
          </a:prstGeom>
        </p:spPr>
      </p:pic>
      <p:sp>
        <p:nvSpPr>
          <p:cNvPr id="6" name="Worn caption"/>
          <p:cNvSpPr txBox="1"/>
          <p:nvPr/>
        </p:nvSpPr>
        <p:spPr>
          <a:xfrm>
            <a:off x="548640" y="5349240"/>
            <a:ext cx="6858000" cy="640080"/>
          </a:xfrm>
          <a:prstGeom prst="rect">
            <a:avLst/>
          </a:prstGeom>
          <a:noFill/>
          <a:ln/>
        </p:spPr>
        <p:txBody>
          <a:bodyPr wrap="square" lIns="0" tIns="0" rIns="0" bIns="0" rtlCol="0" anchor="t"/>
          <a:lstStyle/>
          <a:p>
            <a:pPr indent="0" marL="0">
              <a:buNone/>
            </a:pPr>
            <a:r>
              <a:rPr lang="en-US" sz="1300" i="1" dirty="0">
                <a:solidFill>
                  <a:schemeClr val="accent5"/>
                </a:solidFill>
              </a:rPr>
              <a:t>Prototype version 2 on team members: fit, weight and button reach are checked before user trials.</a:t>
            </a:r>
            <a:endParaRPr lang="en-US" sz="1300" dirty="0"/>
          </a:p>
        </p:txBody>
      </p:sp>
      <p:sp>
        <p:nvSpPr>
          <p:cNvPr id="7" name="Field test card"/>
          <p:cNvSpPr/>
          <p:nvPr/>
        </p:nvSpPr>
        <p:spPr>
          <a:xfrm>
            <a:off x="7726680" y="1325880"/>
            <a:ext cx="3886200" cy="2057400"/>
          </a:xfrm>
          <a:prstGeom prst="roundRect">
            <a:avLst>
              <a:gd name="adj" fmla="val 5333"/>
            </a:avLst>
          </a:prstGeom>
          <a:solidFill>
            <a:schemeClr val="bg2"/>
          </a:solidFill>
          <a:ln w="12700">
            <a:solidFill>
              <a:schemeClr val="bg2"/>
            </a:solidFill>
            <a:prstDash val="solid"/>
          </a:ln>
        </p:spPr>
      </p:sp>
      <p:sp>
        <p:nvSpPr>
          <p:cNvPr id="8" name="Field heading"/>
          <p:cNvSpPr txBox="1"/>
          <p:nvPr/>
        </p:nvSpPr>
        <p:spPr>
          <a:xfrm>
            <a:off x="7955280" y="1463040"/>
            <a:ext cx="347472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First field test</a:t>
            </a:r>
            <a:endParaRPr lang="en-US" sz="1900" dirty="0"/>
          </a:p>
        </p:txBody>
      </p:sp>
      <p:sp>
        <p:nvSpPr>
          <p:cNvPr id="9" name="Field text"/>
          <p:cNvSpPr txBox="1"/>
          <p:nvPr/>
        </p:nvSpPr>
        <p:spPr>
          <a:xfrm>
            <a:off x="7955280" y="1920240"/>
            <a:ext cx="3474720" cy="1371600"/>
          </a:xfrm>
          <a:prstGeom prst="rect">
            <a:avLst/>
          </a:prstGeom>
          <a:noFill/>
          <a:ln/>
        </p:spPr>
        <p:txBody>
          <a:bodyPr wrap="square" lIns="0" tIns="0" rIns="0" bIns="0" rtlCol="0" anchor="t"/>
          <a:lstStyle/>
          <a:p>
            <a:pPr indent="0" marL="0">
              <a:buNone/>
            </a:pPr>
            <a:r>
              <a:rPr lang="en-US" sz="1400" dirty="0">
                <a:solidFill>
                  <a:schemeClr val="tx1"/>
                </a:solidFill>
              </a:rPr>
              <a:t>With the glass camera, currency was unreliable and Bangla text was not read; we suspect the 640×480 fixed-focus picture.</a:t>
            </a:r>
            <a:endParaRPr lang="en-US" sz="1400" dirty="0"/>
          </a:p>
        </p:txBody>
      </p:sp>
      <p:sp>
        <p:nvSpPr>
          <p:cNvPr id="10" name="Trials card"/>
          <p:cNvSpPr/>
          <p:nvPr/>
        </p:nvSpPr>
        <p:spPr>
          <a:xfrm>
            <a:off x="7726680" y="3566160"/>
            <a:ext cx="3886200" cy="2057400"/>
          </a:xfrm>
          <a:prstGeom prst="roundRect">
            <a:avLst>
              <a:gd name="adj" fmla="val 5333"/>
            </a:avLst>
          </a:prstGeom>
          <a:solidFill>
            <a:schemeClr val="bg2"/>
          </a:solidFill>
          <a:ln w="12700">
            <a:solidFill>
              <a:schemeClr val="bg2"/>
            </a:solidFill>
            <a:prstDash val="solid"/>
          </a:ln>
        </p:spPr>
      </p:sp>
      <p:sp>
        <p:nvSpPr>
          <p:cNvPr id="11" name="Trials heading"/>
          <p:cNvSpPr txBox="1"/>
          <p:nvPr/>
        </p:nvSpPr>
        <p:spPr>
          <a:xfrm>
            <a:off x="7955280" y="3703320"/>
            <a:ext cx="347472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User trials</a:t>
            </a:r>
            <a:endParaRPr lang="en-US" sz="1900" dirty="0"/>
          </a:p>
        </p:txBody>
      </p:sp>
      <p:sp>
        <p:nvSpPr>
          <p:cNvPr id="12" name="Trials text"/>
          <p:cNvSpPr txBox="1"/>
          <p:nvPr/>
        </p:nvSpPr>
        <p:spPr>
          <a:xfrm>
            <a:off x="7955280" y="4160520"/>
            <a:ext cx="3474720" cy="137160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 a Bangla voice questionnaire records answers.</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3" name="Better glass camera circle"/>
          <p:cNvSpPr/>
          <p:nvPr/>
        </p:nvSpPr>
        <p:spPr>
          <a:xfrm>
            <a:off x="548640" y="1399032"/>
            <a:ext cx="658368" cy="658368"/>
          </a:xfrm>
          <a:prstGeom prst="ellipse">
            <a:avLst/>
          </a:prstGeom>
          <a:solidFill>
            <a:srgbClr val="006A4E"/>
          </a:solidFill>
          <a:ln w="12700">
            <a:solidFill>
              <a:srgbClr val="006A4E"/>
            </a:solidFill>
            <a:prstDash val="solid"/>
          </a:ln>
        </p:spPr>
      </p:sp>
      <p:pic>
        <p:nvPicPr>
          <p:cNvPr id="4" name="Better glass camera icon" descr="preencoded.png">    </p:cNvPr>
          <p:cNvPicPr>
            <a:picLocks noChangeAspect="1"/>
          </p:cNvPicPr>
          <p:nvPr/>
        </p:nvPicPr>
        <p:blipFill>
          <a:blip r:embed="rId1"/>
          <a:stretch>
            <a:fillRect/>
          </a:stretch>
        </p:blipFill>
        <p:spPr>
          <a:xfrm>
            <a:off x="706648" y="1557040"/>
            <a:ext cx="342351" cy="342351"/>
          </a:xfrm>
          <a:prstGeom prst="rect">
            <a:avLst/>
          </a:prstGeom>
        </p:spPr>
      </p:pic>
      <p:sp>
        <p:nvSpPr>
          <p:cNvPr id="5" name="Better glass camera heading"/>
          <p:cNvSpPr txBox="1"/>
          <p:nvPr/>
        </p:nvSpPr>
        <p:spPr>
          <a:xfrm>
            <a:off x="1417320" y="1380744"/>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Better glass camera</a:t>
            </a:r>
            <a:endParaRPr lang="en-US" sz="1800" dirty="0"/>
          </a:p>
        </p:txBody>
      </p:sp>
      <p:sp>
        <p:nvSpPr>
          <p:cNvPr id="6" name="Better glass camera text"/>
          <p:cNvSpPr txBox="1"/>
          <p:nvPr/>
        </p:nvSpPr>
        <p:spPr>
          <a:xfrm>
            <a:off x="5303520" y="1380744"/>
            <a:ext cx="6309360" cy="685800"/>
          </a:xfrm>
          <a:prstGeom prst="rect">
            <a:avLst/>
          </a:prstGeom>
          <a:noFill/>
          <a:ln/>
        </p:spPr>
        <p:txBody>
          <a:bodyPr wrap="square" lIns="0" tIns="0" rIns="0" bIns="0" rtlCol="0" anchor="ctr"/>
          <a:lstStyle/>
          <a:p>
            <a:pPr indent="0" marL="0">
              <a:buNone/>
            </a:pPr>
            <a:r>
              <a:rPr lang="en-US" sz="1500" dirty="0">
                <a:solidFill>
                  <a:schemeClr val="tx1"/>
                </a:solidFill>
              </a:rPr>
              <a:t>Higher resolution or autofocus; a test set taken through the glass</a:t>
            </a:r>
            <a:endParaRPr lang="en-US" sz="1500" dirty="0"/>
          </a:p>
        </p:txBody>
      </p:sp>
      <p:sp>
        <p:nvSpPr>
          <p:cNvPr id="7" name="Complete the user study circle"/>
          <p:cNvSpPr/>
          <p:nvPr/>
        </p:nvSpPr>
        <p:spPr>
          <a:xfrm>
            <a:off x="548640" y="2331720"/>
            <a:ext cx="658368" cy="658368"/>
          </a:xfrm>
          <a:prstGeom prst="ellipse">
            <a:avLst/>
          </a:prstGeom>
          <a:solidFill>
            <a:srgbClr val="3A8F72"/>
          </a:solidFill>
          <a:ln w="12700">
            <a:solidFill>
              <a:srgbClr val="3A8F72"/>
            </a:solidFill>
            <a:prstDash val="solid"/>
          </a:ln>
        </p:spPr>
      </p:sp>
      <p:pic>
        <p:nvPicPr>
          <p:cNvPr id="8" name="Complete the user study icon" descr="preencoded.png">    </p:cNvPr>
          <p:cNvPicPr>
            <a:picLocks noChangeAspect="1"/>
          </p:cNvPicPr>
          <p:nvPr/>
        </p:nvPicPr>
        <p:blipFill>
          <a:blip r:embed="rId2"/>
          <a:stretch>
            <a:fillRect/>
          </a:stretch>
        </p:blipFill>
        <p:spPr>
          <a:xfrm>
            <a:off x="706648" y="2489728"/>
            <a:ext cx="342351" cy="342351"/>
          </a:xfrm>
          <a:prstGeom prst="rect">
            <a:avLst/>
          </a:prstGeom>
        </p:spPr>
      </p:pic>
      <p:sp>
        <p:nvSpPr>
          <p:cNvPr id="9" name="Complete the user study heading"/>
          <p:cNvSpPr txBox="1"/>
          <p:nvPr/>
        </p:nvSpPr>
        <p:spPr>
          <a:xfrm>
            <a:off x="1417320" y="2313432"/>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Complete the user study</a:t>
            </a:r>
            <a:endParaRPr lang="en-US" sz="1800" dirty="0"/>
          </a:p>
        </p:txBody>
      </p:sp>
      <p:sp>
        <p:nvSpPr>
          <p:cNvPr id="10" name="Complete the user study text"/>
          <p:cNvSpPr txBox="1"/>
          <p:nvPr/>
        </p:nvSpPr>
        <p:spPr>
          <a:xfrm>
            <a:off x="5303520" y="2313432"/>
            <a:ext cx="6309360" cy="685800"/>
          </a:xfrm>
          <a:prstGeom prst="rect">
            <a:avLst/>
          </a:prstGeom>
          <a:noFill/>
          <a:ln/>
        </p:spPr>
        <p:txBody>
          <a:bodyPr wrap="square" lIns="0" tIns="0" rIns="0" bIns="0" rtlCol="0" anchor="ctr"/>
          <a:lstStyle/>
          <a:p>
            <a:pPr indent="0" marL="0">
              <a:buNone/>
            </a:pPr>
            <a:r>
              <a:rPr lang="en-US" sz="1500" dirty="0">
                <a:solidFill>
                  <a:schemeClr val="tx1"/>
                </a:solidFill>
              </a:rPr>
              <a:t>8–12 participants: task time, accuracy, SUS and NASA-TLX</a:t>
            </a:r>
            <a:endParaRPr lang="en-US" sz="1500" dirty="0"/>
          </a:p>
        </p:txBody>
      </p:sp>
      <p:sp>
        <p:nvSpPr>
          <p:cNvPr id="11" name="More counterfeit prints circle"/>
          <p:cNvSpPr/>
          <p:nvPr/>
        </p:nvSpPr>
        <p:spPr>
          <a:xfrm>
            <a:off x="548640" y="3264408"/>
            <a:ext cx="658368" cy="658368"/>
          </a:xfrm>
          <a:prstGeom prst="ellipse">
            <a:avLst/>
          </a:prstGeom>
          <a:solidFill>
            <a:srgbClr val="006A4E"/>
          </a:solidFill>
          <a:ln w="12700">
            <a:solidFill>
              <a:srgbClr val="006A4E"/>
            </a:solidFill>
            <a:prstDash val="solid"/>
          </a:ln>
        </p:spPr>
      </p:sp>
      <p:pic>
        <p:nvPicPr>
          <p:cNvPr id="12" name="More counterfeit prints icon" descr="preencoded.png">    </p:cNvPr>
          <p:cNvPicPr>
            <a:picLocks noChangeAspect="1"/>
          </p:cNvPicPr>
          <p:nvPr/>
        </p:nvPicPr>
        <p:blipFill>
          <a:blip r:embed="rId3"/>
          <a:stretch>
            <a:fillRect/>
          </a:stretch>
        </p:blipFill>
        <p:spPr>
          <a:xfrm>
            <a:off x="706648" y="3422416"/>
            <a:ext cx="342351" cy="342351"/>
          </a:xfrm>
          <a:prstGeom prst="rect">
            <a:avLst/>
          </a:prstGeom>
        </p:spPr>
      </p:pic>
      <p:sp>
        <p:nvSpPr>
          <p:cNvPr id="13" name="More counterfeit prints heading"/>
          <p:cNvSpPr txBox="1"/>
          <p:nvPr/>
        </p:nvSpPr>
        <p:spPr>
          <a:xfrm>
            <a:off x="1417320" y="3246120"/>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More counterfeit prints</a:t>
            </a:r>
            <a:endParaRPr lang="en-US" sz="1800" dirty="0"/>
          </a:p>
        </p:txBody>
      </p:sp>
      <p:sp>
        <p:nvSpPr>
          <p:cNvPr id="14" name="More counterfeit prints text"/>
          <p:cNvSpPr txBox="1"/>
          <p:nvPr/>
        </p:nvSpPr>
        <p:spPr>
          <a:xfrm>
            <a:off x="5303520" y="3246120"/>
            <a:ext cx="6309360" cy="685800"/>
          </a:xfrm>
          <a:prstGeom prst="rect">
            <a:avLst/>
          </a:prstGeom>
          <a:noFill/>
          <a:ln/>
        </p:spPr>
        <p:txBody>
          <a:bodyPr wrap="square" lIns="0" tIns="0" rIns="0" bIns="0" rtlCol="0" anchor="ctr"/>
          <a:lstStyle/>
          <a:p>
            <a:pPr indent="0" marL="0">
              <a:buNone/>
            </a:pPr>
            <a:r>
              <a:rPr lang="en-US" sz="1500" dirty="0">
                <a:solidFill>
                  <a:schemeClr val="tx1"/>
                </a:solidFill>
              </a:rPr>
              <a:t>About 100 unseen prints with a bank or the police; UV check on real counterfeits</a:t>
            </a:r>
            <a:endParaRPr lang="en-US" sz="1500" dirty="0"/>
          </a:p>
        </p:txBody>
      </p:sp>
      <p:sp>
        <p:nvSpPr>
          <p:cNvPr id="15" name="People's voices, Bangla commands circle"/>
          <p:cNvSpPr/>
          <p:nvPr/>
        </p:nvSpPr>
        <p:spPr>
          <a:xfrm>
            <a:off x="548640" y="4197096"/>
            <a:ext cx="658368" cy="658368"/>
          </a:xfrm>
          <a:prstGeom prst="ellipse">
            <a:avLst/>
          </a:prstGeom>
          <a:solidFill>
            <a:srgbClr val="3A8F72"/>
          </a:solidFill>
          <a:ln w="12700">
            <a:solidFill>
              <a:srgbClr val="3A8F72"/>
            </a:solidFill>
            <a:prstDash val="solid"/>
          </a:ln>
        </p:spPr>
      </p:sp>
      <p:pic>
        <p:nvPicPr>
          <p:cNvPr id="16" name="People's voices, Bangla commands icon" descr="preencoded.png">    </p:cNvPr>
          <p:cNvPicPr>
            <a:picLocks noChangeAspect="1"/>
          </p:cNvPicPr>
          <p:nvPr/>
        </p:nvPicPr>
        <p:blipFill>
          <a:blip r:embed="rId4"/>
          <a:stretch>
            <a:fillRect/>
          </a:stretch>
        </p:blipFill>
        <p:spPr>
          <a:xfrm>
            <a:off x="706648" y="4355104"/>
            <a:ext cx="342351" cy="342351"/>
          </a:xfrm>
          <a:prstGeom prst="rect">
            <a:avLst/>
          </a:prstGeom>
        </p:spPr>
      </p:pic>
      <p:sp>
        <p:nvSpPr>
          <p:cNvPr id="17" name="People&amp;apos;s voices, Bangla commands heading"/>
          <p:cNvSpPr txBox="1"/>
          <p:nvPr/>
        </p:nvSpPr>
        <p:spPr>
          <a:xfrm>
            <a:off x="1417320" y="4178808"/>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People's voices, Bangla commands</a:t>
            </a:r>
            <a:endParaRPr lang="en-US" sz="1800" dirty="0"/>
          </a:p>
        </p:txBody>
      </p:sp>
      <p:sp>
        <p:nvSpPr>
          <p:cNvPr id="18" name="People&amp;apos;s voices, Bangla commands text"/>
          <p:cNvSpPr txBox="1"/>
          <p:nvPr/>
        </p:nvSpPr>
        <p:spPr>
          <a:xfrm>
            <a:off x="5303520" y="4178808"/>
            <a:ext cx="6309360" cy="685800"/>
          </a:xfrm>
          <a:prstGeom prst="rect">
            <a:avLst/>
          </a:prstGeom>
          <a:noFill/>
          <a:ln/>
        </p:spPr>
        <p:txBody>
          <a:bodyPr wrap="square" lIns="0" tIns="0" rIns="0" bIns="0" rtlCol="0" anchor="ctr"/>
          <a:lstStyle/>
          <a:p>
            <a:pPr indent="0" marL="0">
              <a:buNone/>
            </a:pPr>
            <a:r>
              <a:rPr lang="en-US" sz="1500" dirty="0">
                <a:solidFill>
                  <a:schemeClr val="tx1"/>
                </a:solidFill>
              </a:rPr>
              <a:t>Commands spoken by people into the glass; an offline Bangla recogniser</a:t>
            </a:r>
            <a:endParaRPr lang="en-US" sz="1500" dirty="0"/>
          </a:p>
        </p:txBody>
      </p:sp>
      <p:sp>
        <p:nvSpPr>
          <p:cNvPr id="19" name="Faster, cooler Pi circle"/>
          <p:cNvSpPr/>
          <p:nvPr/>
        </p:nvSpPr>
        <p:spPr>
          <a:xfrm>
            <a:off x="548640" y="5129784"/>
            <a:ext cx="658368" cy="658368"/>
          </a:xfrm>
          <a:prstGeom prst="ellipse">
            <a:avLst/>
          </a:prstGeom>
          <a:solidFill>
            <a:srgbClr val="006A4E"/>
          </a:solidFill>
          <a:ln w="12700">
            <a:solidFill>
              <a:srgbClr val="006A4E"/>
            </a:solidFill>
            <a:prstDash val="solid"/>
          </a:ln>
        </p:spPr>
      </p:sp>
      <p:pic>
        <p:nvPicPr>
          <p:cNvPr id="20" name="Faster, cooler Pi icon" descr="preencoded.png">    </p:cNvPr>
          <p:cNvPicPr>
            <a:picLocks noChangeAspect="1"/>
          </p:cNvPicPr>
          <p:nvPr/>
        </p:nvPicPr>
        <p:blipFill>
          <a:blip r:embed="rId5"/>
          <a:stretch>
            <a:fillRect/>
          </a:stretch>
        </p:blipFill>
        <p:spPr>
          <a:xfrm>
            <a:off x="706648" y="5287792"/>
            <a:ext cx="342351" cy="342351"/>
          </a:xfrm>
          <a:prstGeom prst="rect">
            <a:avLst/>
          </a:prstGeom>
        </p:spPr>
      </p:pic>
      <p:sp>
        <p:nvSpPr>
          <p:cNvPr id="21" name="Faster, cooler Pi heading"/>
          <p:cNvSpPr txBox="1"/>
          <p:nvPr/>
        </p:nvSpPr>
        <p:spPr>
          <a:xfrm>
            <a:off x="1417320" y="5111496"/>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Faster, cooler Pi</a:t>
            </a:r>
            <a:endParaRPr lang="en-US" sz="1800" dirty="0"/>
          </a:p>
        </p:txBody>
      </p:sp>
      <p:sp>
        <p:nvSpPr>
          <p:cNvPr id="22" name="Faster, cooler Pi text"/>
          <p:cNvSpPr txBox="1"/>
          <p:nvPr/>
        </p:nvSpPr>
        <p:spPr>
          <a:xfrm>
            <a:off x="5303520" y="5111496"/>
            <a:ext cx="6309360" cy="685800"/>
          </a:xfrm>
          <a:prstGeom prst="rect">
            <a:avLst/>
          </a:prstGeom>
          <a:noFill/>
          <a:ln/>
        </p:spPr>
        <p:txBody>
          <a:bodyPr wrap="square" lIns="0" tIns="0" rIns="0" bIns="0" rtlCol="0" anchor="ctr"/>
          <a:lstStyle/>
          <a:p>
            <a:pPr indent="0" marL="0">
              <a:buNone/>
            </a:pPr>
            <a:r>
              <a:rPr lang="en-US" sz="1500" dirty="0">
                <a:solidFill>
                  <a:schemeClr val="tx1"/>
                </a:solidFill>
              </a:rPr>
              <a:t>Time the new code on the Pi; better cooling; battery life</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1188720"/>
            <a:ext cx="68580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4" name="Questions"/>
          <p:cNvSpPr txBox="1"/>
          <p:nvPr/>
        </p:nvSpPr>
        <p:spPr>
          <a:xfrm>
            <a:off x="685800" y="2103120"/>
            <a:ext cx="6858000" cy="548640"/>
          </a:xfrm>
          <a:prstGeom prst="rect">
            <a:avLst/>
          </a:prstGeom>
          <a:noFill/>
          <a:ln/>
        </p:spPr>
        <p:txBody>
          <a:bodyPr wrap="square" lIns="0" tIns="0" rIns="0" bIns="0" rtlCol="0" anchor="ctr"/>
          <a:lstStyle/>
          <a:p>
            <a:pPr indent="0" marL="0">
              <a:buNone/>
            </a:pPr>
            <a:r>
              <a:rPr lang="en-US" sz="2200" dirty="0">
                <a:solidFill>
                  <a:srgbClr val="CFE2DA"/>
                </a:solidFill>
              </a:rPr>
              <a:t>Questions are welcome</a:t>
            </a:r>
            <a:endParaRPr lang="en-US" sz="2200" dirty="0"/>
          </a:p>
        </p:txBody>
      </p:sp>
      <p:sp>
        <p:nvSpPr>
          <p:cNvPr id="5" name="Summary"/>
          <p:cNvSpPr txBox="1"/>
          <p:nvPr/>
        </p:nvSpPr>
        <p:spPr>
          <a:xfrm>
            <a:off x="685800" y="3108960"/>
            <a:ext cx="6858000" cy="237744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E4EFEA"/>
                </a:solidFill>
              </a:rPr>
              <a:t>An offline glass that speaks Bangla, reads text, names objects and recognises Taka on a Raspberry Pi 5</a:t>
            </a:r>
            <a:endParaRPr lang="en-US" sz="1700" dirty="0"/>
          </a:p>
          <a:p>
            <a:pPr marL="342900" indent="-342900">
              <a:spcAft>
                <a:spcPts val="1200"/>
              </a:spcAft>
              <a:buSzPct val="100000"/>
              <a:buChar char="•"/>
            </a:pPr>
            <a:r>
              <a:rPr lang="en-US" sz="1700" dirty="0">
                <a:solidFill>
                  <a:srgbClr val="E4EFEA"/>
                </a:solidFill>
              </a:rPr>
              <a:t>New methods: prefix training, a safe verdict, the DMWR watermark checker, hand-held fine-tuning</a:t>
            </a:r>
            <a:endParaRPr lang="en-US" sz="1700" dirty="0"/>
          </a:p>
          <a:p>
            <a:pPr marL="342900" indent="-342900">
              <a:spcAft>
                <a:spcPts val="1200"/>
              </a:spcAft>
              <a:buSzPct val="100000"/>
              <a:buChar char="•"/>
            </a:pPr>
            <a:r>
              <a:rPr lang="en-US" sz="1700" dirty="0">
                <a:solidFill>
                  <a:srgbClr val="E4EFEA"/>
                </a:solidFill>
              </a:rPr>
              <a:t>Next: a better camera and the user trials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  World Health Organization. Blindness and vision impairment: fact sheet, 2023.</a:t>
            </a:r>
            <a:endParaRPr lang="en-US" sz="1100" dirty="0"/>
          </a:p>
          <a:p>
            <a:pPr indent="0" marL="0">
              <a:spcAft>
                <a:spcPts val="500"/>
              </a:spcAft>
              <a:buNone/>
            </a:pPr>
            <a:r>
              <a:rPr lang="en-US" sz="1100" dirty="0">
                <a:solidFill>
                  <a:schemeClr val="tx1"/>
                </a:solidFill>
              </a:rPr>
              <a:t>[2]  OrCam Technologies. OrCam MyEye.</a:t>
            </a:r>
            <a:endParaRPr lang="en-US" sz="1100" dirty="0"/>
          </a:p>
          <a:p>
            <a:pPr indent="0" marL="0">
              <a:spcAft>
                <a:spcPts val="500"/>
              </a:spcAft>
              <a:buNone/>
            </a:pPr>
            <a:r>
              <a:rPr lang="en-US" sz="1100" dirty="0">
                <a:solidFill>
                  <a:schemeClr val="tx1"/>
                </a:solidFill>
              </a:rPr>
              <a:t>[3]  Ali A., H. et al. A Google Glass based real-time scene analysis for the visually impaired. IEEE Access 9, 2021.</a:t>
            </a:r>
            <a:endParaRPr lang="en-US" sz="1100" dirty="0"/>
          </a:p>
          <a:p>
            <a:pPr indent="0" marL="0">
              <a:spcAft>
                <a:spcPts val="500"/>
              </a:spcAft>
              <a:buNone/>
            </a:pPr>
            <a:r>
              <a:rPr lang="en-US" sz="1100" dirty="0">
                <a:solidFill>
                  <a:schemeClr val="tx1"/>
                </a:solidFill>
              </a:rPr>
              <a:t>[4]  Brilli, D. D. et al. AIris: an AI-powered wearable assistive device for the visually impaired. arXiv:2405.07606, 2024.</a:t>
            </a:r>
            <a:endParaRPr lang="en-US" sz="1100" dirty="0"/>
          </a:p>
          <a:p>
            <a:pPr indent="0" marL="0">
              <a:spcAft>
                <a:spcPts val="500"/>
              </a:spcAft>
              <a:buNone/>
            </a:pPr>
            <a:r>
              <a:rPr lang="en-US" sz="1100" dirty="0">
                <a:solidFill>
                  <a:schemeClr val="tx1"/>
                </a:solidFill>
              </a:rPr>
              <a:t>[5]  Baek, Y. et al. Character region awareness for text detection (CRAFT). CVPR, 2019.</a:t>
            </a:r>
            <a:endParaRPr lang="en-US" sz="1100" dirty="0"/>
          </a:p>
          <a:p>
            <a:pPr indent="0" marL="0">
              <a:spcAft>
                <a:spcPts val="500"/>
              </a:spcAft>
              <a:buNone/>
            </a:pPr>
            <a:r>
              <a:rPr lang="en-US" sz="1100" dirty="0">
                <a:solidFill>
                  <a:schemeClr val="tx1"/>
                </a:solidFill>
              </a:rPr>
              <a:t>[6]  JaidedAI. EasyOCR: ready-to-use OCR with 80+ languages.</a:t>
            </a:r>
            <a:endParaRPr lang="en-US" sz="1100" dirty="0"/>
          </a:p>
          <a:p>
            <a:pPr indent="0" marL="0">
              <a:spcAft>
                <a:spcPts val="500"/>
              </a:spcAft>
              <a:buNone/>
            </a:pPr>
            <a:r>
              <a:rPr lang="en-US" sz="1100" dirty="0">
                <a:solidFill>
                  <a:schemeClr val="tx1"/>
                </a:solidFill>
              </a:rPr>
              <a:t>[7]  Jocher, G., Chaurasia, A., Qiu, J. Ultralytics YOLOv8.</a:t>
            </a:r>
            <a:endParaRPr lang="en-US" sz="1100" dirty="0"/>
          </a:p>
          <a:p>
            <a:pPr indent="0" marL="0">
              <a:spcAft>
                <a:spcPts val="500"/>
              </a:spcAft>
              <a:buNone/>
            </a:pPr>
            <a:r>
              <a:rPr lang="en-US" sz="1100" dirty="0">
                <a:solidFill>
                  <a:schemeClr val="tx1"/>
                </a:solidFill>
              </a:rPr>
              <a:t>[8]  Lin, T.-Y. et al. Microsoft COCO: common objects in context. ECCV, 2014.</a:t>
            </a:r>
            <a:endParaRPr lang="en-US" sz="1100" dirty="0"/>
          </a:p>
          <a:p>
            <a:pPr indent="0" marL="0">
              <a:spcAft>
                <a:spcPts val="500"/>
              </a:spcAft>
              <a:buNone/>
            </a:pPr>
            <a:r>
              <a:rPr lang="en-US" sz="1100" dirty="0">
                <a:solidFill>
                  <a:schemeClr val="tx1"/>
                </a:solidFill>
              </a:rPr>
              <a:t>[9]  Li, S., Deng, W., Du, J. Reliable crowdsourcing and deep locality-preserving learning for expression recognition in the wild (RAF-DB). CVPR, 2017.</a:t>
            </a:r>
            <a:endParaRPr lang="en-US" sz="1100" dirty="0"/>
          </a:p>
        </p:txBody>
      </p:sp>
      <p:sp>
        <p:nvSpPr>
          <p:cNvPr id="4" name="References 2"/>
          <p:cNvSpPr txBox="1"/>
          <p:nvPr/>
        </p:nvSpPr>
        <p:spPr>
          <a:xfrm>
            <a:off x="617220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[10]  Rhasspy. Piper: a fast, local neural text-to-speech system.</a:t>
            </a:r>
            <a:endParaRPr lang="en-US" sz="1100" dirty="0"/>
          </a:p>
          <a:p>
            <a:pPr indent="0" marL="0">
              <a:spcAft>
                <a:spcPts val="500"/>
              </a:spcAft>
              <a:buNone/>
            </a:pPr>
            <a:r>
              <a:rPr lang="en-US" sz="1100" dirty="0">
                <a:solidFill>
                  <a:schemeClr val="tx1"/>
                </a:solidFill>
              </a:rPr>
              <a:t>[11]  eSpeak NG text-to-speech.</a:t>
            </a:r>
            <a:endParaRPr lang="en-US" sz="1100" dirty="0"/>
          </a:p>
          <a:p>
            <a:pPr indent="0" marL="0">
              <a:spcAft>
                <a:spcPts val="500"/>
              </a:spcAft>
              <a:buNone/>
            </a:pPr>
            <a:r>
              <a:rPr lang="en-US" sz="1100" dirty="0">
                <a:solidFill>
                  <a:schemeClr val="tx1"/>
                </a:solidFill>
              </a:rPr>
              <a:t>[12]  A diverse image dataset for Bangladeshi currency recognition (BanglaTaka). Mendeley Data.</a:t>
            </a:r>
            <a:endParaRPr lang="en-US" sz="1100" dirty="0"/>
          </a:p>
          <a:p>
            <a:pPr indent="0" marL="0">
              <a:spcAft>
                <a:spcPts val="500"/>
              </a:spcAft>
              <a:buNone/>
            </a:pPr>
            <a:r>
              <a:rPr lang="en-US" sz="1100" dirty="0">
                <a:solidFill>
                  <a:schemeClr val="tx1"/>
                </a:solidFill>
              </a:rPr>
              <a:t>[13]  Rafi, M. J. A., Rony, M., Majadi, N. NSTU-BDTAKA: an open dataset for Bangladeshi paper currency detection and recognition. Data in Brief 55, 2024.</a:t>
            </a:r>
            <a:endParaRPr lang="en-US" sz="1100" dirty="0"/>
          </a:p>
          <a:p>
            <a:pPr indent="0" marL="0">
              <a:spcAft>
                <a:spcPts val="500"/>
              </a:spcAft>
              <a:buNone/>
            </a:pPr>
            <a:r>
              <a:rPr lang="en-US" sz="1100" dirty="0">
                <a:solidFill>
                  <a:schemeClr val="tx1"/>
                </a:solidFill>
              </a:rPr>
              <a:t>[14]  Piyas, B. R. C. et al. JaalTaka: a benchmark dataset for detecting counterfeit Bangladeshi banknotes. Mendeley Data V2, 2025.</a:t>
            </a:r>
            <a:endParaRPr lang="en-US" sz="1100" dirty="0"/>
          </a:p>
          <a:p>
            <a:pPr indent="0" marL="0">
              <a:spcAft>
                <a:spcPts val="500"/>
              </a:spcAft>
              <a:buNone/>
            </a:pPr>
            <a:r>
              <a:rPr lang="en-US" sz="1100" dirty="0">
                <a:solidFill>
                  <a:schemeClr val="tx1"/>
                </a:solidFill>
              </a:rPr>
              <a:t>[15]  Sandler, M. et al. MobileNetV2: inverted residuals and linear bottlenecks. CVPR, 2018.</a:t>
            </a:r>
            <a:endParaRPr lang="en-US" sz="1100" dirty="0"/>
          </a:p>
          <a:p>
            <a:pPr indent="0" marL="0">
              <a:spcAft>
                <a:spcPts val="500"/>
              </a:spcAft>
              <a:buNone/>
            </a:pPr>
            <a:r>
              <a:rPr lang="en-US" sz="1100" dirty="0">
                <a:solidFill>
                  <a:schemeClr val="tx1"/>
                </a:solidFill>
              </a:rPr>
              <a:t>[16]  Nayef, N. et al. ICDAR2019 robust reading challenge on multi-lingual scene text (RRC-MLT-2019). ICDAR, 2019.</a:t>
            </a:r>
            <a:endParaRPr lang="en-US" sz="1100" dirty="0"/>
          </a:p>
          <a:p>
            <a:pPr indent="0" marL="0">
              <a:spcAft>
                <a:spcPts val="500"/>
              </a:spcAft>
              <a:buNone/>
            </a:pPr>
            <a:r>
              <a:rPr lang="en-US" sz="1100" dirty="0">
                <a:solidFill>
                  <a:schemeClr val="tx1"/>
                </a:solidFill>
              </a:rPr>
              <a:t>[17]  Alpha Cephei. Vosk offline speech recognition toolkit.</a:t>
            </a:r>
            <a:endParaRPr lang="en-US" sz="1100" dirty="0"/>
          </a:p>
          <a:p>
            <a:pPr indent="0" marL="0">
              <a:spcAft>
                <a:spcPts val="500"/>
              </a:spcAft>
              <a:buNone/>
            </a:pPr>
            <a:r>
              <a:rPr lang="en-US" sz="1100" dirty="0">
                <a:solidFill>
                  <a:schemeClr val="tx1"/>
                </a:solidFill>
              </a:rPr>
              <a:t>[18]  Piczak, K. J. ESC: dataset for environmental sound classification. ACM Multimedia, 2015.</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300" dirty="0"/>
          </a:p>
          <a:p>
            <a:pPr indent="0" marL="0">
              <a:spcAft>
                <a:spcPts val="700"/>
              </a:spcAft>
              <a:buNone/>
            </a:pPr>
            <a:r>
              <a:rPr lang="en-US" sz="1000" dirty="0">
                <a:solidFill>
                  <a:srgbClr val="5E6B66"/>
                </a:solidFill>
              </a:rPr>
              <a:t>github.com/aflam330/SARA</a:t>
            </a:r>
            <a:endParaRPr lang="en-US" sz="1300" dirty="0"/>
          </a:p>
          <a:p>
            <a:pPr indent="0" marL="0">
              <a:buNone/>
            </a:pPr>
            <a:r>
              <a:rPr lang="en-US" sz="13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300" dirty="0"/>
          </a:p>
          <a:p>
            <a:pPr indent="0" marL="0">
              <a:spcAft>
                <a:spcPts val="700"/>
              </a:spcAft>
              <a:buNone/>
            </a:pPr>
            <a:r>
              <a:rPr lang="en-US" sz="1000" dirty="0">
                <a:solidFill>
                  <a:srgbClr val="5E6B66"/>
                </a:solidFill>
              </a:rPr>
              <a:t>github.com/aflam330/Senior_project_wearable_glass_for_blind_people_using_ocr_and_ylo</a:t>
            </a:r>
            <a:endParaRPr lang="en-US" sz="13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300" dirty="0"/>
          </a:p>
          <a:p>
            <a:pPr indent="0" marL="0">
              <a:spcAft>
                <a:spcPts val="700"/>
              </a:spcAft>
              <a:buNone/>
            </a:pPr>
            <a:r>
              <a:rPr lang="en-US" sz="1000" dirty="0">
                <a:solidFill>
                  <a:srgbClr val="5E6B66"/>
                </a:solidFill>
              </a:rPr>
              <a:t>data.mendeley.com/datasets/2m7wk5cy4c/2</a:t>
            </a:r>
            <a:endParaRPr lang="en-US" sz="1300" dirty="0"/>
          </a:p>
          <a:p>
            <a:pPr indent="0" marL="0">
              <a:buNone/>
            </a:pPr>
            <a:r>
              <a:rPr lang="en-US" sz="13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300" dirty="0"/>
          </a:p>
          <a:p>
            <a:pPr indent="0" marL="0">
              <a:spcAft>
                <a:spcPts val="700"/>
              </a:spcAft>
              <a:buNone/>
            </a:pPr>
            <a:r>
              <a:rPr lang="en-US" sz="1000" dirty="0">
                <a:solidFill>
                  <a:srgbClr val="5E6B66"/>
                </a:solidFill>
              </a:rPr>
              <a:t>data.mendeley.com/datasets/3cv2sypkkh/1</a:t>
            </a:r>
            <a:endParaRPr lang="en-US" sz="1300" dirty="0"/>
          </a:p>
          <a:p>
            <a:pPr indent="0" marL="0">
              <a:buNone/>
            </a:pPr>
            <a:r>
              <a:rPr lang="en-US" sz="13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300" dirty="0"/>
          </a:p>
          <a:p>
            <a:pPr indent="0" marL="0">
              <a:spcAft>
                <a:spcPts val="700"/>
              </a:spcAft>
              <a:buNone/>
            </a:pPr>
            <a:r>
              <a:rPr lang="en-US" sz="1000" dirty="0">
                <a:solidFill>
                  <a:srgbClr val="5E6B66"/>
                </a:solidFill>
              </a:rPr>
              <a:t>www.sciencedirect.com/science/article/pii/S2352340924006681</a:t>
            </a:r>
            <a:endParaRPr lang="en-US" sz="1300" dirty="0"/>
          </a:p>
          <a:p>
            <a:pPr indent="0" marL="0">
              <a:buNone/>
            </a:pPr>
            <a:r>
              <a:rPr lang="en-US" sz="13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300" dirty="0"/>
          </a:p>
          <a:p>
            <a:pPr indent="0" marL="0">
              <a:spcAft>
                <a:spcPts val="700"/>
              </a:spcAft>
              <a:buNone/>
            </a:pPr>
            <a:r>
              <a:rPr lang="en-US" sz="1000" dirty="0">
                <a:solidFill>
                  <a:srgbClr val="5E6B66"/>
                </a:solidFill>
              </a:rPr>
              <a:t>cocodataset.org</a:t>
            </a:r>
            <a:endParaRPr lang="en-US" sz="1300" dirty="0"/>
          </a:p>
          <a:p>
            <a:pPr indent="0" marL="0">
              <a:buNone/>
            </a:pPr>
            <a:r>
              <a:rPr lang="en-US" sz="13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300" dirty="0"/>
          </a:p>
          <a:p>
            <a:pPr indent="0" marL="0">
              <a:spcAft>
                <a:spcPts val="700"/>
              </a:spcAft>
              <a:buNone/>
            </a:pPr>
            <a:r>
              <a:rPr lang="en-US" sz="1000" dirty="0">
                <a:solidFill>
                  <a:srgbClr val="5E6B66"/>
                </a:solidFill>
              </a:rPr>
              <a:t>rrc.cvc.uab.es/?ch=15</a:t>
            </a:r>
            <a:endParaRPr lang="en-US" sz="1300" dirty="0"/>
          </a:p>
          <a:p>
            <a:pPr indent="0" marL="0">
              <a:buNone/>
            </a:pPr>
            <a:r>
              <a:rPr lang="en-US" sz="13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300" dirty="0"/>
          </a:p>
          <a:p>
            <a:pPr indent="0" marL="0">
              <a:spcAft>
                <a:spcPts val="700"/>
              </a:spcAft>
              <a:buNone/>
            </a:pPr>
            <a:r>
              <a:rPr lang="en-US" sz="1000" dirty="0">
                <a:solidFill>
                  <a:srgbClr val="5E6B66"/>
                </a:solidFill>
              </a:rPr>
              <a:t>github.com/karolpiczak/ESC-50</a:t>
            </a:r>
            <a:endParaRPr lang="en-US" sz="13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300" dirty="0"/>
          </a:p>
          <a:p>
            <a:pPr indent="0" marL="0">
              <a:spcAft>
                <a:spcPts val="700"/>
              </a:spcAft>
              <a:buNone/>
            </a:pPr>
            <a:r>
              <a:rPr lang="en-US" sz="1000" dirty="0">
                <a:solidFill>
                  <a:srgbClr val="5E6B66"/>
                </a:solidFill>
              </a:rPr>
              <a:t>github.com/ultralytics/ultralytics</a:t>
            </a:r>
            <a:endParaRPr lang="en-US" sz="1300" dirty="0"/>
          </a:p>
          <a:p>
            <a:pPr indent="0" marL="0">
              <a:buNone/>
            </a:pPr>
            <a:r>
              <a:rPr lang="en-US" sz="13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300" dirty="0"/>
          </a:p>
          <a:p>
            <a:pPr indent="0" marL="0">
              <a:spcAft>
                <a:spcPts val="700"/>
              </a:spcAft>
              <a:buNone/>
            </a:pPr>
            <a:r>
              <a:rPr lang="en-US" sz="1000" dirty="0">
                <a:solidFill>
                  <a:srgbClr val="5E6B66"/>
                </a:solidFill>
              </a:rPr>
              <a:t>github.com/JaidedAI/EasyOCR</a:t>
            </a:r>
            <a:endParaRPr lang="en-US" sz="1300" dirty="0"/>
          </a:p>
          <a:p>
            <a:pPr indent="0" marL="0">
              <a:buNone/>
            </a:pPr>
            <a:r>
              <a:rPr lang="en-US" sz="13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300" dirty="0"/>
          </a:p>
          <a:p>
            <a:pPr indent="0" marL="0">
              <a:spcAft>
                <a:spcPts val="700"/>
              </a:spcAft>
              <a:buNone/>
            </a:pPr>
            <a:r>
              <a:rPr lang="en-US" sz="1000" dirty="0">
                <a:solidFill>
                  <a:srgbClr val="5E6B66"/>
                </a:solidFill>
              </a:rPr>
              <a:t>github.com/rhasspy/piper</a:t>
            </a:r>
            <a:endParaRPr lang="en-US" sz="1300" dirty="0"/>
          </a:p>
          <a:p>
            <a:pPr indent="0" marL="0">
              <a:buNone/>
            </a:pPr>
            <a:r>
              <a:rPr lang="en-US" sz="13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300" dirty="0"/>
          </a:p>
          <a:p>
            <a:pPr indent="0" marL="0">
              <a:spcAft>
                <a:spcPts val="700"/>
              </a:spcAft>
              <a:buNone/>
            </a:pPr>
            <a:r>
              <a:rPr lang="en-US" sz="1000" dirty="0">
                <a:solidFill>
                  <a:srgbClr val="5E6B66"/>
                </a:solidFill>
              </a:rPr>
              <a:t>alphacephei.com/vosk/</a:t>
            </a:r>
            <a:endParaRPr lang="en-US" sz="1300" dirty="0"/>
          </a:p>
          <a:p>
            <a:pPr indent="0" marL="0">
              <a:buNone/>
            </a:pPr>
            <a:r>
              <a:rPr lang="en-US" sz="13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300" dirty="0"/>
          </a:p>
          <a:p>
            <a:pPr indent="0" marL="0">
              <a:spcAft>
                <a:spcPts val="700"/>
              </a:spcAft>
              <a:buNone/>
            </a:pPr>
            <a:r>
              <a:rPr lang="en-US" sz="1000" dirty="0">
                <a:solidFill>
                  <a:srgbClr val="5E6B66"/>
                </a:solidFill>
              </a:rPr>
              <a:t>github.com/espeak-ng/espeak-ng</a:t>
            </a:r>
            <a:endParaRPr lang="en-US" sz="1300" dirty="0"/>
          </a:p>
          <a:p>
            <a:pPr indent="0" marL="0">
              <a:buNone/>
            </a:pPr>
            <a:r>
              <a:rPr lang="en-US" sz="13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300" dirty="0"/>
          </a:p>
          <a:p>
            <a:pPr indent="0" marL="0">
              <a:spcAft>
                <a:spcPts val="700"/>
              </a:spcAft>
              <a:buNone/>
            </a:pPr>
            <a:r>
              <a:rPr lang="en-US" sz="1000" dirty="0">
                <a:solidFill>
                  <a:srgbClr val="5E6B66"/>
                </a:solidFill>
              </a:rPr>
              <a:t>www.who.int/news-room/fact-sheets/detail/blindness-and-visual-impairment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 Smart Assistive Reading Aid</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2026-10-25T12:16:51Z</dcterms:created>
  <dcterms:modified xsi:type="dcterms:W3CDTF">2026-10-25T12:16:51Z</dcterms:modified>
</cp:coreProperties>
</file>
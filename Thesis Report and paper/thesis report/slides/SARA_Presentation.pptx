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e22b8c-a6e6-6332-5494-014026979ae8}">
          <p14:sldIdLst>
            <p14:sldId id="256"/>
          </p14:sldIdLst>
        </p14:section>
        <p14:section name="Problem" id="{96c43629-80fb-a1d8-a607-10e2a411ac91}">
          <p14:sldIdLst>
            <p14:sldId id="257"/>
            <p14:sldId id="258"/>
            <p14:sldId id="259"/>
          </p14:sldIdLst>
        </p14:section>
        <p14:section name="Solution" id="{692fe49d-4f11-79f2-44f5-47ac18152309}">
          <p14:sldIdLst>
            <p14:sldId id="260"/>
            <p14:sldId id="261"/>
            <p14:sldId id="262"/>
            <p14:sldId id="263"/>
            <p14:sldId id="264"/>
            <p14:sldId id="265"/>
          </p14:sldIdLst>
        </p14:section>
        <p14:section name="Currency" id="{cdb2d7d4-e357-6c9c-52e4-213c972ab820}">
          <p14:sldIdLst>
            <p14:sldId id="266"/>
            <p14:sldId id="267"/>
            <p14:sldId id="268"/>
            <p14:sldId id="269"/>
            <p14:sldId id="270"/>
            <p14:sldId id="271"/>
            <p14:sldId id="272"/>
            <p14:sldId id="273"/>
          </p14:sldIdLst>
        </p14:section>
        <p14:section name="Reading and voice" id="{d1b0f8ee-8480-6758-813e-3b9c2919ef35}">
          <p14:sldIdLst>
            <p14:sldId id="274"/>
            <p14:sldId id="275"/>
          </p14:sldIdLst>
        </p14:section>
        <p14:section name="Device" id="{d686ec65-950d-b43c-5257-be3ea4a0bc73}">
          <p14:sldIdLst>
            <p14:sldId id="276"/>
            <p14:sldId id="277"/>
            <p14:sldId id="278"/>
          </p14:sldIdLst>
        </p14:section>
        <p14:section name="Closing" id="{4cadae0e-afcb-0e9a-81a9-1be0f1c9db9e}">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second prototype is wired. The Raspberry Pi 5 sits in the rear enclosure and runs every model. The camera is a USB webcam plugged into a USB port of the Pi. The five push-buttons each connect one GPIO pin to ground, BCM 17 for MODE, 27 for ACTION, 24 for READ, 22 for volume up and 23 for volume down, with internal pull-up resistors. The vibration motor is driven by PWM from BCM 13. Speech goes to the audio output and the bone-conduction headphone, and a USB microphone can be plugged in for voice commands. A power bank supplies 5 volts through the USB-C port. The UV lamp on the frame is switched by hand and is not wired to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software on a laptop webcam: the detector draws a box with the note value and its confidence. Fifty, two hundred, five hundred and one thousand Taka were named at 0.63 to 0.89 confidence, with two or three notes at once. The bottom row is the second prototype in live tests: a team member holds a note up in front of the glass camera; these scenes are staged and the photos do not show the detector output.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Since 29 October currency mode runs it whenever the picture is taken under the lamp, which it recognises from the colour: all 47 UV test photos were recognised and none of 2,282 ordinary photos were mistaken for one. It then says likely genuine or check by hand, never counterfeit, because no counterfeit note has been photographed under UV and it has not been tested through the glass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 For shaky hands, the glass now watches the camera for one second after a press and reads the sharpest frame; on validation text with simulated shake the error fell from 28.0 to 3.8 percent, and from 50.4 to 3.5 percent when the press itself shook the camera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on 29 October. The currency check takes 0.42 seconds, the watermark check 51 milliseconds, an object scan 0.46 seconds and emotion with a face 0.54 seconds. Text reading is now about three times faster than on 1 October: a three-line sign in 5.4 seconds, and on a twelve-line page the first line is spoken after 4.4 seconds. With a thermometer on the board while the glass was running, we measured 57.8 to 62.3 degrees Celsius on its surface. The processor's own sensor reads higher: in thirty minutes of non-stop load it peaked at 87 degrees and the soft temperature limit was active about half the time, so heat under continuous load is still a limit. Since that run the Pi uses the same full-precision note detector as the laptop. Timed afterwards it takes 532 milliseconds a check instead of 422, and in a session with the glass a note was named in 5 of 8 presses, against 2 of 10 in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pic>
        <p:nvPicPr>
          <p:cNvPr id="3" name="Raspberry Pi 5" descr="E:/Final SP/Thesis Report and paper/thesis report/My report/DIagram fig tab/hw_pi5.jpg">    </p:cNvPr>
          <p:cNvPicPr>
            <a:picLocks noChangeAspect="1"/>
          </p:cNvPicPr>
          <p:nvPr/>
        </p:nvPicPr>
        <p:blipFill>
          <a:blip r:embed="rId1"/>
          <a:stretch>
            <a:fillRect/>
          </a:stretch>
        </p:blipFill>
        <p:spPr>
          <a:xfrm>
            <a:off x="4434840" y="2514600"/>
            <a:ext cx="3291840" cy="2468880"/>
          </a:xfrm>
          <a:prstGeom prst="rect">
            <a:avLst/>
          </a:prstGeom>
        </p:spPr>
      </p:pic>
      <p:sp>
        <p:nvSpPr>
          <p:cNvPr id="4" name="Pi label"/>
          <p:cNvSpPr txBox="1"/>
          <p:nvPr/>
        </p:nvSpPr>
        <p:spPr>
          <a:xfrm>
            <a:off x="3977640" y="5010912"/>
            <a:ext cx="4206240" cy="274320"/>
          </a:xfrm>
          <a:prstGeom prst="rect">
            <a:avLst/>
          </a:prstGeom>
          <a:noFill/>
          <a:ln/>
        </p:spPr>
        <p:txBody>
          <a:bodyPr wrap="square" lIns="0" tIns="0" rIns="0" bIns="0" rtlCol="0" anchor="ctr"/>
          <a:lstStyle/>
          <a:p>
            <a:pPr algn="ctr" indent="0" marL="0">
              <a:buNone/>
            </a:pPr>
            <a:r>
              <a:rPr lang="en-US" sz="1300" b="1" dirty="0">
                <a:solidFill>
                  <a:srgbClr val="17324D"/>
                </a:solidFill>
              </a:rPr>
              <a:t>Raspberry Pi 5, 8 GB [12], in the rear enclosure</a:t>
            </a:r>
            <a:endParaRPr lang="en-US" sz="1300" dirty="0"/>
          </a:p>
        </p:txBody>
      </p:sp>
      <p:sp>
        <p:nvSpPr>
          <p:cNvPr id="5" name="Camera card"/>
          <p:cNvSpPr/>
          <p:nvPr/>
        </p:nvSpPr>
        <p:spPr>
          <a:xfrm>
            <a:off x="548640" y="1234440"/>
            <a:ext cx="1828800" cy="1417320"/>
          </a:xfrm>
          <a:prstGeom prst="roundRect">
            <a:avLst>
              <a:gd name="adj" fmla="val 3871"/>
            </a:avLst>
          </a:prstGeom>
          <a:solidFill>
            <a:srgbClr val="FFFFFF"/>
          </a:solidFill>
          <a:ln w="12700">
            <a:solidFill>
              <a:srgbClr val="BFD4E6"/>
            </a:solidFill>
            <a:prstDash val="solid"/>
          </a:ln>
        </p:spPr>
      </p:sp>
      <p:pic>
        <p:nvPicPr>
          <p:cNvPr id="6" name="Camera photo" descr="E:/Final SP/Thesis Report and paper/thesis report/My report/DIagram fig tab/hw_webcam.jpg">    </p:cNvPr>
          <p:cNvPicPr>
            <a:picLocks noChangeAspect="1"/>
          </p:cNvPicPr>
          <p:nvPr/>
        </p:nvPicPr>
        <p:blipFill>
          <a:blip r:embed="rId2"/>
          <a:srcRect l="0" r="0" t="0" b="0"/>
          <a:stretch/>
        </p:blipFill>
        <p:spPr>
          <a:xfrm>
            <a:off x="621792" y="1307592"/>
            <a:ext cx="1682496" cy="914400"/>
          </a:xfrm>
          <a:prstGeom prst="rect">
            <a:avLst/>
          </a:prstGeom>
        </p:spPr>
      </p:pic>
      <p:sp>
        <p:nvSpPr>
          <p:cNvPr id="7" name="Camera label"/>
          <p:cNvSpPr txBox="1"/>
          <p:nvPr/>
        </p:nvSpPr>
        <p:spPr>
          <a:xfrm>
            <a:off x="594360" y="224028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USB webcam (our board)</a:t>
            </a:r>
            <a:endParaRPr lang="en-US" sz="1100" dirty="0"/>
          </a:p>
        </p:txBody>
      </p:sp>
      <p:sp>
        <p:nvSpPr>
          <p:cNvPr id="8" name="Webcam USB cable 1"/>
          <p:cNvSpPr/>
          <p:nvPr/>
        </p:nvSpPr>
        <p:spPr>
          <a:xfrm>
            <a:off x="2377440" y="1920240"/>
            <a:ext cx="1188720" cy="9144"/>
          </a:xfrm>
          <a:prstGeom prst="line">
            <a:avLst/>
          </a:prstGeom>
          <a:noFill/>
          <a:ln w="50800">
            <a:solidFill>
              <a:srgbClr val="5B6777"/>
            </a:solidFill>
            <a:prstDash val="solid"/>
          </a:ln>
        </p:spPr>
      </p:sp>
      <p:sp>
        <p:nvSpPr>
          <p:cNvPr id="9" name="Webcam USB cable 2"/>
          <p:cNvSpPr/>
          <p:nvPr/>
        </p:nvSpPr>
        <p:spPr>
          <a:xfrm>
            <a:off x="3566160" y="1920240"/>
            <a:ext cx="9144" cy="1371600"/>
          </a:xfrm>
          <a:prstGeom prst="line">
            <a:avLst/>
          </a:prstGeom>
          <a:noFill/>
          <a:ln w="50800">
            <a:solidFill>
              <a:srgbClr val="5B6777"/>
            </a:solidFill>
            <a:prstDash val="solid"/>
          </a:ln>
        </p:spPr>
      </p:sp>
      <p:sp>
        <p:nvSpPr>
          <p:cNvPr id="10" name="Webcam USB cable 3"/>
          <p:cNvSpPr/>
          <p:nvPr/>
        </p:nvSpPr>
        <p:spPr>
          <a:xfrm>
            <a:off x="3566160" y="3291840"/>
            <a:ext cx="868680" cy="9144"/>
          </a:xfrm>
          <a:prstGeom prst="line">
            <a:avLst/>
          </a:prstGeom>
          <a:noFill/>
          <a:ln w="50800">
            <a:solidFill>
              <a:srgbClr val="5B6777"/>
            </a:solidFill>
            <a:prstDash val="solid"/>
          </a:ln>
        </p:spPr>
      </p:sp>
      <p:sp>
        <p:nvSpPr>
          <p:cNvPr id="11" name="Wire label: USB cable"/>
          <p:cNvSpPr txBox="1"/>
          <p:nvPr/>
        </p:nvSpPr>
        <p:spPr>
          <a:xfrm>
            <a:off x="2468880" y="1691640"/>
            <a:ext cx="1097280" cy="201168"/>
          </a:xfrm>
          <a:prstGeom prst="rect">
            <a:avLst/>
          </a:prstGeom>
          <a:noFill/>
          <a:ln/>
        </p:spPr>
        <p:txBody>
          <a:bodyPr wrap="square" lIns="0" tIns="0" rIns="0" bIns="0" rtlCol="0" anchor="ctr"/>
          <a:lstStyle/>
          <a:p>
            <a:pPr algn="l" indent="0" marL="0">
              <a:buNone/>
            </a:pPr>
            <a:r>
              <a:rPr lang="en-US" sz="1000" dirty="0">
                <a:solidFill>
                  <a:srgbClr val="1B2430"/>
                </a:solidFill>
              </a:rPr>
              <a:t>USB cable</a:t>
            </a:r>
            <a:endParaRPr lang="en-US" sz="1000" dirty="0"/>
          </a:p>
        </p:txBody>
      </p:sp>
      <p:sp>
        <p:nvSpPr>
          <p:cNvPr id="12" name="Headphone card"/>
          <p:cNvSpPr/>
          <p:nvPr/>
        </p:nvSpPr>
        <p:spPr>
          <a:xfrm>
            <a:off x="548640" y="2834640"/>
            <a:ext cx="1828800" cy="1325880"/>
          </a:xfrm>
          <a:prstGeom prst="roundRect">
            <a:avLst>
              <a:gd name="adj" fmla="val 4138"/>
            </a:avLst>
          </a:prstGeom>
          <a:solidFill>
            <a:srgbClr val="FFFFFF"/>
          </a:solidFill>
          <a:ln w="12700">
            <a:solidFill>
              <a:srgbClr val="BFD4E6"/>
            </a:solidFill>
            <a:prstDash val="solid"/>
          </a:ln>
        </p:spPr>
      </p:sp>
      <p:pic>
        <p:nvPicPr>
          <p:cNvPr id="13" name="Headphone photo" descr="E:/Final SP/Thesis Report and paper/thesis report/My report/DIagram fig tab/v2_headphone.jpg">    </p:cNvPr>
          <p:cNvPicPr>
            <a:picLocks noChangeAspect="1"/>
          </p:cNvPicPr>
          <p:nvPr/>
        </p:nvPicPr>
        <p:blipFill>
          <a:blip r:embed="rId3"/>
          <a:srcRect l="0" r="0" t="0" b="0"/>
          <a:stretch/>
        </p:blipFill>
        <p:spPr>
          <a:xfrm>
            <a:off x="621792" y="2907792"/>
            <a:ext cx="1682496" cy="822960"/>
          </a:xfrm>
          <a:prstGeom prst="rect">
            <a:avLst/>
          </a:prstGeom>
        </p:spPr>
      </p:pic>
      <p:sp>
        <p:nvSpPr>
          <p:cNvPr id="14" name="Headphone label"/>
          <p:cNvSpPr txBox="1"/>
          <p:nvPr/>
        </p:nvSpPr>
        <p:spPr>
          <a:xfrm>
            <a:off x="594360" y="374904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Bone-conduction headphone</a:t>
            </a:r>
            <a:endParaRPr lang="en-US" sz="1100" dirty="0"/>
          </a:p>
        </p:txBody>
      </p:sp>
      <p:sp>
        <p:nvSpPr>
          <p:cNvPr id="15" name="Audio 1"/>
          <p:cNvSpPr/>
          <p:nvPr/>
        </p:nvSpPr>
        <p:spPr>
          <a:xfrm>
            <a:off x="2377440" y="3520440"/>
            <a:ext cx="868680" cy="9144"/>
          </a:xfrm>
          <a:prstGeom prst="line">
            <a:avLst/>
          </a:prstGeom>
          <a:noFill/>
          <a:ln w="28575">
            <a:solidFill>
              <a:srgbClr val="7B4FA0"/>
            </a:solidFill>
            <a:prstDash val="dash"/>
          </a:ln>
        </p:spPr>
      </p:sp>
      <p:sp>
        <p:nvSpPr>
          <p:cNvPr id="16" name="Audio 2"/>
          <p:cNvSpPr/>
          <p:nvPr/>
        </p:nvSpPr>
        <p:spPr>
          <a:xfrm>
            <a:off x="3246120" y="3520440"/>
            <a:ext cx="9144" cy="411480"/>
          </a:xfrm>
          <a:prstGeom prst="line">
            <a:avLst/>
          </a:prstGeom>
          <a:noFill/>
          <a:ln w="28575">
            <a:solidFill>
              <a:srgbClr val="7B4FA0"/>
            </a:solidFill>
            <a:prstDash val="dash"/>
          </a:ln>
        </p:spPr>
      </p:sp>
      <p:sp>
        <p:nvSpPr>
          <p:cNvPr id="17" name="Audio 3"/>
          <p:cNvSpPr/>
          <p:nvPr/>
        </p:nvSpPr>
        <p:spPr>
          <a:xfrm>
            <a:off x="3246120" y="3931920"/>
            <a:ext cx="1188720" cy="9144"/>
          </a:xfrm>
          <a:prstGeom prst="line">
            <a:avLst/>
          </a:prstGeom>
          <a:noFill/>
          <a:ln w="28575">
            <a:solidFill>
              <a:srgbClr val="7B4FA0"/>
            </a:solidFill>
            <a:prstDash val="dash"/>
          </a:ln>
        </p:spPr>
      </p:sp>
      <p:sp>
        <p:nvSpPr>
          <p:cNvPr id="18" name="Wire label: audio out"/>
          <p:cNvSpPr txBox="1"/>
          <p:nvPr/>
        </p:nvSpPr>
        <p:spPr>
          <a:xfrm>
            <a:off x="2468880" y="3291840"/>
            <a:ext cx="914400" cy="201168"/>
          </a:xfrm>
          <a:prstGeom prst="rect">
            <a:avLst/>
          </a:prstGeom>
          <a:noFill/>
          <a:ln/>
        </p:spPr>
        <p:txBody>
          <a:bodyPr wrap="square" lIns="0" tIns="0" rIns="0" bIns="0" rtlCol="0" anchor="ctr"/>
          <a:lstStyle/>
          <a:p>
            <a:pPr algn="l" indent="0" marL="0">
              <a:buNone/>
            </a:pPr>
            <a:r>
              <a:rPr lang="en-US" sz="1000" dirty="0">
                <a:solidFill>
                  <a:srgbClr val="1B2430"/>
                </a:solidFill>
              </a:rPr>
              <a:t>audio out</a:t>
            </a:r>
            <a:endParaRPr lang="en-US" sz="1000" dirty="0"/>
          </a:p>
        </p:txBody>
      </p:sp>
      <p:sp>
        <p:nvSpPr>
          <p:cNvPr id="19" name="Power bank card"/>
          <p:cNvSpPr/>
          <p:nvPr/>
        </p:nvSpPr>
        <p:spPr>
          <a:xfrm>
            <a:off x="548640" y="4343400"/>
            <a:ext cx="1828800" cy="1325880"/>
          </a:xfrm>
          <a:prstGeom prst="roundRect">
            <a:avLst>
              <a:gd name="adj" fmla="val 4138"/>
            </a:avLst>
          </a:prstGeom>
          <a:solidFill>
            <a:srgbClr val="FFFFFF"/>
          </a:solidFill>
          <a:ln w="12700">
            <a:solidFill>
              <a:srgbClr val="BFD4E6"/>
            </a:solidFill>
            <a:prstDash val="solid"/>
          </a:ln>
        </p:spPr>
      </p:sp>
      <p:pic>
        <p:nvPicPr>
          <p:cNvPr id="20" name="Power bank photo" descr="E:/Final SP/Thesis Report and paper/thesis report/My report/DIagram fig tab/hw_powerbank.jpg">    </p:cNvPr>
          <p:cNvPicPr>
            <a:picLocks noChangeAspect="1"/>
          </p:cNvPicPr>
          <p:nvPr/>
        </p:nvPicPr>
        <p:blipFill>
          <a:blip r:embed="rId4"/>
          <a:srcRect l="0" r="0" t="0" b="0"/>
          <a:stretch/>
        </p:blipFill>
        <p:spPr>
          <a:xfrm>
            <a:off x="621792" y="4416552"/>
            <a:ext cx="1682496" cy="822960"/>
          </a:xfrm>
          <a:prstGeom prst="rect">
            <a:avLst/>
          </a:prstGeom>
        </p:spPr>
      </p:pic>
      <p:sp>
        <p:nvSpPr>
          <p:cNvPr id="21" name="Power bank label"/>
          <p:cNvSpPr txBox="1"/>
          <p:nvPr/>
        </p:nvSpPr>
        <p:spPr>
          <a:xfrm>
            <a:off x="594360" y="52578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Power bank</a:t>
            </a:r>
            <a:endParaRPr lang="en-US" sz="1100" dirty="0"/>
          </a:p>
        </p:txBody>
      </p:sp>
      <p:sp>
        <p:nvSpPr>
          <p:cNvPr id="22" name="Power 1"/>
          <p:cNvSpPr/>
          <p:nvPr/>
        </p:nvSpPr>
        <p:spPr>
          <a:xfrm>
            <a:off x="2377440" y="4846320"/>
            <a:ext cx="1554480" cy="9144"/>
          </a:xfrm>
          <a:prstGeom prst="line">
            <a:avLst/>
          </a:prstGeom>
          <a:noFill/>
          <a:ln w="44450">
            <a:solidFill>
              <a:srgbClr val="D7263D"/>
            </a:solidFill>
            <a:prstDash val="solid"/>
          </a:ln>
        </p:spPr>
      </p:sp>
      <p:sp>
        <p:nvSpPr>
          <p:cNvPr id="23" name="Power 2"/>
          <p:cNvSpPr/>
          <p:nvPr/>
        </p:nvSpPr>
        <p:spPr>
          <a:xfrm>
            <a:off x="3931920" y="4572000"/>
            <a:ext cx="9144" cy="274320"/>
          </a:xfrm>
          <a:prstGeom prst="line">
            <a:avLst/>
          </a:prstGeom>
          <a:noFill/>
          <a:ln w="44450">
            <a:solidFill>
              <a:srgbClr val="D7263D"/>
            </a:solidFill>
            <a:prstDash val="solid"/>
          </a:ln>
        </p:spPr>
      </p:sp>
      <p:sp>
        <p:nvSpPr>
          <p:cNvPr id="24" name="Power 3"/>
          <p:cNvSpPr/>
          <p:nvPr/>
        </p:nvSpPr>
        <p:spPr>
          <a:xfrm>
            <a:off x="3931920" y="4572000"/>
            <a:ext cx="502920" cy="9144"/>
          </a:xfrm>
          <a:prstGeom prst="line">
            <a:avLst/>
          </a:prstGeom>
          <a:noFill/>
          <a:ln w="44450">
            <a:solidFill>
              <a:srgbClr val="D7263D"/>
            </a:solidFill>
            <a:prstDash val="solid"/>
          </a:ln>
        </p:spPr>
      </p:sp>
      <p:sp>
        <p:nvSpPr>
          <p:cNvPr id="25" name="Wire label: USB-C, 5 V"/>
          <p:cNvSpPr txBox="1"/>
          <p:nvPr/>
        </p:nvSpPr>
        <p:spPr>
          <a:xfrm>
            <a:off x="2468880" y="4617720"/>
            <a:ext cx="1280160" cy="201168"/>
          </a:xfrm>
          <a:prstGeom prst="rect">
            <a:avLst/>
          </a:prstGeom>
          <a:noFill/>
          <a:ln/>
        </p:spPr>
        <p:txBody>
          <a:bodyPr wrap="square" lIns="0" tIns="0" rIns="0" bIns="0" rtlCol="0" anchor="ctr"/>
          <a:lstStyle/>
          <a:p>
            <a:pPr algn="l" indent="0" marL="0">
              <a:buNone/>
            </a:pPr>
            <a:r>
              <a:rPr lang="en-US" sz="1000" dirty="0">
                <a:solidFill>
                  <a:srgbClr val="1B2430"/>
                </a:solidFill>
              </a:rPr>
              <a:t>USB-C, 5 V</a:t>
            </a:r>
            <a:endParaRPr lang="en-US" sz="1000" dirty="0"/>
          </a:p>
        </p:txBody>
      </p:sp>
      <p:sp>
        <p:nvSpPr>
          <p:cNvPr id="26" name="Buttons card"/>
          <p:cNvSpPr/>
          <p:nvPr/>
        </p:nvSpPr>
        <p:spPr>
          <a:xfrm>
            <a:off x="9784080" y="1234440"/>
            <a:ext cx="1828800" cy="1691640"/>
          </a:xfrm>
          <a:prstGeom prst="roundRect">
            <a:avLst>
              <a:gd name="adj" fmla="val 3243"/>
            </a:avLst>
          </a:prstGeom>
          <a:solidFill>
            <a:srgbClr val="FFFFFF"/>
          </a:solidFill>
          <a:ln w="12700">
            <a:solidFill>
              <a:srgbClr val="BFD4E6"/>
            </a:solidFill>
            <a:prstDash val="solid"/>
          </a:ln>
        </p:spPr>
      </p:sp>
      <p:pic>
        <p:nvPicPr>
          <p:cNvPr id="27" name="Buttons photo" descr="E:/Final SP/Thesis Report and paper/thesis report/My report/DIagram fig tab/v2_buttons.jpg">    </p:cNvPr>
          <p:cNvPicPr>
            <a:picLocks noChangeAspect="1"/>
          </p:cNvPicPr>
          <p:nvPr/>
        </p:nvPicPr>
        <p:blipFill>
          <a:blip r:embed="rId5"/>
          <a:srcRect l="0" r="0" t="0" b="0"/>
          <a:stretch/>
        </p:blipFill>
        <p:spPr>
          <a:xfrm>
            <a:off x="9857232" y="1307592"/>
            <a:ext cx="1682496" cy="1188720"/>
          </a:xfrm>
          <a:prstGeom prst="rect">
            <a:avLst/>
          </a:prstGeom>
        </p:spPr>
      </p:pic>
      <p:sp>
        <p:nvSpPr>
          <p:cNvPr id="28" name="Buttons label"/>
          <p:cNvSpPr txBox="1"/>
          <p:nvPr/>
        </p:nvSpPr>
        <p:spPr>
          <a:xfrm>
            <a:off x="9829800" y="25146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Five push-buttons</a:t>
            </a:r>
            <a:endParaRPr lang="en-US" sz="1100" dirty="0"/>
          </a:p>
        </p:txBody>
      </p:sp>
      <p:sp>
        <p:nvSpPr>
          <p:cNvPr id="29" name="MODE · BCM 17 wire 1"/>
          <p:cNvSpPr/>
          <p:nvPr/>
        </p:nvSpPr>
        <p:spPr>
          <a:xfrm>
            <a:off x="6400800" y="1371600"/>
            <a:ext cx="3383280" cy="9144"/>
          </a:xfrm>
          <a:prstGeom prst="line">
            <a:avLst/>
          </a:prstGeom>
          <a:noFill/>
          <a:ln w="25400">
            <a:solidFill>
              <a:srgbClr val="1F5F8B"/>
            </a:solidFill>
            <a:prstDash val="solid"/>
          </a:ln>
        </p:spPr>
      </p:sp>
      <p:sp>
        <p:nvSpPr>
          <p:cNvPr id="30" name="MODE · BCM 17 wire 2"/>
          <p:cNvSpPr/>
          <p:nvPr/>
        </p:nvSpPr>
        <p:spPr>
          <a:xfrm>
            <a:off x="6400800" y="1371600"/>
            <a:ext cx="9144" cy="1234440"/>
          </a:xfrm>
          <a:prstGeom prst="line">
            <a:avLst/>
          </a:prstGeom>
          <a:noFill/>
          <a:ln w="25400">
            <a:solidFill>
              <a:srgbClr val="1F5F8B"/>
            </a:solidFill>
            <a:prstDash val="solid"/>
          </a:ln>
        </p:spPr>
      </p:sp>
      <p:sp>
        <p:nvSpPr>
          <p:cNvPr id="31" name="Wire label: MODE · BCM 17"/>
          <p:cNvSpPr txBox="1"/>
          <p:nvPr/>
        </p:nvSpPr>
        <p:spPr>
          <a:xfrm>
            <a:off x="8183880" y="1179576"/>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MODE · BCM 17</a:t>
            </a:r>
            <a:endParaRPr lang="en-US" sz="1000" dirty="0"/>
          </a:p>
        </p:txBody>
      </p:sp>
      <p:sp>
        <p:nvSpPr>
          <p:cNvPr id="32" name="ACTION · BCM 27 wire 1"/>
          <p:cNvSpPr/>
          <p:nvPr/>
        </p:nvSpPr>
        <p:spPr>
          <a:xfrm>
            <a:off x="6583680" y="1572768"/>
            <a:ext cx="3200400" cy="9144"/>
          </a:xfrm>
          <a:prstGeom prst="line">
            <a:avLst/>
          </a:prstGeom>
          <a:noFill/>
          <a:ln w="25400">
            <a:solidFill>
              <a:srgbClr val="2E9E5B"/>
            </a:solidFill>
            <a:prstDash val="solid"/>
          </a:ln>
        </p:spPr>
      </p:sp>
      <p:sp>
        <p:nvSpPr>
          <p:cNvPr id="33" name="ACTION · BCM 27 wire 2"/>
          <p:cNvSpPr/>
          <p:nvPr/>
        </p:nvSpPr>
        <p:spPr>
          <a:xfrm>
            <a:off x="6583680" y="1572768"/>
            <a:ext cx="9144" cy="1033272"/>
          </a:xfrm>
          <a:prstGeom prst="line">
            <a:avLst/>
          </a:prstGeom>
          <a:noFill/>
          <a:ln w="25400">
            <a:solidFill>
              <a:srgbClr val="2E9E5B"/>
            </a:solidFill>
            <a:prstDash val="solid"/>
          </a:ln>
        </p:spPr>
      </p:sp>
      <p:sp>
        <p:nvSpPr>
          <p:cNvPr id="34" name="Wire label: ACTION · BCM 27"/>
          <p:cNvSpPr txBox="1"/>
          <p:nvPr/>
        </p:nvSpPr>
        <p:spPr>
          <a:xfrm>
            <a:off x="8183880" y="1380744"/>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ACTION · BCM 27</a:t>
            </a:r>
            <a:endParaRPr lang="en-US" sz="1000" dirty="0"/>
          </a:p>
        </p:txBody>
      </p:sp>
      <p:sp>
        <p:nvSpPr>
          <p:cNvPr id="35" name="READ · BCM 24 wire 1"/>
          <p:cNvSpPr/>
          <p:nvPr/>
        </p:nvSpPr>
        <p:spPr>
          <a:xfrm>
            <a:off x="6766560" y="1773936"/>
            <a:ext cx="3017520" cy="9144"/>
          </a:xfrm>
          <a:prstGeom prst="line">
            <a:avLst/>
          </a:prstGeom>
          <a:noFill/>
          <a:ln w="25400">
            <a:solidFill>
              <a:srgbClr val="E6A817"/>
            </a:solidFill>
            <a:prstDash val="solid"/>
          </a:ln>
        </p:spPr>
      </p:sp>
      <p:sp>
        <p:nvSpPr>
          <p:cNvPr id="36" name="READ · BCM 24 wire 2"/>
          <p:cNvSpPr/>
          <p:nvPr/>
        </p:nvSpPr>
        <p:spPr>
          <a:xfrm>
            <a:off x="6766560" y="1773936"/>
            <a:ext cx="9144" cy="832104"/>
          </a:xfrm>
          <a:prstGeom prst="line">
            <a:avLst/>
          </a:prstGeom>
          <a:noFill/>
          <a:ln w="25400">
            <a:solidFill>
              <a:srgbClr val="E6A817"/>
            </a:solidFill>
            <a:prstDash val="solid"/>
          </a:ln>
        </p:spPr>
      </p:sp>
      <p:sp>
        <p:nvSpPr>
          <p:cNvPr id="37" name="Wire label: READ · BCM 24"/>
          <p:cNvSpPr txBox="1"/>
          <p:nvPr/>
        </p:nvSpPr>
        <p:spPr>
          <a:xfrm>
            <a:off x="8183880" y="1581912"/>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READ · BCM 24</a:t>
            </a:r>
            <a:endParaRPr lang="en-US" sz="1000" dirty="0"/>
          </a:p>
        </p:txBody>
      </p:sp>
      <p:sp>
        <p:nvSpPr>
          <p:cNvPr id="38" name="VOL+ · BCM 22 wire 1"/>
          <p:cNvSpPr/>
          <p:nvPr/>
        </p:nvSpPr>
        <p:spPr>
          <a:xfrm>
            <a:off x="6949440" y="1975104"/>
            <a:ext cx="2834640" cy="9144"/>
          </a:xfrm>
          <a:prstGeom prst="line">
            <a:avLst/>
          </a:prstGeom>
          <a:noFill/>
          <a:ln w="25400">
            <a:solidFill>
              <a:srgbClr val="4A87B5"/>
            </a:solidFill>
            <a:prstDash val="solid"/>
          </a:ln>
        </p:spPr>
      </p:sp>
      <p:sp>
        <p:nvSpPr>
          <p:cNvPr id="39" name="VOL+ · BCM 22 wire 2"/>
          <p:cNvSpPr/>
          <p:nvPr/>
        </p:nvSpPr>
        <p:spPr>
          <a:xfrm>
            <a:off x="6949440" y="1975104"/>
            <a:ext cx="9144" cy="630936"/>
          </a:xfrm>
          <a:prstGeom prst="line">
            <a:avLst/>
          </a:prstGeom>
          <a:noFill/>
          <a:ln w="25400">
            <a:solidFill>
              <a:srgbClr val="4A87B5"/>
            </a:solidFill>
            <a:prstDash val="solid"/>
          </a:ln>
        </p:spPr>
      </p:sp>
      <p:sp>
        <p:nvSpPr>
          <p:cNvPr id="40" name="Wire label: VOL+ · BCM 22"/>
          <p:cNvSpPr txBox="1"/>
          <p:nvPr/>
        </p:nvSpPr>
        <p:spPr>
          <a:xfrm>
            <a:off x="8183880" y="1783080"/>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22</a:t>
            </a:r>
            <a:endParaRPr lang="en-US" sz="1000" dirty="0"/>
          </a:p>
        </p:txBody>
      </p:sp>
      <p:sp>
        <p:nvSpPr>
          <p:cNvPr id="41" name="VOL− · BCM 23 wire 1"/>
          <p:cNvSpPr/>
          <p:nvPr/>
        </p:nvSpPr>
        <p:spPr>
          <a:xfrm>
            <a:off x="7132320" y="2176272"/>
            <a:ext cx="2651760" cy="9144"/>
          </a:xfrm>
          <a:prstGeom prst="line">
            <a:avLst/>
          </a:prstGeom>
          <a:noFill/>
          <a:ln w="25400">
            <a:solidFill>
              <a:srgbClr val="B5651D"/>
            </a:solidFill>
            <a:prstDash val="solid"/>
          </a:ln>
        </p:spPr>
      </p:sp>
      <p:sp>
        <p:nvSpPr>
          <p:cNvPr id="42" name="VOL− · BCM 23 wire 2"/>
          <p:cNvSpPr/>
          <p:nvPr/>
        </p:nvSpPr>
        <p:spPr>
          <a:xfrm>
            <a:off x="7132320" y="2176272"/>
            <a:ext cx="9144" cy="429768"/>
          </a:xfrm>
          <a:prstGeom prst="line">
            <a:avLst/>
          </a:prstGeom>
          <a:noFill/>
          <a:ln w="25400">
            <a:solidFill>
              <a:srgbClr val="B5651D"/>
            </a:solidFill>
            <a:prstDash val="solid"/>
          </a:ln>
        </p:spPr>
      </p:sp>
      <p:sp>
        <p:nvSpPr>
          <p:cNvPr id="43" name="Wire label: VOL− · BCM 23"/>
          <p:cNvSpPr txBox="1"/>
          <p:nvPr/>
        </p:nvSpPr>
        <p:spPr>
          <a:xfrm>
            <a:off x="8183880" y="1984248"/>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23</a:t>
            </a:r>
            <a:endParaRPr lang="en-US" sz="1000" dirty="0"/>
          </a:p>
        </p:txBody>
      </p:sp>
      <p:sp>
        <p:nvSpPr>
          <p:cNvPr id="44" name="Ground 1"/>
          <p:cNvSpPr/>
          <p:nvPr/>
        </p:nvSpPr>
        <p:spPr>
          <a:xfrm>
            <a:off x="6172200" y="2395728"/>
            <a:ext cx="3611880" cy="9144"/>
          </a:xfrm>
          <a:prstGeom prst="line">
            <a:avLst/>
          </a:prstGeom>
          <a:noFill/>
          <a:ln w="25400">
            <a:solidFill>
              <a:srgbClr val="1B2430"/>
            </a:solidFill>
            <a:prstDash val="solid"/>
          </a:ln>
        </p:spPr>
      </p:sp>
      <p:sp>
        <p:nvSpPr>
          <p:cNvPr id="45" name="Ground 2"/>
          <p:cNvSpPr/>
          <p:nvPr/>
        </p:nvSpPr>
        <p:spPr>
          <a:xfrm>
            <a:off x="6172200" y="2395728"/>
            <a:ext cx="9144" cy="210312"/>
          </a:xfrm>
          <a:prstGeom prst="line">
            <a:avLst/>
          </a:prstGeom>
          <a:noFill/>
          <a:ln w="25400">
            <a:solidFill>
              <a:srgbClr val="1B2430"/>
            </a:solidFill>
            <a:prstDash val="solid"/>
          </a:ln>
        </p:spPr>
      </p:sp>
      <p:sp>
        <p:nvSpPr>
          <p:cNvPr id="46" name="Wire label: GND"/>
          <p:cNvSpPr txBox="1"/>
          <p:nvPr/>
        </p:nvSpPr>
        <p:spPr>
          <a:xfrm>
            <a:off x="8778240" y="219456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GND</a:t>
            </a:r>
            <a:endParaRPr lang="en-US" sz="1000" dirty="0"/>
          </a:p>
        </p:txBody>
      </p:sp>
      <p:sp>
        <p:nvSpPr>
          <p:cNvPr id="47" name="Motor card"/>
          <p:cNvSpPr/>
          <p:nvPr/>
        </p:nvSpPr>
        <p:spPr>
          <a:xfrm>
            <a:off x="9784080" y="3108960"/>
            <a:ext cx="1828800" cy="1234440"/>
          </a:xfrm>
          <a:prstGeom prst="roundRect">
            <a:avLst>
              <a:gd name="adj" fmla="val 4444"/>
            </a:avLst>
          </a:prstGeom>
          <a:solidFill>
            <a:srgbClr val="FFFFFF"/>
          </a:solidFill>
          <a:ln w="12700">
            <a:solidFill>
              <a:srgbClr val="BFD4E6"/>
            </a:solidFill>
            <a:prstDash val="solid"/>
          </a:ln>
        </p:spPr>
      </p:sp>
      <p:pic>
        <p:nvPicPr>
          <p:cNvPr id="48" name="Motor photo" descr="E:/Final SP/Thesis Report and paper/thesis report/My report/DIagram fig tab/hw_motor.jpg">    </p:cNvPr>
          <p:cNvPicPr>
            <a:picLocks noChangeAspect="1"/>
          </p:cNvPicPr>
          <p:nvPr/>
        </p:nvPicPr>
        <p:blipFill>
          <a:blip r:embed="rId6"/>
          <a:srcRect l="0" r="0" t="0" b="0"/>
          <a:stretch/>
        </p:blipFill>
        <p:spPr>
          <a:xfrm>
            <a:off x="9857232" y="3182112"/>
            <a:ext cx="1682496" cy="731520"/>
          </a:xfrm>
          <a:prstGeom prst="rect">
            <a:avLst/>
          </a:prstGeom>
        </p:spPr>
      </p:pic>
      <p:sp>
        <p:nvSpPr>
          <p:cNvPr id="49" name="Motor label"/>
          <p:cNvSpPr txBox="1"/>
          <p:nvPr/>
        </p:nvSpPr>
        <p:spPr>
          <a:xfrm>
            <a:off x="9829800" y="39319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Vibration motor</a:t>
            </a:r>
            <a:endParaRPr lang="en-US" sz="1100" dirty="0"/>
          </a:p>
        </p:txBody>
      </p:sp>
      <p:sp>
        <p:nvSpPr>
          <p:cNvPr id="50" name="Motor signal 1"/>
          <p:cNvSpPr/>
          <p:nvPr/>
        </p:nvSpPr>
        <p:spPr>
          <a:xfrm>
            <a:off x="8503920" y="3611880"/>
            <a:ext cx="1280160" cy="9144"/>
          </a:xfrm>
          <a:prstGeom prst="line">
            <a:avLst/>
          </a:prstGeom>
          <a:noFill/>
          <a:ln w="25400">
            <a:solidFill>
              <a:srgbClr val="C2185B"/>
            </a:solidFill>
            <a:prstDash val="solid"/>
          </a:ln>
        </p:spPr>
      </p:sp>
      <p:sp>
        <p:nvSpPr>
          <p:cNvPr id="51" name="Motor signal 2"/>
          <p:cNvSpPr/>
          <p:nvPr/>
        </p:nvSpPr>
        <p:spPr>
          <a:xfrm>
            <a:off x="8503920" y="2505456"/>
            <a:ext cx="9144" cy="1106424"/>
          </a:xfrm>
          <a:prstGeom prst="line">
            <a:avLst/>
          </a:prstGeom>
          <a:noFill/>
          <a:ln w="25400">
            <a:solidFill>
              <a:srgbClr val="C2185B"/>
            </a:solidFill>
            <a:prstDash val="solid"/>
          </a:ln>
        </p:spPr>
      </p:sp>
      <p:sp>
        <p:nvSpPr>
          <p:cNvPr id="52" name="Motor signal 3"/>
          <p:cNvSpPr/>
          <p:nvPr/>
        </p:nvSpPr>
        <p:spPr>
          <a:xfrm>
            <a:off x="7498080" y="2505456"/>
            <a:ext cx="1005840" cy="9144"/>
          </a:xfrm>
          <a:prstGeom prst="line">
            <a:avLst/>
          </a:prstGeom>
          <a:noFill/>
          <a:ln w="25400">
            <a:solidFill>
              <a:srgbClr val="C2185B"/>
            </a:solidFill>
            <a:prstDash val="solid"/>
          </a:ln>
        </p:spPr>
      </p:sp>
      <p:sp>
        <p:nvSpPr>
          <p:cNvPr id="53" name="Motor signal 4"/>
          <p:cNvSpPr/>
          <p:nvPr/>
        </p:nvSpPr>
        <p:spPr>
          <a:xfrm>
            <a:off x="7498080" y="2505456"/>
            <a:ext cx="9144" cy="100584"/>
          </a:xfrm>
          <a:prstGeom prst="line">
            <a:avLst/>
          </a:prstGeom>
          <a:noFill/>
          <a:ln w="25400">
            <a:solidFill>
              <a:srgbClr val="C2185B"/>
            </a:solidFill>
            <a:prstDash val="solid"/>
          </a:ln>
        </p:spPr>
      </p:sp>
      <p:sp>
        <p:nvSpPr>
          <p:cNvPr id="54" name="Motor ground 1"/>
          <p:cNvSpPr/>
          <p:nvPr/>
        </p:nvSpPr>
        <p:spPr>
          <a:xfrm>
            <a:off x="8732520" y="3840480"/>
            <a:ext cx="1051560" cy="9144"/>
          </a:xfrm>
          <a:prstGeom prst="line">
            <a:avLst/>
          </a:prstGeom>
          <a:noFill/>
          <a:ln w="25400">
            <a:solidFill>
              <a:srgbClr val="1B2430"/>
            </a:solidFill>
            <a:prstDash val="solid"/>
          </a:ln>
        </p:spPr>
      </p:sp>
      <p:sp>
        <p:nvSpPr>
          <p:cNvPr id="55" name="Motor ground 2"/>
          <p:cNvSpPr/>
          <p:nvPr/>
        </p:nvSpPr>
        <p:spPr>
          <a:xfrm>
            <a:off x="8732520" y="2395728"/>
            <a:ext cx="9144" cy="1444752"/>
          </a:xfrm>
          <a:prstGeom prst="line">
            <a:avLst/>
          </a:prstGeom>
          <a:noFill/>
          <a:ln w="25400">
            <a:solidFill>
              <a:srgbClr val="1B2430"/>
            </a:solidFill>
            <a:prstDash val="solid"/>
          </a:ln>
        </p:spPr>
      </p:sp>
      <p:sp>
        <p:nvSpPr>
          <p:cNvPr id="56" name="Ground junction"/>
          <p:cNvSpPr/>
          <p:nvPr/>
        </p:nvSpPr>
        <p:spPr>
          <a:xfrm>
            <a:off x="8686800" y="2350008"/>
            <a:ext cx="91440" cy="91440"/>
          </a:xfrm>
          <a:prstGeom prst="ellipse">
            <a:avLst/>
          </a:prstGeom>
          <a:solidFill>
            <a:srgbClr val="1B2430"/>
          </a:solidFill>
          <a:ln w="12700">
            <a:solidFill>
              <a:srgbClr val="1B2430"/>
            </a:solidFill>
            <a:prstDash val="solid"/>
          </a:ln>
        </p:spPr>
      </p:sp>
      <p:sp>
        <p:nvSpPr>
          <p:cNvPr id="57" name="Wire label: BCM 13 (PWM)"/>
          <p:cNvSpPr txBox="1"/>
          <p:nvPr/>
        </p:nvSpPr>
        <p:spPr>
          <a:xfrm>
            <a:off x="8778240" y="338328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BCM 13 (PWM)</a:t>
            </a:r>
            <a:endParaRPr lang="en-US" sz="1000" dirty="0"/>
          </a:p>
        </p:txBody>
      </p:sp>
      <p:sp>
        <p:nvSpPr>
          <p:cNvPr id="58" name="USB 1"/>
          <p:cNvSpPr/>
          <p:nvPr/>
        </p:nvSpPr>
        <p:spPr>
          <a:xfrm>
            <a:off x="7726680" y="4343400"/>
            <a:ext cx="822960" cy="9144"/>
          </a:xfrm>
          <a:prstGeom prst="line">
            <a:avLst/>
          </a:prstGeom>
          <a:noFill/>
          <a:ln w="50800">
            <a:solidFill>
              <a:srgbClr val="5B6777"/>
            </a:solidFill>
            <a:prstDash val="solid"/>
          </a:ln>
        </p:spPr>
      </p:sp>
      <p:sp>
        <p:nvSpPr>
          <p:cNvPr id="59" name="Microphone"/>
          <p:cNvSpPr txBox="1"/>
          <p:nvPr/>
        </p:nvSpPr>
        <p:spPr>
          <a:xfrm>
            <a:off x="8549640" y="4114800"/>
            <a:ext cx="1097280" cy="457200"/>
          </a:xfrm>
          <a:prstGeom prst="roundRect">
            <a:avLst>
              <a:gd name="adj" fmla="val 10000"/>
            </a:avLst>
          </a:prstGeom>
          <a:solidFill>
            <a:srgbClr val="FFFFFF"/>
          </a:solidFill>
          <a:ln>
            <a:solidFill>
              <a:srgbClr val="BFD4E6"/>
            </a:solidFill>
          </a:ln>
        </p:spPr>
        <p:txBody>
          <a:bodyPr wrap="square" lIns="381" tIns="381" rIns="381" bIns="381" rtlCol="0" anchor="ctr"/>
          <a:lstStyle/>
          <a:p>
            <a:pPr algn="ctr" indent="0" marL="0">
              <a:buNone/>
            </a:pPr>
            <a:r>
              <a:rPr lang="en-US" sz="1000" dirty="0">
                <a:solidFill>
                  <a:srgbClr val="1B2430"/>
                </a:solidFill>
              </a:rPr>
              <a:t>USB microphone (optional)</a:t>
            </a:r>
            <a:endParaRPr lang="en-US" sz="1000" dirty="0"/>
          </a:p>
        </p:txBody>
      </p:sp>
      <p:sp>
        <p:nvSpPr>
          <p:cNvPr id="60" name="Frame card"/>
          <p:cNvSpPr/>
          <p:nvPr/>
        </p:nvSpPr>
        <p:spPr>
          <a:xfrm>
            <a:off x="9784080" y="4526280"/>
            <a:ext cx="1828800" cy="1188720"/>
          </a:xfrm>
          <a:prstGeom prst="roundRect">
            <a:avLst>
              <a:gd name="adj" fmla="val 4615"/>
            </a:avLst>
          </a:prstGeom>
          <a:solidFill>
            <a:srgbClr val="FFFFFF"/>
          </a:solidFill>
          <a:ln w="12700">
            <a:solidFill>
              <a:srgbClr val="BFD4E6"/>
            </a:solidFill>
            <a:prstDash val="solid"/>
          </a:ln>
        </p:spPr>
      </p:sp>
      <p:pic>
        <p:nvPicPr>
          <p:cNvPr id="61" name="Frame photo" descr="E:/Final SP/Thesis Report and paper/thesis report/My report/DIagram fig tab/v2_frame.jpg">    </p:cNvPr>
          <p:cNvPicPr>
            <a:picLocks noChangeAspect="1"/>
          </p:cNvPicPr>
          <p:nvPr/>
        </p:nvPicPr>
        <p:blipFill>
          <a:blip r:embed="rId7"/>
          <a:srcRect l="0" r="0" t="0" b="0"/>
          <a:stretch/>
        </p:blipFill>
        <p:spPr>
          <a:xfrm>
            <a:off x="9857232" y="4599432"/>
            <a:ext cx="1682496" cy="685800"/>
          </a:xfrm>
          <a:prstGeom prst="rect">
            <a:avLst/>
          </a:prstGeom>
        </p:spPr>
      </p:pic>
      <p:sp>
        <p:nvSpPr>
          <p:cNvPr id="62" name="Frame label"/>
          <p:cNvSpPr txBox="1"/>
          <p:nvPr/>
        </p:nvSpPr>
        <p:spPr>
          <a:xfrm>
            <a:off x="9829800" y="53035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Frame + UV-A lamp</a:t>
            </a:r>
            <a:endParaRPr lang="en-US" sz="1100" dirty="0"/>
          </a:p>
        </p:txBody>
      </p:sp>
      <p:sp>
        <p:nvSpPr>
          <p:cNvPr id="63" name="Lamp note"/>
          <p:cNvSpPr txBox="1"/>
          <p:nvPr/>
        </p:nvSpPr>
        <p:spPr>
          <a:xfrm>
            <a:off x="8001000" y="4846320"/>
            <a:ext cx="1691640" cy="594360"/>
          </a:xfrm>
          <a:prstGeom prst="rect">
            <a:avLst/>
          </a:prstGeom>
          <a:noFill/>
          <a:ln/>
        </p:spPr>
        <p:txBody>
          <a:bodyPr wrap="square" lIns="0" tIns="0" rIns="0" bIns="0" rtlCol="0" anchor="ctr"/>
          <a:lstStyle/>
          <a:p>
            <a:pPr algn="r" indent="0" marL="0">
              <a:buNone/>
            </a:pPr>
            <a:r>
              <a:rPr lang="en-US" sz="1000" i="1" dirty="0">
                <a:solidFill>
                  <a:srgbClr val="1B2430"/>
                </a:solidFill>
              </a:rPr>
              <a:t>Lamp 360–395 nm, switched by hand; not wired to the Pi</a:t>
            </a:r>
            <a:endParaRPr lang="en-US" sz="1000" dirty="0"/>
          </a:p>
        </p:txBody>
      </p:sp>
      <p:sp>
        <p:nvSpPr>
          <p:cNvPr id="64" name="Legend line 1"/>
          <p:cNvSpPr/>
          <p:nvPr/>
        </p:nvSpPr>
        <p:spPr>
          <a:xfrm>
            <a:off x="2743200" y="5486400"/>
            <a:ext cx="320040" cy="0"/>
          </a:xfrm>
          <a:prstGeom prst="line">
            <a:avLst/>
          </a:prstGeom>
          <a:noFill/>
          <a:ln w="44450">
            <a:solidFill>
              <a:srgbClr val="D7263D"/>
            </a:solidFill>
            <a:prstDash val="solid"/>
          </a:ln>
        </p:spPr>
      </p:sp>
      <p:sp>
        <p:nvSpPr>
          <p:cNvPr id="65" name="Legend 1"/>
          <p:cNvSpPr txBox="1"/>
          <p:nvPr/>
        </p:nvSpPr>
        <p:spPr>
          <a:xfrm>
            <a:off x="312724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5 V power</a:t>
            </a:r>
            <a:endParaRPr lang="en-US" sz="1000" dirty="0"/>
          </a:p>
        </p:txBody>
      </p:sp>
      <p:sp>
        <p:nvSpPr>
          <p:cNvPr id="66" name="Legend line 2"/>
          <p:cNvSpPr/>
          <p:nvPr/>
        </p:nvSpPr>
        <p:spPr>
          <a:xfrm>
            <a:off x="4160520" y="5486400"/>
            <a:ext cx="320040" cy="0"/>
          </a:xfrm>
          <a:prstGeom prst="line">
            <a:avLst/>
          </a:prstGeom>
          <a:noFill/>
          <a:ln w="50800">
            <a:solidFill>
              <a:srgbClr val="5B6777"/>
            </a:solidFill>
            <a:prstDash val="solid"/>
          </a:ln>
        </p:spPr>
      </p:sp>
      <p:sp>
        <p:nvSpPr>
          <p:cNvPr id="67" name="Legend 2"/>
          <p:cNvSpPr txBox="1"/>
          <p:nvPr/>
        </p:nvSpPr>
        <p:spPr>
          <a:xfrm>
            <a:off x="454456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USB</a:t>
            </a:r>
            <a:endParaRPr lang="en-US" sz="1000" dirty="0"/>
          </a:p>
        </p:txBody>
      </p:sp>
      <p:sp>
        <p:nvSpPr>
          <p:cNvPr id="68" name="Legend line 3"/>
          <p:cNvSpPr/>
          <p:nvPr/>
        </p:nvSpPr>
        <p:spPr>
          <a:xfrm>
            <a:off x="5760720" y="5486400"/>
            <a:ext cx="320040" cy="0"/>
          </a:xfrm>
          <a:prstGeom prst="line">
            <a:avLst/>
          </a:prstGeom>
          <a:noFill/>
          <a:ln w="25400">
            <a:solidFill>
              <a:srgbClr val="1F5F8B"/>
            </a:solidFill>
            <a:prstDash val="solid"/>
          </a:ln>
        </p:spPr>
      </p:sp>
      <p:sp>
        <p:nvSpPr>
          <p:cNvPr id="69" name="Legend 3"/>
          <p:cNvSpPr txBox="1"/>
          <p:nvPr/>
        </p:nvSpPr>
        <p:spPr>
          <a:xfrm>
            <a:off x="6144768" y="5376672"/>
            <a:ext cx="2194560" cy="228600"/>
          </a:xfrm>
          <a:prstGeom prst="rect">
            <a:avLst/>
          </a:prstGeom>
          <a:noFill/>
          <a:ln/>
        </p:spPr>
        <p:txBody>
          <a:bodyPr wrap="square" lIns="0" tIns="0" rIns="0" bIns="0" rtlCol="0" anchor="ctr"/>
          <a:lstStyle/>
          <a:p>
            <a:pPr indent="0" marL="0">
              <a:buNone/>
            </a:pPr>
            <a:r>
              <a:rPr lang="en-US" sz="1000" dirty="0">
                <a:solidFill>
                  <a:srgbClr val="1B2430"/>
                </a:solidFill>
              </a:rPr>
              <a:t>GPIO input, to GND with pull-up</a:t>
            </a:r>
            <a:endParaRPr lang="en-US" sz="1000" dirty="0"/>
          </a:p>
        </p:txBody>
      </p:sp>
      <p:sp>
        <p:nvSpPr>
          <p:cNvPr id="70" name="Legend line 4"/>
          <p:cNvSpPr/>
          <p:nvPr/>
        </p:nvSpPr>
        <p:spPr>
          <a:xfrm>
            <a:off x="8321040" y="5486400"/>
            <a:ext cx="320040" cy="0"/>
          </a:xfrm>
          <a:prstGeom prst="line">
            <a:avLst/>
          </a:prstGeom>
          <a:noFill/>
          <a:ln w="25400">
            <a:solidFill>
              <a:srgbClr val="1B2430"/>
            </a:solidFill>
            <a:prstDash val="solid"/>
          </a:ln>
        </p:spPr>
      </p:sp>
      <p:sp>
        <p:nvSpPr>
          <p:cNvPr id="71" name="Legend 4"/>
          <p:cNvSpPr txBox="1"/>
          <p:nvPr/>
        </p:nvSpPr>
        <p:spPr>
          <a:xfrm>
            <a:off x="870508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ground</a:t>
            </a:r>
            <a:endParaRPr lang="en-US" sz="1000" dirty="0"/>
          </a:p>
        </p:txBody>
      </p:sp>
      <p:sp>
        <p:nvSpPr>
          <p:cNvPr id="72" name="Schematic note"/>
          <p:cNvSpPr txBox="1"/>
          <p:nvPr/>
        </p:nvSpPr>
        <p:spPr>
          <a:xfrm>
            <a:off x="2743200" y="5669280"/>
            <a:ext cx="5486400" cy="228600"/>
          </a:xfrm>
          <a:prstGeom prst="rect">
            <a:avLst/>
          </a:prstGeom>
          <a:noFill/>
          <a:ln/>
        </p:spPr>
        <p:txBody>
          <a:bodyPr wrap="square" lIns="0" tIns="0" rIns="0" bIns="0" rtlCol="0" anchor="ctr"/>
          <a:lstStyle/>
          <a:p>
            <a:pPr indent="0" marL="0">
              <a:buNone/>
            </a:pPr>
            <a:r>
              <a:rPr lang="en-US" sz="1000" i="1" dirty="0">
                <a:solidFill>
                  <a:schemeClr val="accent5"/>
                </a:solidFill>
              </a:rPr>
              <a:t>Schematic, not to scale; pin numbers are those set in the code.</a:t>
            </a:r>
            <a:endParaRPr lang="en-US" sz="1000" dirty="0"/>
          </a:p>
        </p:txBody>
      </p:sp>
      <p:sp>
        <p:nvSpPr>
          <p:cNvPr id="7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vibration motor by Raimond Spekking, CC BY-SA 4.0; power bank by Pinguinguy, CC0. Webcam board, buttons, headphone and frame: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Since 29 Oct the Pi runs the laptop's full-precision detector.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34440"/>
            <a:ext cx="11064240" cy="384048"/>
          </a:xfrm>
          <a:prstGeom prst="roundRect">
            <a:avLst>
              <a:gd name="adj" fmla="val 19048"/>
            </a:avLst>
          </a:prstGeom>
          <a:solidFill>
            <a:srgbClr val="FFF4D6"/>
          </a:solidFill>
          <a:ln>
            <a:solidFill>
              <a:srgbClr val="E6A817"/>
            </a:solidFill>
          </a:ln>
        </p:spPr>
        <p:txBody>
          <a:bodyPr wrap="square" lIns="0" tIns="0" rIns="0" bIns="0" rtlCol="0" anchor="ctr"/>
          <a:lstStyle/>
          <a:p>
            <a:pPr algn="ctr" indent="0" marL="0">
              <a:buNone/>
            </a:pPr>
            <a:r>
              <a:rPr lang="en-US" sz="1500" b="1" dirty="0">
                <a:solidFill>
                  <a:srgbClr val="1B2430"/>
                </a:solidFill>
              </a:rPr>
              <a:t>Informal demonstrations, not a measured accuracy study</a:t>
            </a:r>
            <a:endParaRPr lang="en-US" sz="1500" dirty="0"/>
          </a:p>
        </p:txBody>
      </p:sp>
      <p:sp>
        <p:nvSpPr>
          <p:cNvPr id="4" name="Live row 1 label"/>
          <p:cNvSpPr txBox="1"/>
          <p:nvPr/>
        </p:nvSpPr>
        <p:spPr>
          <a:xfrm>
            <a:off x="548640" y="17190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Software: live detection on a laptop webcam (detector output shown)</a:t>
            </a:r>
            <a:endParaRPr lang="en-US" sz="1400" dirty="0"/>
          </a:p>
        </p:txBody>
      </p:sp>
      <p:pic>
        <p:nvPicPr>
          <p:cNvPr id="5" name="Live row 1 photo 1" descr="E:\Final SP\Thesis Report and paper\tools\deck\assets/live_sw_1.jpg">    </p:cNvPr>
          <p:cNvPicPr>
            <a:picLocks noChangeAspect="1"/>
          </p:cNvPicPr>
          <p:nvPr/>
        </p:nvPicPr>
        <p:blipFill>
          <a:blip r:embed="rId1"/>
          <a:srcRect l="0" r="0" t="0" b="0"/>
          <a:stretch/>
        </p:blipFill>
        <p:spPr>
          <a:xfrm>
            <a:off x="548640" y="2020824"/>
            <a:ext cx="2670048" cy="1691640"/>
          </a:xfrm>
          <a:prstGeom prst="rect">
            <a:avLst/>
          </a:prstGeom>
        </p:spPr>
      </p:pic>
      <p:pic>
        <p:nvPicPr>
          <p:cNvPr id="6" name="Live row 1 photo 2" descr="E:\Final SP\Thesis Report and paper\tools\deck\assets/live_sw_3.jpg">    </p:cNvPr>
          <p:cNvPicPr>
            <a:picLocks noChangeAspect="1"/>
          </p:cNvPicPr>
          <p:nvPr/>
        </p:nvPicPr>
        <p:blipFill>
          <a:blip r:embed="rId2"/>
          <a:srcRect l="0" r="0" t="0" b="0"/>
          <a:stretch/>
        </p:blipFill>
        <p:spPr>
          <a:xfrm>
            <a:off x="3346704" y="2020824"/>
            <a:ext cx="2670048" cy="1691640"/>
          </a:xfrm>
          <a:prstGeom prst="rect">
            <a:avLst/>
          </a:prstGeom>
        </p:spPr>
      </p:pic>
      <p:pic>
        <p:nvPicPr>
          <p:cNvPr id="7" name="Live row 1 photo 3" descr="E:\Final SP\Thesis Report and paper\tools\deck\assets/live_sw_4.jpg">    </p:cNvPr>
          <p:cNvPicPr>
            <a:picLocks noChangeAspect="1"/>
          </p:cNvPicPr>
          <p:nvPr/>
        </p:nvPicPr>
        <p:blipFill>
          <a:blip r:embed="rId3"/>
          <a:srcRect l="0" r="0" t="0" b="0"/>
          <a:stretch/>
        </p:blipFill>
        <p:spPr>
          <a:xfrm>
            <a:off x="6144768" y="2020824"/>
            <a:ext cx="2670048" cy="1691640"/>
          </a:xfrm>
          <a:prstGeom prst="rect">
            <a:avLst/>
          </a:prstGeom>
        </p:spPr>
      </p:pic>
      <p:pic>
        <p:nvPicPr>
          <p:cNvPr id="8" name="Live row 1 photo 4" descr="E:\Final SP\Thesis Report and paper\tools\deck\assets/live_sw_5.jpg">    </p:cNvPr>
          <p:cNvPicPr>
            <a:picLocks noChangeAspect="1"/>
          </p:cNvPicPr>
          <p:nvPr/>
        </p:nvPicPr>
        <p:blipFill>
          <a:blip r:embed="rId4"/>
          <a:srcRect l="0" r="0" t="0" b="0"/>
          <a:stretch/>
        </p:blipFill>
        <p:spPr>
          <a:xfrm>
            <a:off x="8942832" y="2020824"/>
            <a:ext cx="2670048" cy="1691640"/>
          </a:xfrm>
          <a:prstGeom prst="rect">
            <a:avLst/>
          </a:prstGeom>
        </p:spPr>
      </p:pic>
      <p:sp>
        <p:nvSpPr>
          <p:cNvPr id="9" name="Live row 2 label"/>
          <p:cNvSpPr txBox="1"/>
          <p:nvPr/>
        </p:nvSpPr>
        <p:spPr>
          <a:xfrm>
            <a:off x="548640" y="37764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Second prototype (v2): live tests with the glass (staged)</a:t>
            </a:r>
            <a:endParaRPr lang="en-US" sz="1400" dirty="0"/>
          </a:p>
        </p:txBody>
      </p:sp>
      <p:pic>
        <p:nvPicPr>
          <p:cNvPr id="10" name="Live row 2 photo 1" descr="E:\Final SP\Thesis Report and paper\tools\deck\assets/live_v2_16.jpg">    </p:cNvPr>
          <p:cNvPicPr>
            <a:picLocks noChangeAspect="1"/>
          </p:cNvPicPr>
          <p:nvPr/>
        </p:nvPicPr>
        <p:blipFill>
          <a:blip r:embed="rId5"/>
          <a:srcRect l="0" r="0" t="0" b="0"/>
          <a:stretch/>
        </p:blipFill>
        <p:spPr>
          <a:xfrm>
            <a:off x="548640" y="4078224"/>
            <a:ext cx="2670048" cy="1691640"/>
          </a:xfrm>
          <a:prstGeom prst="rect">
            <a:avLst/>
          </a:prstGeom>
        </p:spPr>
      </p:pic>
      <p:pic>
        <p:nvPicPr>
          <p:cNvPr id="11" name="Live row 2 photo 2" descr="E:\Final SP\Thesis Report and paper\tools\deck\assets/live_v2_18.jpg">    </p:cNvPr>
          <p:cNvPicPr>
            <a:picLocks noChangeAspect="1"/>
          </p:cNvPicPr>
          <p:nvPr/>
        </p:nvPicPr>
        <p:blipFill>
          <a:blip r:embed="rId6"/>
          <a:srcRect l="0" r="0" t="0" b="0"/>
          <a:stretch/>
        </p:blipFill>
        <p:spPr>
          <a:xfrm>
            <a:off x="3346704" y="4078224"/>
            <a:ext cx="2670048" cy="1691640"/>
          </a:xfrm>
          <a:prstGeom prst="rect">
            <a:avLst/>
          </a:prstGeom>
        </p:spPr>
      </p:pic>
      <p:pic>
        <p:nvPicPr>
          <p:cNvPr id="12" name="Live row 2 photo 3" descr="E:\Final SP\Thesis Report and paper\tools\deck\assets/live_v2_24.jpg">    </p:cNvPr>
          <p:cNvPicPr>
            <a:picLocks noChangeAspect="1"/>
          </p:cNvPicPr>
          <p:nvPr/>
        </p:nvPicPr>
        <p:blipFill>
          <a:blip r:embed="rId7"/>
          <a:srcRect l="0" r="0" t="0" b="0"/>
          <a:stretch/>
        </p:blipFill>
        <p:spPr>
          <a:xfrm>
            <a:off x="6144768" y="4078224"/>
            <a:ext cx="2670048" cy="1691640"/>
          </a:xfrm>
          <a:prstGeom prst="rect">
            <a:avLst/>
          </a:prstGeom>
        </p:spPr>
      </p:pic>
      <p:pic>
        <p:nvPicPr>
          <p:cNvPr id="13" name="Live row 2 photo 4" descr="E:\Final SP\Thesis Report and paper\tools\deck\assets/live_v2_29.jpg">    </p:cNvPr>
          <p:cNvPicPr>
            <a:picLocks noChangeAspect="1"/>
          </p:cNvPicPr>
          <p:nvPr/>
        </p:nvPicPr>
        <p:blipFill>
          <a:blip r:embed="rId8"/>
          <a:srcRect l="0" r="0" t="0" b="0"/>
          <a:stretch/>
        </p:blipFill>
        <p:spPr>
          <a:xfrm>
            <a:off x="8942832" y="4078224"/>
            <a:ext cx="2670048" cy="1691640"/>
          </a:xfrm>
          <a:prstGeom prst="rect">
            <a:avLst/>
          </a:prstGeom>
        </p:spPr>
      </p:pic>
      <p:sp>
        <p:nvSpPr>
          <p:cNvPr id="14" name="Live test note"/>
          <p:cNvSpPr txBox="1"/>
          <p:nvPr/>
        </p:nvSpPr>
        <p:spPr>
          <a:xfrm>
            <a:off x="548640" y="5870448"/>
            <a:ext cx="11064240" cy="365760"/>
          </a:xfrm>
          <a:prstGeom prst="rect">
            <a:avLst/>
          </a:prstGeom>
          <a:noFill/>
          <a:ln/>
        </p:spPr>
        <p:txBody>
          <a:bodyPr wrap="square" lIns="0" tIns="0" rIns="0" bIns="0" rtlCol="0" anchor="t"/>
          <a:lstStyle/>
          <a:p>
            <a:pPr indent="0" marL="0">
              <a:buNone/>
            </a:pPr>
            <a:r>
              <a:rPr lang="en-US" sz="1300" dirty="0">
                <a:solidFill>
                  <a:schemeClr val="tx1"/>
                </a:solidFill>
              </a:rPr>
              <a:t>Screenshots: 50, 200, 500 and 1,000 Taka named at 0.63–0.89 confidence, two or three notes at once. The v2 photos do not show the detector output.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Speaks under the lamp</a:t>
            </a:r>
            <a:endParaRPr lang="en-US" sz="1800" dirty="0"/>
          </a:p>
          <a:p>
            <a:pPr indent="0" marL="0">
              <a:buNone/>
            </a:pPr>
            <a:r>
              <a:rPr lang="en-US" sz="1300" dirty="0">
                <a:solidFill>
                  <a:srgbClr val="D7263D"/>
                </a:solidFill>
              </a:rPr>
              <a:t>"Likely genuine" or "check by hand", never "counterfeit". Not yet tested on real counterfeits or through the glass camera</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Reading the main text block only</a:t>
            </a:r>
            <a:endParaRPr lang="en-US" sz="1500" dirty="0"/>
          </a:p>
          <a:p>
            <a:pPr marL="342900" indent="-342900">
              <a:spcAft>
                <a:spcPts val="800"/>
              </a:spcAft>
              <a:buSzPct val="100000"/>
              <a:buChar char="•"/>
            </a:pPr>
            <a:r>
              <a:rPr lang="en-US" sz="1500" dirty="0">
                <a:solidFill>
                  <a:schemeClr val="tx1"/>
                </a:solidFill>
              </a:rPr>
              <a:t>Tuned detector and clean-up</a:t>
            </a:r>
            <a:endParaRPr lang="en-US" sz="1500" dirty="0"/>
          </a:p>
          <a:p>
            <a:pPr marL="342900" indent="-342900">
              <a:spcAft>
                <a:spcPts val="800"/>
              </a:spcAft>
              <a:buSzPct val="100000"/>
              <a:buChar char="•"/>
            </a:pPr>
            <a:r>
              <a:rPr lang="en-US" sz="1500" dirty="0">
                <a:solidFill>
                  <a:schemeClr val="tx1"/>
                </a:solidFill>
              </a:rPr>
              <a:t>Recogniser fine-tuned on real words</a:t>
            </a:r>
            <a:endParaRPr lang="en-US" sz="1500" dirty="0"/>
          </a:p>
          <a:p>
            <a:pPr marL="342900" indent="-342900">
              <a:spcAft>
                <a:spcPts val="800"/>
              </a:spcAft>
              <a:buSzPct val="100000"/>
              <a:buChar char="•"/>
            </a:pPr>
            <a:r>
              <a:rPr lang="en-US" sz="1500" dirty="0">
                <a:solidFill>
                  <a:schemeClr val="tx1"/>
                </a:solidFill>
              </a:rPr>
              <a:t>Sharpest frame of 1 s: shaken text 28.0% → 3.8%</a:t>
            </a:r>
            <a:endParaRPr lang="en-US" sz="15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422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51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536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5.4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(18.7 s on 1 October)</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2.76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of the app (of 8 GB)</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Board temperature</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57.8–62.3 °C</a:t>
            </a:r>
            <a:endParaRPr lang="en-US" sz="3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measured on the board with a thermometer while the glass was running</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The processor's own sensor reads higher: in 30 minutes of non-stop load it peaked at 87.0 °C, with the soft limit active in 55% of samples.</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29 October 2026 benchmark, Pi 5 (8 GB). With the full-precision note detector now used: 532 ms a check, note named in 5 of 8 presses (was 2 of 10).</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fan and heat sink, C270 webcam. All timings are ours (benchmark_report/2026-10-29/); board-surface temperature measured by the team with a thermometer.</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2026-10-29T16:06:43Z</dcterms:created>
  <dcterms:modified xsi:type="dcterms:W3CDTF">2026-10-29T16:06:43Z</dcterms:modified>
</cp:coreProperties>
</file>
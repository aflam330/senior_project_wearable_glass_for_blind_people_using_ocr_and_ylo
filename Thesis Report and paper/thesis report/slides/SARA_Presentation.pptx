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33d7071-fe74-ef13-ae24-f607d5e68b8c}">
          <p14:sldIdLst>
            <p14:sldId id="256"/>
          </p14:sldIdLst>
        </p14:section>
        <p14:section name="Problem" id="{c2be2e4a-1f24-d800-d22b-46415a8a1c9f}">
          <p14:sldIdLst>
            <p14:sldId id="257"/>
            <p14:sldId id="258"/>
            <p14:sldId id="259"/>
          </p14:sldIdLst>
        </p14:section>
        <p14:section name="Solution" id="{bd71d4b0-7ec3-4804-0d4e-69fc1fd06c92}">
          <p14:sldIdLst>
            <p14:sldId id="260"/>
            <p14:sldId id="261"/>
            <p14:sldId id="262"/>
            <p14:sldId id="263"/>
            <p14:sldId id="264"/>
          </p14:sldIdLst>
        </p14:section>
        <p14:section name="Currency" id="{88ce81e2-4f80-0083-2417-fe036da0c5fa}">
          <p14:sldIdLst>
            <p14:sldId id="265"/>
            <p14:sldId id="266"/>
            <p14:sldId id="267"/>
            <p14:sldId id="268"/>
            <p14:sldId id="269"/>
            <p14:sldId id="270"/>
            <p14:sldId id="271"/>
            <p14:sldId id="272"/>
          </p14:sldIdLst>
        </p14:section>
        <p14:section name="Reading and voice" id="{5fcb6f34-8640-dfea-d764-56fbcc00665f}">
          <p14:sldIdLst>
            <p14:sldId id="273"/>
            <p14:sldId id="274"/>
          </p14:sldIdLst>
        </p14:section>
        <p14:section name="Device" id="{34e9404c-8cc9-c3cb-5ad4-d66dca4c8ddf}">
          <p14:sldIdLst>
            <p14:sldId id="275"/>
            <p14:sldId id="276"/>
            <p14:sldId id="277"/>
          </p14:sldIdLst>
        </p14:section>
        <p14:section name="Closing" id="{e3d6bf07-9671-f6e0-e172-b4af8317e584}">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the top row is today, the bottom row is with SARA.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 With SARA, the glass names the note, reads the label and names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OrCam MyEye, the best-known commercial reading glass, does not support Bangla. The research glasses we reviewed send every picture to a cloud server, so without a network there is no answer. And none of the systems we reviewed names Bangladeshi Taka notes, let alone screens them safely: a wrong value or a false accusation of counterfeit has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is processed on the Raspberry Pi 5 without the internet, and the glass answers in Bangla, for example five hundred Taka note, with a short vibration. The same three steps read a medicine label or name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Next come a better camera and the user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6-1.png"/><Relationship Id="rId4" Type="http://schemas.openxmlformats.org/officeDocument/2006/relationships/image" Target="../media/image-26-2.png"/><Relationship Id="rId11" Type="http://schemas.openxmlformats.org/officeDocument/2006/relationships/image" Target="../media/image-26-3.png"/><Relationship Id="rId18" Type="http://schemas.openxmlformats.org/officeDocument/2006/relationships/slideLayout" Target="../slideLayouts/slideLayout3.xml"/><Relationship Id="rId19"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econd prototype: front, side and back" descr="E:\Final SP\Thesis Report and paper\tools\deck\assets/v2_collage.jpg">    </p:cNvPr>
          <p:cNvPicPr>
            <a:picLocks noChangeAspect="1"/>
          </p:cNvPicPr>
          <p:nvPr/>
        </p:nvPicPr>
        <p:blipFill>
          <a:blip r:embed="rId1"/>
          <a:srcRect l="0" r="0" t="0" b="0"/>
          <a:stretch/>
        </p:blipFill>
        <p:spPr>
          <a:xfrm>
            <a:off x="6793992" y="0"/>
            <a:ext cx="539496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Title"/>
          <p:cNvSpPr txBox="1"/>
          <p:nvPr/>
        </p:nvSpPr>
        <p:spPr>
          <a:xfrm>
            <a:off x="685800" y="16002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SARA</a:t>
            </a:r>
            <a:endParaRPr lang="en-US" sz="5400" dirty="0"/>
          </a:p>
        </p:txBody>
      </p:sp>
      <p:sp>
        <p:nvSpPr>
          <p:cNvPr id="6" name="Subtitle"/>
          <p:cNvSpPr txBox="1"/>
          <p:nvPr/>
        </p:nvSpPr>
        <p:spPr>
          <a:xfrm>
            <a:off x="685800" y="2560320"/>
            <a:ext cx="5669280" cy="1645920"/>
          </a:xfrm>
          <a:prstGeom prst="rect">
            <a:avLst/>
          </a:prstGeom>
          <a:noFill/>
          <a:ln/>
        </p:spPr>
        <p:txBody>
          <a:bodyPr wrap="square" lIns="0" tIns="0" rIns="0" bIns="0" rtlCol="0" anchor="t"/>
          <a:lstStyle/>
          <a:p>
            <a:pPr indent="0" marL="0">
              <a:buNone/>
            </a:pPr>
            <a:r>
              <a:rPr lang="en-US" sz="2200" b="1" dirty="0">
                <a:solidFill>
                  <a:srgbClr val="E4EFEA"/>
                </a:solidFill>
              </a:rPr>
              <a:t>Smart Assistive Reading Aid</a:t>
            </a:r>
            <a:endParaRPr lang="en-US" sz="2200" dirty="0"/>
          </a:p>
          <a:p>
            <a:pPr indent="0" marL="0">
              <a:buNone/>
            </a:pPr>
            <a:r>
              <a:rPr lang="en-US" sz="2200" dirty="0">
                <a:solidFill>
                  <a:srgbClr val="E4EFEA"/>
                </a:solidFill>
              </a:rPr>
              <a:t>Offline AI Smart Glasses for Reading, Object Recognition and Bangladeshi Taka Verification</a:t>
            </a:r>
            <a:endParaRPr lang="en-US" sz="2200" dirty="0"/>
          </a:p>
        </p:txBody>
      </p:sp>
      <p:sp>
        <p:nvSpPr>
          <p:cNvPr id="7" name="Authors"/>
          <p:cNvSpPr txBox="1"/>
          <p:nvPr/>
        </p:nvSpPr>
        <p:spPr>
          <a:xfrm>
            <a:off x="685800" y="4526280"/>
            <a:ext cx="5760720" cy="146304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a:t>
            </a:r>
            <a:endParaRPr lang="en-US" sz="1300" dirty="0"/>
          </a:p>
          <a:p>
            <a:pPr indent="0" marL="0">
              <a:spcAft>
                <a:spcPts val="400"/>
              </a:spcAft>
              <a:buNone/>
            </a:pPr>
            <a:r>
              <a:rPr lang="en-US" sz="1300" dirty="0">
                <a:solidFill>
                  <a:srgbClr val="CFE2DA"/>
                </a:solidFill>
              </a:rPr>
              <a:t>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everyday challenges</a:t>
            </a:r>
            <a:endParaRPr lang="en-US" sz="3000" dirty="0"/>
          </a:p>
        </p:txBody>
      </p:sp>
      <p:sp>
        <p:nvSpPr>
          <p:cNvPr id="3" name="Money label"/>
          <p:cNvSpPr txBox="1"/>
          <p:nvPr/>
        </p:nvSpPr>
        <p:spPr>
          <a:xfrm>
            <a:off x="548640"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Money</a:t>
            </a:r>
            <a:endParaRPr lang="en-US" sz="2600" dirty="0"/>
          </a:p>
        </p:txBody>
      </p:sp>
      <p:sp>
        <p:nvSpPr>
          <p:cNvPr id="4" name="Reading label"/>
          <p:cNvSpPr txBox="1"/>
          <p:nvPr/>
        </p:nvSpPr>
        <p:spPr>
          <a:xfrm>
            <a:off x="4233672"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Reading</a:t>
            </a:r>
            <a:endParaRPr lang="en-US" sz="2600" dirty="0"/>
          </a:p>
        </p:txBody>
      </p:sp>
      <p:sp>
        <p:nvSpPr>
          <p:cNvPr id="5" name="Surroundings label"/>
          <p:cNvSpPr txBox="1"/>
          <p:nvPr/>
        </p:nvSpPr>
        <p:spPr>
          <a:xfrm>
            <a:off x="7918704"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Surroundings</a:t>
            </a:r>
            <a:endParaRPr lang="en-US" sz="2600" dirty="0"/>
          </a:p>
        </p:txBody>
      </p:sp>
      <p:pic>
        <p:nvPicPr>
          <p:cNvPr id="6" name="Without and with SARA" descr="E:\Final SP\Thesis Report and paper\tools\deck\assets/cartoon_full.jpg">    </p:cNvPr>
          <p:cNvPicPr>
            <a:picLocks noChangeAspect="1"/>
          </p:cNvPicPr>
          <p:nvPr/>
        </p:nvPicPr>
        <p:blipFill>
          <a:blip r:embed="rId1"/>
          <a:stretch>
            <a:fillRect/>
          </a:stretch>
        </p:blipFill>
        <p:spPr>
          <a:xfrm>
            <a:off x="548640" y="1828800"/>
            <a:ext cx="11064240" cy="4424580"/>
          </a:xfrm>
          <a:prstGeom prst="rect">
            <a:avLst/>
          </a:prstGeom>
        </p:spPr>
      </p:pic>
      <p:sp>
        <p:nvSpPr>
          <p:cNvPr id="7"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solutions fall short</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97280"/>
          </a:xfrm>
          <a:prstGeom prst="rect">
            <a:avLst/>
          </a:prstGeom>
          <a:noFill/>
          <a:ln/>
        </p:spPr>
        <p:txBody>
          <a:bodyPr wrap="square" lIns="0" tIns="0" rIns="0" bIns="0" rtlCol="0" anchor="t"/>
          <a:lstStyle/>
          <a:p>
            <a:pPr indent="0" marL="0">
              <a:buNone/>
            </a:pPr>
            <a:r>
              <a:rPr lang="en-US" sz="1900" dirty="0">
                <a:solidFill>
                  <a:srgbClr val="E4EFEA"/>
                </a:solidFill>
              </a:rPr>
              <a:t>people worldwide have a near or distance vision impairment [1]</a:t>
            </a:r>
            <a:endParaRPr lang="en-US" sz="1900" dirty="0"/>
          </a:p>
        </p:txBody>
      </p:sp>
      <p:sp>
        <p:nvSpPr>
          <p:cNvPr id="6" name="WHO note"/>
          <p:cNvSpPr txBox="1"/>
          <p:nvPr/>
        </p:nvSpPr>
        <p:spPr>
          <a:xfrm>
            <a:off x="868680" y="4206240"/>
            <a:ext cx="3246120" cy="1097280"/>
          </a:xfrm>
          <a:prstGeom prst="rect">
            <a:avLst/>
          </a:prstGeom>
          <a:noFill/>
          <a:ln/>
        </p:spPr>
        <p:txBody>
          <a:bodyPr wrap="square" lIns="0" tIns="0" rIns="0" bIns="0" rtlCol="0" anchor="t"/>
          <a:lstStyle/>
          <a:p>
            <a:pPr indent="0" marL="0">
              <a:buNone/>
            </a:pPr>
            <a:r>
              <a:rPr lang="en-US" sz="1700" i="1" dirty="0">
                <a:solidFill>
                  <a:srgbClr val="CFE2DA"/>
                </a:solidFill>
              </a:rPr>
              <a:t>most of them in low- and middle-income regions [1]</a:t>
            </a:r>
            <a:endParaRPr lang="en-US" sz="17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00200"/>
            <a:ext cx="822960" cy="82296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35270" y="1797710"/>
            <a:ext cx="427939" cy="427939"/>
          </a:xfrm>
          <a:prstGeom prst="rect">
            <a:avLst/>
          </a:prstGeom>
        </p:spPr>
      </p:pic>
      <p:sp>
        <p:nvSpPr>
          <p:cNvPr id="10" name="Gap 1 heading"/>
          <p:cNvSpPr txBox="1"/>
          <p:nvPr/>
        </p:nvSpPr>
        <p:spPr>
          <a:xfrm>
            <a:off x="5989320" y="150876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Bangla support</a:t>
            </a:r>
            <a:endParaRPr lang="en-US" sz="2400" dirty="0"/>
          </a:p>
        </p:txBody>
      </p:sp>
      <p:sp>
        <p:nvSpPr>
          <p:cNvPr id="11" name="Gap 1 text"/>
          <p:cNvSpPr txBox="1"/>
          <p:nvPr/>
        </p:nvSpPr>
        <p:spPr>
          <a:xfrm>
            <a:off x="5989320" y="2039112"/>
            <a:ext cx="5486400" cy="502920"/>
          </a:xfrm>
          <a:prstGeom prst="rect">
            <a:avLst/>
          </a:prstGeom>
          <a:noFill/>
          <a:ln/>
        </p:spPr>
        <p:txBody>
          <a:bodyPr wrap="square" lIns="0" tIns="0" rIns="0" bIns="0" rtlCol="0" anchor="t"/>
          <a:lstStyle/>
          <a:p>
            <a:pPr indent="0" marL="0">
              <a:buNone/>
            </a:pPr>
            <a:r>
              <a:rPr lang="en-US" sz="1800" dirty="0">
                <a:solidFill>
                  <a:schemeClr val="tx1"/>
                </a:solidFill>
              </a:rPr>
              <a:t>OrCam MyEye does not support Bangla [2]</a:t>
            </a:r>
            <a:endParaRPr lang="en-US" sz="18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54680"/>
            <a:ext cx="822960" cy="82296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35270" y="3352190"/>
            <a:ext cx="427939" cy="427939"/>
          </a:xfrm>
          <a:prstGeom prst="rect">
            <a:avLst/>
          </a:prstGeom>
        </p:spPr>
      </p:pic>
      <p:sp>
        <p:nvSpPr>
          <p:cNvPr id="15" name="Gap 2 heading"/>
          <p:cNvSpPr txBox="1"/>
          <p:nvPr/>
        </p:nvSpPr>
        <p:spPr>
          <a:xfrm>
            <a:off x="5989320" y="306324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Internet dependence</a:t>
            </a:r>
            <a:endParaRPr lang="en-US" sz="2400" dirty="0"/>
          </a:p>
        </p:txBody>
      </p:sp>
      <p:sp>
        <p:nvSpPr>
          <p:cNvPr id="16" name="Gap 2 text"/>
          <p:cNvSpPr txBox="1"/>
          <p:nvPr/>
        </p:nvSpPr>
        <p:spPr>
          <a:xfrm>
            <a:off x="5989320" y="3593592"/>
            <a:ext cx="5486400" cy="502920"/>
          </a:xfrm>
          <a:prstGeom prst="rect">
            <a:avLst/>
          </a:prstGeom>
          <a:noFill/>
          <a:ln/>
        </p:spPr>
        <p:txBody>
          <a:bodyPr wrap="square" lIns="0" tIns="0" rIns="0" bIns="0" rtlCol="0" anchor="t"/>
          <a:lstStyle/>
          <a:p>
            <a:pPr indent="0" marL="0">
              <a:buNone/>
            </a:pPr>
            <a:r>
              <a:rPr lang="en-US" sz="1800" dirty="0">
                <a:solidFill>
                  <a:schemeClr val="tx1"/>
                </a:solidFill>
              </a:rPr>
              <a:t>Research glasses send pictures to a server [3, 4]</a:t>
            </a:r>
            <a:endParaRPr lang="en-US" sz="18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09160"/>
            <a:ext cx="822960" cy="82296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35270" y="4906670"/>
            <a:ext cx="427939" cy="427939"/>
          </a:xfrm>
          <a:prstGeom prst="rect">
            <a:avLst/>
          </a:prstGeom>
        </p:spPr>
      </p:pic>
      <p:sp>
        <p:nvSpPr>
          <p:cNvPr id="20" name="Gap 3 heading"/>
          <p:cNvSpPr txBox="1"/>
          <p:nvPr/>
        </p:nvSpPr>
        <p:spPr>
          <a:xfrm>
            <a:off x="5989320" y="461772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Taka verification</a:t>
            </a:r>
            <a:endParaRPr lang="en-US" sz="2400" dirty="0"/>
          </a:p>
        </p:txBody>
      </p:sp>
      <p:sp>
        <p:nvSpPr>
          <p:cNvPr id="21" name="Gap 3 text"/>
          <p:cNvSpPr txBox="1"/>
          <p:nvPr/>
        </p:nvSpPr>
        <p:spPr>
          <a:xfrm>
            <a:off x="5989320" y="5148072"/>
            <a:ext cx="5486400" cy="502920"/>
          </a:xfrm>
          <a:prstGeom prst="rect">
            <a:avLst/>
          </a:prstGeom>
          <a:noFill/>
          <a:ln/>
        </p:spPr>
        <p:txBody>
          <a:bodyPr wrap="square" lIns="0" tIns="0" rIns="0" bIns="0" rtlCol="0" anchor="t"/>
          <a:lstStyle/>
          <a:p>
            <a:pPr indent="0" marL="0">
              <a:buNone/>
            </a:pPr>
            <a:r>
              <a:rPr lang="en-US" sz="1800" dirty="0">
                <a:solidFill>
                  <a:schemeClr val="tx1"/>
                </a:solidFill>
              </a:rPr>
              <a:t>Reviewed systems do not name Taka notes [2, 3, 4]</a:t>
            </a:r>
            <a:endParaRPr lang="en-US" sz="18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in action: ask the glass, not a stranger</a:t>
            </a:r>
            <a:endParaRPr lang="en-US" sz="3000" dirty="0"/>
          </a:p>
        </p:txBody>
      </p:sp>
      <p:pic>
        <p:nvPicPr>
          <p:cNvPr id="3" name="SARA prototype, worn" descr="E:\Final SP\Thesis Report and paper\tools\deck\assets/1_20.jpg">    </p:cNvPr>
          <p:cNvPicPr>
            <a:picLocks noChangeAspect="1"/>
          </p:cNvPicPr>
          <p:nvPr/>
        </p:nvPicPr>
        <p:blipFill>
          <a:blip r:embed="rId1"/>
          <a:srcRect l="0" r="0" t="0" b="0"/>
          <a:stretch/>
        </p:blipFill>
        <p:spPr>
          <a:xfrm>
            <a:off x="548640" y="1325880"/>
            <a:ext cx="2834640" cy="4663440"/>
          </a:xfrm>
          <a:prstGeom prst="rect">
            <a:avLst/>
          </a:prstGeom>
        </p:spPr>
      </p:pic>
      <p:sp>
        <p:nvSpPr>
          <p:cNvPr id="4" name="Prototype caption"/>
          <p:cNvSpPr txBox="1"/>
          <p:nvPr/>
        </p:nvSpPr>
        <p:spPr>
          <a:xfrm>
            <a:off x="548640" y="6035040"/>
            <a:ext cx="2834640" cy="292608"/>
          </a:xfrm>
          <a:prstGeom prst="rect">
            <a:avLst/>
          </a:prstGeom>
          <a:noFill/>
          <a:ln/>
        </p:spPr>
        <p:txBody>
          <a:bodyPr wrap="square" lIns="0" tIns="0" rIns="0" bIns="0" rtlCol="0" anchor="ctr"/>
          <a:lstStyle/>
          <a:p>
            <a:pPr algn="ctr" indent="0" marL="0">
              <a:buNone/>
            </a:pPr>
            <a:r>
              <a:rPr lang="en-US" sz="1200" i="1" dirty="0">
                <a:solidFill>
                  <a:schemeClr val="accent5"/>
                </a:solidFill>
              </a:rPr>
              <a:t>Our prototype</a:t>
            </a:r>
            <a:endParaRPr lang="en-US" sz="1200" dirty="0"/>
          </a:p>
        </p:txBody>
      </p:sp>
      <p:sp>
        <p:nvSpPr>
          <p:cNvPr id="5" name="Step 1 circle"/>
          <p:cNvSpPr/>
          <p:nvPr/>
        </p:nvSpPr>
        <p:spPr>
          <a:xfrm>
            <a:off x="3749040" y="1371600"/>
            <a:ext cx="658368" cy="658368"/>
          </a:xfrm>
          <a:prstGeom prst="ellipse">
            <a:avLst/>
          </a:prstGeom>
          <a:solidFill>
            <a:srgbClr val="006A4E"/>
          </a:solidFill>
          <a:ln w="12700">
            <a:solidFill>
              <a:srgbClr val="006A4E"/>
            </a:solidFill>
            <a:prstDash val="solid"/>
          </a:ln>
        </p:spPr>
      </p:sp>
      <p:pic>
        <p:nvPicPr>
          <p:cNvPr id="6" name="Step 1 icon" descr="preencoded.png">    </p:cNvPr>
          <p:cNvPicPr>
            <a:picLocks noChangeAspect="1"/>
          </p:cNvPicPr>
          <p:nvPr/>
        </p:nvPicPr>
        <p:blipFill>
          <a:blip r:embed="rId2"/>
          <a:stretch>
            <a:fillRect/>
          </a:stretch>
        </p:blipFill>
        <p:spPr>
          <a:xfrm>
            <a:off x="3907048" y="1529608"/>
            <a:ext cx="342351" cy="342351"/>
          </a:xfrm>
          <a:prstGeom prst="rect">
            <a:avLst/>
          </a:prstGeom>
        </p:spPr>
      </p:pic>
      <p:sp>
        <p:nvSpPr>
          <p:cNvPr id="7" name="Step 1 heading"/>
          <p:cNvSpPr txBox="1"/>
          <p:nvPr/>
        </p:nvSpPr>
        <p:spPr>
          <a:xfrm>
            <a:off x="449884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Speak</a:t>
            </a:r>
            <a:endParaRPr lang="en-US" sz="1800" dirty="0"/>
          </a:p>
        </p:txBody>
      </p:sp>
      <p:sp>
        <p:nvSpPr>
          <p:cNvPr id="8" name="Step 1 text"/>
          <p:cNvSpPr txBox="1"/>
          <p:nvPr/>
        </p:nvSpPr>
        <p:spPr>
          <a:xfrm>
            <a:off x="449884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"Glass, check money"</a:t>
            </a:r>
            <a:endParaRPr lang="en-US" sz="1400" dirty="0"/>
          </a:p>
        </p:txBody>
      </p:sp>
      <p:sp>
        <p:nvSpPr>
          <p:cNvPr id="9" name="Step arrow 1"/>
          <p:cNvSpPr/>
          <p:nvPr/>
        </p:nvSpPr>
        <p:spPr>
          <a:xfrm>
            <a:off x="6236208" y="1737360"/>
            <a:ext cx="164592" cy="0"/>
          </a:xfrm>
          <a:prstGeom prst="line">
            <a:avLst/>
          </a:prstGeom>
          <a:noFill/>
          <a:ln w="15875">
            <a:solidFill>
              <a:srgbClr val="9DB8AD"/>
            </a:solidFill>
            <a:prstDash val="solid"/>
            <a:tailEnd type="triangle"/>
          </a:ln>
        </p:spPr>
      </p:sp>
      <p:sp>
        <p:nvSpPr>
          <p:cNvPr id="10" name="Step 2 circle"/>
          <p:cNvSpPr/>
          <p:nvPr/>
        </p:nvSpPr>
        <p:spPr>
          <a:xfrm>
            <a:off x="6446520" y="1371600"/>
            <a:ext cx="658368" cy="658368"/>
          </a:xfrm>
          <a:prstGeom prst="ellipse">
            <a:avLst/>
          </a:prstGeom>
          <a:solidFill>
            <a:srgbClr val="3A8F72"/>
          </a:solidFill>
          <a:ln w="12700">
            <a:solidFill>
              <a:srgbClr val="3A8F72"/>
            </a:solidFill>
            <a:prstDash val="solid"/>
          </a:ln>
        </p:spPr>
      </p:sp>
      <p:pic>
        <p:nvPicPr>
          <p:cNvPr id="11" name="Step 2 icon" descr="preencoded.png">    </p:cNvPr>
          <p:cNvPicPr>
            <a:picLocks noChangeAspect="1"/>
          </p:cNvPicPr>
          <p:nvPr/>
        </p:nvPicPr>
        <p:blipFill>
          <a:blip r:embed="rId3"/>
          <a:stretch>
            <a:fillRect/>
          </a:stretch>
        </p:blipFill>
        <p:spPr>
          <a:xfrm>
            <a:off x="6604528" y="1529608"/>
            <a:ext cx="342351" cy="342351"/>
          </a:xfrm>
          <a:prstGeom prst="rect">
            <a:avLst/>
          </a:prstGeom>
        </p:spPr>
      </p:pic>
      <p:sp>
        <p:nvSpPr>
          <p:cNvPr id="12" name="Step 2 heading"/>
          <p:cNvSpPr txBox="1"/>
          <p:nvPr/>
        </p:nvSpPr>
        <p:spPr>
          <a:xfrm>
            <a:off x="719632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Detect offline</a:t>
            </a:r>
            <a:endParaRPr lang="en-US" sz="1800" dirty="0"/>
          </a:p>
        </p:txBody>
      </p:sp>
      <p:sp>
        <p:nvSpPr>
          <p:cNvPr id="13" name="Step 2 text"/>
          <p:cNvSpPr txBox="1"/>
          <p:nvPr/>
        </p:nvSpPr>
        <p:spPr>
          <a:xfrm>
            <a:off x="719632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Raspberry Pi 5, no internet</a:t>
            </a:r>
            <a:endParaRPr lang="en-US" sz="1400" dirty="0"/>
          </a:p>
        </p:txBody>
      </p:sp>
      <p:sp>
        <p:nvSpPr>
          <p:cNvPr id="14" name="Step arrow 2"/>
          <p:cNvSpPr/>
          <p:nvPr/>
        </p:nvSpPr>
        <p:spPr>
          <a:xfrm>
            <a:off x="8933688" y="1737360"/>
            <a:ext cx="164592" cy="0"/>
          </a:xfrm>
          <a:prstGeom prst="line">
            <a:avLst/>
          </a:prstGeom>
          <a:noFill/>
          <a:ln w="15875">
            <a:solidFill>
              <a:srgbClr val="9DB8AD"/>
            </a:solidFill>
            <a:prstDash val="solid"/>
            <a:tailEnd type="triangle"/>
          </a:ln>
        </p:spPr>
      </p:sp>
      <p:sp>
        <p:nvSpPr>
          <p:cNvPr id="15" name="Step 3 circle"/>
          <p:cNvSpPr/>
          <p:nvPr/>
        </p:nvSpPr>
        <p:spPr>
          <a:xfrm>
            <a:off x="9144000" y="1371600"/>
            <a:ext cx="658368" cy="658368"/>
          </a:xfrm>
          <a:prstGeom prst="ellipse">
            <a:avLst/>
          </a:prstGeom>
          <a:solidFill>
            <a:srgbClr val="0B4D3B"/>
          </a:solidFill>
          <a:ln w="12700">
            <a:solidFill>
              <a:srgbClr val="0B4D3B"/>
            </a:solidFill>
            <a:prstDash val="solid"/>
          </a:ln>
        </p:spPr>
      </p:sp>
      <p:pic>
        <p:nvPicPr>
          <p:cNvPr id="16" name="Step 3 icon" descr="preencoded.png">    </p:cNvPr>
          <p:cNvPicPr>
            <a:picLocks noChangeAspect="1"/>
          </p:cNvPicPr>
          <p:nvPr/>
        </p:nvPicPr>
        <p:blipFill>
          <a:blip r:embed="rId4"/>
          <a:stretch>
            <a:fillRect/>
          </a:stretch>
        </p:blipFill>
        <p:spPr>
          <a:xfrm>
            <a:off x="9302008" y="1529608"/>
            <a:ext cx="342351" cy="342351"/>
          </a:xfrm>
          <a:prstGeom prst="rect">
            <a:avLst/>
          </a:prstGeom>
        </p:spPr>
      </p:pic>
      <p:sp>
        <p:nvSpPr>
          <p:cNvPr id="17" name="Step 3 heading"/>
          <p:cNvSpPr txBox="1"/>
          <p:nvPr/>
        </p:nvSpPr>
        <p:spPr>
          <a:xfrm>
            <a:off x="989380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Hear the answer</a:t>
            </a:r>
            <a:endParaRPr lang="en-US" sz="1800" dirty="0"/>
          </a:p>
        </p:txBody>
      </p:sp>
      <p:sp>
        <p:nvSpPr>
          <p:cNvPr id="18" name="Step 3 text"/>
          <p:cNvSpPr txBox="1"/>
          <p:nvPr/>
        </p:nvSpPr>
        <p:spPr>
          <a:xfrm>
            <a:off x="989380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Bangla speech + vibration</a:t>
            </a:r>
            <a:endParaRPr lang="en-US" sz="1400" dirty="0"/>
          </a:p>
        </p:txBody>
      </p:sp>
      <p:sp>
        <p:nvSpPr>
          <p:cNvPr id="19" name="Money card"/>
          <p:cNvSpPr/>
          <p:nvPr/>
        </p:nvSpPr>
        <p:spPr>
          <a:xfrm>
            <a:off x="3749040" y="2606040"/>
            <a:ext cx="2514600" cy="2423160"/>
          </a:xfrm>
          <a:prstGeom prst="roundRect">
            <a:avLst>
              <a:gd name="adj" fmla="val 4528"/>
            </a:avLst>
          </a:prstGeom>
          <a:solidFill>
            <a:schemeClr val="bg2"/>
          </a:solidFill>
          <a:ln w="12700">
            <a:solidFill>
              <a:schemeClr val="bg2"/>
            </a:solidFill>
            <a:prstDash val="solid"/>
          </a:ln>
        </p:spPr>
      </p:sp>
      <p:sp>
        <p:nvSpPr>
          <p:cNvPr id="20" name="Money circle"/>
          <p:cNvSpPr/>
          <p:nvPr/>
        </p:nvSpPr>
        <p:spPr>
          <a:xfrm>
            <a:off x="4645152" y="2788920"/>
            <a:ext cx="731520" cy="731520"/>
          </a:xfrm>
          <a:prstGeom prst="ellipse">
            <a:avLst/>
          </a:prstGeom>
          <a:solidFill>
            <a:srgbClr val="006A4E"/>
          </a:solidFill>
          <a:ln w="12700">
            <a:solidFill>
              <a:srgbClr val="006A4E"/>
            </a:solidFill>
            <a:prstDash val="solid"/>
          </a:ln>
        </p:spPr>
      </p:sp>
      <p:pic>
        <p:nvPicPr>
          <p:cNvPr id="21" name="Money icon" descr="preencoded.png">    </p:cNvPr>
          <p:cNvPicPr>
            <a:picLocks noChangeAspect="1"/>
          </p:cNvPicPr>
          <p:nvPr/>
        </p:nvPicPr>
        <p:blipFill>
          <a:blip r:embed="rId5"/>
          <a:stretch>
            <a:fillRect/>
          </a:stretch>
        </p:blipFill>
        <p:spPr>
          <a:xfrm>
            <a:off x="4820717" y="2964485"/>
            <a:ext cx="380390" cy="380390"/>
          </a:xfrm>
          <a:prstGeom prst="rect">
            <a:avLst/>
          </a:prstGeom>
        </p:spPr>
      </p:pic>
      <p:sp>
        <p:nvSpPr>
          <p:cNvPr id="22" name="Money label"/>
          <p:cNvSpPr txBox="1"/>
          <p:nvPr/>
        </p:nvSpPr>
        <p:spPr>
          <a:xfrm>
            <a:off x="384048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Money</a:t>
            </a:r>
            <a:endParaRPr lang="en-US" sz="2000" dirty="0"/>
          </a:p>
        </p:txBody>
      </p:sp>
      <p:sp>
        <p:nvSpPr>
          <p:cNvPr id="23" name="Money answer"/>
          <p:cNvSpPr txBox="1"/>
          <p:nvPr/>
        </p:nvSpPr>
        <p:spPr>
          <a:xfrm>
            <a:off x="388620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the note and screens it with care</a:t>
            </a:r>
            <a:endParaRPr lang="en-US" sz="1500" dirty="0"/>
          </a:p>
        </p:txBody>
      </p:sp>
      <p:sp>
        <p:nvSpPr>
          <p:cNvPr id="24" name="Reading card"/>
          <p:cNvSpPr/>
          <p:nvPr/>
        </p:nvSpPr>
        <p:spPr>
          <a:xfrm>
            <a:off x="6446520" y="2606040"/>
            <a:ext cx="2514600" cy="2423160"/>
          </a:xfrm>
          <a:prstGeom prst="roundRect">
            <a:avLst>
              <a:gd name="adj" fmla="val 4528"/>
            </a:avLst>
          </a:prstGeom>
          <a:solidFill>
            <a:schemeClr val="bg2"/>
          </a:solidFill>
          <a:ln w="12700">
            <a:solidFill>
              <a:schemeClr val="bg2"/>
            </a:solidFill>
            <a:prstDash val="solid"/>
          </a:ln>
        </p:spPr>
      </p:sp>
      <p:sp>
        <p:nvSpPr>
          <p:cNvPr id="25" name="Reading circle"/>
          <p:cNvSpPr/>
          <p:nvPr/>
        </p:nvSpPr>
        <p:spPr>
          <a:xfrm>
            <a:off x="7342632" y="2788920"/>
            <a:ext cx="731520" cy="731520"/>
          </a:xfrm>
          <a:prstGeom prst="ellipse">
            <a:avLst/>
          </a:prstGeom>
          <a:solidFill>
            <a:srgbClr val="006A4E"/>
          </a:solidFill>
          <a:ln w="12700">
            <a:solidFill>
              <a:srgbClr val="006A4E"/>
            </a:solidFill>
            <a:prstDash val="solid"/>
          </a:ln>
        </p:spPr>
      </p:sp>
      <p:pic>
        <p:nvPicPr>
          <p:cNvPr id="26" name="Reading icon" descr="preencoded.png">    </p:cNvPr>
          <p:cNvPicPr>
            <a:picLocks noChangeAspect="1"/>
          </p:cNvPicPr>
          <p:nvPr/>
        </p:nvPicPr>
        <p:blipFill>
          <a:blip r:embed="rId6"/>
          <a:stretch>
            <a:fillRect/>
          </a:stretch>
        </p:blipFill>
        <p:spPr>
          <a:xfrm>
            <a:off x="7518197" y="2964485"/>
            <a:ext cx="380390" cy="380390"/>
          </a:xfrm>
          <a:prstGeom prst="rect">
            <a:avLst/>
          </a:prstGeom>
        </p:spPr>
      </p:pic>
      <p:sp>
        <p:nvSpPr>
          <p:cNvPr id="27" name="Reading label"/>
          <p:cNvSpPr txBox="1"/>
          <p:nvPr/>
        </p:nvSpPr>
        <p:spPr>
          <a:xfrm>
            <a:off x="653796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Reading</a:t>
            </a:r>
            <a:endParaRPr lang="en-US" sz="2000" dirty="0"/>
          </a:p>
        </p:txBody>
      </p:sp>
      <p:sp>
        <p:nvSpPr>
          <p:cNvPr id="28" name="Reading answer"/>
          <p:cNvSpPr txBox="1"/>
          <p:nvPr/>
        </p:nvSpPr>
        <p:spPr>
          <a:xfrm>
            <a:off x="658368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Reads Bangla and English labels aloud</a:t>
            </a:r>
            <a:endParaRPr lang="en-US" sz="1500" dirty="0"/>
          </a:p>
        </p:txBody>
      </p:sp>
      <p:sp>
        <p:nvSpPr>
          <p:cNvPr id="29" name="Surroundings card"/>
          <p:cNvSpPr/>
          <p:nvPr/>
        </p:nvSpPr>
        <p:spPr>
          <a:xfrm>
            <a:off x="9144000" y="2606040"/>
            <a:ext cx="2514600" cy="2423160"/>
          </a:xfrm>
          <a:prstGeom prst="roundRect">
            <a:avLst>
              <a:gd name="adj" fmla="val 4528"/>
            </a:avLst>
          </a:prstGeom>
          <a:solidFill>
            <a:schemeClr val="bg2"/>
          </a:solidFill>
          <a:ln w="12700">
            <a:solidFill>
              <a:schemeClr val="bg2"/>
            </a:solidFill>
            <a:prstDash val="solid"/>
          </a:ln>
        </p:spPr>
      </p:sp>
      <p:sp>
        <p:nvSpPr>
          <p:cNvPr id="30" name="Surroundings circle"/>
          <p:cNvSpPr/>
          <p:nvPr/>
        </p:nvSpPr>
        <p:spPr>
          <a:xfrm>
            <a:off x="10040112" y="2788920"/>
            <a:ext cx="731520" cy="731520"/>
          </a:xfrm>
          <a:prstGeom prst="ellipse">
            <a:avLst/>
          </a:prstGeom>
          <a:solidFill>
            <a:srgbClr val="006A4E"/>
          </a:solidFill>
          <a:ln w="12700">
            <a:solidFill>
              <a:srgbClr val="006A4E"/>
            </a:solidFill>
            <a:prstDash val="solid"/>
          </a:ln>
        </p:spPr>
      </p:sp>
      <p:pic>
        <p:nvPicPr>
          <p:cNvPr id="31" name="Surroundings icon" descr="preencoded.png">    </p:cNvPr>
          <p:cNvPicPr>
            <a:picLocks noChangeAspect="1"/>
          </p:cNvPicPr>
          <p:nvPr/>
        </p:nvPicPr>
        <p:blipFill>
          <a:blip r:embed="rId7"/>
          <a:stretch>
            <a:fillRect/>
          </a:stretch>
        </p:blipFill>
        <p:spPr>
          <a:xfrm>
            <a:off x="10215677" y="2964485"/>
            <a:ext cx="380390" cy="380390"/>
          </a:xfrm>
          <a:prstGeom prst="rect">
            <a:avLst/>
          </a:prstGeom>
        </p:spPr>
      </p:pic>
      <p:sp>
        <p:nvSpPr>
          <p:cNvPr id="32" name="Surroundings label"/>
          <p:cNvSpPr txBox="1"/>
          <p:nvPr/>
        </p:nvSpPr>
        <p:spPr>
          <a:xfrm>
            <a:off x="923544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Surroundings</a:t>
            </a:r>
            <a:endParaRPr lang="en-US" sz="2000" dirty="0"/>
          </a:p>
        </p:txBody>
      </p:sp>
      <p:sp>
        <p:nvSpPr>
          <p:cNvPr id="33" name="Surroundings answer"/>
          <p:cNvSpPr txBox="1"/>
          <p:nvPr/>
        </p:nvSpPr>
        <p:spPr>
          <a:xfrm>
            <a:off x="928116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people and objects ahead</a:t>
            </a:r>
            <a:endParaRPr lang="en-US" sz="1500" dirty="0"/>
          </a:p>
        </p:txBody>
      </p:sp>
      <p:sp>
        <p:nvSpPr>
          <p:cNvPr id="34" name="Spoken answer"/>
          <p:cNvSpPr txBox="1"/>
          <p:nvPr/>
        </p:nvSpPr>
        <p:spPr>
          <a:xfrm>
            <a:off x="3749040" y="5257800"/>
            <a:ext cx="7863840" cy="685800"/>
          </a:xfrm>
          <a:prstGeom prst="roundRect">
            <a:avLst>
              <a:gd name="adj" fmla="val 13333"/>
            </a:avLst>
          </a:prstGeom>
          <a:solidFill>
            <a:srgbClr val="EEF5F1"/>
          </a:solidFill>
          <a:ln>
            <a:solidFill>
              <a:srgbClr val="EEF5F1"/>
            </a:solidFill>
          </a:ln>
        </p:spPr>
        <p:txBody>
          <a:bodyPr wrap="square" lIns="152400" tIns="152400" rIns="152400" bIns="152400" rtlCol="0" anchor="ctr"/>
          <a:lstStyle/>
          <a:p>
            <a:pPr indent="0" marL="0">
              <a:buNone/>
            </a:pPr>
            <a:r>
              <a:rPr lang="en-US" sz="2400" b="1" dirty="0">
                <a:solidFill>
                  <a:srgbClr val="006A4E"/>
                </a:solidFill>
                <a:latin typeface="Nirmala UI" pitchFamily="34" charset="0"/>
                <a:ea typeface="Nirmala UI" pitchFamily="34" charset="-122"/>
                <a:cs typeface="Nirmala UI" pitchFamily="34" charset="-120"/>
              </a:rPr>
              <a:t>পাঁচশত টাকার নোট</a:t>
            </a:r>
            <a:pPr indent="0" marL="0">
              <a:buNone/>
            </a:pPr>
            <a:r>
              <a:rPr lang="en-US" sz="1600" dirty="0">
                <a:solidFill>
                  <a:srgbClr val="1C2321"/>
                </a:solidFill>
              </a:rPr>
              <a:t>   "500 Taka note": the answer the glass speaks</a:t>
            </a:r>
            <a:endParaRPr lang="en-US" sz="2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Five modes, started by button or by voice</a:t>
            </a:r>
            <a:endParaRPr lang="en-US" sz="3000" dirty="0"/>
          </a:p>
        </p:txBody>
      </p:sp>
      <p:pic>
        <p:nvPicPr>
          <p:cNvPr id="3" name="Prototype, side view" descr="E:\Final SP\Thesis Report and paper\tools\deck\assets/1_17.jpg">    </p:cNvPr>
          <p:cNvPicPr>
            <a:picLocks noChangeAspect="1"/>
          </p:cNvPicPr>
          <p:nvPr/>
        </p:nvPicPr>
        <p:blipFill>
          <a:blip r:embed="rId1"/>
          <a:srcRect l="0" r="0" t="0" b="0"/>
          <a:stretch/>
        </p:blipFill>
        <p:spPr>
          <a:xfrm>
            <a:off x="548640" y="1325880"/>
            <a:ext cx="4572000" cy="2569464"/>
          </a:xfrm>
          <a:prstGeom prst="rect">
            <a:avLst/>
          </a:prstGeom>
        </p:spPr>
      </p:pic>
      <p:pic>
        <p:nvPicPr>
          <p:cNvPr id="4" name="Prototype, rear enclosure" descr="E:\Final SP\Thesis Report and paper\tools\deck\assets/1_16.jpg">    </p:cNvPr>
          <p:cNvPicPr>
            <a:picLocks noChangeAspect="1"/>
          </p:cNvPicPr>
          <p:nvPr/>
        </p:nvPicPr>
        <p:blipFill>
          <a:blip r:embed="rId2"/>
          <a:srcRect l="0" r="0" t="0" b="0"/>
          <a:stretch/>
        </p:blipFill>
        <p:spPr>
          <a:xfrm>
            <a:off x="548640" y="3986784"/>
            <a:ext cx="4572000" cy="1956816"/>
          </a:xfrm>
          <a:prstGeom prst="rect">
            <a:avLst/>
          </a:prstGeom>
        </p:spPr>
      </p:pic>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3"/>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Text reading</a:t>
            </a:r>
            <a:endParaRPr lang="en-US" sz="16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Bangla and English</a:t>
            </a:r>
            <a:endParaRPr lang="en-US" sz="13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4"/>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Objects</a:t>
            </a:r>
            <a:endParaRPr lang="en-US" sz="16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Named in Bangla</a:t>
            </a:r>
            <a:endParaRPr lang="en-US" sz="13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5"/>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Taka notes</a:t>
            </a:r>
            <a:endParaRPr lang="en-US" sz="16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Value + safe check</a:t>
            </a:r>
            <a:endParaRPr lang="en-US" sz="13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6"/>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Emotion</a:t>
            </a:r>
            <a:endParaRPr lang="en-US" sz="16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Face in front</a:t>
            </a:r>
            <a:endParaRPr lang="en-US" sz="13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7"/>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600" b="1" dirty="0">
                <a:solidFill>
                  <a:schemeClr val="tx2"/>
                </a:solidFill>
              </a:rPr>
              <a:t>Online description</a:t>
            </a:r>
            <a:endParaRPr lang="en-US" sz="16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300" dirty="0">
                <a:solidFill>
                  <a:schemeClr val="tx1"/>
                </a:solidFill>
              </a:rPr>
              <a:t>Optional; needs internet</a:t>
            </a:r>
            <a:endParaRPr lang="en-US" sz="13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3A8F72"/>
          </a:solidFill>
          <a:ln w="12700">
            <a:solidFill>
              <a:srgbClr val="3A8F72"/>
            </a:solidFill>
            <a:prstDash val="solid"/>
          </a:ln>
        </p:spPr>
      </p:sp>
      <p:pic>
        <p:nvPicPr>
          <p:cNvPr id="32" name="Buttons icon" descr="preencoded.png">    </p:cNvPr>
          <p:cNvPicPr>
            <a:picLocks noChangeAspect="1"/>
          </p:cNvPicPr>
          <p:nvPr/>
        </p:nvPicPr>
        <p:blipFill>
          <a:blip r:embed="rId8"/>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9"/>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475488">
                <a:tc>
                  <a:txBody>
                    <a:bodyPr/>
                    <a:lstStyle/>
                    <a:p>
                      <a:pPr indent="0" marL="0">
                        <a:buNone/>
                      </a:pPr>
                      <a:r>
                        <a:rPr lang="en-US" sz="1600" dirty="0">
                          <a:solidFill>
                            <a:srgbClr val="1C2321"/>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C2321"/>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4EFEA"/>
                </a:solidFill>
              </a:rPr>
              <a:t>Counterfeit tests reuse the same prints</a:t>
            </a:r>
            <a:endParaRPr lang="en-US" sz="1600" dirty="0"/>
          </a:p>
          <a:p>
            <a:pPr marL="342900" indent="-342900">
              <a:spcAft>
                <a:spcPts val="800"/>
              </a:spcAft>
              <a:buSzPct val="100000"/>
              <a:buChar char="•"/>
            </a:pPr>
            <a:r>
              <a:rPr lang="en-US" sz="1600" dirty="0">
                <a:solidFill>
                  <a:srgbClr val="E4EFEA"/>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buttons, voice card"/>
          <p:cNvSpPr/>
          <p:nvPr/>
        </p:nvSpPr>
        <p:spPr>
          <a:xfrm>
            <a:off x="548640" y="1325880"/>
            <a:ext cx="2514600" cy="3840480"/>
          </a:xfrm>
          <a:prstGeom prst="roundRect">
            <a:avLst>
              <a:gd name="adj" fmla="val 4364"/>
            </a:avLst>
          </a:prstGeom>
          <a:solidFill>
            <a:schemeClr val="bg2"/>
          </a:solidFill>
          <a:ln w="12700">
            <a:solidFill>
              <a:schemeClr val="bg2"/>
            </a:solidFill>
            <a:prstDash val="solid"/>
          </a:ln>
        </p:spPr>
      </p:sp>
      <p:sp>
        <p:nvSpPr>
          <p:cNvPr id="4" name="Camera, buttons, voice circle"/>
          <p:cNvSpPr/>
          <p:nvPr/>
        </p:nvSpPr>
        <p:spPr>
          <a:xfrm>
            <a:off x="1261872" y="1554480"/>
            <a:ext cx="1097280" cy="1097280"/>
          </a:xfrm>
          <a:prstGeom prst="ellipse">
            <a:avLst/>
          </a:prstGeom>
          <a:solidFill>
            <a:srgbClr val="006A4E"/>
          </a:solidFill>
          <a:ln w="12700">
            <a:solidFill>
              <a:srgbClr val="006A4E"/>
            </a:solidFill>
            <a:prstDash val="solid"/>
          </a:ln>
        </p:spPr>
      </p:sp>
      <p:pic>
        <p:nvPicPr>
          <p:cNvPr id="5" name="Camera, buttons, voice icon" descr="preencoded.png">    </p:cNvPr>
          <p:cNvPicPr>
            <a:picLocks noChangeAspect="1"/>
          </p:cNvPicPr>
          <p:nvPr/>
        </p:nvPicPr>
        <p:blipFill>
          <a:blip r:embed="rId1"/>
          <a:stretch>
            <a:fillRect/>
          </a:stretch>
        </p:blipFill>
        <p:spPr>
          <a:xfrm>
            <a:off x="1525219" y="1817827"/>
            <a:ext cx="570586" cy="570586"/>
          </a:xfrm>
          <a:prstGeom prst="rect">
            <a:avLst/>
          </a:prstGeom>
        </p:spPr>
      </p:pic>
      <p:sp>
        <p:nvSpPr>
          <p:cNvPr id="6" name="Camera, buttons, voice heading"/>
          <p:cNvSpPr txBox="1"/>
          <p:nvPr/>
        </p:nvSpPr>
        <p:spPr>
          <a:xfrm>
            <a:off x="64008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Camera, buttons, voice</a:t>
            </a:r>
            <a:endParaRPr lang="en-US" sz="2000" dirty="0"/>
          </a:p>
        </p:txBody>
      </p:sp>
      <p:sp>
        <p:nvSpPr>
          <p:cNvPr id="7" name="Camera, buttons, voice details"/>
          <p:cNvSpPr txBox="1"/>
          <p:nvPr/>
        </p:nvSpPr>
        <p:spPr>
          <a:xfrm>
            <a:off x="685800" y="3566160"/>
            <a:ext cx="2240280" cy="2148840"/>
          </a:xfrm>
          <a:prstGeom prst="rect">
            <a:avLst/>
          </a:prstGeom>
          <a:noFill/>
          <a:ln/>
        </p:spPr>
        <p:txBody>
          <a:bodyPr wrap="square" lIns="0" tIns="0" rIns="0" bIns="0" rtlCol="0" anchor="t"/>
          <a:lstStyle/>
          <a:p>
            <a:pPr algn="ctr" indent="0" marL="0">
              <a:spcAft>
                <a:spcPts val="600"/>
              </a:spcAft>
              <a:buNone/>
            </a:pPr>
            <a:r>
              <a:rPr lang="en-US" sz="1400" dirty="0">
                <a:solidFill>
                  <a:schemeClr val="tx1"/>
                </a:solidFill>
              </a:rPr>
              <a:t>Camera 640×480</a:t>
            </a:r>
            <a:endParaRPr lang="en-US" sz="1400" dirty="0"/>
          </a:p>
          <a:p>
            <a:pPr algn="ctr" indent="0" marL="0">
              <a:spcAft>
                <a:spcPts val="600"/>
              </a:spcAft>
              <a:buNone/>
            </a:pPr>
            <a:r>
              <a:rPr lang="en-US" sz="1400" dirty="0">
                <a:solidFill>
                  <a:schemeClr val="tx1"/>
                </a:solidFill>
              </a:rPr>
              <a:t>5 buttons on the frame</a:t>
            </a:r>
            <a:endParaRPr lang="en-US" sz="1400" dirty="0"/>
          </a:p>
          <a:p>
            <a:pPr algn="ctr" indent="0" marL="0">
              <a:spcAft>
                <a:spcPts val="600"/>
              </a:spcAft>
              <a:buNone/>
            </a:pPr>
            <a:r>
              <a:rPr lang="en-US" sz="1400" dirty="0">
                <a:solidFill>
                  <a:schemeClr val="tx1"/>
                </a:solidFill>
              </a:rPr>
              <a:t>Voice: "glass, …"</a:t>
            </a:r>
            <a:endParaRPr lang="en-US" sz="1400" dirty="0"/>
          </a:p>
        </p:txBody>
      </p:sp>
      <p:sp>
        <p:nvSpPr>
          <p:cNvPr id="8" name="Arrow 1"/>
          <p:cNvSpPr/>
          <p:nvPr/>
        </p:nvSpPr>
        <p:spPr>
          <a:xfrm>
            <a:off x="3136392" y="1874520"/>
            <a:ext cx="256032" cy="502920"/>
          </a:xfrm>
          <a:prstGeom prst="chevron">
            <a:avLst/>
          </a:prstGeom>
          <a:solidFill>
            <a:srgbClr val="B9DCCD"/>
          </a:solidFill>
          <a:ln w="12700">
            <a:solidFill>
              <a:srgbClr val="B9DCCD"/>
            </a:solidFill>
            <a:prstDash val="solid"/>
          </a:ln>
        </p:spPr>
      </p:sp>
      <p:sp>
        <p:nvSpPr>
          <p:cNvPr id="9" name="Raspberry Pi 5 card"/>
          <p:cNvSpPr/>
          <p:nvPr/>
        </p:nvSpPr>
        <p:spPr>
          <a:xfrm>
            <a:off x="3429000" y="1325880"/>
            <a:ext cx="2514600" cy="3840480"/>
          </a:xfrm>
          <a:prstGeom prst="roundRect">
            <a:avLst>
              <a:gd name="adj" fmla="val 4364"/>
            </a:avLst>
          </a:prstGeom>
          <a:solidFill>
            <a:schemeClr val="bg2"/>
          </a:solidFill>
          <a:ln w="12700">
            <a:solidFill>
              <a:schemeClr val="bg2"/>
            </a:solidFill>
            <a:prstDash val="solid"/>
          </a:ln>
        </p:spPr>
      </p:sp>
      <p:sp>
        <p:nvSpPr>
          <p:cNvPr id="10" name="Raspberry Pi 5 circle"/>
          <p:cNvSpPr/>
          <p:nvPr/>
        </p:nvSpPr>
        <p:spPr>
          <a:xfrm>
            <a:off x="4142232" y="1554480"/>
            <a:ext cx="1097280" cy="1097280"/>
          </a:xfrm>
          <a:prstGeom prst="ellipse">
            <a:avLst/>
          </a:prstGeom>
          <a:solidFill>
            <a:srgbClr val="0B4D3B"/>
          </a:solidFill>
          <a:ln w="12700">
            <a:solidFill>
              <a:srgbClr val="0B4D3B"/>
            </a:solidFill>
            <a:prstDash val="solid"/>
          </a:ln>
        </p:spPr>
      </p:sp>
      <p:pic>
        <p:nvPicPr>
          <p:cNvPr id="11" name="Raspberry Pi 5 icon" descr="preencoded.png">    </p:cNvPr>
          <p:cNvPicPr>
            <a:picLocks noChangeAspect="1"/>
          </p:cNvPicPr>
          <p:nvPr/>
        </p:nvPicPr>
        <p:blipFill>
          <a:blip r:embed="rId2"/>
          <a:stretch>
            <a:fillRect/>
          </a:stretch>
        </p:blipFill>
        <p:spPr>
          <a:xfrm>
            <a:off x="4405579" y="1817827"/>
            <a:ext cx="570586" cy="570586"/>
          </a:xfrm>
          <a:prstGeom prst="rect">
            <a:avLst/>
          </a:prstGeom>
        </p:spPr>
      </p:pic>
      <p:sp>
        <p:nvSpPr>
          <p:cNvPr id="12" name="Raspberry Pi 5 heading"/>
          <p:cNvSpPr txBox="1"/>
          <p:nvPr/>
        </p:nvSpPr>
        <p:spPr>
          <a:xfrm>
            <a:off x="352044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Raspberry Pi 5</a:t>
            </a:r>
            <a:endParaRPr lang="en-US" sz="2000" dirty="0"/>
          </a:p>
        </p:txBody>
      </p:sp>
      <p:sp>
        <p:nvSpPr>
          <p:cNvPr id="13" name="Raspberry Pi 5 details"/>
          <p:cNvSpPr txBox="1"/>
          <p:nvPr/>
        </p:nvSpPr>
        <p:spPr>
          <a:xfrm>
            <a:off x="3566160" y="3566160"/>
            <a:ext cx="2240280" cy="2148840"/>
          </a:xfrm>
          <a:prstGeom prst="rect">
            <a:avLst/>
          </a:prstGeom>
          <a:noFill/>
          <a:ln/>
        </p:spPr>
        <p:txBody>
          <a:bodyPr wrap="square" lIns="0" tIns="0" rIns="0" bIns="0" rtlCol="0" anchor="t"/>
          <a:lstStyle/>
          <a:p>
            <a:pPr algn="ctr" indent="0" marL="0">
              <a:spcAft>
                <a:spcPts val="600"/>
              </a:spcAft>
              <a:buNone/>
            </a:pPr>
            <a:r>
              <a:rPr lang="en-US" sz="1400" dirty="0">
                <a:solidFill>
                  <a:schemeClr val="tx1"/>
                </a:solidFill>
              </a:rPr>
              <a:t>Mode manager</a:t>
            </a:r>
            <a:endParaRPr lang="en-US" sz="1400" dirty="0"/>
          </a:p>
          <a:p>
            <a:pPr algn="ctr" indent="0" marL="0">
              <a:spcAft>
                <a:spcPts val="600"/>
              </a:spcAft>
              <a:buNone/>
            </a:pPr>
            <a:r>
              <a:rPr lang="en-US" sz="1400" dirty="0">
                <a:solidFill>
                  <a:schemeClr val="tx1"/>
                </a:solidFill>
              </a:rPr>
              <a:t>All models on the CPU</a:t>
            </a:r>
            <a:endParaRPr lang="en-US" sz="1400" dirty="0"/>
          </a:p>
          <a:p>
            <a:pPr algn="ctr" indent="0" marL="0">
              <a:spcAft>
                <a:spcPts val="600"/>
              </a:spcAft>
              <a:buNone/>
            </a:pPr>
            <a:r>
              <a:rPr lang="en-US" sz="1400" dirty="0">
                <a:solidFill>
                  <a:schemeClr val="tx1"/>
                </a:solidFill>
              </a:rPr>
              <a:t>Offline, except the online mode</a:t>
            </a:r>
            <a:endParaRPr lang="en-US" sz="1400" dirty="0"/>
          </a:p>
        </p:txBody>
      </p:sp>
      <p:sp>
        <p:nvSpPr>
          <p:cNvPr id="14" name="Arrow 2"/>
          <p:cNvSpPr/>
          <p:nvPr/>
        </p:nvSpPr>
        <p:spPr>
          <a:xfrm>
            <a:off x="6016752" y="1874520"/>
            <a:ext cx="256032" cy="502920"/>
          </a:xfrm>
          <a:prstGeom prst="chevron">
            <a:avLst/>
          </a:prstGeom>
          <a:solidFill>
            <a:srgbClr val="B9DCCD"/>
          </a:solidFill>
          <a:ln w="12700">
            <a:solidFill>
              <a:srgbClr val="B9DCCD"/>
            </a:solidFill>
            <a:prstDash val="solid"/>
          </a:ln>
        </p:spPr>
      </p:sp>
      <p:sp>
        <p:nvSpPr>
          <p:cNvPr id="15" name="AI modules card"/>
          <p:cNvSpPr/>
          <p:nvPr/>
        </p:nvSpPr>
        <p:spPr>
          <a:xfrm>
            <a:off x="6309360" y="1325880"/>
            <a:ext cx="2514600" cy="3840480"/>
          </a:xfrm>
          <a:prstGeom prst="roundRect">
            <a:avLst>
              <a:gd name="adj" fmla="val 4364"/>
            </a:avLst>
          </a:prstGeom>
          <a:solidFill>
            <a:schemeClr val="bg2"/>
          </a:solidFill>
          <a:ln w="12700">
            <a:solidFill>
              <a:schemeClr val="bg2"/>
            </a:solidFill>
            <a:prstDash val="solid"/>
          </a:ln>
        </p:spPr>
      </p:sp>
      <p:sp>
        <p:nvSpPr>
          <p:cNvPr id="16" name="AI modules circle"/>
          <p:cNvSpPr/>
          <p:nvPr/>
        </p:nvSpPr>
        <p:spPr>
          <a:xfrm>
            <a:off x="7022592" y="1554480"/>
            <a:ext cx="1097280" cy="1097280"/>
          </a:xfrm>
          <a:prstGeom prst="ellipse">
            <a:avLst/>
          </a:prstGeom>
          <a:solidFill>
            <a:srgbClr val="3A8F72"/>
          </a:solidFill>
          <a:ln w="12700">
            <a:solidFill>
              <a:srgbClr val="3A8F72"/>
            </a:solidFill>
            <a:prstDash val="solid"/>
          </a:ln>
        </p:spPr>
      </p:sp>
      <p:pic>
        <p:nvPicPr>
          <p:cNvPr id="17" name="AI modules icon" descr="preencoded.png">    </p:cNvPr>
          <p:cNvPicPr>
            <a:picLocks noChangeAspect="1"/>
          </p:cNvPicPr>
          <p:nvPr/>
        </p:nvPicPr>
        <p:blipFill>
          <a:blip r:embed="rId3"/>
          <a:stretch>
            <a:fillRect/>
          </a:stretch>
        </p:blipFill>
        <p:spPr>
          <a:xfrm>
            <a:off x="7285939" y="1817827"/>
            <a:ext cx="570586" cy="570586"/>
          </a:xfrm>
          <a:prstGeom prst="rect">
            <a:avLst/>
          </a:prstGeom>
        </p:spPr>
      </p:pic>
      <p:sp>
        <p:nvSpPr>
          <p:cNvPr id="18" name="AI modules heading"/>
          <p:cNvSpPr txBox="1"/>
          <p:nvPr/>
        </p:nvSpPr>
        <p:spPr>
          <a:xfrm>
            <a:off x="640080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AI modules</a:t>
            </a:r>
            <a:endParaRPr lang="en-US" sz="2000" dirty="0"/>
          </a:p>
        </p:txBody>
      </p:sp>
      <p:sp>
        <p:nvSpPr>
          <p:cNvPr id="19" name="AI modules details"/>
          <p:cNvSpPr txBox="1"/>
          <p:nvPr/>
        </p:nvSpPr>
        <p:spPr>
          <a:xfrm>
            <a:off x="6446520" y="3566160"/>
            <a:ext cx="2240280" cy="2148840"/>
          </a:xfrm>
          <a:prstGeom prst="rect">
            <a:avLst/>
          </a:prstGeom>
          <a:noFill/>
          <a:ln/>
        </p:spPr>
        <p:txBody>
          <a:bodyPr wrap="square" lIns="0" tIns="0" rIns="0" bIns="0" rtlCol="0" anchor="t"/>
          <a:lstStyle/>
          <a:p>
            <a:pPr algn="ctr" indent="0" marL="0">
              <a:spcAft>
                <a:spcPts val="600"/>
              </a:spcAft>
              <a:buNone/>
            </a:pPr>
            <a:r>
              <a:rPr lang="en-US" sz="1200" dirty="0">
                <a:solidFill>
                  <a:schemeClr val="tx1"/>
                </a:solidFill>
              </a:rPr>
              <a:t>Text: CRAFT + EasyOCR [5, 6]</a:t>
            </a:r>
            <a:endParaRPr lang="en-US" sz="1200" dirty="0"/>
          </a:p>
          <a:p>
            <a:pPr algn="ctr" indent="0" marL="0">
              <a:spcAft>
                <a:spcPts val="600"/>
              </a:spcAft>
              <a:buNone/>
            </a:pPr>
            <a:r>
              <a:rPr lang="en-US" sz="1200" dirty="0">
                <a:solidFill>
                  <a:schemeClr val="tx1"/>
                </a:solidFill>
              </a:rPr>
              <a:t>Objects: YOLOv8s, COCO [7, 8]</a:t>
            </a:r>
            <a:endParaRPr lang="en-US" sz="1200" dirty="0"/>
          </a:p>
          <a:p>
            <a:pPr algn="ctr" indent="0" marL="0">
              <a:spcAft>
                <a:spcPts val="600"/>
              </a:spcAft>
              <a:buNone/>
            </a:pPr>
            <a:r>
              <a:rPr lang="en-US" sz="1200" dirty="0">
                <a:solidFill>
                  <a:schemeClr val="tx1"/>
                </a:solidFill>
              </a:rPr>
              <a:t>Taka: YOLOv8s + safe checks</a:t>
            </a:r>
            <a:endParaRPr lang="en-US" sz="1200" dirty="0"/>
          </a:p>
          <a:p>
            <a:pPr algn="ctr" indent="0" marL="0">
              <a:spcAft>
                <a:spcPts val="600"/>
              </a:spcAft>
              <a:buNone/>
            </a:pPr>
            <a:r>
              <a:rPr lang="en-US" sz="1200" dirty="0">
                <a:solidFill>
                  <a:schemeClr val="tx1"/>
                </a:solidFill>
              </a:rPr>
              <a:t>Emotion: YuNet + EfficientNet [9]</a:t>
            </a:r>
            <a:endParaRPr lang="en-US" sz="1200" dirty="0"/>
          </a:p>
          <a:p>
            <a:pPr algn="ctr" indent="0" marL="0">
              <a:spcAft>
                <a:spcPts val="600"/>
              </a:spcAft>
              <a:buNone/>
            </a:pPr>
            <a:r>
              <a:rPr lang="en-US" sz="1200" dirty="0">
                <a:solidFill>
                  <a:schemeClr val="tx1"/>
                </a:solidFill>
              </a:rPr>
              <a:t>Online: cloud model (optional)</a:t>
            </a:r>
            <a:endParaRPr lang="en-US" sz="1200" dirty="0"/>
          </a:p>
        </p:txBody>
      </p:sp>
      <p:sp>
        <p:nvSpPr>
          <p:cNvPr id="20" name="Arrow 3"/>
          <p:cNvSpPr/>
          <p:nvPr/>
        </p:nvSpPr>
        <p:spPr>
          <a:xfrm>
            <a:off x="8897112" y="1874520"/>
            <a:ext cx="256032" cy="502920"/>
          </a:xfrm>
          <a:prstGeom prst="chevron">
            <a:avLst/>
          </a:prstGeom>
          <a:solidFill>
            <a:srgbClr val="B9DCCD"/>
          </a:solidFill>
          <a:ln w="12700">
            <a:solidFill>
              <a:srgbClr val="B9DCCD"/>
            </a:solidFill>
            <a:prstDash val="solid"/>
          </a:ln>
        </p:spPr>
      </p:sp>
      <p:sp>
        <p:nvSpPr>
          <p:cNvPr id="21" name="Audio + vibration card"/>
          <p:cNvSpPr/>
          <p:nvPr/>
        </p:nvSpPr>
        <p:spPr>
          <a:xfrm>
            <a:off x="9189720" y="1325880"/>
            <a:ext cx="2514600" cy="3840480"/>
          </a:xfrm>
          <a:prstGeom prst="roundRect">
            <a:avLst>
              <a:gd name="adj" fmla="val 4364"/>
            </a:avLst>
          </a:prstGeom>
          <a:solidFill>
            <a:schemeClr val="bg2"/>
          </a:solidFill>
          <a:ln w="12700">
            <a:solidFill>
              <a:schemeClr val="bg2"/>
            </a:solidFill>
            <a:prstDash val="solid"/>
          </a:ln>
        </p:spPr>
      </p:sp>
      <p:sp>
        <p:nvSpPr>
          <p:cNvPr id="22" name="Audio + vibration circle"/>
          <p:cNvSpPr/>
          <p:nvPr/>
        </p:nvSpPr>
        <p:spPr>
          <a:xfrm>
            <a:off x="9902952" y="1554480"/>
            <a:ext cx="1097280" cy="1097280"/>
          </a:xfrm>
          <a:prstGeom prst="ellipse">
            <a:avLst/>
          </a:prstGeom>
          <a:solidFill>
            <a:srgbClr val="006A4E"/>
          </a:solidFill>
          <a:ln w="12700">
            <a:solidFill>
              <a:srgbClr val="006A4E"/>
            </a:solidFill>
            <a:prstDash val="solid"/>
          </a:ln>
        </p:spPr>
      </p:sp>
      <p:pic>
        <p:nvPicPr>
          <p:cNvPr id="23" name="Audio + vibration icon" descr="preencoded.png">    </p:cNvPr>
          <p:cNvPicPr>
            <a:picLocks noChangeAspect="1"/>
          </p:cNvPicPr>
          <p:nvPr/>
        </p:nvPicPr>
        <p:blipFill>
          <a:blip r:embed="rId4"/>
          <a:stretch>
            <a:fillRect/>
          </a:stretch>
        </p:blipFill>
        <p:spPr>
          <a:xfrm>
            <a:off x="10166299" y="1817827"/>
            <a:ext cx="570586" cy="570586"/>
          </a:xfrm>
          <a:prstGeom prst="rect">
            <a:avLst/>
          </a:prstGeom>
        </p:spPr>
      </p:pic>
      <p:sp>
        <p:nvSpPr>
          <p:cNvPr id="24" name="Audio + vibration heading"/>
          <p:cNvSpPr txBox="1"/>
          <p:nvPr/>
        </p:nvSpPr>
        <p:spPr>
          <a:xfrm>
            <a:off x="928116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Audio + vibration</a:t>
            </a:r>
            <a:endParaRPr lang="en-US" sz="2000" dirty="0"/>
          </a:p>
        </p:txBody>
      </p:sp>
      <p:sp>
        <p:nvSpPr>
          <p:cNvPr id="25" name="Audio + vibration details"/>
          <p:cNvSpPr txBox="1"/>
          <p:nvPr/>
        </p:nvSpPr>
        <p:spPr>
          <a:xfrm>
            <a:off x="9326880" y="3566160"/>
            <a:ext cx="2240280" cy="2148840"/>
          </a:xfrm>
          <a:prstGeom prst="rect">
            <a:avLst/>
          </a:prstGeom>
          <a:noFill/>
          <a:ln/>
        </p:spPr>
        <p:txBody>
          <a:bodyPr wrap="square" lIns="0" tIns="0" rIns="0" bIns="0" rtlCol="0" anchor="t"/>
          <a:lstStyle/>
          <a:p>
            <a:pPr algn="ctr" indent="0" marL="0">
              <a:spcAft>
                <a:spcPts val="600"/>
              </a:spcAft>
              <a:buNone/>
            </a:pPr>
            <a:r>
              <a:rPr lang="en-US" sz="1400" dirty="0">
                <a:solidFill>
                  <a:schemeClr val="tx1"/>
                </a:solidFill>
              </a:rPr>
              <a:t>Bangla or English speech [10, 11]</a:t>
            </a:r>
            <a:endParaRPr lang="en-US" sz="1400" dirty="0"/>
          </a:p>
          <a:p>
            <a:pPr algn="ctr" indent="0" marL="0">
              <a:spcAft>
                <a:spcPts val="600"/>
              </a:spcAft>
              <a:buNone/>
            </a:pPr>
            <a:r>
              <a:rPr lang="en-US" sz="1400" dirty="0">
                <a:solidFill>
                  <a:schemeClr val="tx1"/>
                </a:solidFill>
              </a:rPr>
              <a:t>Vibration for a note</a:t>
            </a:r>
            <a:endParaRPr lang="en-US" sz="1400" dirty="0"/>
          </a:p>
        </p:txBody>
      </p:sp>
      <p:sp>
        <p:nvSpPr>
          <p:cNvPr id="26" name="Pipeline takeaway"/>
          <p:cNvSpPr txBox="1"/>
          <p:nvPr/>
        </p:nvSpPr>
        <p:spPr>
          <a:xfrm>
            <a:off x="548640" y="534924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Everything runs on the glass itself; only the optional online mode uses the internet.</a:t>
            </a:r>
            <a:endParaRPr lang="en-US" sz="1800" dirty="0"/>
          </a:p>
        </p:txBody>
      </p:sp>
      <p:sp>
        <p:nvSpPr>
          <p:cNvPr id="2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Version 1</a:t>
            </a:r>
            <a:endParaRPr lang="en-US" sz="1600" dirty="0"/>
          </a:p>
          <a:p>
            <a:pPr indent="0" marL="0">
              <a:buNone/>
            </a:pPr>
            <a:r>
              <a:rPr lang="en-US" sz="1300" dirty="0">
                <a:solidFill>
                  <a:srgbClr val="5E6B66"/>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Front</a:t>
            </a:r>
            <a:endParaRPr lang="en-US" sz="1600" dirty="0"/>
          </a:p>
          <a:p>
            <a:pPr indent="0" marL="0">
              <a:buNone/>
            </a:pPr>
            <a:r>
              <a:rPr lang="en-US" sz="1300" dirty="0">
                <a:solidFill>
                  <a:srgbClr val="5E6B66"/>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Side</a:t>
            </a:r>
            <a:endParaRPr lang="en-US" sz="1600" dirty="0"/>
          </a:p>
          <a:p>
            <a:pPr indent="0" marL="0">
              <a:buNone/>
            </a:pPr>
            <a:r>
              <a:rPr lang="en-US" sz="1300" dirty="0">
                <a:solidFill>
                  <a:srgbClr val="5E6B66"/>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Rear</a:t>
            </a:r>
            <a:endParaRPr lang="en-US" sz="1600" dirty="0"/>
          </a:p>
          <a:p>
            <a:pPr indent="0" marL="0">
              <a:buNone/>
            </a:pPr>
            <a:r>
              <a:rPr lang="en-US" sz="1300" dirty="0">
                <a:solidFill>
                  <a:srgbClr val="5E6B66"/>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[12] are pasted onto real scenes [8],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8" name="mAP label"/>
          <p:cNvSpPr txBox="1"/>
          <p:nvPr/>
        </p:nvSpPr>
        <p:spPr>
          <a:xfrm>
            <a:off x="8641080" y="2697480"/>
            <a:ext cx="2743200" cy="548640"/>
          </a:xfrm>
          <a:prstGeom prst="rect">
            <a:avLst/>
          </a:prstGeom>
          <a:noFill/>
          <a:ln/>
        </p:spPr>
        <p:txBody>
          <a:bodyPr wrap="square" lIns="0" tIns="0" rIns="0" bIns="0" rtlCol="0" anchor="t"/>
          <a:lstStyle/>
          <a:p>
            <a:pPr indent="0" marL="0">
              <a:buNone/>
            </a:pPr>
            <a:r>
              <a:rPr lang="en-US" sz="1300" dirty="0">
                <a:solidFill>
                  <a:schemeClr val="tx1"/>
                </a:solidFill>
              </a:rPr>
              <a:t>mAP@0.5 on 2,282 held-out composites</a:t>
            </a:r>
            <a:endParaRPr lang="en-US" sz="13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4EFEA"/>
                </a:solidFill>
              </a:rPr>
              <a:t>right note value on 1,536 photos taken by other people</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CFE2DA"/>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9C4BF"/>
                </a:solidFill>
                <a:latin typeface="Cambria" pitchFamily="34" charset="0"/>
                <a:ea typeface="Cambria" pitchFamily="34" charset="-122"/>
                <a:cs typeface="Cambria"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CFE2DA"/>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CFE2DA"/>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4EFEA"/>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15]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4EFEA"/>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 Earlier Taka counterfeit work: [16] SVM on security features; [17] CNNs; [19]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46× smaller</a:t>
            </a:r>
            <a:endParaRPr lang="en-US" sz="3600" dirty="0"/>
          </a:p>
        </p:txBody>
      </p:sp>
      <p:sp>
        <p:nvSpPr>
          <p:cNvPr id="9" name="DMWR size label"/>
          <p:cNvSpPr txBox="1"/>
          <p:nvPr/>
        </p:nvSpPr>
        <p:spPr>
          <a:xfrm>
            <a:off x="8138160" y="4023360"/>
            <a:ext cx="3291840" cy="548640"/>
          </a:xfrm>
          <a:prstGeom prst="rect">
            <a:avLst/>
          </a:prstGeom>
          <a:noFill/>
          <a:ln/>
        </p:spPr>
        <p:txBody>
          <a:bodyPr wrap="square" lIns="0" tIns="0" rIns="0" bIns="0" rtlCol="0" anchor="t"/>
          <a:lstStyle/>
          <a:p>
            <a:pPr indent="0" marL="0">
              <a:buNone/>
            </a:pPr>
            <a:r>
              <a:rPr lang="en-US" sz="1300" dirty="0">
                <a:solidFill>
                  <a:schemeClr val="tx1"/>
                </a:solidFill>
              </a:rPr>
              <a:t>than MobileNetV2 [18] (47,818 parameters, 0.21 MB), and as accurate: 92.9%, p ≥ 0.375</a:t>
            </a:r>
            <a:endParaRPr lang="en-US" sz="13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[18]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548640"/>
          </a:xfrm>
          <a:prstGeom prst="rect">
            <a:avLst/>
          </a:prstGeom>
          <a:noFill/>
          <a:ln/>
        </p:spPr>
        <p:txBody>
          <a:bodyPr wrap="square" lIns="0" tIns="0" rIns="0" bIns="0" rtlCol="0" anchor="t"/>
          <a:lstStyle/>
          <a:p>
            <a:pPr indent="0" marL="0">
              <a:buNone/>
            </a:pPr>
            <a:r>
              <a:rPr lang="en-US" sz="1300" dirty="0">
                <a:solidFill>
                  <a:schemeClr val="tx1"/>
                </a:solidFill>
              </a:rPr>
              <a:t>test counterfeits passed as "likely genuine"</a:t>
            </a:r>
            <a:endParaRPr lang="en-US" sz="13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006A4E"/>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glass carries its own UV lamp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111 real UV photos of genuine notes accepted</a:t>
            </a:r>
            <a:endParaRPr lang="en-US" sz="13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SIMULATED fibre-free sheets rejected (not real counterfeits)</a:t>
            </a:r>
            <a:endParaRPr lang="en-US" sz="13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[20]. Prior Taka UV work: [19]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Cambria" pitchFamily="34" charset="0"/>
                <a:ea typeface="Cambria" pitchFamily="34" charset="-122"/>
                <a:cs typeface="Cambria"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[21]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[10, 11]</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1" name="False commands label"/>
          <p:cNvSpPr txBox="1"/>
          <p:nvPr/>
        </p:nvSpPr>
        <p:spPr>
          <a:xfrm>
            <a:off x="9326880" y="2148840"/>
            <a:ext cx="2286000" cy="548640"/>
          </a:xfrm>
          <a:prstGeom prst="rect">
            <a:avLst/>
          </a:prstGeom>
          <a:noFill/>
          <a:ln/>
        </p:spPr>
        <p:txBody>
          <a:bodyPr wrap="square" lIns="0" tIns="0" rIns="0" bIns="0" rtlCol="0" anchor="t"/>
          <a:lstStyle/>
          <a:p>
            <a:pPr indent="0" marL="0">
              <a:buNone/>
            </a:pPr>
            <a:r>
              <a:rPr lang="en-US" sz="1300" dirty="0">
                <a:solidFill>
                  <a:schemeClr val="tx1"/>
                </a:solidFill>
              </a:rPr>
              <a:t>false commands in 5,040 ordinary sentences, thanks to the wake word</a:t>
            </a:r>
            <a:endParaRPr lang="en-US" sz="13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3" name="Response label"/>
          <p:cNvSpPr txBox="1"/>
          <p:nvPr/>
        </p:nvSpPr>
        <p:spPr>
          <a:xfrm>
            <a:off x="9326880" y="3931920"/>
            <a:ext cx="2286000" cy="548640"/>
          </a:xfrm>
          <a:prstGeom prst="rect">
            <a:avLst/>
          </a:prstGeom>
          <a:noFill/>
          <a:ln/>
        </p:spPr>
        <p:txBody>
          <a:bodyPr wrap="square" lIns="0" tIns="0" rIns="0" bIns="0" rtlCol="0" anchor="t"/>
          <a:lstStyle/>
          <a:p>
            <a:pPr indent="0" marL="0">
              <a:buNone/>
            </a:pPr>
            <a:r>
              <a:rPr lang="en-US" sz="1300" dirty="0">
                <a:solidFill>
                  <a:schemeClr val="tx1"/>
                </a:solidFill>
              </a:rPr>
              <a:t>from the end of speech to the action (median)</a:t>
            </a:r>
            <a:endParaRPr lang="en-US" sz="13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[22] Vosk; noise from [23]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currency check, end to end</a:t>
            </a:r>
            <a:endParaRPr lang="en-US" sz="13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watermark check</a:t>
            </a:r>
            <a:endParaRPr lang="en-US" sz="13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object scan (YOLOv8s)</a:t>
            </a:r>
            <a:endParaRPr lang="en-US" sz="13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emotion, face in view</a:t>
            </a:r>
            <a:endParaRPr lang="en-US" sz="13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3-line sign, text found once</a:t>
            </a:r>
            <a:endParaRPr lang="en-US" sz="13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peak memory, 30-minute run</a:t>
            </a:r>
            <a:endParaRPr lang="en-US" sz="13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4EFEA"/>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CFE2DA"/>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 where the project stands</a:t>
            </a:r>
            <a:endParaRPr lang="en-US" sz="3000" dirty="0"/>
          </a:p>
        </p:txBody>
      </p:sp>
      <p:pic>
        <p:nvPicPr>
          <p:cNvPr id="3" name="Worn glass 1" descr="E:\Final SP\Thesis Report and paper\tools\deck\assets/1_5.jpg">    </p:cNvPr>
          <p:cNvPicPr>
            <a:picLocks noChangeAspect="1"/>
          </p:cNvPicPr>
          <p:nvPr/>
        </p:nvPicPr>
        <p:blipFill>
          <a:blip r:embed="rId1"/>
          <a:srcRect l="0" r="0" t="0" b="0"/>
          <a:stretch/>
        </p:blipFill>
        <p:spPr>
          <a:xfrm>
            <a:off x="548640" y="1325880"/>
            <a:ext cx="2194560" cy="3904488"/>
          </a:xfrm>
          <a:prstGeom prst="rect">
            <a:avLst/>
          </a:prstGeom>
        </p:spPr>
      </p:pic>
      <p:pic>
        <p:nvPicPr>
          <p:cNvPr id="4" name="Worn glass 2" descr="E:\Final SP\Thesis Report and paper\tools\deck\assets/1_18.jpg">    </p:cNvPr>
          <p:cNvPicPr>
            <a:picLocks noChangeAspect="1"/>
          </p:cNvPicPr>
          <p:nvPr/>
        </p:nvPicPr>
        <p:blipFill>
          <a:blip r:embed="rId2"/>
          <a:srcRect l="0" r="0" t="0" b="0"/>
          <a:stretch/>
        </p:blipFill>
        <p:spPr>
          <a:xfrm>
            <a:off x="2880360" y="1325880"/>
            <a:ext cx="2194560" cy="3904488"/>
          </a:xfrm>
          <a:prstGeom prst="rect">
            <a:avLst/>
          </a:prstGeom>
        </p:spPr>
      </p:pic>
      <p:pic>
        <p:nvPicPr>
          <p:cNvPr id="5" name="Worn glass 3" descr="E:\Final SP\Thesis Report and paper\tools\deck\assets/1_1.jpg">    </p:cNvPr>
          <p:cNvPicPr>
            <a:picLocks noChangeAspect="1"/>
          </p:cNvPicPr>
          <p:nvPr/>
        </p:nvPicPr>
        <p:blipFill>
          <a:blip r:embed="rId3"/>
          <a:srcRect l="0" r="0" t="0" b="0"/>
          <a:stretch/>
        </p:blipFill>
        <p:spPr>
          <a:xfrm>
            <a:off x="5212080" y="1325880"/>
            <a:ext cx="2194560" cy="3904488"/>
          </a:xfrm>
          <a:prstGeom prst="rect">
            <a:avLst/>
          </a:prstGeom>
        </p:spPr>
      </p:pic>
      <p:sp>
        <p:nvSpPr>
          <p:cNvPr id="6" name="Worn caption"/>
          <p:cNvSpPr txBox="1"/>
          <p:nvPr/>
        </p:nvSpPr>
        <p:spPr>
          <a:xfrm>
            <a:off x="548640" y="5349240"/>
            <a:ext cx="6858000" cy="640080"/>
          </a:xfrm>
          <a:prstGeom prst="rect">
            <a:avLst/>
          </a:prstGeom>
          <a:noFill/>
          <a:ln/>
        </p:spPr>
        <p:txBody>
          <a:bodyPr wrap="square" lIns="0" tIns="0" rIns="0" bIns="0" rtlCol="0" anchor="t"/>
          <a:lstStyle/>
          <a:p>
            <a:pPr indent="0" marL="0">
              <a:buNone/>
            </a:pPr>
            <a:r>
              <a:rPr lang="en-US" sz="1400" i="1" dirty="0">
                <a:solidFill>
                  <a:schemeClr val="accent5"/>
                </a:solidFill>
              </a:rPr>
              <a:t>Prototype version 2 on team members: fit, weight and button reach are checked before user trials.</a:t>
            </a:r>
            <a:endParaRPr lang="en-US" sz="1400" dirty="0"/>
          </a:p>
        </p:txBody>
      </p:sp>
      <p:sp>
        <p:nvSpPr>
          <p:cNvPr id="7" name="Engineering tests card"/>
          <p:cNvSpPr/>
          <p:nvPr/>
        </p:nvSpPr>
        <p:spPr>
          <a:xfrm>
            <a:off x="7726680" y="1325880"/>
            <a:ext cx="3886200" cy="1417320"/>
          </a:xfrm>
          <a:prstGeom prst="roundRect">
            <a:avLst>
              <a:gd name="adj" fmla="val 6452"/>
            </a:avLst>
          </a:prstGeom>
          <a:solidFill>
            <a:srgbClr val="EEF5F1"/>
          </a:solidFill>
          <a:ln w="15875">
            <a:solidFill>
              <a:srgbClr val="006A4E"/>
            </a:solidFill>
            <a:prstDash val="solid"/>
          </a:ln>
        </p:spPr>
      </p:sp>
      <p:sp>
        <p:nvSpPr>
          <p:cNvPr id="8" name="Engineering tests status"/>
          <p:cNvSpPr txBox="1"/>
          <p:nvPr/>
        </p:nvSpPr>
        <p:spPr>
          <a:xfrm>
            <a:off x="7909560" y="1463040"/>
            <a:ext cx="1325880" cy="329184"/>
          </a:xfrm>
          <a:prstGeom prst="roundRect">
            <a:avLst>
              <a:gd name="adj" fmla="val 16667"/>
            </a:avLst>
          </a:prstGeom>
          <a:solidFill>
            <a:srgbClr val="006A4E"/>
          </a:solidFill>
          <a:ln>
            <a:solidFill>
              <a:srgbClr val="006A4E"/>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9" name="Engineering tests heading"/>
          <p:cNvSpPr txBox="1"/>
          <p:nvPr/>
        </p:nvSpPr>
        <p:spPr>
          <a:xfrm>
            <a:off x="9326880" y="1435608"/>
            <a:ext cx="2194560" cy="384048"/>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Engineering tests</a:t>
            </a:r>
            <a:endParaRPr lang="en-US" sz="1800" dirty="0"/>
          </a:p>
        </p:txBody>
      </p:sp>
      <p:sp>
        <p:nvSpPr>
          <p:cNvPr id="10" name="Engineering tests text"/>
          <p:cNvSpPr txBox="1"/>
          <p:nvPr/>
        </p:nvSpPr>
        <p:spPr>
          <a:xfrm>
            <a:off x="7909560" y="1892808"/>
            <a:ext cx="3566160" cy="77724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11" name="Participant trials card"/>
          <p:cNvSpPr/>
          <p:nvPr/>
        </p:nvSpPr>
        <p:spPr>
          <a:xfrm>
            <a:off x="7726680" y="2862072"/>
            <a:ext cx="3886200" cy="1417320"/>
          </a:xfrm>
          <a:prstGeom prst="roundRect">
            <a:avLst>
              <a:gd name="adj" fmla="val 6452"/>
            </a:avLst>
          </a:prstGeom>
          <a:solidFill>
            <a:srgbClr val="FFF8E6"/>
          </a:solidFill>
          <a:ln w="15875">
            <a:solidFill>
              <a:srgbClr val="E6A817"/>
            </a:solidFill>
            <a:prstDash val="solid"/>
          </a:ln>
        </p:spPr>
      </p:sp>
      <p:sp>
        <p:nvSpPr>
          <p:cNvPr id="12" name="Participant trials status"/>
          <p:cNvSpPr txBox="1"/>
          <p:nvPr/>
        </p:nvSpPr>
        <p:spPr>
          <a:xfrm>
            <a:off x="7909560" y="2999232"/>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IN PROGRESS</a:t>
            </a:r>
            <a:endParaRPr lang="en-US" sz="1200" dirty="0"/>
          </a:p>
        </p:txBody>
      </p:sp>
      <p:sp>
        <p:nvSpPr>
          <p:cNvPr id="13" name="Participant trials heading"/>
          <p:cNvSpPr txBox="1"/>
          <p:nvPr/>
        </p:nvSpPr>
        <p:spPr>
          <a:xfrm>
            <a:off x="9326880" y="2971800"/>
            <a:ext cx="2194560" cy="384048"/>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Participant trials</a:t>
            </a:r>
            <a:endParaRPr lang="en-US" sz="1800" dirty="0"/>
          </a:p>
        </p:txBody>
      </p:sp>
      <p:sp>
        <p:nvSpPr>
          <p:cNvPr id="14" name="Participant trials text"/>
          <p:cNvSpPr txBox="1"/>
          <p:nvPr/>
        </p:nvSpPr>
        <p:spPr>
          <a:xfrm>
            <a:off x="7909560" y="3429000"/>
            <a:ext cx="3566160" cy="77724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no user study complete yet</a:t>
            </a:r>
            <a:endParaRPr lang="en-US" sz="1400" dirty="0"/>
          </a:p>
        </p:txBody>
      </p:sp>
      <p:sp>
        <p:nvSpPr>
          <p:cNvPr id="15" name="Glass camera card"/>
          <p:cNvSpPr/>
          <p:nvPr/>
        </p:nvSpPr>
        <p:spPr>
          <a:xfrm>
            <a:off x="7726680" y="4398264"/>
            <a:ext cx="3886200" cy="1417320"/>
          </a:xfrm>
          <a:prstGeom prst="roundRect">
            <a:avLst>
              <a:gd name="adj" fmla="val 6452"/>
            </a:avLst>
          </a:prstGeom>
          <a:solidFill>
            <a:srgbClr val="FBE9EB"/>
          </a:solidFill>
          <a:ln w="15875">
            <a:solidFill>
              <a:srgbClr val="D7263D"/>
            </a:solidFill>
            <a:prstDash val="solid"/>
          </a:ln>
        </p:spPr>
      </p:sp>
      <p:sp>
        <p:nvSpPr>
          <p:cNvPr id="16" name="Glass camera status"/>
          <p:cNvSpPr txBox="1"/>
          <p:nvPr/>
        </p:nvSpPr>
        <p:spPr>
          <a:xfrm>
            <a:off x="7909560" y="4535424"/>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LIMITATION</a:t>
            </a:r>
            <a:endParaRPr lang="en-US" sz="1200" dirty="0"/>
          </a:p>
        </p:txBody>
      </p:sp>
      <p:sp>
        <p:nvSpPr>
          <p:cNvPr id="17" name="Glass camera heading"/>
          <p:cNvSpPr txBox="1"/>
          <p:nvPr/>
        </p:nvSpPr>
        <p:spPr>
          <a:xfrm>
            <a:off x="9326880" y="4507992"/>
            <a:ext cx="2194560" cy="384048"/>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Glass camera</a:t>
            </a:r>
            <a:endParaRPr lang="en-US" sz="1800" dirty="0"/>
          </a:p>
        </p:txBody>
      </p:sp>
      <p:sp>
        <p:nvSpPr>
          <p:cNvPr id="18" name="Glass camera text"/>
          <p:cNvSpPr txBox="1"/>
          <p:nvPr/>
        </p:nvSpPr>
        <p:spPr>
          <a:xfrm>
            <a:off x="7909560" y="4965192"/>
            <a:ext cx="3566160" cy="777240"/>
          </a:xfrm>
          <a:prstGeom prst="rect">
            <a:avLst/>
          </a:prstGeom>
          <a:noFill/>
          <a:ln/>
        </p:spPr>
        <p:txBody>
          <a:bodyPr wrap="square" lIns="0" tIns="0" rIns="0" bIns="0" rtlCol="0" anchor="t"/>
          <a:lstStyle/>
          <a:p>
            <a:pPr indent="0" marL="0">
              <a:buNone/>
            </a:pPr>
            <a:r>
              <a:rPr lang="en-US" sz="1400" dirty="0">
                <a:solidFill>
                  <a:schemeClr val="tx1"/>
                </a:solidFill>
              </a:rPr>
              <a:t>First field test: currency unreliable, Bangla text not read (640×480, fixed focus)</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the roadmap</a:t>
            </a:r>
            <a:endParaRPr lang="en-US" sz="3000" dirty="0"/>
          </a:p>
        </p:txBody>
      </p:sp>
      <p:sp>
        <p:nvSpPr>
          <p:cNvPr id="3" name="Roadmap line"/>
          <p:cNvSpPr/>
          <p:nvPr/>
        </p:nvSpPr>
        <p:spPr>
          <a:xfrm>
            <a:off x="1097280" y="2377440"/>
            <a:ext cx="9966960" cy="73152"/>
          </a:xfrm>
          <a:prstGeom prst="rect">
            <a:avLst/>
          </a:prstGeom>
          <a:solidFill>
            <a:srgbClr val="B9DCCD"/>
          </a:solidFill>
          <a:ln w="12700">
            <a:solidFill>
              <a:srgbClr val="B9DCCD"/>
            </a:solidFill>
            <a:prstDash val="solid"/>
          </a:ln>
        </p:spPr>
      </p:sp>
      <p:sp>
        <p:nvSpPr>
          <p:cNvPr id="4" name="Camera circle"/>
          <p:cNvSpPr/>
          <p:nvPr/>
        </p:nvSpPr>
        <p:spPr>
          <a:xfrm>
            <a:off x="1271016" y="1691640"/>
            <a:ext cx="1463040" cy="1463040"/>
          </a:xfrm>
          <a:prstGeom prst="ellipse">
            <a:avLst/>
          </a:prstGeom>
          <a:solidFill>
            <a:srgbClr val="006A4E"/>
          </a:solidFill>
          <a:ln w="12700">
            <a:solidFill>
              <a:srgbClr val="006A4E"/>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3A8F72"/>
          </a:solidFill>
          <a:ln w="12700">
            <a:solidFill>
              <a:srgbClr val="3A8F72"/>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006A4E"/>
          </a:solidFill>
          <a:ln w="12700">
            <a:solidFill>
              <a:srgbClr val="006A4E"/>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3A8F72"/>
          </a:solidFill>
          <a:ln w="12700">
            <a:solidFill>
              <a:srgbClr val="3A8F72"/>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EF5F1"/>
          </a:solidFill>
          <a:ln>
            <a:solidFill>
              <a:srgbClr val="EEF5F1"/>
            </a:solidFill>
          </a:ln>
        </p:spPr>
        <p:txBody>
          <a:bodyPr wrap="square" lIns="0" tIns="0" rIns="0" bIns="0" rtlCol="0" anchor="ctr"/>
          <a:lstStyle/>
          <a:p>
            <a:pPr algn="ctr" indent="0" marL="0">
              <a:buNone/>
            </a:pPr>
            <a:r>
              <a:rPr lang="en-US" sz="1700" b="1" dirty="0">
                <a:solidFill>
                  <a:srgbClr val="006A4E"/>
                </a:solidFill>
              </a:rPr>
              <a:t>Done: </a:t>
            </a:r>
            <a:pPr algn="ctr" indent="0" marL="0">
              <a:buNone/>
            </a:pPr>
            <a:r>
              <a:rPr lang="en-US" sz="1700" dirty="0">
                <a:solidFill>
                  <a:srgbClr val="1C2321"/>
                </a:solidFill>
              </a:rPr>
              <a:t>engineering tests     </a:t>
            </a:r>
            <a:pPr algn="ctr" indent="0" marL="0">
              <a:buNone/>
            </a:pPr>
            <a:r>
              <a:rPr lang="en-US" sz="1700" b="1" dirty="0">
                <a:solidFill>
                  <a:srgbClr val="B07D00"/>
                </a:solidFill>
              </a:rPr>
              <a:t>In progress: </a:t>
            </a:r>
            <a:pPr algn="ctr" indent="0" marL="0">
              <a:buNone/>
            </a:pPr>
            <a:r>
              <a:rPr lang="en-US" sz="1700" dirty="0">
                <a:solidFill>
                  <a:srgbClr val="1C2321"/>
                </a:solidFill>
              </a:rPr>
              <a:t>participant trials     </a:t>
            </a:r>
            <a:pPr algn="ctr" indent="0" marL="0">
              <a:buNone/>
            </a:pPr>
            <a:r>
              <a:rPr lang="en-US" sz="1700" b="1" dirty="0">
                <a:solidFill>
                  <a:srgbClr val="0B4D3B"/>
                </a:solidFill>
              </a:rPr>
              <a:t>Future: </a:t>
            </a:r>
            <a:pPr algn="ctr" indent="0" marL="0">
              <a:buNone/>
            </a:pPr>
            <a:r>
              <a:rPr lang="en-US" sz="1700" dirty="0">
                <a:solidFill>
                  <a:srgbClr val="1C2321"/>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006A4E"/>
          </a:solidFill>
          <a:ln w="12700">
            <a:solidFill>
              <a:srgbClr val="006A4E"/>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glass that speaks Bangla, reads, names objects and Taka on a Raspberry Pi 5</a:t>
            </a:r>
            <a:endParaRPr lang="en-US" sz="1700" dirty="0"/>
          </a:p>
        </p:txBody>
      </p:sp>
      <p:sp>
        <p:nvSpPr>
          <p:cNvPr id="9" name="New methods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New methods circle"/>
          <p:cNvSpPr/>
          <p:nvPr/>
        </p:nvSpPr>
        <p:spPr>
          <a:xfrm>
            <a:off x="4892040" y="3273552"/>
            <a:ext cx="731520" cy="731520"/>
          </a:xfrm>
          <a:prstGeom prst="ellipse">
            <a:avLst/>
          </a:prstGeom>
          <a:solidFill>
            <a:srgbClr val="006A4E"/>
          </a:solidFill>
          <a:ln w="12700">
            <a:solidFill>
              <a:srgbClr val="006A4E"/>
            </a:solidFill>
            <a:prstDash val="solid"/>
          </a:ln>
        </p:spPr>
      </p:sp>
      <p:pic>
        <p:nvPicPr>
          <p:cNvPr id="11" name="New methods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New methods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New methods</a:t>
            </a:r>
            <a:endParaRPr lang="en-US" sz="2200" dirty="0"/>
          </a:p>
        </p:txBody>
      </p:sp>
      <p:sp>
        <p:nvSpPr>
          <p:cNvPr id="13" name="New methods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Prefix training, a safe verdict, the DMWR watermark check, hand-held fine-tuning</a:t>
            </a:r>
            <a:endParaRPr lang="en-US" sz="1700" dirty="0"/>
          </a:p>
        </p:txBody>
      </p:sp>
      <p:sp>
        <p:nvSpPr>
          <p:cNvPr id="14" name="Next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Next circle"/>
          <p:cNvSpPr/>
          <p:nvPr/>
        </p:nvSpPr>
        <p:spPr>
          <a:xfrm>
            <a:off x="4892040" y="4901184"/>
            <a:ext cx="731520" cy="731520"/>
          </a:xfrm>
          <a:prstGeom prst="ellipse">
            <a:avLst/>
          </a:prstGeom>
          <a:solidFill>
            <a:srgbClr val="3A8F72"/>
          </a:solidFill>
          <a:ln w="12700">
            <a:solidFill>
              <a:srgbClr val="3A8F72"/>
            </a:solidFill>
            <a:prstDash val="solid"/>
          </a:ln>
        </p:spPr>
      </p:sp>
      <p:pic>
        <p:nvPicPr>
          <p:cNvPr id="16" name="Next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Next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Next</a:t>
            </a:r>
            <a:endParaRPr lang="en-US" sz="2200" dirty="0"/>
          </a:p>
        </p:txBody>
      </p:sp>
      <p:sp>
        <p:nvSpPr>
          <p:cNvPr id="18" name="Next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A better camera and the user trials</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2194560"/>
            <a:ext cx="68580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Questions"/>
          <p:cNvSpPr txBox="1"/>
          <p:nvPr/>
        </p:nvSpPr>
        <p:spPr>
          <a:xfrm>
            <a:off x="685800" y="3337560"/>
            <a:ext cx="6858000" cy="548640"/>
          </a:xfrm>
          <a:prstGeom prst="rect">
            <a:avLst/>
          </a:prstGeom>
          <a:noFill/>
          <a:ln/>
        </p:spPr>
        <p:txBody>
          <a:bodyPr wrap="square" lIns="0" tIns="0" rIns="0" bIns="0" rtlCol="0" anchor="ctr"/>
          <a:lstStyle/>
          <a:p>
            <a:pPr indent="0" marL="0">
              <a:buNone/>
            </a:pPr>
            <a:r>
              <a:rPr lang="en-US" sz="2400" dirty="0">
                <a:solidFill>
                  <a:srgbClr val="CFE2DA"/>
                </a:solidFill>
              </a:rPr>
              <a:t>Questions are welcome</a:t>
            </a:r>
            <a:endParaRPr lang="en-US" sz="2400" dirty="0"/>
          </a:p>
        </p:txBody>
      </p:sp>
      <p:sp>
        <p:nvSpPr>
          <p:cNvPr id="5" name="Closing name"/>
          <p:cNvSpPr txBox="1"/>
          <p:nvPr/>
        </p:nvSpPr>
        <p:spPr>
          <a:xfrm>
            <a:off x="685800" y="5852160"/>
            <a:ext cx="6858000" cy="365760"/>
          </a:xfrm>
          <a:prstGeom prst="rect">
            <a:avLst/>
          </a:prstGeom>
          <a:noFill/>
          <a:ln/>
        </p:spPr>
        <p:txBody>
          <a:bodyPr wrap="square" lIns="0" tIns="0" rIns="0" bIns="0" rtlCol="0" anchor="ctr"/>
          <a:lstStyle/>
          <a:p>
            <a:pPr indent="0" marL="0">
              <a:buNone/>
            </a:pPr>
            <a:r>
              <a:rPr lang="en-US" sz="1400" dirty="0">
                <a:solidFill>
                  <a:srgbClr val="9FC2B4"/>
                </a:solidFill>
              </a:rPr>
              <a:t>SARA  ·  Smart Assistive Reading Aid</a:t>
            </a:r>
            <a:endParaRPr lang="en-US" sz="1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  World Health Organization. Blindness and vision impairment: fact sheet, 2023.</a:t>
            </a:r>
            <a:endParaRPr lang="en-US" sz="1100" dirty="0"/>
          </a:p>
          <a:p>
            <a:pPr indent="0" marL="0">
              <a:spcAft>
                <a:spcPts val="500"/>
              </a:spcAft>
              <a:buNone/>
            </a:pPr>
            <a:r>
              <a:rPr lang="en-US" sz="1100" dirty="0">
                <a:solidFill>
                  <a:schemeClr val="tx1"/>
                </a:solidFill>
              </a:rPr>
              <a:t>[2]  OrCam Technologies. OrCam MyEye.</a:t>
            </a:r>
            <a:endParaRPr lang="en-US" sz="1100" dirty="0"/>
          </a:p>
          <a:p>
            <a:pPr indent="0" marL="0">
              <a:spcAft>
                <a:spcPts val="500"/>
              </a:spcAft>
              <a:buNone/>
            </a:pPr>
            <a:r>
              <a:rPr lang="en-US" sz="1100" dirty="0">
                <a:solidFill>
                  <a:schemeClr val="tx1"/>
                </a:solidFill>
              </a:rPr>
              <a:t>[3]  Ali A., H. et al. A Google Glass based real-time scene analysis for the visually impaired. IEEE Access 9, 2021.</a:t>
            </a:r>
            <a:endParaRPr lang="en-US" sz="1100" dirty="0"/>
          </a:p>
          <a:p>
            <a:pPr indent="0" marL="0">
              <a:spcAft>
                <a:spcPts val="500"/>
              </a:spcAft>
              <a:buNone/>
            </a:pPr>
            <a:r>
              <a:rPr lang="en-US" sz="1100" dirty="0">
                <a:solidFill>
                  <a:schemeClr val="tx1"/>
                </a:solidFill>
              </a:rPr>
              <a:t>[4]  Brilli, D. D. et al. AIris: an AI-powered wearable assistive device for the visually impaired. arXiv:2405.07606, 2024.</a:t>
            </a:r>
            <a:endParaRPr lang="en-US" sz="1100" dirty="0"/>
          </a:p>
          <a:p>
            <a:pPr indent="0" marL="0">
              <a:spcAft>
                <a:spcPts val="500"/>
              </a:spcAft>
              <a:buNone/>
            </a:pPr>
            <a:r>
              <a:rPr lang="en-US" sz="1100" dirty="0">
                <a:solidFill>
                  <a:schemeClr val="tx1"/>
                </a:solidFill>
              </a:rPr>
              <a:t>[5]  Baek, Y. et al. Character region awareness for text detection (CRAFT). CVPR, 2019.</a:t>
            </a:r>
            <a:endParaRPr lang="en-US" sz="1100" dirty="0"/>
          </a:p>
          <a:p>
            <a:pPr indent="0" marL="0">
              <a:spcAft>
                <a:spcPts val="500"/>
              </a:spcAft>
              <a:buNone/>
            </a:pPr>
            <a:r>
              <a:rPr lang="en-US" sz="1100" dirty="0">
                <a:solidFill>
                  <a:schemeClr val="tx1"/>
                </a:solidFill>
              </a:rPr>
              <a:t>[6]  JaidedAI. EasyOCR: ready-to-use OCR with 80+ languages.</a:t>
            </a:r>
            <a:endParaRPr lang="en-US" sz="1100" dirty="0"/>
          </a:p>
          <a:p>
            <a:pPr indent="0" marL="0">
              <a:spcAft>
                <a:spcPts val="500"/>
              </a:spcAft>
              <a:buNone/>
            </a:pPr>
            <a:r>
              <a:rPr lang="en-US" sz="1100" dirty="0">
                <a:solidFill>
                  <a:schemeClr val="tx1"/>
                </a:solidFill>
              </a:rPr>
              <a:t>[7]  Jocher, G., Chaurasia, A., Qiu, J. Ultralytics YOLOv8.</a:t>
            </a:r>
            <a:endParaRPr lang="en-US" sz="1100" dirty="0"/>
          </a:p>
          <a:p>
            <a:pPr indent="0" marL="0">
              <a:spcAft>
                <a:spcPts val="500"/>
              </a:spcAft>
              <a:buNone/>
            </a:pPr>
            <a:r>
              <a:rPr lang="en-US" sz="1100" dirty="0">
                <a:solidFill>
                  <a:schemeClr val="tx1"/>
                </a:solidFill>
              </a:rPr>
              <a:t>[8]  Lin, T.-Y. et al. Microsoft COCO: common objects in context. ECCV, 2014.</a:t>
            </a:r>
            <a:endParaRPr lang="en-US" sz="1100" dirty="0"/>
          </a:p>
          <a:p>
            <a:pPr indent="0" marL="0">
              <a:spcAft>
                <a:spcPts val="500"/>
              </a:spcAft>
              <a:buNone/>
            </a:pPr>
            <a:r>
              <a:rPr lang="en-US" sz="1100" dirty="0">
                <a:solidFill>
                  <a:schemeClr val="tx1"/>
                </a:solidFill>
              </a:rPr>
              <a:t>[9]  Li, S., Deng, W., Du, J. Reliable crowdsourcing and deep locality-preserving learning for expression recognition in the wild (RAF-DB). CVPR, 2017.</a:t>
            </a:r>
            <a:endParaRPr lang="en-US" sz="1100" dirty="0"/>
          </a:p>
          <a:p>
            <a:pPr indent="0" marL="0">
              <a:spcAft>
                <a:spcPts val="500"/>
              </a:spcAft>
              <a:buNone/>
            </a:pPr>
            <a:r>
              <a:rPr lang="en-US" sz="1100" dirty="0">
                <a:solidFill>
                  <a:schemeClr val="tx1"/>
                </a:solidFill>
              </a:rPr>
              <a:t>[10]  Rhasspy. Piper: a fast, local neural text-to-speech system.</a:t>
            </a:r>
            <a:endParaRPr lang="en-US" sz="1100" dirty="0"/>
          </a:p>
          <a:p>
            <a:pPr indent="0" marL="0">
              <a:spcAft>
                <a:spcPts val="500"/>
              </a:spcAft>
              <a:buNone/>
            </a:pPr>
            <a:r>
              <a:rPr lang="en-US" sz="1100" dirty="0">
                <a:solidFill>
                  <a:schemeClr val="tx1"/>
                </a:solidFill>
              </a:rPr>
              <a:t>[11]  eSpeak NG text-to-speech.</a:t>
            </a:r>
            <a:endParaRPr lang="en-US" sz="1100" dirty="0"/>
          </a:p>
          <a:p>
            <a:pPr indent="0" marL="0">
              <a:spcAft>
                <a:spcPts val="500"/>
              </a:spcAft>
              <a:buNone/>
            </a:pPr>
            <a:r>
              <a:rPr lang="en-US" sz="1100" dirty="0">
                <a:solidFill>
                  <a:schemeClr val="tx1"/>
                </a:solidFill>
              </a:rPr>
              <a:t>[12]  A diverse image dataset for Bangladeshi currency recognition (BanglaTaka). Mendeley Data.</a:t>
            </a:r>
            <a:endParaRPr lang="en-US" sz="1100" dirty="0"/>
          </a:p>
        </p:txBody>
      </p:sp>
      <p:sp>
        <p:nvSpPr>
          <p:cNvPr id="4" name="References 2"/>
          <p:cNvSpPr txBox="1"/>
          <p:nvPr/>
        </p:nvSpPr>
        <p:spPr>
          <a:xfrm>
            <a:off x="617220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[13]  Rafi, M. J. A., Rony, M., Majadi, N. NSTU-BDTAKA: an open dataset for Bangladeshi paper currency detection and recognition. Data in Brief 55, 2024.</a:t>
            </a:r>
            <a:endParaRPr lang="en-US" sz="1100" dirty="0"/>
          </a:p>
          <a:p>
            <a:pPr indent="0" marL="0">
              <a:spcAft>
                <a:spcPts val="500"/>
              </a:spcAft>
              <a:buNone/>
            </a:pPr>
            <a:r>
              <a:rPr lang="en-US" sz="1100" dirty="0">
                <a:solidFill>
                  <a:schemeClr val="tx1"/>
                </a:solidFill>
              </a:rPr>
              <a:t>[14]  Piyas, B. R. C. et al. JaalTaka: a benchmark dataset for detecting counterfeit Bangladeshi banknotes. Mendeley Data V2, 2025.</a:t>
            </a:r>
            <a:endParaRPr lang="en-US" sz="1100" dirty="0"/>
          </a:p>
          <a:p>
            <a:pPr indent="0" marL="0">
              <a:spcAft>
                <a:spcPts val="500"/>
              </a:spcAft>
              <a:buNone/>
            </a:pPr>
            <a:r>
              <a:rPr lang="en-US" sz="1100" dirty="0">
                <a:solidFill>
                  <a:schemeClr val="tx1"/>
                </a:solidFill>
              </a:rPr>
              <a:t>[15]  Piyas, B. R. C. et al. JaalTaka: a benchmark dataset for detecting counterfeit Bangladeshi banknotes. Data in Brief 64, 112377, 2026.</a:t>
            </a:r>
            <a:endParaRPr lang="en-US" sz="1100" dirty="0"/>
          </a:p>
          <a:p>
            <a:pPr indent="0" marL="0">
              <a:spcAft>
                <a:spcPts val="500"/>
              </a:spcAft>
              <a:buNone/>
            </a:pPr>
            <a:r>
              <a:rPr lang="en-US" sz="1100" dirty="0">
                <a:solidFill>
                  <a:schemeClr val="tx1"/>
                </a:solidFill>
              </a:rPr>
              <a:t>[16]  Uddin, M. S., Das, P. P., Roney, M. S. A. Image-based approach for the detection of counterfeit banknotes of Bangladesh. ICIEV, 2016.</a:t>
            </a:r>
            <a:endParaRPr lang="en-US" sz="1100" dirty="0"/>
          </a:p>
          <a:p>
            <a:pPr indent="0" marL="0">
              <a:spcAft>
                <a:spcPts val="500"/>
              </a:spcAft>
              <a:buNone/>
            </a:pPr>
            <a:r>
              <a:rPr lang="en-US" sz="1100" dirty="0">
                <a:solidFill>
                  <a:schemeClr val="tx1"/>
                </a:solidFill>
              </a:rPr>
              <a:t>[17]  Pathak, A. et al. Enhanced counterfeit detection of Bangladesh currency through convolutional neural networks. IJIRCST 12(2), 2024.</a:t>
            </a:r>
            <a:endParaRPr lang="en-US" sz="1100" dirty="0"/>
          </a:p>
          <a:p>
            <a:pPr indent="0" marL="0">
              <a:spcAft>
                <a:spcPts val="500"/>
              </a:spcAft>
              <a:buNone/>
            </a:pPr>
            <a:r>
              <a:rPr lang="en-US" sz="1100" dirty="0">
                <a:solidFill>
                  <a:schemeClr val="tx1"/>
                </a:solidFill>
              </a:rPr>
              <a:t>[18]  Sandler, M. et al. MobileNetV2: inverted residuals and linear bottlenecks. CVPR, 2018.</a:t>
            </a:r>
            <a:endParaRPr lang="en-US" sz="1100" dirty="0"/>
          </a:p>
          <a:p>
            <a:pPr indent="0" marL="0">
              <a:spcAft>
                <a:spcPts val="500"/>
              </a:spcAft>
              <a:buNone/>
            </a:pPr>
            <a:r>
              <a:rPr lang="en-US" sz="1100" dirty="0">
                <a:solidFill>
                  <a:schemeClr val="tx1"/>
                </a:solidFill>
              </a:rPr>
              <a:t>[19]  Chowdhury, A. A. et al. Evaluation of deep learning models on UV ink: a fake money detection scheme with RPN. ICCA (ACM), 2022.</a:t>
            </a:r>
            <a:endParaRPr lang="en-US" sz="1100" dirty="0"/>
          </a:p>
          <a:p>
            <a:pPr indent="0" marL="0">
              <a:spcAft>
                <a:spcPts val="500"/>
              </a:spcAft>
              <a:buNone/>
            </a:pPr>
            <a:r>
              <a:rPr lang="en-US" sz="1100" dirty="0">
                <a:solidFill>
                  <a:schemeClr val="tx1"/>
                </a:solidFill>
              </a:rPr>
              <a:t>[20]  Mutanen, J., Jaaskelainen, T., Parkkinen, J. P. S. Luminescent security properties of banknotes. IS&amp;T PICS Conference, 2003, pp. 421-424.</a:t>
            </a:r>
            <a:endParaRPr lang="en-US" sz="1100" dirty="0"/>
          </a:p>
          <a:p>
            <a:pPr indent="0" marL="0">
              <a:spcAft>
                <a:spcPts val="500"/>
              </a:spcAft>
              <a:buNone/>
            </a:pPr>
            <a:r>
              <a:rPr lang="en-US" sz="1100" dirty="0">
                <a:solidFill>
                  <a:schemeClr val="tx1"/>
                </a:solidFill>
              </a:rPr>
              <a:t>[21]  Nayef, N. et al. ICDAR2019 robust reading challenge on multi-lingual scene text (RRC-MLT-2019). ICDAR, 2019.</a:t>
            </a:r>
            <a:endParaRPr lang="en-US" sz="1100" dirty="0"/>
          </a:p>
          <a:p>
            <a:pPr indent="0" marL="0">
              <a:spcAft>
                <a:spcPts val="500"/>
              </a:spcAft>
              <a:buNone/>
            </a:pPr>
            <a:r>
              <a:rPr lang="en-US" sz="1100" dirty="0">
                <a:solidFill>
                  <a:schemeClr val="tx1"/>
                </a:solidFill>
              </a:rPr>
              <a:t>[22]  Alpha Cephei. Vosk offline speech recognition toolkit.</a:t>
            </a:r>
            <a:endParaRPr lang="en-US" sz="1100" dirty="0"/>
          </a:p>
          <a:p>
            <a:pPr indent="0" marL="0">
              <a:spcAft>
                <a:spcPts val="500"/>
              </a:spcAft>
              <a:buNone/>
            </a:pPr>
            <a:r>
              <a:rPr lang="en-US" sz="1100" dirty="0">
                <a:solidFill>
                  <a:schemeClr val="tx1"/>
                </a:solidFill>
              </a:rPr>
              <a:t>[23]  Piczak, K. J. ESC: dataset for environmental sound classification. ACM Multimedia, 2015.</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300" dirty="0"/>
          </a:p>
          <a:p>
            <a:pPr indent="0" marL="0">
              <a:spcAft>
                <a:spcPts val="700"/>
              </a:spcAft>
              <a:buNone/>
            </a:pPr>
            <a:r>
              <a:rPr lang="en-US" sz="1000" dirty="0">
                <a:solidFill>
                  <a:srgbClr val="5E6B66"/>
                </a:solidFill>
              </a:rPr>
              <a:t>github.com/aflam330/SARA</a:t>
            </a:r>
            <a:endParaRPr lang="en-US" sz="1300" dirty="0"/>
          </a:p>
          <a:p>
            <a:pPr indent="0" marL="0">
              <a:buNone/>
            </a:pPr>
            <a:r>
              <a:rPr lang="en-US" sz="13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300" dirty="0"/>
          </a:p>
          <a:p>
            <a:pPr indent="0" marL="0">
              <a:spcAft>
                <a:spcPts val="700"/>
              </a:spcAft>
              <a:buNone/>
            </a:pPr>
            <a:r>
              <a:rPr lang="en-US" sz="1000" dirty="0">
                <a:solidFill>
                  <a:srgbClr val="5E6B66"/>
                </a:solidFill>
              </a:rPr>
              <a:t>github.com/aflam330/Senior_project_wearable_glass_for_blind_people_using_ocr_and_ylo</a:t>
            </a:r>
            <a:endParaRPr lang="en-US" sz="13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300" dirty="0"/>
          </a:p>
          <a:p>
            <a:pPr indent="0" marL="0">
              <a:spcAft>
                <a:spcPts val="700"/>
              </a:spcAft>
              <a:buNone/>
            </a:pPr>
            <a:r>
              <a:rPr lang="en-US" sz="1000" dirty="0">
                <a:solidFill>
                  <a:srgbClr val="5E6B66"/>
                </a:solidFill>
              </a:rPr>
              <a:t>data.mendeley.com/datasets/2m7wk5cy4c/2</a:t>
            </a:r>
            <a:endParaRPr lang="en-US" sz="1300" dirty="0"/>
          </a:p>
          <a:p>
            <a:pPr indent="0" marL="0">
              <a:buNone/>
            </a:pPr>
            <a:r>
              <a:rPr lang="en-US" sz="13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300" dirty="0"/>
          </a:p>
          <a:p>
            <a:pPr indent="0" marL="0">
              <a:spcAft>
                <a:spcPts val="700"/>
              </a:spcAft>
              <a:buNone/>
            </a:pPr>
            <a:r>
              <a:rPr lang="en-US" sz="1000" dirty="0">
                <a:solidFill>
                  <a:srgbClr val="5E6B66"/>
                </a:solidFill>
              </a:rPr>
              <a:t>data.mendeley.com/datasets/3cv2sypkkh/1</a:t>
            </a:r>
            <a:endParaRPr lang="en-US" sz="1300" dirty="0"/>
          </a:p>
          <a:p>
            <a:pPr indent="0" marL="0">
              <a:buNone/>
            </a:pPr>
            <a:r>
              <a:rPr lang="en-US" sz="13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300" dirty="0"/>
          </a:p>
          <a:p>
            <a:pPr indent="0" marL="0">
              <a:spcAft>
                <a:spcPts val="700"/>
              </a:spcAft>
              <a:buNone/>
            </a:pPr>
            <a:r>
              <a:rPr lang="en-US" sz="1000" dirty="0">
                <a:solidFill>
                  <a:srgbClr val="5E6B66"/>
                </a:solidFill>
              </a:rPr>
              <a:t>www.sciencedirect.com/science/article/pii/S2352340924006681</a:t>
            </a:r>
            <a:endParaRPr lang="en-US" sz="1300" dirty="0"/>
          </a:p>
          <a:p>
            <a:pPr indent="0" marL="0">
              <a:buNone/>
            </a:pPr>
            <a:r>
              <a:rPr lang="en-US" sz="13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300" dirty="0"/>
          </a:p>
          <a:p>
            <a:pPr indent="0" marL="0">
              <a:spcAft>
                <a:spcPts val="700"/>
              </a:spcAft>
              <a:buNone/>
            </a:pPr>
            <a:r>
              <a:rPr lang="en-US" sz="1000" dirty="0">
                <a:solidFill>
                  <a:srgbClr val="5E6B66"/>
                </a:solidFill>
              </a:rPr>
              <a:t>cocodataset.org</a:t>
            </a:r>
            <a:endParaRPr lang="en-US" sz="1300" dirty="0"/>
          </a:p>
          <a:p>
            <a:pPr indent="0" marL="0">
              <a:buNone/>
            </a:pPr>
            <a:r>
              <a:rPr lang="en-US" sz="13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300" dirty="0"/>
          </a:p>
          <a:p>
            <a:pPr indent="0" marL="0">
              <a:spcAft>
                <a:spcPts val="700"/>
              </a:spcAft>
              <a:buNone/>
            </a:pPr>
            <a:r>
              <a:rPr lang="en-US" sz="1000" dirty="0">
                <a:solidFill>
                  <a:srgbClr val="5E6B66"/>
                </a:solidFill>
              </a:rPr>
              <a:t>rrc.cvc.uab.es/?ch=15</a:t>
            </a:r>
            <a:endParaRPr lang="en-US" sz="1300" dirty="0"/>
          </a:p>
          <a:p>
            <a:pPr indent="0" marL="0">
              <a:buNone/>
            </a:pPr>
            <a:r>
              <a:rPr lang="en-US" sz="13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300" dirty="0"/>
          </a:p>
          <a:p>
            <a:pPr indent="0" marL="0">
              <a:spcAft>
                <a:spcPts val="700"/>
              </a:spcAft>
              <a:buNone/>
            </a:pPr>
            <a:r>
              <a:rPr lang="en-US" sz="1000" dirty="0">
                <a:solidFill>
                  <a:srgbClr val="5E6B66"/>
                </a:solidFill>
              </a:rPr>
              <a:t>github.com/karolpiczak/ESC-50</a:t>
            </a:r>
            <a:endParaRPr lang="en-US" sz="13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300" dirty="0"/>
          </a:p>
          <a:p>
            <a:pPr indent="0" marL="0">
              <a:spcAft>
                <a:spcPts val="700"/>
              </a:spcAft>
              <a:buNone/>
            </a:pPr>
            <a:r>
              <a:rPr lang="en-US" sz="1000" dirty="0">
                <a:solidFill>
                  <a:srgbClr val="5E6B66"/>
                </a:solidFill>
              </a:rPr>
              <a:t>github.com/ultralytics/ultralytics</a:t>
            </a:r>
            <a:endParaRPr lang="en-US" sz="1300" dirty="0"/>
          </a:p>
          <a:p>
            <a:pPr indent="0" marL="0">
              <a:buNone/>
            </a:pPr>
            <a:r>
              <a:rPr lang="en-US" sz="13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300" dirty="0"/>
          </a:p>
          <a:p>
            <a:pPr indent="0" marL="0">
              <a:spcAft>
                <a:spcPts val="700"/>
              </a:spcAft>
              <a:buNone/>
            </a:pPr>
            <a:r>
              <a:rPr lang="en-US" sz="1000" dirty="0">
                <a:solidFill>
                  <a:srgbClr val="5E6B66"/>
                </a:solidFill>
              </a:rPr>
              <a:t>github.com/JaidedAI/EasyOCR</a:t>
            </a:r>
            <a:endParaRPr lang="en-US" sz="1300" dirty="0"/>
          </a:p>
          <a:p>
            <a:pPr indent="0" marL="0">
              <a:buNone/>
            </a:pPr>
            <a:r>
              <a:rPr lang="en-US" sz="13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300" dirty="0"/>
          </a:p>
          <a:p>
            <a:pPr indent="0" marL="0">
              <a:spcAft>
                <a:spcPts val="700"/>
              </a:spcAft>
              <a:buNone/>
            </a:pPr>
            <a:r>
              <a:rPr lang="en-US" sz="1000" dirty="0">
                <a:solidFill>
                  <a:srgbClr val="5E6B66"/>
                </a:solidFill>
              </a:rPr>
              <a:t>github.com/rhasspy/piper</a:t>
            </a:r>
            <a:endParaRPr lang="en-US" sz="1300" dirty="0"/>
          </a:p>
          <a:p>
            <a:pPr indent="0" marL="0">
              <a:buNone/>
            </a:pPr>
            <a:r>
              <a:rPr lang="en-US" sz="13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300" dirty="0"/>
          </a:p>
          <a:p>
            <a:pPr indent="0" marL="0">
              <a:spcAft>
                <a:spcPts val="700"/>
              </a:spcAft>
              <a:buNone/>
            </a:pPr>
            <a:r>
              <a:rPr lang="en-US" sz="1000" dirty="0">
                <a:solidFill>
                  <a:srgbClr val="5E6B66"/>
                </a:solidFill>
              </a:rPr>
              <a:t>alphacephei.com/vosk/</a:t>
            </a:r>
            <a:endParaRPr lang="en-US" sz="1300" dirty="0"/>
          </a:p>
          <a:p>
            <a:pPr indent="0" marL="0">
              <a:buNone/>
            </a:pPr>
            <a:r>
              <a:rPr lang="en-US" sz="13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300" dirty="0"/>
          </a:p>
          <a:p>
            <a:pPr indent="0" marL="0">
              <a:spcAft>
                <a:spcPts val="700"/>
              </a:spcAft>
              <a:buNone/>
            </a:pPr>
            <a:r>
              <a:rPr lang="en-US" sz="1000" dirty="0">
                <a:solidFill>
                  <a:srgbClr val="5E6B66"/>
                </a:solidFill>
              </a:rPr>
              <a:t>github.com/espeak-ng/espeak-ng</a:t>
            </a:r>
            <a:endParaRPr lang="en-US" sz="1300" dirty="0"/>
          </a:p>
          <a:p>
            <a:pPr indent="0" marL="0">
              <a:buNone/>
            </a:pPr>
            <a:r>
              <a:rPr lang="en-US" sz="13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300" dirty="0"/>
          </a:p>
          <a:p>
            <a:pPr indent="0" marL="0">
              <a:spcAft>
                <a:spcPts val="700"/>
              </a:spcAft>
              <a:buNone/>
            </a:pPr>
            <a:r>
              <a:rPr lang="en-US" sz="1000" dirty="0">
                <a:solidFill>
                  <a:srgbClr val="5E6B66"/>
                </a:solidFill>
              </a:rPr>
              <a:t>www.who.int/news-room/fact-sheets/detail/blindness-and-visual-impairment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 Smart Assistive Reading Aid</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2026-10-26T17:51:37Z</dcterms:created>
  <dcterms:modified xsi:type="dcterms:W3CDTF">2026-10-26T17:51:37Z</dcterms:modified>
</cp:coreProperties>
</file>
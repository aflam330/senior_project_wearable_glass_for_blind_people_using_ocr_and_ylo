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6.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dd2fffb-bd7b-75ce-50de-6c9d84dc91fc}">
          <p14:sldIdLst>
            <p14:sldId id="256"/>
          </p14:sldIdLst>
        </p14:section>
        <p14:section name="Problem" id="{831a8125-c9ab-7b02-ff67-e91ad3c90756}">
          <p14:sldIdLst>
            <p14:sldId id="257"/>
            <p14:sldId id="258"/>
            <p14:sldId id="259"/>
          </p14:sldIdLst>
        </p14:section>
        <p14:section name="Solution" id="{b4f8a225-33a8-120a-2be0-ea11552d683c}">
          <p14:sldIdLst>
            <p14:sldId id="260"/>
            <p14:sldId id="261"/>
            <p14:sldId id="262"/>
            <p14:sldId id="263"/>
            <p14:sldId id="264"/>
          </p14:sldIdLst>
        </p14:section>
        <p14:section name="Currency" id="{a94fe22e-4d24-cc35-8ffe-1f62b26d39e2}">
          <p14:sldIdLst>
            <p14:sldId id="265"/>
            <p14:sldId id="266"/>
            <p14:sldId id="267"/>
            <p14:sldId id="268"/>
            <p14:sldId id="269"/>
            <p14:sldId id="270"/>
            <p14:sldId id="271"/>
            <p14:sldId id="272"/>
          </p14:sldIdLst>
        </p14:section>
        <p14:section name="Reading and voice" id="{b637d89b-8a8d-7928-5fdd-e9831c6ecf64}">
          <p14:sldIdLst>
            <p14:sldId id="273"/>
            <p14:sldId id="274"/>
          </p14:sldIdLst>
        </p14:section>
        <p14:section name="Device" id="{07c08c22-a35d-7ff2-6fcd-bcb59f43c5c5}">
          <p14:sldIdLst>
            <p14:sldId id="275"/>
            <p14:sldId id="276"/>
            <p14:sldId id="277"/>
          </p14:sldIdLst>
        </p14:section>
        <p14:section name="Closing" id="{8c7f5557-efe9-f634-58f5-0a4d93289015}">
          <p14:sldIdLst>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321"/>
                </a:solidFill>
                <a:latin typeface="+mn-lt"/>
              </a:defRPr>
            </a:pPr>
            <a:r>
              <a:rPr sz="1300" b="0" i="0" u="none" strike="noStrike">
                <a:solidFill>
                  <a:srgbClr val="1C2321"/>
                </a:solidFill>
                <a:latin typeface="+mn-lt"/>
              </a:rPr>
              <a:t>Right note value, real hand-held photos (NSTU, 1,127)</a:t>
            </a:r>
          </a:p>
        </c:rich>
      </c:tx>
      <c:layout/>
      <c:overlay val="0"/>
    </c:title>
    <c:autoTitleDeleted val="0"/>
    <c:plotArea>
      <c:layout/>
      <c:barChart>
        <c:barDir val="col"/>
        <c:grouping val="clustered"/>
        <c:varyColors val="0"/>
        <c:ser>
          <c:idx val="0"/>
          <c:order val="0"/>
          <c:tx>
            <c:strRef>
              <c:f>Sheet1!$B$1</c:f>
              <c:strCache>
                <c:ptCount val="1"/>
                <c:pt idx="0">
                  <c:v>Earlier detector</c:v>
                </c:pt>
              </c:strCache>
            </c:strRef>
          </c:tx>
          <c:spPr>
            <a:solidFill>
              <a:srgbClr val="5E6B66"/>
            </a:solidFill>
            <a:effectLst/>
          </c:spPr>
          <c:invertIfNegative val="0"/>
          <c:dLbls>
            <c:numFmt formatCode="0.0&quot;%&quot;" sourceLinked="0"/>
            <c:txPr>
              <a:bodyPr/>
              <a:lstStyle/>
              <a:p>
                <a:pPr>
                  <a:defRPr b="0" i="0" strike="noStrike" sz="1100" u="none">
                    <a:solidFill>
                      <a:srgbClr val="1C2321"/>
                    </a:solidFill>
                    <a:latin typeface="+mn-lt"/>
                  </a:defRPr>
                </a:pPr>
              </a:p>
            </c:txPr>
            <c:showLegendKey val="0"/>
            <c:showVal val="1"/>
            <c:showCatName val="0"/>
            <c:showSerName val="0"/>
            <c:showPercent val="0"/>
            <c:showBubbleSize val="0"/>
            <c:showLeaderLines val="0"/>
          </c:dLbls>
          <c:cat>
            <c:multiLvlStrRef>
              <c:f>Sheet1!$A$2:$A$3</c:f>
              <c:multiLvlStrCache>
                <c:ptCount val="2"/>
                <c:lvl>
                  <c:pt idx="0">
                    <c:v>Laptop</c:v>
                  </c:pt>
                  <c:pt idx="1">
                    <c:v>Raspberry Pi (8-bit)</c:v>
                  </c:pt>
                </c:lvl>
              </c:multiLvlStrCache>
            </c:multiLvlStrRef>
          </c:cat>
          <c:val>
            <c:numRef>
              <c:f>Sheet1!$B$2:$B$3</c:f>
              <c:numCache>
                <c:formatCode>General</c:formatCode>
                <c:ptCount val="2"/>
                <c:pt idx="0">
                  <c:v>11.8</c:v>
                </c:pt>
                <c:pt idx="1">
                  <c:v>8.7</c:v>
                </c:pt>
              </c:numCache>
            </c:numRef>
          </c:val>
        </c:ser>
        <c:ser>
          <c:idx val="1"/>
          <c:order val="1"/>
          <c:tx>
            <c:strRef>
              <c:f>Sheet1!$C$1</c:f>
              <c:strCache>
                <c:ptCount val="1"/>
                <c:pt idx="0">
                  <c:v>Hand-held detector</c:v>
                </c:pt>
              </c:strCache>
            </c:strRef>
          </c:tx>
          <c:spPr>
            <a:solidFill>
              <a:srgbClr val="006A4E"/>
            </a:solidFill>
            <a:effectLst/>
          </c:spPr>
          <c:invertIfNegative val="0"/>
          <c:dLbls>
            <c:numFmt formatCode="0.0&quot;%&quot;" sourceLinked="0"/>
            <c:txPr>
              <a:bodyPr/>
              <a:lstStyle/>
              <a:p>
                <a:pPr>
                  <a:defRPr b="0" i="0" strike="noStrike" sz="1100" u="none">
                    <a:solidFill>
                      <a:srgbClr val="1C2321"/>
                    </a:solidFill>
                    <a:latin typeface="+mn-lt"/>
                  </a:defRPr>
                </a:pPr>
              </a:p>
            </c:txPr>
            <c:showLegendKey val="0"/>
            <c:showVal val="1"/>
            <c:showCatName val="0"/>
            <c:showSerName val="0"/>
            <c:showPercent val="0"/>
            <c:showBubbleSize val="0"/>
            <c:showLeaderLines val="0"/>
          </c:dLbls>
          <c:cat>
            <c:multiLvlStrRef>
              <c:f>Sheet1!$A$2:$A$3</c:f>
              <c:multiLvlStrCache>
                <c:ptCount val="2"/>
                <c:lvl>
                  <c:pt idx="0">
                    <c:v>Laptop</c:v>
                  </c:pt>
                  <c:pt idx="1">
                    <c:v>Raspberry Pi (8-bit)</c:v>
                  </c:pt>
                </c:lvl>
              </c:multiLvlStrCache>
            </c:multiLvlStrRef>
          </c:cat>
          <c:val>
            <c:numRef>
              <c:f>Sheet1!$C$2:$C$3</c:f>
              <c:numCache>
                <c:formatCode>General</c:formatCode>
                <c:ptCount val="2"/>
                <c:pt idx="0">
                  <c:v>47.5</c:v>
                </c:pt>
                <c:pt idx="1">
                  <c:v>33.5</c:v>
                </c:pt>
              </c:numCache>
            </c:numRef>
          </c:val>
        </c:ser>
        <c:dLbls>
          <c:numFmt formatCode="0.0&quot;%&quot;" sourceLinked="0"/>
          <c:txPr>
            <a:bodyPr/>
            <a:lstStyle/>
            <a:p>
              <a:pPr>
                <a:defRPr b="0" i="0" strike="noStrike" sz="1100" u="none">
                  <a:solidFill>
                    <a:srgbClr val="1C232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C2321"/>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9525" cap="flat">
              <a:solidFill>
                <a:srgbClr val="DDE7E2"/>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321"/>
                </a:solidFill>
                <a:latin typeface="+mn-lt"/>
              </a:defRPr>
            </a:pPr>
            <a:r>
              <a:rPr sz="1300" b="0" i="0" u="none" strike="noStrike">
                <a:solidFill>
                  <a:srgbClr val="1C2321"/>
                </a:solidFill>
                <a:latin typeface="+mn-lt"/>
              </a:rPr>
              <a:t>Test accuracy by number of views (mean of 3 seeds)</a:t>
            </a:r>
          </a:p>
        </c:rich>
      </c:tx>
      <c:layout/>
      <c:overlay val="0"/>
    </c:title>
    <c:autoTitleDeleted val="0"/>
    <c:plotArea>
      <c:layout/>
      <c:lineChart>
        <c:varyColors val="0"/>
        <c:ser>
          <c:idx val="0"/>
          <c:order val="0"/>
          <c:tx>
            <c:strRef>
              <c:f>Sheet1!$B$1</c:f>
              <c:strCache>
                <c:ptCount val="1"/>
                <c:pt idx="0">
                  <c:v>Fixed six-view training</c:v>
                </c:pt>
              </c:strCache>
            </c:strRef>
          </c:tx>
          <c:spPr>
            <a:solidFill>
              <a:srgbClr val="5E6B66"/>
            </a:solidFill>
            <a:ln w="38100" cap="flat">
              <a:solidFill>
                <a:srgbClr val="5E6B66"/>
              </a:solidFill>
              <a:prstDash val="solid"/>
              <a:round/>
            </a:ln>
            <a:effectLst/>
          </c:spPr>
          <c:invertIfNegative val="0"/>
          <c:dLbls>
            <c:numFmt formatCode="#,##0" sourceLinked="0"/>
            <c:txPr>
              <a:bodyPr/>
              <a:lstStyle/>
              <a:p>
                <a:pPr>
                  <a:defRPr b="0" i="0" strike="noStrike" sz="1100" u="none">
                    <a:solidFill>
                      <a:srgbClr val="1C2321"/>
                    </a:solidFill>
                    <a:latin typeface="+mn-lt"/>
                  </a:defRPr>
                </a:pPr>
              </a:p>
            </c:txPr>
            <c:showLegendKey val="0"/>
            <c:showVal val="0"/>
            <c:showCatName val="0"/>
            <c:showSerName val="0"/>
            <c:showPercent val="0"/>
            <c:showBubbleSize val="0"/>
            <c:showLeaderLines val="0"/>
          </c:dLbls>
          <c:marker>
            <c:symbol val="circle"/>
            <c:size val="8"/>
            <c:spPr>
              <a:solidFill>
                <a:srgbClr val="5E6B66"/>
              </a:solidFill>
              <a:ln w="9525" cap="flat">
                <a:solidFill>
                  <a:srgbClr val="5E6B66"/>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71.2</c:v>
                </c:pt>
                <c:pt idx="1">
                  <c:v>73.1</c:v>
                </c:pt>
                <c:pt idx="2">
                  <c:v>85.7</c:v>
                </c:pt>
                <c:pt idx="3">
                  <c:v>90.5</c:v>
                </c:pt>
                <c:pt idx="4">
                  <c:v>90.5</c:v>
                </c:pt>
                <c:pt idx="5">
                  <c:v>98.1</c:v>
                </c:pt>
              </c:numCache>
            </c:numRef>
          </c:val>
          <c:smooth val="0"/>
        </c:ser>
        <c:ser>
          <c:idx val="1"/>
          <c:order val="1"/>
          <c:tx>
            <c:strRef>
              <c:f>Sheet1!$C$1</c:f>
              <c:strCache>
                <c:ptCount val="1"/>
                <c:pt idx="0">
                  <c:v>Prefix training (ours)</c:v>
                </c:pt>
              </c:strCache>
            </c:strRef>
          </c:tx>
          <c:spPr>
            <a:solidFill>
              <a:srgbClr val="006A4E"/>
            </a:solidFill>
            <a:ln w="38100" cap="flat">
              <a:solidFill>
                <a:srgbClr val="006A4E"/>
              </a:solidFill>
              <a:prstDash val="solid"/>
              <a:round/>
            </a:ln>
            <a:effectLst/>
          </c:spPr>
          <c:invertIfNegative val="0"/>
          <c:dLbls>
            <c:numFmt formatCode="#,##0" sourceLinked="0"/>
            <c:txPr>
              <a:bodyPr/>
              <a:lstStyle/>
              <a:p>
                <a:pPr>
                  <a:defRPr b="0" i="0" strike="noStrike" sz="1100" u="none">
                    <a:solidFill>
                      <a:srgbClr val="1C2321"/>
                    </a:solidFill>
                    <a:latin typeface="+mn-lt"/>
                  </a:defRPr>
                </a:pPr>
              </a:p>
            </c:txPr>
            <c:showLegendKey val="0"/>
            <c:showVal val="0"/>
            <c:showCatName val="0"/>
            <c:showSerName val="0"/>
            <c:showPercent val="0"/>
            <c:showBubbleSize val="0"/>
            <c:showLeaderLines val="0"/>
          </c:dLbls>
          <c:marker>
            <c:symbol val="circle"/>
            <c:size val="8"/>
            <c:spPr>
              <a:solidFill>
                <a:srgbClr val="006A4E"/>
              </a:solidFill>
              <a:ln w="9525" cap="flat">
                <a:solidFill>
                  <a:srgbClr val="006A4E"/>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Sheet1!$C$2:$C$7</c:f>
              <c:numCache>
                <c:formatCode>General</c:formatCode>
                <c:ptCount val="6"/>
                <c:pt idx="0">
                  <c:v>98.2</c:v>
                </c:pt>
                <c:pt idx="1">
                  <c:v>98.4</c:v>
                </c:pt>
                <c:pt idx="2">
                  <c:v>98.6</c:v>
                </c:pt>
                <c:pt idx="3">
                  <c:v>98.6</c:v>
                </c:pt>
                <c:pt idx="4">
                  <c:v>98.7</c:v>
                </c:pt>
                <c:pt idx="5">
                  <c:v>98.7</c:v>
                </c:pt>
              </c:numCache>
            </c:numRef>
          </c:val>
          <c:smooth val="0"/>
        </c:ser>
        <c:dLbls>
          <c:numFmt formatCode="#,##0" sourceLinked="0"/>
          <c:txPr>
            <a:bodyPr/>
            <a:lstStyle/>
            <a:p>
              <a:pPr>
                <a:defRPr b="0" i="0" strike="noStrike" sz="1100" u="none">
                  <a:solidFill>
                    <a:srgbClr val="1C2321"/>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E6B66"/>
                    </a:solidFill>
                    <a:latin typeface="Arial"/>
                  </a:defRPr>
                </a:pPr>
                <a:r>
                  <a:rPr sz="1200" b="0" i="0" u="none" strike="noStrike">
                    <a:solidFill>
                      <a:srgbClr val="5E6B66"/>
                    </a:solidFill>
                    <a:latin typeface="Arial"/>
                  </a:rPr>
                  <a:t>Views captured</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C2321"/>
                </a:solidFill>
                <a:latin typeface="+mn-lt"/>
              </a:defRPr>
            </a:pPr>
            <a:endParaRPr lang="en-US"/>
          </a:p>
        </c:txPr>
        <c:crossAx val="2094734552"/>
        <c:crosses val="autoZero"/>
        <c:auto val="1"/>
        <c:lblAlgn val="ctr"/>
        <c:noMultiLvlLbl val="1"/>
      </c:catAx>
      <c:valAx>
        <c:axId val="2094734552"/>
        <c:scaling>
          <c:orientation val="minMax"/>
          <c:max val="100"/>
          <c:min val="60"/>
        </c:scaling>
        <c:delete val="0"/>
        <c:axPos val="l"/>
        <c:majorGridlines>
          <c:spPr>
            <a:ln w="9525" cap="flat">
              <a:solidFill>
                <a:srgbClr val="DDE7E2"/>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321"/>
                </a:solidFill>
                <a:latin typeface="+mn-lt"/>
              </a:defRPr>
            </a:pPr>
            <a:r>
              <a:rPr sz="1300" b="0" i="0" u="none" strike="noStrike">
                <a:solidFill>
                  <a:srgbClr val="1C2321"/>
                </a:solidFill>
                <a:latin typeface="+mn-lt"/>
              </a:rPr>
              <a:t>Accuracy on counterfeit prints never seen in training (6 views, 3 seeds)</a:t>
            </a:r>
          </a:p>
        </c:rich>
      </c:tx>
      <c:layout/>
      <c:overlay val="0"/>
    </c:title>
    <c:autoTitleDeleted val="0"/>
    <c:plotArea>
      <c:layout/>
      <c:barChart>
        <c:barDir val="bar"/>
        <c:grouping val="clustered"/>
        <c:varyColors val="0"/>
        <c:ser>
          <c:idx val="0"/>
          <c:order val="0"/>
          <c:tx>
            <c:strRef>
              <c:f>Sheet1!$B$1</c:f>
              <c:strCache>
                <c:ptCount val="1"/>
                <c:pt idx="0">
                  <c:v>6 views</c:v>
                </c:pt>
              </c:strCache>
            </c:strRef>
          </c:tx>
          <c:spPr>
            <a:solidFill>
              <a:srgbClr val="5E6B66"/>
            </a:solidFill>
            <a:effectLst/>
          </c:spPr>
          <c:invertIfNegative val="0"/>
          <c:dLbls>
            <c:numFmt formatCode="0.0&quot;%&quot;" sourceLinked="0"/>
            <c:txPr>
              <a:bodyPr/>
              <a:lstStyle/>
              <a:p>
                <a:pPr>
                  <a:defRPr b="0" i="0" strike="noStrike" sz="1100" u="none">
                    <a:solidFill>
                      <a:srgbClr val="1C2321"/>
                    </a:solidFill>
                    <a:latin typeface="+mn-lt"/>
                  </a:defRPr>
                </a:pPr>
              </a:p>
            </c:txPr>
            <c:showLegendKey val="0"/>
            <c:showVal val="1"/>
            <c:showCatName val="0"/>
            <c:showSerName val="0"/>
            <c:showPercent val="0"/>
            <c:showBubbleSize val="0"/>
            <c:showLeaderLines val="0"/>
          </c:dLbls>
          <c:dPt>
            <c:idx val="0"/>
            <c:invertIfNegative val="0"/>
            <c:bubble3D val="0"/>
            <c:spPr>
              <a:solidFill>
                <a:srgbClr val="5E6B66"/>
              </a:solidFill>
              <a:effectLst/>
            </c:spPr>
          </c:dPt>
          <c:dPt>
            <c:idx val="1"/>
            <c:invertIfNegative val="0"/>
            <c:bubble3D val="0"/>
            <c:spPr>
              <a:solidFill>
                <a:srgbClr val="3A8F72"/>
              </a:solidFill>
              <a:effectLst/>
            </c:spPr>
          </c:dPt>
          <c:dPt>
            <c:idx val="2"/>
            <c:invertIfNegative val="0"/>
            <c:bubble3D val="0"/>
            <c:spPr>
              <a:solidFill>
                <a:srgbClr val="5E6B66"/>
              </a:solidFill>
              <a:effectLst/>
            </c:spPr>
          </c:dPt>
          <c:dPt>
            <c:idx val="3"/>
            <c:invertIfNegative val="0"/>
            <c:bubble3D val="0"/>
            <c:spPr>
              <a:solidFill>
                <a:srgbClr val="006A4E"/>
              </a:solidFill>
              <a:effectLst/>
            </c:spPr>
          </c:dPt>
          <c:cat>
            <c:multiLvlStrRef>
              <c:f>Sheet1!$A$2:$A$5</c:f>
              <c:multiLvlStrCache>
                <c:ptCount val="4"/>
                <c:lvl>
                  <c:pt idx="0">
                    <c:v>Frozen ResNet-50</c:v>
                  </c:pt>
                  <c:pt idx="1">
                    <c:v>Prefix network</c:v>
                  </c:pt>
                  <c:pt idx="2">
                    <c:v>Fine-tuned ResNet-50</c:v>
                  </c:pt>
                  <c:pt idx="3">
                    <c:v>Prefix + watermark</c:v>
                  </c:pt>
                </c:lvl>
              </c:multiLvlStrCache>
            </c:multiLvlStrRef>
          </c:cat>
          <c:val>
            <c:numRef>
              <c:f>Sheet1!$B$2:$B$5</c:f>
              <c:numCache>
                <c:formatCode>General</c:formatCode>
                <c:ptCount val="4"/>
                <c:pt idx="0">
                  <c:v>83.8</c:v>
                </c:pt>
                <c:pt idx="1">
                  <c:v>89.3</c:v>
                </c:pt>
                <c:pt idx="2">
                  <c:v>94.4</c:v>
                </c:pt>
                <c:pt idx="3">
                  <c:v>95</c:v>
                </c:pt>
              </c:numCache>
            </c:numRef>
          </c:val>
        </c:ser>
        <c:dLbls>
          <c:numFmt formatCode="0.0&quot;%&quot;" sourceLinked="0"/>
          <c:txPr>
            <a:bodyPr/>
            <a:lstStyle/>
            <a:p>
              <a:pPr>
                <a:defRPr b="0" i="0" strike="noStrike" sz="1100" u="none">
                  <a:solidFill>
                    <a:srgbClr val="1C232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C2321"/>
                </a:solidFill>
                <a:latin typeface="+mn-lt"/>
              </a:defRPr>
            </a:pPr>
            <a:endParaRPr lang="en-US"/>
          </a:p>
        </c:txPr>
        <c:crossAx val="2094734552"/>
        <c:crosses val="autoZero"/>
        <c:auto val="1"/>
        <c:lblAlgn val="ctr"/>
        <c:noMultiLvlLbl val="1"/>
      </c:catAx>
      <c:valAx>
        <c:axId val="2094734552"/>
        <c:scaling>
          <c:orientation val="minMax"/>
          <c:max val="100"/>
          <c:min val="70"/>
        </c:scaling>
        <c:delete val="0"/>
        <c:axPos val="b"/>
        <c:majorGridlines>
          <c:spPr>
            <a:ln w="9525" cap="flat">
              <a:solidFill>
                <a:srgbClr val="DDE7E2"/>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5E6B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c:v>
                </c:pt>
              </c:strCache>
            </c:strRef>
          </c:tx>
          <c:spPr>
            <a:solidFill>
              <a:srgbClr val="5E6B66"/>
            </a:solidFill>
            <a:effectLst/>
          </c:spPr>
          <c:invertIfNegative val="0"/>
          <c:dLbls>
            <c:numFmt formatCode="0.0&quot;%&quot;" sourceLinked="0"/>
            <c:txPr>
              <a:bodyPr/>
              <a:lstStyle/>
              <a:p>
                <a:pPr>
                  <a:defRPr b="0" i="0" strike="noStrike" sz="1100" u="none">
                    <a:solidFill>
                      <a:srgbClr val="1C2321"/>
                    </a:solidFill>
                    <a:latin typeface="+mn-lt"/>
                  </a:defRPr>
                </a:pPr>
              </a:p>
            </c:txPr>
            <c:showLegendKey val="0"/>
            <c:showVal val="1"/>
            <c:showCatName val="0"/>
            <c:showSerName val="0"/>
            <c:showPercent val="0"/>
            <c:showBubbleSize val="0"/>
            <c:showLeaderLines val="0"/>
          </c:dLbls>
          <c:cat>
            <c:multiLvlStrRef>
              <c:f>Sheet1!$A$2:$A$2</c:f>
              <c:multiLvlStrCache>
                <c:ptCount val="1"/>
                <c:lvl>
                  <c:pt idx="0">
                    <c:v>All scripts</c:v>
                  </c:pt>
                </c:lvl>
              </c:multiLvlStrCache>
            </c:multiLvlStrRef>
          </c:cat>
          <c:val>
            <c:numRef>
              <c:f>Sheet1!$B$2:$B$2</c:f>
              <c:numCache>
                <c:formatCode>General</c:formatCode>
                <c:ptCount val="1"/>
                <c:pt idx="0">
                  <c:v>9.3</c:v>
                </c:pt>
              </c:numCache>
            </c:numRef>
          </c:val>
        </c:ser>
        <c:ser>
          <c:idx val="1"/>
          <c:order val="1"/>
          <c:tx>
            <c:strRef>
              <c:f>Sheet1!$C$1</c:f>
              <c:strCache>
                <c:ptCount val="1"/>
                <c:pt idx="0">
                  <c:v>Now</c:v>
                </c:pt>
              </c:strCache>
            </c:strRef>
          </c:tx>
          <c:spPr>
            <a:solidFill>
              <a:srgbClr val="006A4E"/>
            </a:solidFill>
            <a:effectLst/>
          </c:spPr>
          <c:invertIfNegative val="0"/>
          <c:dLbls>
            <c:numFmt formatCode="0.0&quot;%&quot;" sourceLinked="0"/>
            <c:txPr>
              <a:bodyPr/>
              <a:lstStyle/>
              <a:p>
                <a:pPr>
                  <a:defRPr b="0" i="0" strike="noStrike" sz="1100" u="none">
                    <a:solidFill>
                      <a:srgbClr val="1C2321"/>
                    </a:solidFill>
                    <a:latin typeface="+mn-lt"/>
                  </a:defRPr>
                </a:pPr>
              </a:p>
            </c:txPr>
            <c:showLegendKey val="0"/>
            <c:showVal val="1"/>
            <c:showCatName val="0"/>
            <c:showSerName val="0"/>
            <c:showPercent val="0"/>
            <c:showBubbleSize val="0"/>
            <c:showLeaderLines val="0"/>
          </c:dLbls>
          <c:cat>
            <c:multiLvlStrRef>
              <c:f>Sheet1!$A$2:$A$2</c:f>
              <c:multiLvlStrCache>
                <c:ptCount val="1"/>
                <c:lvl>
                  <c:pt idx="0">
                    <c:v>All scripts</c:v>
                  </c:pt>
                </c:lvl>
              </c:multiLvlStrCache>
            </c:multiLvlStrRef>
          </c:cat>
          <c:val>
            <c:numRef>
              <c:f>Sheet1!$C$2:$C$2</c:f>
              <c:numCache>
                <c:formatCode>General</c:formatCode>
                <c:ptCount val="1"/>
                <c:pt idx="0">
                  <c:v>2.3</c:v>
                </c:pt>
              </c:numCache>
            </c:numRef>
          </c:val>
        </c:ser>
        <c:dLbls>
          <c:numFmt formatCode="0.0&quot;%&quot;" sourceLinked="0"/>
          <c:txPr>
            <a:bodyPr/>
            <a:lstStyle/>
            <a:p>
              <a:pPr>
                <a:defRPr b="0" i="0" strike="noStrike" sz="1100" u="none">
                  <a:solidFill>
                    <a:srgbClr val="1C2321"/>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C2321"/>
                </a:solidFill>
                <a:latin typeface="+mn-lt"/>
              </a:defRPr>
            </a:pPr>
            <a:endParaRPr lang="en-US"/>
          </a:p>
        </c:txPr>
        <c:crossAx val="2094734552"/>
        <c:crosses val="autoZero"/>
        <c:auto val="1"/>
        <c:lblAlgn val="ctr"/>
        <c:noMultiLvlLbl val="1"/>
      </c:catAx>
      <c:valAx>
        <c:axId val="2094734552"/>
        <c:scaling>
          <c:orientation val="minMax"/>
          <c:max val="12"/>
          <c:min val="0"/>
        </c:scaling>
        <c:delete val="0"/>
        <c:axPos val="l"/>
        <c:majorGridlines>
          <c:spPr>
            <a:ln w="9525" cap="flat">
              <a:solidFill>
                <a:srgbClr val="DDE7E2"/>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c:v>
                </c:pt>
              </c:strCache>
            </c:strRef>
          </c:tx>
          <c:spPr>
            <a:solidFill>
              <a:srgbClr val="5E6B66"/>
            </a:solidFill>
            <a:effectLst/>
          </c:spPr>
          <c:invertIfNegative val="0"/>
          <c:dLbls>
            <c:numFmt formatCode="0.0&quot;%&quot;" sourceLinked="0"/>
            <c:txPr>
              <a:bodyPr/>
              <a:lstStyle/>
              <a:p>
                <a:pPr>
                  <a:defRPr b="0" i="0" strike="noStrike" sz="1100" u="none">
                    <a:solidFill>
                      <a:srgbClr val="1C2321"/>
                    </a:solidFill>
                    <a:latin typeface="+mn-lt"/>
                  </a:defRPr>
                </a:pPr>
              </a:p>
            </c:txPr>
            <c:showLegendKey val="0"/>
            <c:showVal val="1"/>
            <c:showCatName val="0"/>
            <c:showSerName val="0"/>
            <c:showPercent val="0"/>
            <c:showBubbleSize val="0"/>
            <c:showLeaderLines val="0"/>
          </c:dLbls>
          <c:cat>
            <c:multiLvlStrRef>
              <c:f>Sheet1!$A$2:$A$3</c:f>
              <c:multiLvlStrCache>
                <c:ptCount val="2"/>
                <c:lvl>
                  <c:pt idx="0">
                    <c:v>Bangla</c:v>
                  </c:pt>
                  <c:pt idx="1">
                    <c:v>Latin</c:v>
                  </c:pt>
                </c:lvl>
              </c:multiLvlStrCache>
            </c:multiLvlStrRef>
          </c:cat>
          <c:val>
            <c:numRef>
              <c:f>Sheet1!$B$2:$B$3</c:f>
              <c:numCache>
                <c:formatCode>General</c:formatCode>
                <c:ptCount val="2"/>
                <c:pt idx="0">
                  <c:v>39.2</c:v>
                </c:pt>
                <c:pt idx="1">
                  <c:v>62.5</c:v>
                </c:pt>
              </c:numCache>
            </c:numRef>
          </c:val>
        </c:ser>
        <c:ser>
          <c:idx val="1"/>
          <c:order val="1"/>
          <c:tx>
            <c:strRef>
              <c:f>Sheet1!$C$1</c:f>
              <c:strCache>
                <c:ptCount val="1"/>
                <c:pt idx="0">
                  <c:v>Now</c:v>
                </c:pt>
              </c:strCache>
            </c:strRef>
          </c:tx>
          <c:spPr>
            <a:solidFill>
              <a:srgbClr val="006A4E"/>
            </a:solidFill>
            <a:effectLst/>
          </c:spPr>
          <c:invertIfNegative val="0"/>
          <c:dLbls>
            <c:numFmt formatCode="0.0&quot;%&quot;" sourceLinked="0"/>
            <c:txPr>
              <a:bodyPr/>
              <a:lstStyle/>
              <a:p>
                <a:pPr>
                  <a:defRPr b="0" i="0" strike="noStrike" sz="1100" u="none">
                    <a:solidFill>
                      <a:srgbClr val="1C2321"/>
                    </a:solidFill>
                    <a:latin typeface="+mn-lt"/>
                  </a:defRPr>
                </a:pPr>
              </a:p>
            </c:txPr>
            <c:showLegendKey val="0"/>
            <c:showVal val="1"/>
            <c:showCatName val="0"/>
            <c:showSerName val="0"/>
            <c:showPercent val="0"/>
            <c:showBubbleSize val="0"/>
            <c:showLeaderLines val="0"/>
          </c:dLbls>
          <c:cat>
            <c:multiLvlStrRef>
              <c:f>Sheet1!$A$2:$A$3</c:f>
              <c:multiLvlStrCache>
                <c:ptCount val="2"/>
                <c:lvl>
                  <c:pt idx="0">
                    <c:v>Bangla</c:v>
                  </c:pt>
                  <c:pt idx="1">
                    <c:v>Latin</c:v>
                  </c:pt>
                </c:lvl>
              </c:multiLvlStrCache>
            </c:multiLvlStrRef>
          </c:cat>
          <c:val>
            <c:numRef>
              <c:f>Sheet1!$C$2:$C$3</c:f>
              <c:numCache>
                <c:formatCode>General</c:formatCode>
                <c:ptCount val="2"/>
                <c:pt idx="0">
                  <c:v>28.7</c:v>
                </c:pt>
                <c:pt idx="1">
                  <c:v>50.6</c:v>
                </c:pt>
              </c:numCache>
            </c:numRef>
          </c:val>
        </c:ser>
        <c:dLbls>
          <c:numFmt formatCode="0.0&quot;%&quot;" sourceLinked="0"/>
          <c:txPr>
            <a:bodyPr/>
            <a:lstStyle/>
            <a:p>
              <a:pPr>
                <a:defRPr b="0" i="0" strike="noStrike" sz="1100" u="none">
                  <a:solidFill>
                    <a:srgbClr val="1C2321"/>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C2321"/>
                </a:solidFill>
                <a:latin typeface="+mn-lt"/>
              </a:defRPr>
            </a:pPr>
            <a:endParaRPr lang="en-US"/>
          </a:p>
        </c:txPr>
        <c:crossAx val="2094734552"/>
        <c:crosses val="autoZero"/>
        <c:auto val="1"/>
        <c:lblAlgn val="ctr"/>
        <c:noMultiLvlLbl val="1"/>
      </c:catAx>
      <c:valAx>
        <c:axId val="2094734552"/>
        <c:scaling>
          <c:orientation val="minMax"/>
          <c:max val="70"/>
          <c:min val="0"/>
        </c:scaling>
        <c:delete val="0"/>
        <c:axPos val="l"/>
        <c:majorGridlines>
          <c:spPr>
            <a:ln w="9525" cap="flat">
              <a:solidFill>
                <a:srgbClr val="DDE7E2"/>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66"/>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C2321"/>
                </a:solidFill>
                <a:latin typeface="+mn-lt"/>
              </a:defRPr>
            </a:pPr>
            <a:r>
              <a:rPr sz="1300" b="0" i="0" u="none" strike="noStrike">
                <a:solidFill>
                  <a:srgbClr val="1C2321"/>
                </a:solidFill>
                <a:latin typeface="+mn-lt"/>
              </a:rPr>
              <a:t>"Glass, …" commands, 12 unseen synthetic voices</a:t>
            </a:r>
          </a:p>
        </c:rich>
      </c:tx>
      <c:layout/>
      <c:overlay val="0"/>
    </c:title>
    <c:autoTitleDeleted val="0"/>
    <c:plotArea>
      <c:layout/>
      <c:barChart>
        <c:barDir val="col"/>
        <c:grouping val="clustered"/>
        <c:varyColors val="0"/>
        <c:ser>
          <c:idx val="0"/>
          <c:order val="0"/>
          <c:tx>
            <c:strRef>
              <c:f>Sheet1!$B$1</c:f>
              <c:strCache>
                <c:ptCount val="1"/>
                <c:pt idx="0">
                  <c:v>Commands carried out</c:v>
                </c:pt>
              </c:strCache>
            </c:strRef>
          </c:tx>
          <c:spPr>
            <a:solidFill>
              <a:srgbClr val="006A4E"/>
            </a:solidFill>
            <a:effectLst/>
          </c:spPr>
          <c:invertIfNegative val="0"/>
          <c:dLbls>
            <c:numFmt formatCode="0.0&quot;%&quot;" sourceLinked="0"/>
            <c:txPr>
              <a:bodyPr/>
              <a:lstStyle/>
              <a:p>
                <a:pPr>
                  <a:defRPr b="0" i="0" strike="noStrike" sz="1100" u="none">
                    <a:solidFill>
                      <a:srgbClr val="1C2321"/>
                    </a:solidFill>
                    <a:latin typeface="+mn-lt"/>
                  </a:defRPr>
                </a:pPr>
              </a:p>
            </c:txPr>
            <c:showLegendKey val="0"/>
            <c:showVal val="1"/>
            <c:showCatName val="0"/>
            <c:showSerName val="0"/>
            <c:showPercent val="0"/>
            <c:showBubbleSize val="0"/>
            <c:showLeaderLines val="0"/>
          </c:dLbls>
          <c:cat>
            <c:multiLvlStrRef>
              <c:f>Sheet1!$A$2:$A$5</c:f>
              <c:multiLvlStrCache>
                <c:ptCount val="4"/>
                <c:lvl>
                  <c:pt idx="0">
                    <c:v>Clean</c:v>
                  </c:pt>
                  <c:pt idx="1">
                    <c:v>Whispered</c:v>
                  </c:pt>
                  <c:pt idx="2">
                    <c:v>Street noise 0 dB</c:v>
                  </c:pt>
                  <c:pt idx="3">
                    <c:v>People talking 10 dB</c:v>
                  </c:pt>
                </c:lvl>
              </c:multiLvlStrCache>
            </c:multiLvlStrRef>
          </c:cat>
          <c:val>
            <c:numRef>
              <c:f>Sheet1!$B$2:$B$5</c:f>
              <c:numCache>
                <c:formatCode>General</c:formatCode>
                <c:ptCount val="4"/>
                <c:pt idx="0">
                  <c:v>100</c:v>
                </c:pt>
                <c:pt idx="1">
                  <c:v>98.9</c:v>
                </c:pt>
                <c:pt idx="2">
                  <c:v>82.5</c:v>
                </c:pt>
                <c:pt idx="3">
                  <c:v>54.3</c:v>
                </c:pt>
              </c:numCache>
            </c:numRef>
          </c:val>
        </c:ser>
        <c:dLbls>
          <c:numFmt formatCode="0.0&quot;%&quot;" sourceLinked="0"/>
          <c:txPr>
            <a:bodyPr/>
            <a:lstStyle/>
            <a:p>
              <a:pPr>
                <a:defRPr b="0" i="0" strike="noStrike" sz="1100" u="none">
                  <a:solidFill>
                    <a:srgbClr val="1C232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C2321"/>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DDE7E2"/>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E6B66"/>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present SARA, a smart glass for blind and low-vision people in Bangladesh. It reads Bangla and English text, names objects, recognises Taka notes and checks them carefully, and it works on the device without the internet. The photo is the current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everyday moments; the top row is today, the bottom row is with SARA. At the shop, the blind customer receives change and must trust the shopkeeper about which note it is and whether it is real. At the pharmacy, the medicine label is in Bangla and no affordable device reads it. On the street, they must stop and ask a stranger what is ahead. In every case the answer comes from another person and cannot be checked. With SARA, the glass names the note, reads the label and names what is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World Health Organization counts at least 2.2 billion people with a vision impairment, most of them in low- and middle-income countries. Three gaps keep existing help away from Bangladeshi users. OrCam MyEye, the best-known commercial reading glass, does not support Bangla. The research glasses we reviewed send every picture to a cloud server, so without a network there is no answer. And none of the systems we reviewed names Bangladeshi Taka notes, let alone screens them safely: a wrong value or a false accusation of counterfeit has real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same moment with SARA. The user says glass, check money. The camera picture is processed on the Raspberry Pi 5 without the internet, and the glass answers in Bangla, for example five hundred Taka note, with a short vibration. The same three steps read a medicine label or name what is 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prototype: the camera and five buttons sit on the frame, a bone-conduction earphone leaves the ears free, and the Raspberry Pi 5 rides in a ventilated enclosure at the back of the head. Five modes cover text, objects, Taka notes, emotion and an optional online description. Every mode can be started with a button or with a voice command that begins with the word glass.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questions organise the talk. First, whether a multi-function Bangla glass runs on a Raspberry Pi 5 and how fast. Second, whether a Taka detector trained without hand labels works on real, hand-held photos. Third, why multi-view counterfeit models fail with fewer views and whether training fixes it. Fourth, how much accuracy drops on counterfeit prints never seen in training. Fifth, whether the glass can give counterfeit advice that never accuses a genuine note. Sixth, which part of a Bangla OCR pipeline matters most for a wearable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glasses such as OrCam work offline but not in Bangla and not with Taka. Glass-based research systems send pictures to a server. Raspberry Pi reading aids are cheap but mostly English. No device combines Bangla, Taka and offline use, and counterfeit studies do not check for copies of the same print in training and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camera picture, the buttons and voice commands go to a mode manager on the Raspberry Pi 5. The active mode runs its model on the CPU, and the result is spoken in Bangla or English, with a vibration for a detected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version put the board and fan on one temple: heavy on one side and loud by the ear. Version two moves the Raspberry Pi into a ventilated enclosure at the back of the head, keeps the camera and a small UV lamp on the front, puts five buttons along the frame and uses a bone-conduction earphone so the ears stay free for traffic sounds.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Taka images are clean close-ups, so a model trained on them fails on a live camera. We pasted 5,073 note photos onto real COCO pictures with random angle, scale, light and blur, and let the program write the box labels. The detector scores 0.995 mAP on held-out composites and, the number that matters for users, names 94.1 percent of 1,536 real photographs taken by other people correctly. The two numbers measure different things: the first is on synthetic composites, the second on real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blind user holds the note close, folded and under the fingers, and our training pictures showed whole notes in scenes. We generated six thousand hand-held close-ups from training notes only and fine-tuned the detector. On the independent NSTU hand-held test, the right value rises from 11.8 to 47.5 percent on the laptop and from 8.7 to 33.5 percent on the Pi. There are costs: one-taka notes are named more often by mistake (36.6 percent), and with three notes in view the total is right 97.0 percent of the time instead of 99.2.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live sessions with our own notes, with a laptop webcam and the first glass prototype. Ten, fifty, one hundred, two hundred, five hundred and one thousand Taka were named at 0.63 to 0.89 confidence, including worn and folded notes and two or three notes at once. Boxes are loose and can overlap when notes are close. These photos illustrate behaviour; we did not count an error rate in these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blind user cannot promise to capture six views of a note. A model trained only with all six views collapses to 71 percent with one view. Training on random prefixes of the views, that is the first k views for a random k, keeps it at about 98 percent from one to six views, with no loss at six views and stable results across three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counterfeit notes in JaalTaka are copies of a few prints, so the usual test measures recognition of known reprints; a serial-number lookup alone scores 90.2 percent. On truly unseen prints our network drops to about 89 percent; adding the watermark check brings it to 95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watermark method divides the back-lit photo by a blurred copy to remove the lamp, subtracts a genuine portrait of the note value and classifies the residual with two tiny networks. With under fifty thousand parameters it reaches 91.5 percent on unseen prints, statistically level with a MobileNetV2 46 times larger.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a blind user cannot verify the answer, the glass never says a note is counterfeit. It says likely genuine only above a threshold set from validation counterfeits; otherwise it asks for a check by hand. The threshold is the highest score of any validation counterfeit, so a new counterfeit passes with probability about 1 in n plus 1, roughly 1.1 percent. No test counterfeit passed, and 57.5 percent of genuine notes are confirmed from close-up 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a UV lamp, genuine 200, 500 and 1000 Taka notes show glowing security fibres. Our check removes the lamp's own blue light and counts thin glowing marks. It accepts 85.6 percent of real genuine photos and rejects 88.6 percent of simulated fibre-free sheets. It stays off by default until real counterfeits are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our rendered Bangla and English benchmark the error fell from 9.3 to 2.3 percent. Real street words are much harder: a recogniser fine-tuned on real words and blended with the original weights lowered the error from 39.2 to 28.7 percent for Bangla and from 62.5 to 50.6 percent for Latin script. What helped: reading only the main block of text, tuned detector settings with CLAHE and clean-up rules, and the recogniser fine-tuned on real words and blended fifty-fifty with the original weights. Binarisation, multi-scale reading, Tesseract, TrOCR, PaddleOCR, dictionaries, smaller pictures and a rotation retry did not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glass now speaks with a natural Piper voice, with eSpeak NG as a fallback, and each sentence is rendered before it plays, which fixed the broken sound on the Pi; a short word and a soft tick tell the user that a long capture is running. These command results come from synthetic voices on a laptop, not from people wearing the glass. Commands start with the word glass. On twelve unseen synthetic voices, clean commands are always carried out, whispered ones 98.9 percent, with street noise as loud as the voice 82.5 percent, and with people talking nearby about half. The wake word cut false commands from 212 to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on the Raspberry Pi 5 itself. The currency check takes 0.4 seconds, the watermark check 64 milliseconds. Text reading is the slow part at about 18 seconds for a short sign. The board was hot in this run, so we added a thermal governor; the newest changes still need to be timed on the 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prototype on team members. The first field test with the glass camera was not good enough: currency was unreliable and Bangla text was not read, probably because of the low-resolution fixed-focus camera. Sessions with a visually impaired participant have started, with a Bangla voice questionnaire, but no user study is complete yet, so we make no claims about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roadmap has four steps. First, a better glass camera with higher resolution or autofocus, and a test set taken through the glass. Second, the user study with eight to twelve participants: task time, accuracy, SUS and NASA-TLX, including voice commands spoken by people and Bangla command words. Third, more banknotes: about a hundred unseen counterfeit prints with a bank or the police, and the UV check on real counterfeits. Fourth, speed and cooling: timing the new code on the Pi, better cooling and battery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SARA turns three everyday moments, money, reading and the street, into questions the user can ask the glass. It is an assistive glass that speaks Bangla and runs on a Raspberry Pi 5, tested part by part on held-out data, with new methods for counterfeit checking and hand-held notes. Still to be validated: real counterfeit notes, including under the UV lamp; voice commands spoken by people; the glass camera; and a completed user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sources cited on the slides, numbered as in the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code is public on GitHub: the glass software and the research repository with every experiment. The datasets and open-source tools we used are linked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4D3B"/>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rtlCol="0"/>
          <a:lstStyle>
            <a:lvl1pPr algn="l" indent="0" marL="0">
              <a:buNone/>
              <a:defRPr lang="en-US" sz="30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txBox="1"/>
          <p:nvPr/>
        </p:nvSpPr>
        <p:spPr>
          <a:xfrm>
            <a:off x="548640" y="6419088"/>
            <a:ext cx="5943600" cy="256032"/>
          </a:xfrm>
          <a:prstGeom prst="rect">
            <a:avLst/>
          </a:prstGeom>
          <a:noFill/>
          <a:ln/>
        </p:spPr>
        <p:txBody>
          <a:bodyPr wrap="square" lIns="0" tIns="0" rIns="0" bIns="0" rtlCol="0" anchor="ctr"/>
          <a:lstStyle/>
          <a:p>
            <a:pPr indent="0" marL="0">
              <a:buNone/>
            </a:pPr>
            <a:r>
              <a:rPr lang="en-US" sz="1000" dirty="0">
                <a:solidFill>
                  <a:schemeClr val="accent5"/>
                </a:solidFill>
              </a:rPr>
              <a:t>SARA  ·  Smart Assistive Reading Aid  ·  IUB CSE Senior Project</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3.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1-1.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image" Target="../media/image-12-5.jpg"/><Relationship Id="rId6" Type="http://schemas.openxmlformats.org/officeDocument/2006/relationships/image" Target="../media/image-12-6.jp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chart" Target="/ppt/charts/chart6.xml"/><Relationship Id="rId1" Type="http://schemas.openxmlformats.org/officeDocument/2006/relationships/image" Target="../media/image-19-1.png"/><Relationship Id="rId3" Type="http://schemas.openxmlformats.org/officeDocument/2006/relationships/slideLayout" Target="../slideLayouts/slideLayout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3.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2" Type="http://schemas.openxmlformats.org/officeDocument/2006/relationships/hyperlink" Target="https://github.com/aflam330/SARA" TargetMode="External"/><Relationship Id="rId3" Type="http://schemas.openxmlformats.org/officeDocument/2006/relationships/hyperlink" Target="https://github.com/aflam330/Senior_project_wearable_glass_for_blind_people_using_ocr_and_ylo" TargetMode="External"/><Relationship Id="rId5" Type="http://schemas.openxmlformats.org/officeDocument/2006/relationships/hyperlink" Target="https://data.mendeley.com/datasets/2m7wk5cy4c/2" TargetMode="External"/><Relationship Id="rId6" Type="http://schemas.openxmlformats.org/officeDocument/2006/relationships/hyperlink" Target="https://data.mendeley.com/datasets/3cv2sypkkh/1" TargetMode="External"/><Relationship Id="rId7" Type="http://schemas.openxmlformats.org/officeDocument/2006/relationships/hyperlink" Target="https://www.sciencedirect.com/science/article/pii/S2352340924006681" TargetMode="External"/><Relationship Id="rId8" Type="http://schemas.openxmlformats.org/officeDocument/2006/relationships/hyperlink" Target="https://cocodataset.org" TargetMode="External"/><Relationship Id="rId9" Type="http://schemas.openxmlformats.org/officeDocument/2006/relationships/hyperlink" Target="https://rrc.cvc.uab.es/?ch=15" TargetMode="External"/><Relationship Id="rId10" Type="http://schemas.openxmlformats.org/officeDocument/2006/relationships/hyperlink" Target="https://github.com/karolpiczak/ESC-50" TargetMode="External"/><Relationship Id="rId12" Type="http://schemas.openxmlformats.org/officeDocument/2006/relationships/hyperlink" Target="https://github.com/ultralytics/ultralytics" TargetMode="External"/><Relationship Id="rId13" Type="http://schemas.openxmlformats.org/officeDocument/2006/relationships/hyperlink" Target="https://github.com/JaidedAI/EasyOCR" TargetMode="External"/><Relationship Id="rId14" Type="http://schemas.openxmlformats.org/officeDocument/2006/relationships/hyperlink" Target="https://github.com/rhasspy/piper" TargetMode="External"/><Relationship Id="rId15" Type="http://schemas.openxmlformats.org/officeDocument/2006/relationships/hyperlink" Target="https://alphacephei.com/vosk/" TargetMode="External"/><Relationship Id="rId16" Type="http://schemas.openxmlformats.org/officeDocument/2006/relationships/hyperlink" Target="https://github.com/espeak-ng/espeak-ng" TargetMode="External"/><Relationship Id="rId17" Type="http://schemas.openxmlformats.org/officeDocument/2006/relationships/hyperlink" Target="https://www.who.int/news-room/fact-sheets/detail/blindness-and-visual-impairment" TargetMode="External"/><Relationship Id="rId1" Type="http://schemas.openxmlformats.org/officeDocument/2006/relationships/image" Target="../media/image-26-1.png"/><Relationship Id="rId4" Type="http://schemas.openxmlformats.org/officeDocument/2006/relationships/image" Target="../media/image-26-2.png"/><Relationship Id="rId11" Type="http://schemas.openxmlformats.org/officeDocument/2006/relationships/image" Target="../media/image-26-3.png"/><Relationship Id="rId18" Type="http://schemas.openxmlformats.org/officeDocument/2006/relationships/slideLayout" Target="../slideLayouts/slideLayout3.xml"/><Relationship Id="rId19"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econd prototype: front, side and back" descr="E:\Final SP\Thesis Report and paper\tools\deck\assets/v2_collage.jpg">    </p:cNvPr>
          <p:cNvPicPr>
            <a:picLocks noChangeAspect="1"/>
          </p:cNvPicPr>
          <p:nvPr/>
        </p:nvPicPr>
        <p:blipFill>
          <a:blip r:embed="rId1"/>
          <a:srcRect l="0" r="0" t="0" b="0"/>
          <a:stretch/>
        </p:blipFill>
        <p:spPr>
          <a:xfrm>
            <a:off x="6793992" y="0"/>
            <a:ext cx="5394960" cy="6858000"/>
          </a:xfrm>
          <a:prstGeom prst="rect">
            <a:avLst/>
          </a:prstGeom>
        </p:spPr>
      </p:pic>
      <p:sp>
        <p:nvSpPr>
          <p:cNvPr id="3" name="Glasses circle"/>
          <p:cNvSpPr/>
          <p:nvPr/>
        </p:nvSpPr>
        <p:spPr>
          <a:xfrm>
            <a:off x="685800" y="685800"/>
            <a:ext cx="685800" cy="685800"/>
          </a:xfrm>
          <a:prstGeom prst="ellipse">
            <a:avLst/>
          </a:prstGeom>
          <a:solidFill>
            <a:srgbClr val="006A4E"/>
          </a:solidFill>
          <a:ln w="12700">
            <a:solidFill>
              <a:srgbClr val="006A4E"/>
            </a:solidFill>
            <a:prstDash val="solid"/>
          </a:ln>
        </p:spPr>
      </p:sp>
      <p:pic>
        <p:nvPicPr>
          <p:cNvPr id="4" name="Glasses icon" descr="preencoded.png">    </p:cNvPr>
          <p:cNvPicPr>
            <a:picLocks noChangeAspect="1"/>
          </p:cNvPicPr>
          <p:nvPr/>
        </p:nvPicPr>
        <p:blipFill>
          <a:blip r:embed="rId2"/>
          <a:stretch>
            <a:fillRect/>
          </a:stretch>
        </p:blipFill>
        <p:spPr>
          <a:xfrm>
            <a:off x="850392" y="850392"/>
            <a:ext cx="356616" cy="356616"/>
          </a:xfrm>
          <a:prstGeom prst="rect">
            <a:avLst/>
          </a:prstGeom>
        </p:spPr>
      </p:pic>
      <p:sp>
        <p:nvSpPr>
          <p:cNvPr id="5" name="Project name"/>
          <p:cNvSpPr txBox="1"/>
          <p:nvPr/>
        </p:nvSpPr>
        <p:spPr>
          <a:xfrm>
            <a:off x="1554480" y="777240"/>
            <a:ext cx="4846320" cy="502920"/>
          </a:xfrm>
          <a:prstGeom prst="rect">
            <a:avLst/>
          </a:prstGeom>
          <a:noFill/>
          <a:ln/>
        </p:spPr>
        <p:txBody>
          <a:bodyPr wrap="square" lIns="0" tIns="0" rIns="0" bIns="0" rtlCol="0" anchor="ctr"/>
          <a:lstStyle/>
          <a:p>
            <a:pPr indent="0" marL="0">
              <a:buNone/>
            </a:pPr>
            <a:r>
              <a:rPr lang="en-US" sz="1800" b="1" dirty="0">
                <a:solidFill>
                  <a:srgbClr val="CFE2DA"/>
                </a:solidFill>
              </a:rPr>
              <a:t>SARA  ·  Smart Assistive Reading Aid</a:t>
            </a:r>
            <a:endParaRPr lang="en-US" sz="1800" dirty="0"/>
          </a:p>
        </p:txBody>
      </p:sp>
      <p:sp>
        <p:nvSpPr>
          <p:cNvPr id="6" name="Title"/>
          <p:cNvSpPr txBox="1"/>
          <p:nvPr/>
        </p:nvSpPr>
        <p:spPr>
          <a:xfrm>
            <a:off x="685800" y="1645920"/>
            <a:ext cx="5760720" cy="2651760"/>
          </a:xfrm>
          <a:prstGeom prst="rect">
            <a:avLst/>
          </a:prstGeom>
          <a:noFill/>
          <a:ln/>
        </p:spPr>
        <p:txBody>
          <a:bodyPr wrap="square" lIns="0" tIns="0" rIns="0" bIns="0" rtlCol="0" anchor="t"/>
          <a:lstStyle/>
          <a:p>
            <a:pPr indent="0" marL="0">
              <a:buNone/>
            </a:pPr>
            <a:r>
              <a:rPr lang="en-US" sz="2800" b="1" dirty="0">
                <a:solidFill>
                  <a:srgbClr val="FFFFFF"/>
                </a:solidFill>
                <a:latin typeface="Cambria" pitchFamily="34" charset="0"/>
                <a:ea typeface="Cambria" pitchFamily="34" charset="-122"/>
                <a:cs typeface="Cambria" pitchFamily="34" charset="-120"/>
              </a:rPr>
              <a:t>A Wearable Assistive Robot for Authenticating Bangladeshi Banknotes: Fusing Physical Security Features and Deep Learning for Visually Impaired Users</a:t>
            </a:r>
            <a:endParaRPr lang="en-US" sz="2800" dirty="0"/>
          </a:p>
        </p:txBody>
      </p:sp>
      <p:sp>
        <p:nvSpPr>
          <p:cNvPr id="7" name="Authors"/>
          <p:cNvSpPr txBox="1"/>
          <p:nvPr/>
        </p:nvSpPr>
        <p:spPr>
          <a:xfrm>
            <a:off x="685800" y="4526280"/>
            <a:ext cx="5760720" cy="1463040"/>
          </a:xfrm>
          <a:prstGeom prst="rect">
            <a:avLst/>
          </a:prstGeom>
          <a:noFill/>
          <a:ln/>
        </p:spPr>
        <p:txBody>
          <a:bodyPr wrap="square" lIns="0" tIns="0" rIns="0" bIns="0" rtlCol="0" anchor="ctr"/>
          <a:lstStyle/>
          <a:p>
            <a:pPr indent="0" marL="0">
              <a:spcAft>
                <a:spcPts val="400"/>
              </a:spcAft>
              <a:buNone/>
            </a:pPr>
            <a:r>
              <a:rPr lang="en-US" sz="1300" dirty="0">
                <a:solidFill>
                  <a:srgbClr val="CFE2DA"/>
                </a:solidFill>
              </a:rPr>
              <a:t>MD Abdun Fattah Lam (2220014)  ·  Mukut Protim Memo (2020086)</a:t>
            </a:r>
            <a:endParaRPr lang="en-US" sz="1300" dirty="0"/>
          </a:p>
          <a:p>
            <a:pPr indent="0" marL="0">
              <a:spcAft>
                <a:spcPts val="400"/>
              </a:spcAft>
              <a:buNone/>
            </a:pPr>
            <a:r>
              <a:rPr lang="en-US" sz="1300" dirty="0">
                <a:solidFill>
                  <a:srgbClr val="CFE2DA"/>
                </a:solidFill>
              </a:rPr>
              <a:t>Tanjila Hossain Tapti (2130561)</a:t>
            </a:r>
            <a:endParaRPr lang="en-US" sz="1300" dirty="0"/>
          </a:p>
          <a:p>
            <a:pPr indent="0" marL="0">
              <a:spcAft>
                <a:spcPts val="400"/>
              </a:spcAft>
              <a:buNone/>
            </a:pPr>
            <a:r>
              <a:rPr lang="en-US" sz="1300" dirty="0">
                <a:solidFill>
                  <a:srgbClr val="CFE2DA"/>
                </a:solidFill>
              </a:rPr>
              <a:t>Supervisor: Mohammad Shidujaman, PhD, Assistant Professor</a:t>
            </a:r>
            <a:endParaRPr lang="en-US" sz="1300" dirty="0"/>
          </a:p>
          <a:p>
            <a:pPr indent="0" marL="0">
              <a:spcAft>
                <a:spcPts val="400"/>
              </a:spcAft>
              <a:buNone/>
            </a:pPr>
            <a:r>
              <a:rPr lang="en-US" sz="1300" dirty="0">
                <a:solidFill>
                  <a:srgbClr val="CFE2DA"/>
                </a:solidFill>
              </a:rPr>
              <a:t>Department of Computer Science and Engineering, Independent University, Bangladesh</a:t>
            </a:r>
            <a:endParaRPr lang="en-US" sz="13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Three everyday challenges</a:t>
            </a:r>
            <a:endParaRPr lang="en-US" sz="3000" dirty="0"/>
          </a:p>
        </p:txBody>
      </p:sp>
      <p:sp>
        <p:nvSpPr>
          <p:cNvPr id="3" name="Money label"/>
          <p:cNvSpPr txBox="1"/>
          <p:nvPr/>
        </p:nvSpPr>
        <p:spPr>
          <a:xfrm>
            <a:off x="548640" y="1261872"/>
            <a:ext cx="3685032" cy="502920"/>
          </a:xfrm>
          <a:prstGeom prst="rect">
            <a:avLst/>
          </a:prstGeom>
          <a:noFill/>
          <a:ln/>
        </p:spPr>
        <p:txBody>
          <a:bodyPr wrap="square" lIns="0" tIns="0" rIns="0" bIns="0" rtlCol="0" anchor="ctr"/>
          <a:lstStyle/>
          <a:p>
            <a:pPr algn="ctr" indent="0" marL="0">
              <a:buNone/>
            </a:pPr>
            <a:r>
              <a:rPr lang="en-US" sz="2600" b="1" dirty="0">
                <a:solidFill>
                  <a:schemeClr val="tx2"/>
                </a:solidFill>
                <a:latin typeface="Cambria" pitchFamily="34" charset="0"/>
                <a:ea typeface="Cambria" pitchFamily="34" charset="-122"/>
                <a:cs typeface="Cambria" pitchFamily="34" charset="-120"/>
              </a:rPr>
              <a:t>Money</a:t>
            </a:r>
            <a:endParaRPr lang="en-US" sz="2600" dirty="0"/>
          </a:p>
        </p:txBody>
      </p:sp>
      <p:sp>
        <p:nvSpPr>
          <p:cNvPr id="4" name="Reading label"/>
          <p:cNvSpPr txBox="1"/>
          <p:nvPr/>
        </p:nvSpPr>
        <p:spPr>
          <a:xfrm>
            <a:off x="4233672" y="1261872"/>
            <a:ext cx="3685032" cy="502920"/>
          </a:xfrm>
          <a:prstGeom prst="rect">
            <a:avLst/>
          </a:prstGeom>
          <a:noFill/>
          <a:ln/>
        </p:spPr>
        <p:txBody>
          <a:bodyPr wrap="square" lIns="0" tIns="0" rIns="0" bIns="0" rtlCol="0" anchor="ctr"/>
          <a:lstStyle/>
          <a:p>
            <a:pPr algn="ctr" indent="0" marL="0">
              <a:buNone/>
            </a:pPr>
            <a:r>
              <a:rPr lang="en-US" sz="2600" b="1" dirty="0">
                <a:solidFill>
                  <a:schemeClr val="tx2"/>
                </a:solidFill>
                <a:latin typeface="Cambria" pitchFamily="34" charset="0"/>
                <a:ea typeface="Cambria" pitchFamily="34" charset="-122"/>
                <a:cs typeface="Cambria" pitchFamily="34" charset="-120"/>
              </a:rPr>
              <a:t>Reading</a:t>
            </a:r>
            <a:endParaRPr lang="en-US" sz="2600" dirty="0"/>
          </a:p>
        </p:txBody>
      </p:sp>
      <p:sp>
        <p:nvSpPr>
          <p:cNvPr id="5" name="Surroundings label"/>
          <p:cNvSpPr txBox="1"/>
          <p:nvPr/>
        </p:nvSpPr>
        <p:spPr>
          <a:xfrm>
            <a:off x="7918704" y="1261872"/>
            <a:ext cx="3685032" cy="502920"/>
          </a:xfrm>
          <a:prstGeom prst="rect">
            <a:avLst/>
          </a:prstGeom>
          <a:noFill/>
          <a:ln/>
        </p:spPr>
        <p:txBody>
          <a:bodyPr wrap="square" lIns="0" tIns="0" rIns="0" bIns="0" rtlCol="0" anchor="ctr"/>
          <a:lstStyle/>
          <a:p>
            <a:pPr algn="ctr" indent="0" marL="0">
              <a:buNone/>
            </a:pPr>
            <a:r>
              <a:rPr lang="en-US" sz="2600" b="1" dirty="0">
                <a:solidFill>
                  <a:schemeClr val="tx2"/>
                </a:solidFill>
                <a:latin typeface="Cambria" pitchFamily="34" charset="0"/>
                <a:ea typeface="Cambria" pitchFamily="34" charset="-122"/>
                <a:cs typeface="Cambria" pitchFamily="34" charset="-120"/>
              </a:rPr>
              <a:t>Surroundings</a:t>
            </a:r>
            <a:endParaRPr lang="en-US" sz="2600" dirty="0"/>
          </a:p>
        </p:txBody>
      </p:sp>
      <p:pic>
        <p:nvPicPr>
          <p:cNvPr id="6" name="Without and with SARA" descr="E:\Final SP\Thesis Report and paper\tools\deck\assets/cartoon_full.jpg">    </p:cNvPr>
          <p:cNvPicPr>
            <a:picLocks noChangeAspect="1"/>
          </p:cNvPicPr>
          <p:nvPr/>
        </p:nvPicPr>
        <p:blipFill>
          <a:blip r:embed="rId1"/>
          <a:stretch>
            <a:fillRect/>
          </a:stretch>
        </p:blipFill>
        <p:spPr>
          <a:xfrm>
            <a:off x="548640" y="1828800"/>
            <a:ext cx="11064240" cy="4424580"/>
          </a:xfrm>
          <a:prstGeom prst="rect">
            <a:avLst/>
          </a:prstGeom>
        </p:spPr>
      </p:pic>
      <p:sp>
        <p:nvSpPr>
          <p:cNvPr id="7" name="Illustration note"/>
          <p:cNvSpPr txBox="1"/>
          <p:nvPr/>
        </p:nvSpPr>
        <p:spPr>
          <a:xfrm>
            <a:off x="10241280" y="6419088"/>
            <a:ext cx="868680" cy="256032"/>
          </a:xfrm>
          <a:prstGeom prst="rect">
            <a:avLst/>
          </a:prstGeom>
          <a:noFill/>
          <a:ln/>
        </p:spPr>
        <p:txBody>
          <a:bodyPr wrap="square" lIns="0" tIns="0" rIns="0" bIns="0" rtlCol="0" anchor="ctr"/>
          <a:lstStyle/>
          <a:p>
            <a:pPr algn="r" indent="0" marL="0">
              <a:buNone/>
            </a:pPr>
            <a:r>
              <a:rPr lang="en-US" sz="1000" i="1" dirty="0">
                <a:solidFill>
                  <a:schemeClr val="accent5"/>
                </a:solidFill>
              </a:rPr>
              <a:t>Illustration</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Why existing solutions fall short</a:t>
            </a:r>
            <a:endParaRPr lang="en-US" sz="3000" dirty="0"/>
          </a:p>
        </p:txBody>
      </p:sp>
      <p:sp>
        <p:nvSpPr>
          <p:cNvPr id="3" name="Statistic card"/>
          <p:cNvSpPr/>
          <p:nvPr/>
        </p:nvSpPr>
        <p:spPr>
          <a:xfrm>
            <a:off x="548640" y="1325880"/>
            <a:ext cx="3840480" cy="4526280"/>
          </a:xfrm>
          <a:prstGeom prst="roundRect">
            <a:avLst>
              <a:gd name="adj" fmla="val 2857"/>
            </a:avLst>
          </a:prstGeom>
          <a:solidFill>
            <a:schemeClr val="tx2"/>
          </a:solidFill>
          <a:ln w="12700">
            <a:solidFill>
              <a:schemeClr val="tx2"/>
            </a:solidFill>
            <a:prstDash val="solid"/>
          </a:ln>
        </p:spPr>
      </p:sp>
      <p:sp>
        <p:nvSpPr>
          <p:cNvPr id="4" name="WHO figure"/>
          <p:cNvSpPr txBox="1"/>
          <p:nvPr/>
        </p:nvSpPr>
        <p:spPr>
          <a:xfrm>
            <a:off x="868680" y="1920240"/>
            <a:ext cx="329184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2.2 billion</a:t>
            </a:r>
            <a:endParaRPr lang="en-US" sz="4800" dirty="0"/>
          </a:p>
        </p:txBody>
      </p:sp>
      <p:sp>
        <p:nvSpPr>
          <p:cNvPr id="5" name="WHO label"/>
          <p:cNvSpPr txBox="1"/>
          <p:nvPr/>
        </p:nvSpPr>
        <p:spPr>
          <a:xfrm>
            <a:off x="868680" y="2880360"/>
            <a:ext cx="3246120" cy="1097280"/>
          </a:xfrm>
          <a:prstGeom prst="rect">
            <a:avLst/>
          </a:prstGeom>
          <a:noFill/>
          <a:ln/>
        </p:spPr>
        <p:txBody>
          <a:bodyPr wrap="square" lIns="0" tIns="0" rIns="0" bIns="0" rtlCol="0" anchor="t"/>
          <a:lstStyle/>
          <a:p>
            <a:pPr indent="0" marL="0">
              <a:buNone/>
            </a:pPr>
            <a:r>
              <a:rPr lang="en-US" sz="1900" dirty="0">
                <a:solidFill>
                  <a:srgbClr val="E4EFEA"/>
                </a:solidFill>
              </a:rPr>
              <a:t>people worldwide have a near or distance vision impairment [1]</a:t>
            </a:r>
            <a:endParaRPr lang="en-US" sz="1900" dirty="0"/>
          </a:p>
        </p:txBody>
      </p:sp>
      <p:sp>
        <p:nvSpPr>
          <p:cNvPr id="6" name="WHO note"/>
          <p:cNvSpPr txBox="1"/>
          <p:nvPr/>
        </p:nvSpPr>
        <p:spPr>
          <a:xfrm>
            <a:off x="868680" y="4206240"/>
            <a:ext cx="3246120" cy="1097280"/>
          </a:xfrm>
          <a:prstGeom prst="rect">
            <a:avLst/>
          </a:prstGeom>
          <a:noFill/>
          <a:ln/>
        </p:spPr>
        <p:txBody>
          <a:bodyPr wrap="square" lIns="0" tIns="0" rIns="0" bIns="0" rtlCol="0" anchor="t"/>
          <a:lstStyle/>
          <a:p>
            <a:pPr indent="0" marL="0">
              <a:buNone/>
            </a:pPr>
            <a:r>
              <a:rPr lang="en-US" sz="1700" i="1" dirty="0">
                <a:solidFill>
                  <a:srgbClr val="CFE2DA"/>
                </a:solidFill>
              </a:rPr>
              <a:t>most of them in low- and middle-income regions [1]</a:t>
            </a:r>
            <a:endParaRPr lang="en-US" sz="1700" dirty="0"/>
          </a:p>
        </p:txBody>
      </p:sp>
      <p:sp>
        <p:nvSpPr>
          <p:cNvPr id="7" name="Gap 1"/>
          <p:cNvSpPr/>
          <p:nvPr/>
        </p:nvSpPr>
        <p:spPr>
          <a:xfrm>
            <a:off x="4709160" y="1325880"/>
            <a:ext cx="6903720" cy="1371600"/>
          </a:xfrm>
          <a:prstGeom prst="roundRect">
            <a:avLst>
              <a:gd name="adj" fmla="val 8000"/>
            </a:avLst>
          </a:prstGeom>
          <a:solidFill>
            <a:schemeClr val="bg2"/>
          </a:solidFill>
          <a:ln w="12700">
            <a:solidFill>
              <a:schemeClr val="bg2"/>
            </a:solidFill>
            <a:prstDash val="solid"/>
          </a:ln>
        </p:spPr>
      </p:sp>
      <p:sp>
        <p:nvSpPr>
          <p:cNvPr id="8" name="Gap 1 circle"/>
          <p:cNvSpPr/>
          <p:nvPr/>
        </p:nvSpPr>
        <p:spPr>
          <a:xfrm>
            <a:off x="4937760" y="1600200"/>
            <a:ext cx="822960" cy="822960"/>
          </a:xfrm>
          <a:prstGeom prst="ellipse">
            <a:avLst/>
          </a:prstGeom>
          <a:solidFill>
            <a:srgbClr val="006A4E"/>
          </a:solidFill>
          <a:ln w="12700">
            <a:solidFill>
              <a:srgbClr val="006A4E"/>
            </a:solidFill>
            <a:prstDash val="solid"/>
          </a:ln>
        </p:spPr>
      </p:sp>
      <p:pic>
        <p:nvPicPr>
          <p:cNvPr id="9" name="Gap 1 icon" descr="preencoded.png">    </p:cNvPr>
          <p:cNvPicPr>
            <a:picLocks noChangeAspect="1"/>
          </p:cNvPicPr>
          <p:nvPr/>
        </p:nvPicPr>
        <p:blipFill>
          <a:blip r:embed="rId1"/>
          <a:stretch>
            <a:fillRect/>
          </a:stretch>
        </p:blipFill>
        <p:spPr>
          <a:xfrm>
            <a:off x="5135270" y="1797710"/>
            <a:ext cx="427939" cy="427939"/>
          </a:xfrm>
          <a:prstGeom prst="rect">
            <a:avLst/>
          </a:prstGeom>
        </p:spPr>
      </p:pic>
      <p:sp>
        <p:nvSpPr>
          <p:cNvPr id="10" name="Gap 1 heading"/>
          <p:cNvSpPr txBox="1"/>
          <p:nvPr/>
        </p:nvSpPr>
        <p:spPr>
          <a:xfrm>
            <a:off x="5989320" y="1508760"/>
            <a:ext cx="5486400" cy="50292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Limited Bangla support</a:t>
            </a:r>
            <a:endParaRPr lang="en-US" sz="2400" dirty="0"/>
          </a:p>
        </p:txBody>
      </p:sp>
      <p:sp>
        <p:nvSpPr>
          <p:cNvPr id="11" name="Gap 1 text"/>
          <p:cNvSpPr txBox="1"/>
          <p:nvPr/>
        </p:nvSpPr>
        <p:spPr>
          <a:xfrm>
            <a:off x="5989320" y="2039112"/>
            <a:ext cx="5486400" cy="502920"/>
          </a:xfrm>
          <a:prstGeom prst="rect">
            <a:avLst/>
          </a:prstGeom>
          <a:noFill/>
          <a:ln/>
        </p:spPr>
        <p:txBody>
          <a:bodyPr wrap="square" lIns="0" tIns="0" rIns="0" bIns="0" rtlCol="0" anchor="t"/>
          <a:lstStyle/>
          <a:p>
            <a:pPr indent="0" marL="0">
              <a:buNone/>
            </a:pPr>
            <a:r>
              <a:rPr lang="en-US" sz="1800" dirty="0">
                <a:solidFill>
                  <a:schemeClr val="tx1"/>
                </a:solidFill>
              </a:rPr>
              <a:t>OrCam MyEye does not support Bangla [2]</a:t>
            </a:r>
            <a:endParaRPr lang="en-US" sz="1800" dirty="0"/>
          </a:p>
        </p:txBody>
      </p:sp>
      <p:sp>
        <p:nvSpPr>
          <p:cNvPr id="12" name="Gap 2"/>
          <p:cNvSpPr/>
          <p:nvPr/>
        </p:nvSpPr>
        <p:spPr>
          <a:xfrm>
            <a:off x="4709160" y="2880360"/>
            <a:ext cx="6903720" cy="1371600"/>
          </a:xfrm>
          <a:prstGeom prst="roundRect">
            <a:avLst>
              <a:gd name="adj" fmla="val 8000"/>
            </a:avLst>
          </a:prstGeom>
          <a:solidFill>
            <a:schemeClr val="bg2"/>
          </a:solidFill>
          <a:ln w="12700">
            <a:solidFill>
              <a:schemeClr val="bg2"/>
            </a:solidFill>
            <a:prstDash val="solid"/>
          </a:ln>
        </p:spPr>
      </p:sp>
      <p:sp>
        <p:nvSpPr>
          <p:cNvPr id="13" name="Gap 2 circle"/>
          <p:cNvSpPr/>
          <p:nvPr/>
        </p:nvSpPr>
        <p:spPr>
          <a:xfrm>
            <a:off x="4937760" y="3154680"/>
            <a:ext cx="822960" cy="822960"/>
          </a:xfrm>
          <a:prstGeom prst="ellipse">
            <a:avLst/>
          </a:prstGeom>
          <a:solidFill>
            <a:srgbClr val="3A8F72"/>
          </a:solidFill>
          <a:ln w="12700">
            <a:solidFill>
              <a:srgbClr val="3A8F72"/>
            </a:solidFill>
            <a:prstDash val="solid"/>
          </a:ln>
        </p:spPr>
      </p:sp>
      <p:pic>
        <p:nvPicPr>
          <p:cNvPr id="14" name="Gap 2 icon" descr="preencoded.png">    </p:cNvPr>
          <p:cNvPicPr>
            <a:picLocks noChangeAspect="1"/>
          </p:cNvPicPr>
          <p:nvPr/>
        </p:nvPicPr>
        <p:blipFill>
          <a:blip r:embed="rId2"/>
          <a:stretch>
            <a:fillRect/>
          </a:stretch>
        </p:blipFill>
        <p:spPr>
          <a:xfrm>
            <a:off x="5135270" y="3352190"/>
            <a:ext cx="427939" cy="427939"/>
          </a:xfrm>
          <a:prstGeom prst="rect">
            <a:avLst/>
          </a:prstGeom>
        </p:spPr>
      </p:pic>
      <p:sp>
        <p:nvSpPr>
          <p:cNvPr id="15" name="Gap 2 heading"/>
          <p:cNvSpPr txBox="1"/>
          <p:nvPr/>
        </p:nvSpPr>
        <p:spPr>
          <a:xfrm>
            <a:off x="5989320" y="3063240"/>
            <a:ext cx="5486400" cy="50292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Internet dependence</a:t>
            </a:r>
            <a:endParaRPr lang="en-US" sz="2400" dirty="0"/>
          </a:p>
        </p:txBody>
      </p:sp>
      <p:sp>
        <p:nvSpPr>
          <p:cNvPr id="16" name="Gap 2 text"/>
          <p:cNvSpPr txBox="1"/>
          <p:nvPr/>
        </p:nvSpPr>
        <p:spPr>
          <a:xfrm>
            <a:off x="5989320" y="3593592"/>
            <a:ext cx="5486400" cy="502920"/>
          </a:xfrm>
          <a:prstGeom prst="rect">
            <a:avLst/>
          </a:prstGeom>
          <a:noFill/>
          <a:ln/>
        </p:spPr>
        <p:txBody>
          <a:bodyPr wrap="square" lIns="0" tIns="0" rIns="0" bIns="0" rtlCol="0" anchor="t"/>
          <a:lstStyle/>
          <a:p>
            <a:pPr indent="0" marL="0">
              <a:buNone/>
            </a:pPr>
            <a:r>
              <a:rPr lang="en-US" sz="1800" dirty="0">
                <a:solidFill>
                  <a:schemeClr val="tx1"/>
                </a:solidFill>
              </a:rPr>
              <a:t>Research glasses send pictures to a server [3, 4]</a:t>
            </a:r>
            <a:endParaRPr lang="en-US" sz="1800" dirty="0"/>
          </a:p>
        </p:txBody>
      </p:sp>
      <p:sp>
        <p:nvSpPr>
          <p:cNvPr id="17" name="Gap 3"/>
          <p:cNvSpPr/>
          <p:nvPr/>
        </p:nvSpPr>
        <p:spPr>
          <a:xfrm>
            <a:off x="4709160" y="4434840"/>
            <a:ext cx="6903720" cy="1371600"/>
          </a:xfrm>
          <a:prstGeom prst="roundRect">
            <a:avLst>
              <a:gd name="adj" fmla="val 8000"/>
            </a:avLst>
          </a:prstGeom>
          <a:solidFill>
            <a:schemeClr val="bg2"/>
          </a:solidFill>
          <a:ln w="12700">
            <a:solidFill>
              <a:schemeClr val="bg2"/>
            </a:solidFill>
            <a:prstDash val="solid"/>
          </a:ln>
        </p:spPr>
      </p:sp>
      <p:sp>
        <p:nvSpPr>
          <p:cNvPr id="18" name="Gap 3 circle"/>
          <p:cNvSpPr/>
          <p:nvPr/>
        </p:nvSpPr>
        <p:spPr>
          <a:xfrm>
            <a:off x="4937760" y="4709160"/>
            <a:ext cx="822960" cy="822960"/>
          </a:xfrm>
          <a:prstGeom prst="ellipse">
            <a:avLst/>
          </a:prstGeom>
          <a:solidFill>
            <a:srgbClr val="D7263D"/>
          </a:solidFill>
          <a:ln w="12700">
            <a:solidFill>
              <a:srgbClr val="D7263D"/>
            </a:solidFill>
            <a:prstDash val="solid"/>
          </a:ln>
        </p:spPr>
      </p:sp>
      <p:pic>
        <p:nvPicPr>
          <p:cNvPr id="19" name="Gap 3 icon" descr="preencoded.png">    </p:cNvPr>
          <p:cNvPicPr>
            <a:picLocks noChangeAspect="1"/>
          </p:cNvPicPr>
          <p:nvPr/>
        </p:nvPicPr>
        <p:blipFill>
          <a:blip r:embed="rId3"/>
          <a:stretch>
            <a:fillRect/>
          </a:stretch>
        </p:blipFill>
        <p:spPr>
          <a:xfrm>
            <a:off x="5135270" y="4906670"/>
            <a:ext cx="427939" cy="427939"/>
          </a:xfrm>
          <a:prstGeom prst="rect">
            <a:avLst/>
          </a:prstGeom>
        </p:spPr>
      </p:pic>
      <p:sp>
        <p:nvSpPr>
          <p:cNvPr id="20" name="Gap 3 heading"/>
          <p:cNvSpPr txBox="1"/>
          <p:nvPr/>
        </p:nvSpPr>
        <p:spPr>
          <a:xfrm>
            <a:off x="5989320" y="4617720"/>
            <a:ext cx="5486400" cy="50292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Limited Taka verification</a:t>
            </a:r>
            <a:endParaRPr lang="en-US" sz="2400" dirty="0"/>
          </a:p>
        </p:txBody>
      </p:sp>
      <p:sp>
        <p:nvSpPr>
          <p:cNvPr id="21" name="Gap 3 text"/>
          <p:cNvSpPr txBox="1"/>
          <p:nvPr/>
        </p:nvSpPr>
        <p:spPr>
          <a:xfrm>
            <a:off x="5989320" y="5148072"/>
            <a:ext cx="5486400" cy="502920"/>
          </a:xfrm>
          <a:prstGeom prst="rect">
            <a:avLst/>
          </a:prstGeom>
          <a:noFill/>
          <a:ln/>
        </p:spPr>
        <p:txBody>
          <a:bodyPr wrap="square" lIns="0" tIns="0" rIns="0" bIns="0" rtlCol="0" anchor="t"/>
          <a:lstStyle/>
          <a:p>
            <a:pPr indent="0" marL="0">
              <a:buNone/>
            </a:pPr>
            <a:r>
              <a:rPr lang="en-US" sz="1800" dirty="0">
                <a:solidFill>
                  <a:schemeClr val="tx1"/>
                </a:solidFill>
              </a:rPr>
              <a:t>Reviewed systems do not name Taka notes [2, 3, 4]</a:t>
            </a:r>
            <a:endParaRPr lang="en-US" sz="1800" dirty="0"/>
          </a:p>
        </p:txBody>
      </p:sp>
      <p:sp>
        <p:nvSpPr>
          <p:cNvPr id="22"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Sources: [1] WHO 2023; [2] OrCam MyEye; [3] Ali A. et al., IEEE Access 2021; [4] Brilli et al., arXiv 2024.</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SARA in action: ask the glass, not a stranger</a:t>
            </a:r>
            <a:endParaRPr lang="en-US" sz="3000" dirty="0"/>
          </a:p>
        </p:txBody>
      </p:sp>
      <p:pic>
        <p:nvPicPr>
          <p:cNvPr id="3" name="Prototype in a staged exchange" descr="E:\Final SP\Thesis Report and paper\tools\deck\assets/v2_action_stack.jpg">    </p:cNvPr>
          <p:cNvPicPr>
            <a:picLocks noChangeAspect="1"/>
          </p:cNvPicPr>
          <p:nvPr/>
        </p:nvPicPr>
        <p:blipFill>
          <a:blip r:embed="rId1"/>
          <a:stretch>
            <a:fillRect/>
          </a:stretch>
        </p:blipFill>
        <p:spPr>
          <a:xfrm>
            <a:off x="548640" y="1371600"/>
            <a:ext cx="2926080" cy="3321101"/>
          </a:xfrm>
          <a:prstGeom prst="rect">
            <a:avLst/>
          </a:prstGeom>
        </p:spPr>
      </p:pic>
      <p:sp>
        <p:nvSpPr>
          <p:cNvPr id="4" name="Prototype caption"/>
          <p:cNvSpPr txBox="1"/>
          <p:nvPr/>
        </p:nvSpPr>
        <p:spPr>
          <a:xfrm>
            <a:off x="548640" y="4800600"/>
            <a:ext cx="2926080" cy="640080"/>
          </a:xfrm>
          <a:prstGeom prst="rect">
            <a:avLst/>
          </a:prstGeom>
          <a:noFill/>
          <a:ln/>
        </p:spPr>
        <p:txBody>
          <a:bodyPr wrap="square" lIns="0" tIns="0" rIns="0" bIns="0" rtlCol="0" anchor="t"/>
          <a:lstStyle/>
          <a:p>
            <a:pPr indent="0" marL="0">
              <a:buNone/>
            </a:pPr>
            <a:r>
              <a:rPr lang="en-US" sz="1200" i="1" dirty="0">
                <a:solidFill>
                  <a:schemeClr val="accent5"/>
                </a:solidFill>
              </a:rPr>
              <a:t>Our prototype in a staged shop exchange: receiving a note, holding it up to the camera</a:t>
            </a:r>
            <a:endParaRPr lang="en-US" sz="1200" dirty="0"/>
          </a:p>
        </p:txBody>
      </p:sp>
      <p:sp>
        <p:nvSpPr>
          <p:cNvPr id="5" name="Offline note"/>
          <p:cNvSpPr txBox="1"/>
          <p:nvPr/>
        </p:nvSpPr>
        <p:spPr>
          <a:xfrm>
            <a:off x="3749040" y="6035040"/>
            <a:ext cx="7863840" cy="320040"/>
          </a:xfrm>
          <a:prstGeom prst="rect">
            <a:avLst/>
          </a:prstGeom>
          <a:noFill/>
          <a:ln/>
        </p:spPr>
        <p:txBody>
          <a:bodyPr wrap="square" lIns="0" tIns="0" rIns="0" bIns="0" rtlCol="0" anchor="ctr"/>
          <a:lstStyle/>
          <a:p>
            <a:pPr indent="0" marL="0">
              <a:buNone/>
            </a:pPr>
            <a:r>
              <a:rPr lang="en-US" sz="1400" b="1" dirty="0">
                <a:solidFill>
                  <a:srgbClr val="006A4E"/>
                </a:solidFill>
              </a:rPr>
              <a:t>Offline: </a:t>
            </a:r>
            <a:pPr indent="0" marL="0">
              <a:buNone/>
            </a:pPr>
            <a:r>
              <a:rPr lang="en-US" sz="1400" dirty="0">
                <a:solidFill>
                  <a:schemeClr val="tx1"/>
                </a:solidFill>
              </a:rPr>
              <a:t>text, objects, Taka, emotion.   </a:t>
            </a:r>
            <a:pPr indent="0" marL="0">
              <a:buNone/>
            </a:pPr>
            <a:r>
              <a:rPr lang="en-US" sz="1400" b="1" dirty="0">
                <a:solidFill>
                  <a:srgbClr val="5E6B66"/>
                </a:solidFill>
              </a:rPr>
              <a:t>Optional online: </a:t>
            </a:r>
            <a:pPr indent="0" marL="0">
              <a:buNone/>
            </a:pPr>
            <a:r>
              <a:rPr lang="en-US" sz="1400" dirty="0">
                <a:solidFill>
                  <a:schemeClr val="tx1"/>
                </a:solidFill>
              </a:rPr>
              <a:t>scene description only.</a:t>
            </a:r>
            <a:endParaRPr lang="en-US" sz="1400" dirty="0"/>
          </a:p>
        </p:txBody>
      </p:sp>
      <p:sp>
        <p:nvSpPr>
          <p:cNvPr id="6" name="Step 1 circle"/>
          <p:cNvSpPr/>
          <p:nvPr/>
        </p:nvSpPr>
        <p:spPr>
          <a:xfrm>
            <a:off x="3749040" y="1371600"/>
            <a:ext cx="658368" cy="658368"/>
          </a:xfrm>
          <a:prstGeom prst="ellipse">
            <a:avLst/>
          </a:prstGeom>
          <a:solidFill>
            <a:srgbClr val="006A4E"/>
          </a:solidFill>
          <a:ln w="12700">
            <a:solidFill>
              <a:srgbClr val="006A4E"/>
            </a:solidFill>
            <a:prstDash val="solid"/>
          </a:ln>
        </p:spPr>
      </p:sp>
      <p:pic>
        <p:nvPicPr>
          <p:cNvPr id="7" name="Step 1 icon" descr="preencoded.png">    </p:cNvPr>
          <p:cNvPicPr>
            <a:picLocks noChangeAspect="1"/>
          </p:cNvPicPr>
          <p:nvPr/>
        </p:nvPicPr>
        <p:blipFill>
          <a:blip r:embed="rId2"/>
          <a:stretch>
            <a:fillRect/>
          </a:stretch>
        </p:blipFill>
        <p:spPr>
          <a:xfrm>
            <a:off x="3907048" y="1529608"/>
            <a:ext cx="342351" cy="342351"/>
          </a:xfrm>
          <a:prstGeom prst="rect">
            <a:avLst/>
          </a:prstGeom>
        </p:spPr>
      </p:pic>
      <p:sp>
        <p:nvSpPr>
          <p:cNvPr id="8" name="Step 1 heading"/>
          <p:cNvSpPr txBox="1"/>
          <p:nvPr/>
        </p:nvSpPr>
        <p:spPr>
          <a:xfrm>
            <a:off x="4498848" y="1344168"/>
            <a:ext cx="1783080" cy="41148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Speak</a:t>
            </a:r>
            <a:endParaRPr lang="en-US" sz="1800" dirty="0"/>
          </a:p>
        </p:txBody>
      </p:sp>
      <p:sp>
        <p:nvSpPr>
          <p:cNvPr id="9" name="Step 1 text"/>
          <p:cNvSpPr txBox="1"/>
          <p:nvPr/>
        </p:nvSpPr>
        <p:spPr>
          <a:xfrm>
            <a:off x="4498848" y="1755648"/>
            <a:ext cx="1783080" cy="548640"/>
          </a:xfrm>
          <a:prstGeom prst="rect">
            <a:avLst/>
          </a:prstGeom>
          <a:noFill/>
          <a:ln/>
        </p:spPr>
        <p:txBody>
          <a:bodyPr wrap="square" lIns="0" tIns="0" rIns="0" bIns="0" rtlCol="0" anchor="t"/>
          <a:lstStyle/>
          <a:p>
            <a:pPr indent="0" marL="0">
              <a:buNone/>
            </a:pPr>
            <a:r>
              <a:rPr lang="en-US" sz="1400" dirty="0">
                <a:solidFill>
                  <a:schemeClr val="tx1"/>
                </a:solidFill>
              </a:rPr>
              <a:t>"Glass, check money"</a:t>
            </a:r>
            <a:endParaRPr lang="en-US" sz="1400" dirty="0"/>
          </a:p>
        </p:txBody>
      </p:sp>
      <p:sp>
        <p:nvSpPr>
          <p:cNvPr id="10" name="Step arrow 1"/>
          <p:cNvSpPr/>
          <p:nvPr/>
        </p:nvSpPr>
        <p:spPr>
          <a:xfrm>
            <a:off x="6236208" y="1737360"/>
            <a:ext cx="164592" cy="0"/>
          </a:xfrm>
          <a:prstGeom prst="line">
            <a:avLst/>
          </a:prstGeom>
          <a:noFill/>
          <a:ln w="15875">
            <a:solidFill>
              <a:srgbClr val="9DB8AD"/>
            </a:solidFill>
            <a:prstDash val="solid"/>
            <a:tailEnd type="triangle"/>
          </a:ln>
        </p:spPr>
      </p:sp>
      <p:sp>
        <p:nvSpPr>
          <p:cNvPr id="11" name="Step 2 circle"/>
          <p:cNvSpPr/>
          <p:nvPr/>
        </p:nvSpPr>
        <p:spPr>
          <a:xfrm>
            <a:off x="6446520" y="1371600"/>
            <a:ext cx="658368" cy="658368"/>
          </a:xfrm>
          <a:prstGeom prst="ellipse">
            <a:avLst/>
          </a:prstGeom>
          <a:solidFill>
            <a:srgbClr val="3A8F72"/>
          </a:solidFill>
          <a:ln w="12700">
            <a:solidFill>
              <a:srgbClr val="3A8F72"/>
            </a:solidFill>
            <a:prstDash val="solid"/>
          </a:ln>
        </p:spPr>
      </p:sp>
      <p:pic>
        <p:nvPicPr>
          <p:cNvPr id="12" name="Step 2 icon" descr="preencoded.png">    </p:cNvPr>
          <p:cNvPicPr>
            <a:picLocks noChangeAspect="1"/>
          </p:cNvPicPr>
          <p:nvPr/>
        </p:nvPicPr>
        <p:blipFill>
          <a:blip r:embed="rId3"/>
          <a:stretch>
            <a:fillRect/>
          </a:stretch>
        </p:blipFill>
        <p:spPr>
          <a:xfrm>
            <a:off x="6604528" y="1529608"/>
            <a:ext cx="342351" cy="342351"/>
          </a:xfrm>
          <a:prstGeom prst="rect">
            <a:avLst/>
          </a:prstGeom>
        </p:spPr>
      </p:pic>
      <p:sp>
        <p:nvSpPr>
          <p:cNvPr id="13" name="Step 2 heading"/>
          <p:cNvSpPr txBox="1"/>
          <p:nvPr/>
        </p:nvSpPr>
        <p:spPr>
          <a:xfrm>
            <a:off x="7196328" y="1344168"/>
            <a:ext cx="1783080" cy="41148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Detect offline</a:t>
            </a:r>
            <a:endParaRPr lang="en-US" sz="1800" dirty="0"/>
          </a:p>
        </p:txBody>
      </p:sp>
      <p:sp>
        <p:nvSpPr>
          <p:cNvPr id="14" name="Step 2 text"/>
          <p:cNvSpPr txBox="1"/>
          <p:nvPr/>
        </p:nvSpPr>
        <p:spPr>
          <a:xfrm>
            <a:off x="7196328" y="1755648"/>
            <a:ext cx="1783080" cy="548640"/>
          </a:xfrm>
          <a:prstGeom prst="rect">
            <a:avLst/>
          </a:prstGeom>
          <a:noFill/>
          <a:ln/>
        </p:spPr>
        <p:txBody>
          <a:bodyPr wrap="square" lIns="0" tIns="0" rIns="0" bIns="0" rtlCol="0" anchor="t"/>
          <a:lstStyle/>
          <a:p>
            <a:pPr indent="0" marL="0">
              <a:buNone/>
            </a:pPr>
            <a:r>
              <a:rPr lang="en-US" sz="1400" dirty="0">
                <a:solidFill>
                  <a:schemeClr val="tx1"/>
                </a:solidFill>
              </a:rPr>
              <a:t>Raspberry Pi 5, no internet</a:t>
            </a:r>
            <a:endParaRPr lang="en-US" sz="1400" dirty="0"/>
          </a:p>
        </p:txBody>
      </p:sp>
      <p:sp>
        <p:nvSpPr>
          <p:cNvPr id="15" name="Step arrow 2"/>
          <p:cNvSpPr/>
          <p:nvPr/>
        </p:nvSpPr>
        <p:spPr>
          <a:xfrm>
            <a:off x="8933688" y="1737360"/>
            <a:ext cx="164592" cy="0"/>
          </a:xfrm>
          <a:prstGeom prst="line">
            <a:avLst/>
          </a:prstGeom>
          <a:noFill/>
          <a:ln w="15875">
            <a:solidFill>
              <a:srgbClr val="9DB8AD"/>
            </a:solidFill>
            <a:prstDash val="solid"/>
            <a:tailEnd type="triangle"/>
          </a:ln>
        </p:spPr>
      </p:sp>
      <p:sp>
        <p:nvSpPr>
          <p:cNvPr id="16" name="Step 3 circle"/>
          <p:cNvSpPr/>
          <p:nvPr/>
        </p:nvSpPr>
        <p:spPr>
          <a:xfrm>
            <a:off x="9144000" y="1371600"/>
            <a:ext cx="658368" cy="658368"/>
          </a:xfrm>
          <a:prstGeom prst="ellipse">
            <a:avLst/>
          </a:prstGeom>
          <a:solidFill>
            <a:srgbClr val="0B4D3B"/>
          </a:solidFill>
          <a:ln w="12700">
            <a:solidFill>
              <a:srgbClr val="0B4D3B"/>
            </a:solidFill>
            <a:prstDash val="solid"/>
          </a:ln>
        </p:spPr>
      </p:sp>
      <p:pic>
        <p:nvPicPr>
          <p:cNvPr id="17" name="Step 3 icon" descr="preencoded.png">    </p:cNvPr>
          <p:cNvPicPr>
            <a:picLocks noChangeAspect="1"/>
          </p:cNvPicPr>
          <p:nvPr/>
        </p:nvPicPr>
        <p:blipFill>
          <a:blip r:embed="rId4"/>
          <a:stretch>
            <a:fillRect/>
          </a:stretch>
        </p:blipFill>
        <p:spPr>
          <a:xfrm>
            <a:off x="9302008" y="1529608"/>
            <a:ext cx="342351" cy="342351"/>
          </a:xfrm>
          <a:prstGeom prst="rect">
            <a:avLst/>
          </a:prstGeom>
        </p:spPr>
      </p:pic>
      <p:sp>
        <p:nvSpPr>
          <p:cNvPr id="18" name="Step 3 heading"/>
          <p:cNvSpPr txBox="1"/>
          <p:nvPr/>
        </p:nvSpPr>
        <p:spPr>
          <a:xfrm>
            <a:off x="9893808" y="1344168"/>
            <a:ext cx="1783080" cy="41148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Hear the answer</a:t>
            </a:r>
            <a:endParaRPr lang="en-US" sz="1800" dirty="0"/>
          </a:p>
        </p:txBody>
      </p:sp>
      <p:sp>
        <p:nvSpPr>
          <p:cNvPr id="19" name="Step 3 text"/>
          <p:cNvSpPr txBox="1"/>
          <p:nvPr/>
        </p:nvSpPr>
        <p:spPr>
          <a:xfrm>
            <a:off x="9893808" y="1755648"/>
            <a:ext cx="1783080" cy="548640"/>
          </a:xfrm>
          <a:prstGeom prst="rect">
            <a:avLst/>
          </a:prstGeom>
          <a:noFill/>
          <a:ln/>
        </p:spPr>
        <p:txBody>
          <a:bodyPr wrap="square" lIns="0" tIns="0" rIns="0" bIns="0" rtlCol="0" anchor="t"/>
          <a:lstStyle/>
          <a:p>
            <a:pPr indent="0" marL="0">
              <a:buNone/>
            </a:pPr>
            <a:r>
              <a:rPr lang="en-US" sz="1400" dirty="0">
                <a:solidFill>
                  <a:schemeClr val="tx1"/>
                </a:solidFill>
              </a:rPr>
              <a:t>Bangla speech + vibration</a:t>
            </a:r>
            <a:endParaRPr lang="en-US" sz="1400" dirty="0"/>
          </a:p>
        </p:txBody>
      </p:sp>
      <p:sp>
        <p:nvSpPr>
          <p:cNvPr id="20" name="Money card"/>
          <p:cNvSpPr/>
          <p:nvPr/>
        </p:nvSpPr>
        <p:spPr>
          <a:xfrm>
            <a:off x="3749040" y="2606040"/>
            <a:ext cx="2514600" cy="2423160"/>
          </a:xfrm>
          <a:prstGeom prst="roundRect">
            <a:avLst>
              <a:gd name="adj" fmla="val 4528"/>
            </a:avLst>
          </a:prstGeom>
          <a:solidFill>
            <a:schemeClr val="bg2"/>
          </a:solidFill>
          <a:ln w="12700">
            <a:solidFill>
              <a:schemeClr val="bg2"/>
            </a:solidFill>
            <a:prstDash val="solid"/>
          </a:ln>
        </p:spPr>
      </p:sp>
      <p:sp>
        <p:nvSpPr>
          <p:cNvPr id="21" name="Money circle"/>
          <p:cNvSpPr/>
          <p:nvPr/>
        </p:nvSpPr>
        <p:spPr>
          <a:xfrm>
            <a:off x="4645152" y="2788920"/>
            <a:ext cx="731520" cy="731520"/>
          </a:xfrm>
          <a:prstGeom prst="ellipse">
            <a:avLst/>
          </a:prstGeom>
          <a:solidFill>
            <a:srgbClr val="006A4E"/>
          </a:solidFill>
          <a:ln w="12700">
            <a:solidFill>
              <a:srgbClr val="006A4E"/>
            </a:solidFill>
            <a:prstDash val="solid"/>
          </a:ln>
        </p:spPr>
      </p:sp>
      <p:pic>
        <p:nvPicPr>
          <p:cNvPr id="22" name="Money icon" descr="preencoded.png">    </p:cNvPr>
          <p:cNvPicPr>
            <a:picLocks noChangeAspect="1"/>
          </p:cNvPicPr>
          <p:nvPr/>
        </p:nvPicPr>
        <p:blipFill>
          <a:blip r:embed="rId5"/>
          <a:stretch>
            <a:fillRect/>
          </a:stretch>
        </p:blipFill>
        <p:spPr>
          <a:xfrm>
            <a:off x="4820717" y="2964485"/>
            <a:ext cx="380390" cy="380390"/>
          </a:xfrm>
          <a:prstGeom prst="rect">
            <a:avLst/>
          </a:prstGeom>
        </p:spPr>
      </p:pic>
      <p:sp>
        <p:nvSpPr>
          <p:cNvPr id="23" name="Money label"/>
          <p:cNvSpPr txBox="1"/>
          <p:nvPr/>
        </p:nvSpPr>
        <p:spPr>
          <a:xfrm>
            <a:off x="3840480" y="3611880"/>
            <a:ext cx="2331720" cy="41148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Money</a:t>
            </a:r>
            <a:endParaRPr lang="en-US" sz="2000" dirty="0"/>
          </a:p>
        </p:txBody>
      </p:sp>
      <p:sp>
        <p:nvSpPr>
          <p:cNvPr id="24" name="Money answer"/>
          <p:cNvSpPr txBox="1"/>
          <p:nvPr/>
        </p:nvSpPr>
        <p:spPr>
          <a:xfrm>
            <a:off x="3886200" y="4069080"/>
            <a:ext cx="2240280" cy="822960"/>
          </a:xfrm>
          <a:prstGeom prst="rect">
            <a:avLst/>
          </a:prstGeom>
          <a:noFill/>
          <a:ln/>
        </p:spPr>
        <p:txBody>
          <a:bodyPr wrap="square" lIns="0" tIns="0" rIns="0" bIns="0" rtlCol="0" anchor="t"/>
          <a:lstStyle/>
          <a:p>
            <a:pPr algn="ctr" indent="0" marL="0">
              <a:buNone/>
            </a:pPr>
            <a:r>
              <a:rPr lang="en-US" sz="1500" dirty="0">
                <a:solidFill>
                  <a:schemeClr val="tx1"/>
                </a:solidFill>
              </a:rPr>
              <a:t>Names the note and screens it with care</a:t>
            </a:r>
            <a:endParaRPr lang="en-US" sz="1500" dirty="0"/>
          </a:p>
        </p:txBody>
      </p:sp>
      <p:sp>
        <p:nvSpPr>
          <p:cNvPr id="25" name="Reading card"/>
          <p:cNvSpPr/>
          <p:nvPr/>
        </p:nvSpPr>
        <p:spPr>
          <a:xfrm>
            <a:off x="6446520" y="2606040"/>
            <a:ext cx="2514600" cy="2423160"/>
          </a:xfrm>
          <a:prstGeom prst="roundRect">
            <a:avLst>
              <a:gd name="adj" fmla="val 4528"/>
            </a:avLst>
          </a:prstGeom>
          <a:solidFill>
            <a:schemeClr val="bg2"/>
          </a:solidFill>
          <a:ln w="12700">
            <a:solidFill>
              <a:schemeClr val="bg2"/>
            </a:solidFill>
            <a:prstDash val="solid"/>
          </a:ln>
        </p:spPr>
      </p:sp>
      <p:sp>
        <p:nvSpPr>
          <p:cNvPr id="26" name="Reading circle"/>
          <p:cNvSpPr/>
          <p:nvPr/>
        </p:nvSpPr>
        <p:spPr>
          <a:xfrm>
            <a:off x="7342632" y="2788920"/>
            <a:ext cx="731520" cy="731520"/>
          </a:xfrm>
          <a:prstGeom prst="ellipse">
            <a:avLst/>
          </a:prstGeom>
          <a:solidFill>
            <a:srgbClr val="006A4E"/>
          </a:solidFill>
          <a:ln w="12700">
            <a:solidFill>
              <a:srgbClr val="006A4E"/>
            </a:solidFill>
            <a:prstDash val="solid"/>
          </a:ln>
        </p:spPr>
      </p:sp>
      <p:pic>
        <p:nvPicPr>
          <p:cNvPr id="27" name="Reading icon" descr="preencoded.png">    </p:cNvPr>
          <p:cNvPicPr>
            <a:picLocks noChangeAspect="1"/>
          </p:cNvPicPr>
          <p:nvPr/>
        </p:nvPicPr>
        <p:blipFill>
          <a:blip r:embed="rId6"/>
          <a:stretch>
            <a:fillRect/>
          </a:stretch>
        </p:blipFill>
        <p:spPr>
          <a:xfrm>
            <a:off x="7518197" y="2964485"/>
            <a:ext cx="380390" cy="380390"/>
          </a:xfrm>
          <a:prstGeom prst="rect">
            <a:avLst/>
          </a:prstGeom>
        </p:spPr>
      </p:pic>
      <p:sp>
        <p:nvSpPr>
          <p:cNvPr id="28" name="Reading label"/>
          <p:cNvSpPr txBox="1"/>
          <p:nvPr/>
        </p:nvSpPr>
        <p:spPr>
          <a:xfrm>
            <a:off x="6537960" y="3611880"/>
            <a:ext cx="2331720" cy="41148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Reading</a:t>
            </a:r>
            <a:endParaRPr lang="en-US" sz="2000" dirty="0"/>
          </a:p>
        </p:txBody>
      </p:sp>
      <p:sp>
        <p:nvSpPr>
          <p:cNvPr id="29" name="Reading answer"/>
          <p:cNvSpPr txBox="1"/>
          <p:nvPr/>
        </p:nvSpPr>
        <p:spPr>
          <a:xfrm>
            <a:off x="6583680" y="4069080"/>
            <a:ext cx="2240280" cy="822960"/>
          </a:xfrm>
          <a:prstGeom prst="rect">
            <a:avLst/>
          </a:prstGeom>
          <a:noFill/>
          <a:ln/>
        </p:spPr>
        <p:txBody>
          <a:bodyPr wrap="square" lIns="0" tIns="0" rIns="0" bIns="0" rtlCol="0" anchor="t"/>
          <a:lstStyle/>
          <a:p>
            <a:pPr algn="ctr" indent="0" marL="0">
              <a:buNone/>
            </a:pPr>
            <a:r>
              <a:rPr lang="en-US" sz="1500" dirty="0">
                <a:solidFill>
                  <a:schemeClr val="tx1"/>
                </a:solidFill>
              </a:rPr>
              <a:t>Reads Bangla and English labels aloud</a:t>
            </a:r>
            <a:endParaRPr lang="en-US" sz="1500" dirty="0"/>
          </a:p>
        </p:txBody>
      </p:sp>
      <p:sp>
        <p:nvSpPr>
          <p:cNvPr id="30" name="Surroundings card"/>
          <p:cNvSpPr/>
          <p:nvPr/>
        </p:nvSpPr>
        <p:spPr>
          <a:xfrm>
            <a:off x="9144000" y="2606040"/>
            <a:ext cx="2514600" cy="2423160"/>
          </a:xfrm>
          <a:prstGeom prst="roundRect">
            <a:avLst>
              <a:gd name="adj" fmla="val 4528"/>
            </a:avLst>
          </a:prstGeom>
          <a:solidFill>
            <a:schemeClr val="bg2"/>
          </a:solidFill>
          <a:ln w="12700">
            <a:solidFill>
              <a:schemeClr val="bg2"/>
            </a:solidFill>
            <a:prstDash val="solid"/>
          </a:ln>
        </p:spPr>
      </p:sp>
      <p:sp>
        <p:nvSpPr>
          <p:cNvPr id="31" name="Surroundings circle"/>
          <p:cNvSpPr/>
          <p:nvPr/>
        </p:nvSpPr>
        <p:spPr>
          <a:xfrm>
            <a:off x="10040112" y="2788920"/>
            <a:ext cx="731520" cy="731520"/>
          </a:xfrm>
          <a:prstGeom prst="ellipse">
            <a:avLst/>
          </a:prstGeom>
          <a:solidFill>
            <a:srgbClr val="006A4E"/>
          </a:solidFill>
          <a:ln w="12700">
            <a:solidFill>
              <a:srgbClr val="006A4E"/>
            </a:solidFill>
            <a:prstDash val="solid"/>
          </a:ln>
        </p:spPr>
      </p:sp>
      <p:pic>
        <p:nvPicPr>
          <p:cNvPr id="32" name="Surroundings icon" descr="preencoded.png">    </p:cNvPr>
          <p:cNvPicPr>
            <a:picLocks noChangeAspect="1"/>
          </p:cNvPicPr>
          <p:nvPr/>
        </p:nvPicPr>
        <p:blipFill>
          <a:blip r:embed="rId7"/>
          <a:stretch>
            <a:fillRect/>
          </a:stretch>
        </p:blipFill>
        <p:spPr>
          <a:xfrm>
            <a:off x="10215677" y="2964485"/>
            <a:ext cx="380390" cy="380390"/>
          </a:xfrm>
          <a:prstGeom prst="rect">
            <a:avLst/>
          </a:prstGeom>
        </p:spPr>
      </p:pic>
      <p:sp>
        <p:nvSpPr>
          <p:cNvPr id="33" name="Surroundings label"/>
          <p:cNvSpPr txBox="1"/>
          <p:nvPr/>
        </p:nvSpPr>
        <p:spPr>
          <a:xfrm>
            <a:off x="9235440" y="3611880"/>
            <a:ext cx="2331720" cy="41148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Surroundings</a:t>
            </a:r>
            <a:endParaRPr lang="en-US" sz="2000" dirty="0"/>
          </a:p>
        </p:txBody>
      </p:sp>
      <p:sp>
        <p:nvSpPr>
          <p:cNvPr id="34" name="Surroundings answer"/>
          <p:cNvSpPr txBox="1"/>
          <p:nvPr/>
        </p:nvSpPr>
        <p:spPr>
          <a:xfrm>
            <a:off x="9281160" y="4069080"/>
            <a:ext cx="2240280" cy="822960"/>
          </a:xfrm>
          <a:prstGeom prst="rect">
            <a:avLst/>
          </a:prstGeom>
          <a:noFill/>
          <a:ln/>
        </p:spPr>
        <p:txBody>
          <a:bodyPr wrap="square" lIns="0" tIns="0" rIns="0" bIns="0" rtlCol="0" anchor="t"/>
          <a:lstStyle/>
          <a:p>
            <a:pPr algn="ctr" indent="0" marL="0">
              <a:buNone/>
            </a:pPr>
            <a:r>
              <a:rPr lang="en-US" sz="1500" dirty="0">
                <a:solidFill>
                  <a:schemeClr val="tx1"/>
                </a:solidFill>
              </a:rPr>
              <a:t>Names people and objects ahead</a:t>
            </a:r>
            <a:endParaRPr lang="en-US" sz="1500" dirty="0"/>
          </a:p>
        </p:txBody>
      </p:sp>
      <p:sp>
        <p:nvSpPr>
          <p:cNvPr id="35" name="Spoken answer"/>
          <p:cNvSpPr txBox="1"/>
          <p:nvPr/>
        </p:nvSpPr>
        <p:spPr>
          <a:xfrm>
            <a:off x="3749040" y="5257800"/>
            <a:ext cx="7863840" cy="685800"/>
          </a:xfrm>
          <a:prstGeom prst="roundRect">
            <a:avLst>
              <a:gd name="adj" fmla="val 13333"/>
            </a:avLst>
          </a:prstGeom>
          <a:solidFill>
            <a:srgbClr val="EEF5F1"/>
          </a:solidFill>
          <a:ln>
            <a:solidFill>
              <a:srgbClr val="EEF5F1"/>
            </a:solidFill>
          </a:ln>
        </p:spPr>
        <p:txBody>
          <a:bodyPr wrap="square" lIns="152400" tIns="152400" rIns="152400" bIns="152400" rtlCol="0" anchor="ctr"/>
          <a:lstStyle/>
          <a:p>
            <a:pPr indent="0" marL="0">
              <a:buNone/>
            </a:pPr>
            <a:r>
              <a:rPr lang="en-US" sz="2400" b="1" dirty="0">
                <a:solidFill>
                  <a:srgbClr val="006A4E"/>
                </a:solidFill>
                <a:latin typeface="Nirmala UI" pitchFamily="34" charset="0"/>
                <a:ea typeface="Nirmala UI" pitchFamily="34" charset="-122"/>
                <a:cs typeface="Nirmala UI" pitchFamily="34" charset="-120"/>
              </a:rPr>
              <a:t>পাঁচশত টাকার নোট</a:t>
            </a:r>
            <a:pPr indent="0" marL="0">
              <a:buNone/>
            </a:pPr>
            <a:r>
              <a:rPr lang="en-US" sz="1600" dirty="0">
                <a:solidFill>
                  <a:srgbClr val="1C2321"/>
                </a:solidFill>
              </a:rPr>
              <a:t>   "500 Taka note": the answer the glass speaks</a:t>
            </a:r>
            <a:endParaRPr lang="en-US" sz="24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Five modes, started by button or by voice</a:t>
            </a:r>
            <a:endParaRPr lang="en-US" sz="3000" dirty="0"/>
          </a:p>
        </p:txBody>
      </p:sp>
      <p:pic>
        <p:nvPicPr>
          <p:cNvPr id="3" name="Prototype version 2 hardware" descr="E:\Final SP\Thesis Report and paper\tools\deck\assets/v2_hardware_collage.jpg">    </p:cNvPr>
          <p:cNvPicPr>
            <a:picLocks noChangeAspect="1"/>
          </p:cNvPicPr>
          <p:nvPr/>
        </p:nvPicPr>
        <p:blipFill>
          <a:blip r:embed="rId1"/>
          <a:stretch>
            <a:fillRect/>
          </a:stretch>
        </p:blipFill>
        <p:spPr>
          <a:xfrm>
            <a:off x="548640" y="1325880"/>
            <a:ext cx="4663440" cy="3116694"/>
          </a:xfrm>
          <a:prstGeom prst="rect">
            <a:avLst/>
          </a:prstGeom>
        </p:spPr>
      </p:pic>
      <p:sp>
        <p:nvSpPr>
          <p:cNvPr id="4" name="Hardware caption"/>
          <p:cNvSpPr txBox="1"/>
          <p:nvPr/>
        </p:nvSpPr>
        <p:spPr>
          <a:xfrm>
            <a:off x="548640" y="4572000"/>
            <a:ext cx="4663440" cy="640080"/>
          </a:xfrm>
          <a:prstGeom prst="rect">
            <a:avLst/>
          </a:prstGeom>
          <a:noFill/>
          <a:ln/>
        </p:spPr>
        <p:txBody>
          <a:bodyPr wrap="square" lIns="0" tIns="0" rIns="0" bIns="0" rtlCol="0" anchor="t"/>
          <a:lstStyle/>
          <a:p>
            <a:pPr indent="0" marL="0">
              <a:buNone/>
            </a:pPr>
            <a:r>
              <a:rPr lang="en-US" sz="1200" i="1" dirty="0">
                <a:solidFill>
                  <a:schemeClr val="accent5"/>
                </a:solidFill>
              </a:rPr>
              <a:t>Prototype version 2: the complete unit, the UV light on, the Pi 5 in the rear enclosure, buttons and power bank</a:t>
            </a:r>
            <a:endParaRPr lang="en-US" sz="1200" dirty="0"/>
          </a:p>
        </p:txBody>
      </p:sp>
      <p:sp>
        <p:nvSpPr>
          <p:cNvPr id="5" name="Text reading card"/>
          <p:cNvSpPr/>
          <p:nvPr/>
        </p:nvSpPr>
        <p:spPr>
          <a:xfrm>
            <a:off x="5486400" y="1325880"/>
            <a:ext cx="1920240" cy="1645920"/>
          </a:xfrm>
          <a:prstGeom prst="roundRect">
            <a:avLst>
              <a:gd name="adj" fmla="val 6667"/>
            </a:avLst>
          </a:prstGeom>
          <a:solidFill>
            <a:schemeClr val="bg2"/>
          </a:solidFill>
          <a:ln w="12700">
            <a:solidFill>
              <a:schemeClr val="bg2"/>
            </a:solidFill>
            <a:prstDash val="solid"/>
          </a:ln>
        </p:spPr>
      </p:sp>
      <p:sp>
        <p:nvSpPr>
          <p:cNvPr id="6" name="Text reading circle"/>
          <p:cNvSpPr/>
          <p:nvPr/>
        </p:nvSpPr>
        <p:spPr>
          <a:xfrm>
            <a:off x="6126480" y="1463040"/>
            <a:ext cx="640080" cy="640080"/>
          </a:xfrm>
          <a:prstGeom prst="ellipse">
            <a:avLst/>
          </a:prstGeom>
          <a:solidFill>
            <a:srgbClr val="006A4E"/>
          </a:solidFill>
          <a:ln w="12700">
            <a:solidFill>
              <a:srgbClr val="006A4E"/>
            </a:solidFill>
            <a:prstDash val="solid"/>
          </a:ln>
        </p:spPr>
      </p:sp>
      <p:pic>
        <p:nvPicPr>
          <p:cNvPr id="7" name="Text reading icon" descr="preencoded.png">    </p:cNvPr>
          <p:cNvPicPr>
            <a:picLocks noChangeAspect="1"/>
          </p:cNvPicPr>
          <p:nvPr/>
        </p:nvPicPr>
        <p:blipFill>
          <a:blip r:embed="rId2"/>
          <a:stretch>
            <a:fillRect/>
          </a:stretch>
        </p:blipFill>
        <p:spPr>
          <a:xfrm>
            <a:off x="6280099" y="1616659"/>
            <a:ext cx="332842" cy="332842"/>
          </a:xfrm>
          <a:prstGeom prst="rect">
            <a:avLst/>
          </a:prstGeom>
        </p:spPr>
      </p:pic>
      <p:sp>
        <p:nvSpPr>
          <p:cNvPr id="8" name="Text reading heading"/>
          <p:cNvSpPr txBox="1"/>
          <p:nvPr/>
        </p:nvSpPr>
        <p:spPr>
          <a:xfrm>
            <a:off x="5532120" y="2148840"/>
            <a:ext cx="1828800" cy="365760"/>
          </a:xfrm>
          <a:prstGeom prst="rect">
            <a:avLst/>
          </a:prstGeom>
          <a:noFill/>
          <a:ln/>
        </p:spPr>
        <p:txBody>
          <a:bodyPr wrap="square" lIns="0" tIns="0" rIns="0" bIns="0" rtlCol="0" anchor="ctr"/>
          <a:lstStyle/>
          <a:p>
            <a:pPr algn="ctr" indent="0" marL="0">
              <a:buNone/>
            </a:pPr>
            <a:r>
              <a:rPr lang="en-US" sz="1700" b="1" dirty="0">
                <a:solidFill>
                  <a:schemeClr val="tx2"/>
                </a:solidFill>
              </a:rPr>
              <a:t>Text reading</a:t>
            </a:r>
            <a:endParaRPr lang="en-US" sz="1700" dirty="0"/>
          </a:p>
        </p:txBody>
      </p:sp>
      <p:sp>
        <p:nvSpPr>
          <p:cNvPr id="9" name="Text reading text"/>
          <p:cNvSpPr txBox="1"/>
          <p:nvPr/>
        </p:nvSpPr>
        <p:spPr>
          <a:xfrm>
            <a:off x="5532120" y="2514600"/>
            <a:ext cx="1828800" cy="365760"/>
          </a:xfrm>
          <a:prstGeom prst="rect">
            <a:avLst/>
          </a:prstGeom>
          <a:noFill/>
          <a:ln/>
        </p:spPr>
        <p:txBody>
          <a:bodyPr wrap="square" lIns="0" tIns="0" rIns="0" bIns="0" rtlCol="0" anchor="ctr"/>
          <a:lstStyle/>
          <a:p>
            <a:pPr algn="ctr" indent="0" marL="0">
              <a:buNone/>
            </a:pPr>
            <a:r>
              <a:rPr lang="en-US" sz="1400" dirty="0">
                <a:solidFill>
                  <a:schemeClr val="tx1"/>
                </a:solidFill>
              </a:rPr>
              <a:t>Bangla and English</a:t>
            </a:r>
            <a:endParaRPr lang="en-US" sz="1400" dirty="0"/>
          </a:p>
        </p:txBody>
      </p:sp>
      <p:sp>
        <p:nvSpPr>
          <p:cNvPr id="10" name="Objects card"/>
          <p:cNvSpPr/>
          <p:nvPr/>
        </p:nvSpPr>
        <p:spPr>
          <a:xfrm>
            <a:off x="7589520" y="1325880"/>
            <a:ext cx="1920240" cy="1645920"/>
          </a:xfrm>
          <a:prstGeom prst="roundRect">
            <a:avLst>
              <a:gd name="adj" fmla="val 6667"/>
            </a:avLst>
          </a:prstGeom>
          <a:solidFill>
            <a:schemeClr val="bg2"/>
          </a:solidFill>
          <a:ln w="12700">
            <a:solidFill>
              <a:schemeClr val="bg2"/>
            </a:solidFill>
            <a:prstDash val="solid"/>
          </a:ln>
        </p:spPr>
      </p:sp>
      <p:sp>
        <p:nvSpPr>
          <p:cNvPr id="11" name="Objects circle"/>
          <p:cNvSpPr/>
          <p:nvPr/>
        </p:nvSpPr>
        <p:spPr>
          <a:xfrm>
            <a:off x="8229600" y="1463040"/>
            <a:ext cx="640080" cy="640080"/>
          </a:xfrm>
          <a:prstGeom prst="ellipse">
            <a:avLst/>
          </a:prstGeom>
          <a:solidFill>
            <a:srgbClr val="006A4E"/>
          </a:solidFill>
          <a:ln w="12700">
            <a:solidFill>
              <a:srgbClr val="006A4E"/>
            </a:solidFill>
            <a:prstDash val="solid"/>
          </a:ln>
        </p:spPr>
      </p:sp>
      <p:pic>
        <p:nvPicPr>
          <p:cNvPr id="12" name="Objects icon" descr="preencoded.png">    </p:cNvPr>
          <p:cNvPicPr>
            <a:picLocks noChangeAspect="1"/>
          </p:cNvPicPr>
          <p:nvPr/>
        </p:nvPicPr>
        <p:blipFill>
          <a:blip r:embed="rId3"/>
          <a:stretch>
            <a:fillRect/>
          </a:stretch>
        </p:blipFill>
        <p:spPr>
          <a:xfrm>
            <a:off x="8383219" y="1616659"/>
            <a:ext cx="332842" cy="332842"/>
          </a:xfrm>
          <a:prstGeom prst="rect">
            <a:avLst/>
          </a:prstGeom>
        </p:spPr>
      </p:pic>
      <p:sp>
        <p:nvSpPr>
          <p:cNvPr id="13" name="Objects heading"/>
          <p:cNvSpPr txBox="1"/>
          <p:nvPr/>
        </p:nvSpPr>
        <p:spPr>
          <a:xfrm>
            <a:off x="7635240" y="2148840"/>
            <a:ext cx="1828800" cy="365760"/>
          </a:xfrm>
          <a:prstGeom prst="rect">
            <a:avLst/>
          </a:prstGeom>
          <a:noFill/>
          <a:ln/>
        </p:spPr>
        <p:txBody>
          <a:bodyPr wrap="square" lIns="0" tIns="0" rIns="0" bIns="0" rtlCol="0" anchor="ctr"/>
          <a:lstStyle/>
          <a:p>
            <a:pPr algn="ctr" indent="0" marL="0">
              <a:buNone/>
            </a:pPr>
            <a:r>
              <a:rPr lang="en-US" sz="1700" b="1" dirty="0">
                <a:solidFill>
                  <a:schemeClr val="tx2"/>
                </a:solidFill>
              </a:rPr>
              <a:t>Objects</a:t>
            </a:r>
            <a:endParaRPr lang="en-US" sz="1700" dirty="0"/>
          </a:p>
        </p:txBody>
      </p:sp>
      <p:sp>
        <p:nvSpPr>
          <p:cNvPr id="14" name="Objects text"/>
          <p:cNvSpPr txBox="1"/>
          <p:nvPr/>
        </p:nvSpPr>
        <p:spPr>
          <a:xfrm>
            <a:off x="7635240" y="2514600"/>
            <a:ext cx="1828800" cy="365760"/>
          </a:xfrm>
          <a:prstGeom prst="rect">
            <a:avLst/>
          </a:prstGeom>
          <a:noFill/>
          <a:ln/>
        </p:spPr>
        <p:txBody>
          <a:bodyPr wrap="square" lIns="0" tIns="0" rIns="0" bIns="0" rtlCol="0" anchor="ctr"/>
          <a:lstStyle/>
          <a:p>
            <a:pPr algn="ctr" indent="0" marL="0">
              <a:buNone/>
            </a:pPr>
            <a:r>
              <a:rPr lang="en-US" sz="1400" dirty="0">
                <a:solidFill>
                  <a:schemeClr val="tx1"/>
                </a:solidFill>
              </a:rPr>
              <a:t>Named in Bangla</a:t>
            </a:r>
            <a:endParaRPr lang="en-US" sz="1400" dirty="0"/>
          </a:p>
        </p:txBody>
      </p:sp>
      <p:sp>
        <p:nvSpPr>
          <p:cNvPr id="15" name="Taka notes card"/>
          <p:cNvSpPr/>
          <p:nvPr/>
        </p:nvSpPr>
        <p:spPr>
          <a:xfrm>
            <a:off x="9692640" y="1325880"/>
            <a:ext cx="1920240" cy="1645920"/>
          </a:xfrm>
          <a:prstGeom prst="roundRect">
            <a:avLst>
              <a:gd name="adj" fmla="val 6667"/>
            </a:avLst>
          </a:prstGeom>
          <a:solidFill>
            <a:schemeClr val="bg2"/>
          </a:solidFill>
          <a:ln w="12700">
            <a:solidFill>
              <a:schemeClr val="bg2"/>
            </a:solidFill>
            <a:prstDash val="solid"/>
          </a:ln>
        </p:spPr>
      </p:sp>
      <p:sp>
        <p:nvSpPr>
          <p:cNvPr id="16" name="Taka notes circle"/>
          <p:cNvSpPr/>
          <p:nvPr/>
        </p:nvSpPr>
        <p:spPr>
          <a:xfrm>
            <a:off x="10332720" y="1463040"/>
            <a:ext cx="640080" cy="640080"/>
          </a:xfrm>
          <a:prstGeom prst="ellipse">
            <a:avLst/>
          </a:prstGeom>
          <a:solidFill>
            <a:srgbClr val="006A4E"/>
          </a:solidFill>
          <a:ln w="12700">
            <a:solidFill>
              <a:srgbClr val="006A4E"/>
            </a:solidFill>
            <a:prstDash val="solid"/>
          </a:ln>
        </p:spPr>
      </p:sp>
      <p:pic>
        <p:nvPicPr>
          <p:cNvPr id="17" name="Taka notes icon" descr="preencoded.png">    </p:cNvPr>
          <p:cNvPicPr>
            <a:picLocks noChangeAspect="1"/>
          </p:cNvPicPr>
          <p:nvPr/>
        </p:nvPicPr>
        <p:blipFill>
          <a:blip r:embed="rId4"/>
          <a:stretch>
            <a:fillRect/>
          </a:stretch>
        </p:blipFill>
        <p:spPr>
          <a:xfrm>
            <a:off x="10486339" y="1616659"/>
            <a:ext cx="332842" cy="332842"/>
          </a:xfrm>
          <a:prstGeom prst="rect">
            <a:avLst/>
          </a:prstGeom>
        </p:spPr>
      </p:pic>
      <p:sp>
        <p:nvSpPr>
          <p:cNvPr id="18" name="Taka notes heading"/>
          <p:cNvSpPr txBox="1"/>
          <p:nvPr/>
        </p:nvSpPr>
        <p:spPr>
          <a:xfrm>
            <a:off x="9738360" y="2148840"/>
            <a:ext cx="1828800" cy="365760"/>
          </a:xfrm>
          <a:prstGeom prst="rect">
            <a:avLst/>
          </a:prstGeom>
          <a:noFill/>
          <a:ln/>
        </p:spPr>
        <p:txBody>
          <a:bodyPr wrap="square" lIns="0" tIns="0" rIns="0" bIns="0" rtlCol="0" anchor="ctr"/>
          <a:lstStyle/>
          <a:p>
            <a:pPr algn="ctr" indent="0" marL="0">
              <a:buNone/>
            </a:pPr>
            <a:r>
              <a:rPr lang="en-US" sz="1700" b="1" dirty="0">
                <a:solidFill>
                  <a:schemeClr val="tx2"/>
                </a:solidFill>
              </a:rPr>
              <a:t>Taka notes</a:t>
            </a:r>
            <a:endParaRPr lang="en-US" sz="1700" dirty="0"/>
          </a:p>
        </p:txBody>
      </p:sp>
      <p:sp>
        <p:nvSpPr>
          <p:cNvPr id="19" name="Taka notes text"/>
          <p:cNvSpPr txBox="1"/>
          <p:nvPr/>
        </p:nvSpPr>
        <p:spPr>
          <a:xfrm>
            <a:off x="9738360" y="2514600"/>
            <a:ext cx="1828800" cy="365760"/>
          </a:xfrm>
          <a:prstGeom prst="rect">
            <a:avLst/>
          </a:prstGeom>
          <a:noFill/>
          <a:ln/>
        </p:spPr>
        <p:txBody>
          <a:bodyPr wrap="square" lIns="0" tIns="0" rIns="0" bIns="0" rtlCol="0" anchor="ctr"/>
          <a:lstStyle/>
          <a:p>
            <a:pPr algn="ctr" indent="0" marL="0">
              <a:buNone/>
            </a:pPr>
            <a:r>
              <a:rPr lang="en-US" sz="1400" dirty="0">
                <a:solidFill>
                  <a:schemeClr val="tx1"/>
                </a:solidFill>
              </a:rPr>
              <a:t>Value + safe check</a:t>
            </a:r>
            <a:endParaRPr lang="en-US" sz="1400" dirty="0"/>
          </a:p>
        </p:txBody>
      </p:sp>
      <p:sp>
        <p:nvSpPr>
          <p:cNvPr id="20" name="Emotion card"/>
          <p:cNvSpPr/>
          <p:nvPr/>
        </p:nvSpPr>
        <p:spPr>
          <a:xfrm>
            <a:off x="6537960" y="3108960"/>
            <a:ext cx="1920240" cy="1645920"/>
          </a:xfrm>
          <a:prstGeom prst="roundRect">
            <a:avLst>
              <a:gd name="adj" fmla="val 6667"/>
            </a:avLst>
          </a:prstGeom>
          <a:solidFill>
            <a:schemeClr val="bg2"/>
          </a:solidFill>
          <a:ln w="12700">
            <a:solidFill>
              <a:schemeClr val="bg2"/>
            </a:solidFill>
            <a:prstDash val="solid"/>
          </a:ln>
        </p:spPr>
      </p:sp>
      <p:sp>
        <p:nvSpPr>
          <p:cNvPr id="21" name="Emotion circle"/>
          <p:cNvSpPr/>
          <p:nvPr/>
        </p:nvSpPr>
        <p:spPr>
          <a:xfrm>
            <a:off x="7178040" y="3246120"/>
            <a:ext cx="640080" cy="640080"/>
          </a:xfrm>
          <a:prstGeom prst="ellipse">
            <a:avLst/>
          </a:prstGeom>
          <a:solidFill>
            <a:srgbClr val="006A4E"/>
          </a:solidFill>
          <a:ln w="12700">
            <a:solidFill>
              <a:srgbClr val="006A4E"/>
            </a:solidFill>
            <a:prstDash val="solid"/>
          </a:ln>
        </p:spPr>
      </p:sp>
      <p:pic>
        <p:nvPicPr>
          <p:cNvPr id="22" name="Emotion icon" descr="preencoded.png">    </p:cNvPr>
          <p:cNvPicPr>
            <a:picLocks noChangeAspect="1"/>
          </p:cNvPicPr>
          <p:nvPr/>
        </p:nvPicPr>
        <p:blipFill>
          <a:blip r:embed="rId5"/>
          <a:stretch>
            <a:fillRect/>
          </a:stretch>
        </p:blipFill>
        <p:spPr>
          <a:xfrm>
            <a:off x="7331659" y="3399739"/>
            <a:ext cx="332842" cy="332842"/>
          </a:xfrm>
          <a:prstGeom prst="rect">
            <a:avLst/>
          </a:prstGeom>
        </p:spPr>
      </p:pic>
      <p:sp>
        <p:nvSpPr>
          <p:cNvPr id="23" name="Emotion heading"/>
          <p:cNvSpPr txBox="1"/>
          <p:nvPr/>
        </p:nvSpPr>
        <p:spPr>
          <a:xfrm>
            <a:off x="6583680" y="3931920"/>
            <a:ext cx="1828800" cy="365760"/>
          </a:xfrm>
          <a:prstGeom prst="rect">
            <a:avLst/>
          </a:prstGeom>
          <a:noFill/>
          <a:ln/>
        </p:spPr>
        <p:txBody>
          <a:bodyPr wrap="square" lIns="0" tIns="0" rIns="0" bIns="0" rtlCol="0" anchor="ctr"/>
          <a:lstStyle/>
          <a:p>
            <a:pPr algn="ctr" indent="0" marL="0">
              <a:buNone/>
            </a:pPr>
            <a:r>
              <a:rPr lang="en-US" sz="1700" b="1" dirty="0">
                <a:solidFill>
                  <a:schemeClr val="tx2"/>
                </a:solidFill>
              </a:rPr>
              <a:t>Emotion</a:t>
            </a:r>
            <a:endParaRPr lang="en-US" sz="1700" dirty="0"/>
          </a:p>
        </p:txBody>
      </p:sp>
      <p:sp>
        <p:nvSpPr>
          <p:cNvPr id="24" name="Emotion text"/>
          <p:cNvSpPr txBox="1"/>
          <p:nvPr/>
        </p:nvSpPr>
        <p:spPr>
          <a:xfrm>
            <a:off x="6583680" y="4297680"/>
            <a:ext cx="1828800" cy="365760"/>
          </a:xfrm>
          <a:prstGeom prst="rect">
            <a:avLst/>
          </a:prstGeom>
          <a:noFill/>
          <a:ln/>
        </p:spPr>
        <p:txBody>
          <a:bodyPr wrap="square" lIns="0" tIns="0" rIns="0" bIns="0" rtlCol="0" anchor="ctr"/>
          <a:lstStyle/>
          <a:p>
            <a:pPr algn="ctr" indent="0" marL="0">
              <a:buNone/>
            </a:pPr>
            <a:r>
              <a:rPr lang="en-US" sz="1400" dirty="0">
                <a:solidFill>
                  <a:schemeClr val="tx1"/>
                </a:solidFill>
              </a:rPr>
              <a:t>Face in front</a:t>
            </a:r>
            <a:endParaRPr lang="en-US" sz="1400" dirty="0"/>
          </a:p>
        </p:txBody>
      </p:sp>
      <p:sp>
        <p:nvSpPr>
          <p:cNvPr id="25" name="Online description card"/>
          <p:cNvSpPr/>
          <p:nvPr/>
        </p:nvSpPr>
        <p:spPr>
          <a:xfrm>
            <a:off x="8641080" y="3108960"/>
            <a:ext cx="1920240" cy="1645920"/>
          </a:xfrm>
          <a:prstGeom prst="roundRect">
            <a:avLst>
              <a:gd name="adj" fmla="val 6667"/>
            </a:avLst>
          </a:prstGeom>
          <a:solidFill>
            <a:schemeClr val="bg2"/>
          </a:solidFill>
          <a:ln w="12700">
            <a:solidFill>
              <a:schemeClr val="bg2"/>
            </a:solidFill>
            <a:prstDash val="solid"/>
          </a:ln>
        </p:spPr>
      </p:sp>
      <p:sp>
        <p:nvSpPr>
          <p:cNvPr id="26" name="Online description circle"/>
          <p:cNvSpPr/>
          <p:nvPr/>
        </p:nvSpPr>
        <p:spPr>
          <a:xfrm>
            <a:off x="9281160" y="3246120"/>
            <a:ext cx="640080" cy="640080"/>
          </a:xfrm>
          <a:prstGeom prst="ellipse">
            <a:avLst/>
          </a:prstGeom>
          <a:solidFill>
            <a:srgbClr val="006A4E"/>
          </a:solidFill>
          <a:ln w="12700">
            <a:solidFill>
              <a:srgbClr val="006A4E"/>
            </a:solidFill>
            <a:prstDash val="solid"/>
          </a:ln>
        </p:spPr>
      </p:sp>
      <p:pic>
        <p:nvPicPr>
          <p:cNvPr id="27" name="Online description icon" descr="preencoded.png">    </p:cNvPr>
          <p:cNvPicPr>
            <a:picLocks noChangeAspect="1"/>
          </p:cNvPicPr>
          <p:nvPr/>
        </p:nvPicPr>
        <p:blipFill>
          <a:blip r:embed="rId6"/>
          <a:stretch>
            <a:fillRect/>
          </a:stretch>
        </p:blipFill>
        <p:spPr>
          <a:xfrm>
            <a:off x="9434779" y="3399739"/>
            <a:ext cx="332842" cy="332842"/>
          </a:xfrm>
          <a:prstGeom prst="rect">
            <a:avLst/>
          </a:prstGeom>
        </p:spPr>
      </p:pic>
      <p:sp>
        <p:nvSpPr>
          <p:cNvPr id="28" name="Online description heading"/>
          <p:cNvSpPr txBox="1"/>
          <p:nvPr/>
        </p:nvSpPr>
        <p:spPr>
          <a:xfrm>
            <a:off x="8686800" y="3931920"/>
            <a:ext cx="1828800" cy="365760"/>
          </a:xfrm>
          <a:prstGeom prst="rect">
            <a:avLst/>
          </a:prstGeom>
          <a:noFill/>
          <a:ln/>
        </p:spPr>
        <p:txBody>
          <a:bodyPr wrap="square" lIns="0" tIns="0" rIns="0" bIns="0" rtlCol="0" anchor="ctr"/>
          <a:lstStyle/>
          <a:p>
            <a:pPr algn="ctr" indent="0" marL="0">
              <a:buNone/>
            </a:pPr>
            <a:r>
              <a:rPr lang="en-US" sz="1700" b="1" dirty="0">
                <a:solidFill>
                  <a:schemeClr val="tx2"/>
                </a:solidFill>
              </a:rPr>
              <a:t>Online description</a:t>
            </a:r>
            <a:endParaRPr lang="en-US" sz="1700" dirty="0"/>
          </a:p>
        </p:txBody>
      </p:sp>
      <p:sp>
        <p:nvSpPr>
          <p:cNvPr id="29" name="Online description text"/>
          <p:cNvSpPr txBox="1"/>
          <p:nvPr/>
        </p:nvSpPr>
        <p:spPr>
          <a:xfrm>
            <a:off x="8686800" y="4297680"/>
            <a:ext cx="1828800" cy="365760"/>
          </a:xfrm>
          <a:prstGeom prst="rect">
            <a:avLst/>
          </a:prstGeom>
          <a:noFill/>
          <a:ln/>
        </p:spPr>
        <p:txBody>
          <a:bodyPr wrap="square" lIns="0" tIns="0" rIns="0" bIns="0" rtlCol="0" anchor="ctr"/>
          <a:lstStyle/>
          <a:p>
            <a:pPr algn="ctr" indent="0" marL="0">
              <a:buNone/>
            </a:pPr>
            <a:r>
              <a:rPr lang="en-US" sz="1400" dirty="0">
                <a:solidFill>
                  <a:schemeClr val="tx1"/>
                </a:solidFill>
              </a:rPr>
              <a:t>Optional; needs internet</a:t>
            </a:r>
            <a:endParaRPr lang="en-US" sz="1400" dirty="0"/>
          </a:p>
        </p:txBody>
      </p:sp>
      <p:sp>
        <p:nvSpPr>
          <p:cNvPr id="30" name="Interaction bar"/>
          <p:cNvSpPr/>
          <p:nvPr/>
        </p:nvSpPr>
        <p:spPr>
          <a:xfrm>
            <a:off x="5486400" y="4983480"/>
            <a:ext cx="6126480" cy="960120"/>
          </a:xfrm>
          <a:prstGeom prst="roundRect">
            <a:avLst>
              <a:gd name="adj" fmla="val 11429"/>
            </a:avLst>
          </a:prstGeom>
          <a:solidFill>
            <a:schemeClr val="tx2"/>
          </a:solidFill>
          <a:ln w="12700">
            <a:solidFill>
              <a:schemeClr val="tx2"/>
            </a:solidFill>
            <a:prstDash val="solid"/>
          </a:ln>
        </p:spPr>
      </p:sp>
      <p:sp>
        <p:nvSpPr>
          <p:cNvPr id="31" name="Buttons circle"/>
          <p:cNvSpPr/>
          <p:nvPr/>
        </p:nvSpPr>
        <p:spPr>
          <a:xfrm>
            <a:off x="5669280" y="5120640"/>
            <a:ext cx="685800" cy="685800"/>
          </a:xfrm>
          <a:prstGeom prst="ellipse">
            <a:avLst/>
          </a:prstGeom>
          <a:solidFill>
            <a:srgbClr val="3A8F72"/>
          </a:solidFill>
          <a:ln w="12700">
            <a:solidFill>
              <a:srgbClr val="3A8F72"/>
            </a:solidFill>
            <a:prstDash val="solid"/>
          </a:ln>
        </p:spPr>
      </p:sp>
      <p:pic>
        <p:nvPicPr>
          <p:cNvPr id="32" name="Buttons icon" descr="preencoded.png">    </p:cNvPr>
          <p:cNvPicPr>
            <a:picLocks noChangeAspect="1"/>
          </p:cNvPicPr>
          <p:nvPr/>
        </p:nvPicPr>
        <p:blipFill>
          <a:blip r:embed="rId7"/>
          <a:stretch>
            <a:fillRect/>
          </a:stretch>
        </p:blipFill>
        <p:spPr>
          <a:xfrm>
            <a:off x="5833872" y="5285232"/>
            <a:ext cx="356616" cy="356616"/>
          </a:xfrm>
          <a:prstGeom prst="rect">
            <a:avLst/>
          </a:prstGeom>
        </p:spPr>
      </p:pic>
      <p:sp>
        <p:nvSpPr>
          <p:cNvPr id="33" name="Voice circle"/>
          <p:cNvSpPr/>
          <p:nvPr/>
        </p:nvSpPr>
        <p:spPr>
          <a:xfrm>
            <a:off x="6446520" y="5120640"/>
            <a:ext cx="685800" cy="685800"/>
          </a:xfrm>
          <a:prstGeom prst="ellipse">
            <a:avLst/>
          </a:prstGeom>
          <a:solidFill>
            <a:srgbClr val="D7263D"/>
          </a:solidFill>
          <a:ln w="12700">
            <a:solidFill>
              <a:srgbClr val="D7263D"/>
            </a:solidFill>
            <a:prstDash val="solid"/>
          </a:ln>
        </p:spPr>
      </p:sp>
      <p:pic>
        <p:nvPicPr>
          <p:cNvPr id="34" name="Voice icon" descr="preencoded.png">    </p:cNvPr>
          <p:cNvPicPr>
            <a:picLocks noChangeAspect="1"/>
          </p:cNvPicPr>
          <p:nvPr/>
        </p:nvPicPr>
        <p:blipFill>
          <a:blip r:embed="rId8"/>
          <a:stretch>
            <a:fillRect/>
          </a:stretch>
        </p:blipFill>
        <p:spPr>
          <a:xfrm>
            <a:off x="6611112" y="5285232"/>
            <a:ext cx="356616" cy="356616"/>
          </a:xfrm>
          <a:prstGeom prst="rect">
            <a:avLst/>
          </a:prstGeom>
        </p:spPr>
      </p:pic>
      <p:sp>
        <p:nvSpPr>
          <p:cNvPr id="35" name="Interaction text"/>
          <p:cNvSpPr txBox="1"/>
          <p:nvPr/>
        </p:nvSpPr>
        <p:spPr>
          <a:xfrm>
            <a:off x="7315200" y="5029200"/>
            <a:ext cx="4160520" cy="868680"/>
          </a:xfrm>
          <a:prstGeom prst="rect">
            <a:avLst/>
          </a:prstGeom>
          <a:noFill/>
          <a:ln/>
        </p:spPr>
        <p:txBody>
          <a:bodyPr wrap="square" lIns="0" tIns="0" rIns="0" bIns="0" rtlCol="0" anchor="ctr"/>
          <a:lstStyle/>
          <a:p>
            <a:pPr indent="0" marL="0">
              <a:buNone/>
            </a:pPr>
            <a:r>
              <a:rPr lang="en-US" sz="1500" b="1" dirty="0">
                <a:solidFill>
                  <a:srgbClr val="FFFFFF"/>
                </a:solidFill>
              </a:rPr>
              <a:t>How the user starts a mode: </a:t>
            </a:r>
            <a:pPr indent="0" marL="0">
              <a:buNone/>
            </a:pPr>
            <a:r>
              <a:rPr lang="en-US" sz="1500" dirty="0">
                <a:solidFill>
                  <a:srgbClr val="FFFFFF"/>
                </a:solidFill>
              </a:rPr>
              <a:t>five buttons on the frame, or a voice command: "Glass, read text"</a:t>
            </a:r>
            <a:endParaRPr lang="en-US" sz="15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Six research questions</a:t>
            </a:r>
            <a:endParaRPr lang="en-US" sz="3000" dirty="0"/>
          </a:p>
        </p:txBody>
      </p:sp>
      <p:sp>
        <p:nvSpPr>
          <p:cNvPr id="3" name="RQ1"/>
          <p:cNvSpPr/>
          <p:nvPr/>
        </p:nvSpPr>
        <p:spPr>
          <a:xfrm>
            <a:off x="548640" y="1417320"/>
            <a:ext cx="3520440" cy="2011680"/>
          </a:xfrm>
          <a:prstGeom prst="roundRect">
            <a:avLst>
              <a:gd name="adj" fmla="val 5455"/>
            </a:avLst>
          </a:prstGeom>
          <a:solidFill>
            <a:schemeClr val="bg2"/>
          </a:solidFill>
          <a:ln w="12700">
            <a:solidFill>
              <a:schemeClr val="bg2"/>
            </a:solidFill>
            <a:prstDash val="solid"/>
          </a:ln>
        </p:spPr>
      </p:sp>
      <p:sp>
        <p:nvSpPr>
          <p:cNvPr id="4" name="RQ1 number"/>
          <p:cNvSpPr txBox="1"/>
          <p:nvPr/>
        </p:nvSpPr>
        <p:spPr>
          <a:xfrm>
            <a:off x="777240" y="1645920"/>
            <a:ext cx="548640" cy="548640"/>
          </a:xfrm>
          <a:prstGeom prst="ellipse">
            <a:avLst/>
          </a:prstGeom>
          <a:solidFill>
            <a:srgbClr val="006A4E"/>
          </a:solidFill>
          <a:ln>
            <a:solidFill>
              <a:srgbClr val="006A4E"/>
            </a:solid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5" name="RQ1 heading"/>
          <p:cNvSpPr txBox="1"/>
          <p:nvPr/>
        </p:nvSpPr>
        <p:spPr>
          <a:xfrm>
            <a:off x="1463040" y="1691640"/>
            <a:ext cx="246888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System</a:t>
            </a:r>
            <a:endParaRPr lang="en-US" sz="2000" dirty="0"/>
          </a:p>
        </p:txBody>
      </p:sp>
      <p:sp>
        <p:nvSpPr>
          <p:cNvPr id="6" name="RQ1 text"/>
          <p:cNvSpPr txBox="1"/>
          <p:nvPr/>
        </p:nvSpPr>
        <p:spPr>
          <a:xfrm>
            <a:off x="777240" y="2377440"/>
            <a:ext cx="3108960" cy="868680"/>
          </a:xfrm>
          <a:prstGeom prst="rect">
            <a:avLst/>
          </a:prstGeom>
          <a:noFill/>
          <a:ln/>
        </p:spPr>
        <p:txBody>
          <a:bodyPr wrap="square" lIns="0" tIns="0" rIns="0" bIns="0" rtlCol="0" anchor="t"/>
          <a:lstStyle/>
          <a:p>
            <a:pPr indent="0" marL="0">
              <a:buNone/>
            </a:pPr>
            <a:r>
              <a:rPr lang="en-US" sz="2000" dirty="0">
                <a:solidFill>
                  <a:schemeClr val="tx1"/>
                </a:solidFill>
              </a:rPr>
              <a:t>Can it all run on a Raspberry Pi 5?</a:t>
            </a:r>
            <a:endParaRPr lang="en-US" sz="2000" dirty="0"/>
          </a:p>
        </p:txBody>
      </p:sp>
      <p:sp>
        <p:nvSpPr>
          <p:cNvPr id="7" name="RQ2"/>
          <p:cNvSpPr/>
          <p:nvPr/>
        </p:nvSpPr>
        <p:spPr>
          <a:xfrm>
            <a:off x="4297680" y="1417320"/>
            <a:ext cx="3520440" cy="2011680"/>
          </a:xfrm>
          <a:prstGeom prst="roundRect">
            <a:avLst>
              <a:gd name="adj" fmla="val 5455"/>
            </a:avLst>
          </a:prstGeom>
          <a:solidFill>
            <a:schemeClr val="bg2"/>
          </a:solidFill>
          <a:ln w="12700">
            <a:solidFill>
              <a:schemeClr val="bg2"/>
            </a:solidFill>
            <a:prstDash val="solid"/>
          </a:ln>
        </p:spPr>
      </p:sp>
      <p:sp>
        <p:nvSpPr>
          <p:cNvPr id="8" name="RQ2 number"/>
          <p:cNvSpPr txBox="1"/>
          <p:nvPr/>
        </p:nvSpPr>
        <p:spPr>
          <a:xfrm>
            <a:off x="4526280" y="1645920"/>
            <a:ext cx="548640" cy="548640"/>
          </a:xfrm>
          <a:prstGeom prst="ellipse">
            <a:avLst/>
          </a:prstGeom>
          <a:solidFill>
            <a:srgbClr val="006A4E"/>
          </a:solidFill>
          <a:ln>
            <a:solidFill>
              <a:srgbClr val="006A4E"/>
            </a:solid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9" name="RQ2 heading"/>
          <p:cNvSpPr txBox="1"/>
          <p:nvPr/>
        </p:nvSpPr>
        <p:spPr>
          <a:xfrm>
            <a:off x="5212080" y="1691640"/>
            <a:ext cx="246888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Synthetic data</a:t>
            </a:r>
            <a:endParaRPr lang="en-US" sz="2000" dirty="0"/>
          </a:p>
        </p:txBody>
      </p:sp>
      <p:sp>
        <p:nvSpPr>
          <p:cNvPr id="10" name="RQ2 text"/>
          <p:cNvSpPr txBox="1"/>
          <p:nvPr/>
        </p:nvSpPr>
        <p:spPr>
          <a:xfrm>
            <a:off x="4526280" y="2377440"/>
            <a:ext cx="3108960" cy="868680"/>
          </a:xfrm>
          <a:prstGeom prst="rect">
            <a:avLst/>
          </a:prstGeom>
          <a:noFill/>
          <a:ln/>
        </p:spPr>
        <p:txBody>
          <a:bodyPr wrap="square" lIns="0" tIns="0" rIns="0" bIns="0" rtlCol="0" anchor="t"/>
          <a:lstStyle/>
          <a:p>
            <a:pPr indent="0" marL="0">
              <a:buNone/>
            </a:pPr>
            <a:r>
              <a:rPr lang="en-US" sz="2000" dirty="0">
                <a:solidFill>
                  <a:schemeClr val="tx1"/>
                </a:solidFill>
              </a:rPr>
              <a:t>Can unlabelled training data detect real notes?</a:t>
            </a:r>
            <a:endParaRPr lang="en-US" sz="2000" dirty="0"/>
          </a:p>
        </p:txBody>
      </p:sp>
      <p:sp>
        <p:nvSpPr>
          <p:cNvPr id="11" name="RQ3"/>
          <p:cNvSpPr/>
          <p:nvPr/>
        </p:nvSpPr>
        <p:spPr>
          <a:xfrm>
            <a:off x="8046720" y="1417320"/>
            <a:ext cx="3520440" cy="2011680"/>
          </a:xfrm>
          <a:prstGeom prst="roundRect">
            <a:avLst>
              <a:gd name="adj" fmla="val 5455"/>
            </a:avLst>
          </a:prstGeom>
          <a:solidFill>
            <a:schemeClr val="bg2"/>
          </a:solidFill>
          <a:ln w="12700">
            <a:solidFill>
              <a:schemeClr val="bg2"/>
            </a:solidFill>
            <a:prstDash val="solid"/>
          </a:ln>
        </p:spPr>
      </p:sp>
      <p:sp>
        <p:nvSpPr>
          <p:cNvPr id="12" name="RQ3 number"/>
          <p:cNvSpPr txBox="1"/>
          <p:nvPr/>
        </p:nvSpPr>
        <p:spPr>
          <a:xfrm>
            <a:off x="8275320" y="1645920"/>
            <a:ext cx="548640" cy="548640"/>
          </a:xfrm>
          <a:prstGeom prst="ellipse">
            <a:avLst/>
          </a:prstGeom>
          <a:solidFill>
            <a:srgbClr val="006A4E"/>
          </a:solidFill>
          <a:ln>
            <a:solidFill>
              <a:srgbClr val="006A4E"/>
            </a:solid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3" name="RQ3 heading"/>
          <p:cNvSpPr txBox="1"/>
          <p:nvPr/>
        </p:nvSpPr>
        <p:spPr>
          <a:xfrm>
            <a:off x="8961120" y="1691640"/>
            <a:ext cx="246888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Number of views</a:t>
            </a:r>
            <a:endParaRPr lang="en-US" sz="2000" dirty="0"/>
          </a:p>
        </p:txBody>
      </p:sp>
      <p:sp>
        <p:nvSpPr>
          <p:cNvPr id="14" name="RQ3 text"/>
          <p:cNvSpPr txBox="1"/>
          <p:nvPr/>
        </p:nvSpPr>
        <p:spPr>
          <a:xfrm>
            <a:off x="8275320" y="2377440"/>
            <a:ext cx="3108960" cy="868680"/>
          </a:xfrm>
          <a:prstGeom prst="rect">
            <a:avLst/>
          </a:prstGeom>
          <a:noFill/>
          <a:ln/>
        </p:spPr>
        <p:txBody>
          <a:bodyPr wrap="square" lIns="0" tIns="0" rIns="0" bIns="0" rtlCol="0" anchor="t"/>
          <a:lstStyle/>
          <a:p>
            <a:pPr indent="0" marL="0">
              <a:buNone/>
            </a:pPr>
            <a:r>
              <a:rPr lang="en-US" sz="2000" dirty="0">
                <a:solidFill>
                  <a:schemeClr val="tx1"/>
                </a:solidFill>
              </a:rPr>
              <a:t>Can one view of a note be enough?</a:t>
            </a:r>
            <a:endParaRPr lang="en-US" sz="2000" dirty="0"/>
          </a:p>
        </p:txBody>
      </p:sp>
      <p:sp>
        <p:nvSpPr>
          <p:cNvPr id="15" name="RQ4"/>
          <p:cNvSpPr/>
          <p:nvPr/>
        </p:nvSpPr>
        <p:spPr>
          <a:xfrm>
            <a:off x="548640" y="3657600"/>
            <a:ext cx="3520440" cy="2011680"/>
          </a:xfrm>
          <a:prstGeom prst="roundRect">
            <a:avLst>
              <a:gd name="adj" fmla="val 5455"/>
            </a:avLst>
          </a:prstGeom>
          <a:solidFill>
            <a:schemeClr val="bg2"/>
          </a:solidFill>
          <a:ln w="12700">
            <a:solidFill>
              <a:schemeClr val="bg2"/>
            </a:solidFill>
            <a:prstDash val="solid"/>
          </a:ln>
        </p:spPr>
      </p:sp>
      <p:sp>
        <p:nvSpPr>
          <p:cNvPr id="16" name="RQ4 number"/>
          <p:cNvSpPr txBox="1"/>
          <p:nvPr/>
        </p:nvSpPr>
        <p:spPr>
          <a:xfrm>
            <a:off x="777240" y="3886200"/>
            <a:ext cx="548640" cy="548640"/>
          </a:xfrm>
          <a:prstGeom prst="ellipse">
            <a:avLst/>
          </a:prstGeom>
          <a:solidFill>
            <a:srgbClr val="006A4E"/>
          </a:solidFill>
          <a:ln>
            <a:solidFill>
              <a:srgbClr val="006A4E"/>
            </a:solidFill>
          </a:ln>
        </p:spPr>
        <p:txBody>
          <a:bodyPr wrap="square" lIns="0" tIns="0" rIns="0" bIns="0" rtlCol="0" anchor="ctr"/>
          <a:lstStyle/>
          <a:p>
            <a:pPr algn="ctr" indent="0" marL="0">
              <a:buNone/>
            </a:pPr>
            <a:r>
              <a:rPr lang="en-US" sz="1800" b="1" dirty="0">
                <a:solidFill>
                  <a:srgbClr val="FFFFFF"/>
                </a:solidFill>
              </a:rPr>
              <a:t>4</a:t>
            </a:r>
            <a:endParaRPr lang="en-US" sz="1800" dirty="0"/>
          </a:p>
        </p:txBody>
      </p:sp>
      <p:sp>
        <p:nvSpPr>
          <p:cNvPr id="17" name="RQ4 heading"/>
          <p:cNvSpPr txBox="1"/>
          <p:nvPr/>
        </p:nvSpPr>
        <p:spPr>
          <a:xfrm>
            <a:off x="1463040" y="3931920"/>
            <a:ext cx="246888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Unseen prints</a:t>
            </a:r>
            <a:endParaRPr lang="en-US" sz="2000" dirty="0"/>
          </a:p>
        </p:txBody>
      </p:sp>
      <p:sp>
        <p:nvSpPr>
          <p:cNvPr id="18" name="RQ4 text"/>
          <p:cNvSpPr txBox="1"/>
          <p:nvPr/>
        </p:nvSpPr>
        <p:spPr>
          <a:xfrm>
            <a:off x="777240" y="4617720"/>
            <a:ext cx="3108960" cy="868680"/>
          </a:xfrm>
          <a:prstGeom prst="rect">
            <a:avLst/>
          </a:prstGeom>
          <a:noFill/>
          <a:ln/>
        </p:spPr>
        <p:txBody>
          <a:bodyPr wrap="square" lIns="0" tIns="0" rIns="0" bIns="0" rtlCol="0" anchor="t"/>
          <a:lstStyle/>
          <a:p>
            <a:pPr indent="0" marL="0">
              <a:buNone/>
            </a:pPr>
            <a:r>
              <a:rPr lang="en-US" sz="2000" dirty="0">
                <a:solidFill>
                  <a:schemeClr val="tx1"/>
                </a:solidFill>
              </a:rPr>
              <a:t>Does the check hold on new counterfeit prints?</a:t>
            </a:r>
            <a:endParaRPr lang="en-US" sz="2000" dirty="0"/>
          </a:p>
        </p:txBody>
      </p:sp>
      <p:sp>
        <p:nvSpPr>
          <p:cNvPr id="19" name="RQ5"/>
          <p:cNvSpPr/>
          <p:nvPr/>
        </p:nvSpPr>
        <p:spPr>
          <a:xfrm>
            <a:off x="4297680" y="3657600"/>
            <a:ext cx="3520440" cy="2011680"/>
          </a:xfrm>
          <a:prstGeom prst="roundRect">
            <a:avLst>
              <a:gd name="adj" fmla="val 5455"/>
            </a:avLst>
          </a:prstGeom>
          <a:solidFill>
            <a:schemeClr val="bg2"/>
          </a:solidFill>
          <a:ln w="12700">
            <a:solidFill>
              <a:schemeClr val="bg2"/>
            </a:solidFill>
            <a:prstDash val="solid"/>
          </a:ln>
        </p:spPr>
      </p:sp>
      <p:sp>
        <p:nvSpPr>
          <p:cNvPr id="20" name="RQ5 number"/>
          <p:cNvSpPr txBox="1"/>
          <p:nvPr/>
        </p:nvSpPr>
        <p:spPr>
          <a:xfrm>
            <a:off x="4526280" y="3886200"/>
            <a:ext cx="548640" cy="548640"/>
          </a:xfrm>
          <a:prstGeom prst="ellipse">
            <a:avLst/>
          </a:prstGeom>
          <a:solidFill>
            <a:srgbClr val="006A4E"/>
          </a:solidFill>
          <a:ln>
            <a:solidFill>
              <a:srgbClr val="006A4E"/>
            </a:solidFill>
          </a:ln>
        </p:spPr>
        <p:txBody>
          <a:bodyPr wrap="square" lIns="0" tIns="0" rIns="0" bIns="0" rtlCol="0" anchor="ctr"/>
          <a:lstStyle/>
          <a:p>
            <a:pPr algn="ctr" indent="0" marL="0">
              <a:buNone/>
            </a:pPr>
            <a:r>
              <a:rPr lang="en-US" sz="1800" b="1" dirty="0">
                <a:solidFill>
                  <a:srgbClr val="FFFFFF"/>
                </a:solidFill>
              </a:rPr>
              <a:t>5</a:t>
            </a:r>
            <a:endParaRPr lang="en-US" sz="1800" dirty="0"/>
          </a:p>
        </p:txBody>
      </p:sp>
      <p:sp>
        <p:nvSpPr>
          <p:cNvPr id="21" name="RQ5 heading"/>
          <p:cNvSpPr txBox="1"/>
          <p:nvPr/>
        </p:nvSpPr>
        <p:spPr>
          <a:xfrm>
            <a:off x="5212080" y="3931920"/>
            <a:ext cx="246888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Safety</a:t>
            </a:r>
            <a:endParaRPr lang="en-US" sz="2000" dirty="0"/>
          </a:p>
        </p:txBody>
      </p:sp>
      <p:sp>
        <p:nvSpPr>
          <p:cNvPr id="22" name="RQ5 text"/>
          <p:cNvSpPr txBox="1"/>
          <p:nvPr/>
        </p:nvSpPr>
        <p:spPr>
          <a:xfrm>
            <a:off x="4526280" y="4617720"/>
            <a:ext cx="3108960" cy="868680"/>
          </a:xfrm>
          <a:prstGeom prst="rect">
            <a:avLst/>
          </a:prstGeom>
          <a:noFill/>
          <a:ln/>
        </p:spPr>
        <p:txBody>
          <a:bodyPr wrap="square" lIns="0" tIns="0" rIns="0" bIns="0" rtlCol="0" anchor="t"/>
          <a:lstStyle/>
          <a:p>
            <a:pPr indent="0" marL="0">
              <a:buNone/>
            </a:pPr>
            <a:r>
              <a:rPr lang="en-US" sz="2000" dirty="0">
                <a:solidFill>
                  <a:schemeClr val="tx1"/>
                </a:solidFill>
              </a:rPr>
              <a:t>Can it never accuse a genuine note?</a:t>
            </a:r>
            <a:endParaRPr lang="en-US" sz="2000" dirty="0"/>
          </a:p>
        </p:txBody>
      </p:sp>
      <p:sp>
        <p:nvSpPr>
          <p:cNvPr id="23" name="RQ6"/>
          <p:cNvSpPr/>
          <p:nvPr/>
        </p:nvSpPr>
        <p:spPr>
          <a:xfrm>
            <a:off x="8046720" y="3657600"/>
            <a:ext cx="3520440" cy="2011680"/>
          </a:xfrm>
          <a:prstGeom prst="roundRect">
            <a:avLst>
              <a:gd name="adj" fmla="val 5455"/>
            </a:avLst>
          </a:prstGeom>
          <a:solidFill>
            <a:schemeClr val="bg2"/>
          </a:solidFill>
          <a:ln w="12700">
            <a:solidFill>
              <a:schemeClr val="bg2"/>
            </a:solidFill>
            <a:prstDash val="solid"/>
          </a:ln>
        </p:spPr>
      </p:sp>
      <p:sp>
        <p:nvSpPr>
          <p:cNvPr id="24" name="RQ6 number"/>
          <p:cNvSpPr txBox="1"/>
          <p:nvPr/>
        </p:nvSpPr>
        <p:spPr>
          <a:xfrm>
            <a:off x="8275320" y="3886200"/>
            <a:ext cx="548640" cy="548640"/>
          </a:xfrm>
          <a:prstGeom prst="ellipse">
            <a:avLst/>
          </a:prstGeom>
          <a:solidFill>
            <a:srgbClr val="006A4E"/>
          </a:solidFill>
          <a:ln>
            <a:solidFill>
              <a:srgbClr val="006A4E"/>
            </a:solidFill>
          </a:ln>
        </p:spPr>
        <p:txBody>
          <a:bodyPr wrap="square" lIns="0" tIns="0" rIns="0" bIns="0" rtlCol="0" anchor="ctr"/>
          <a:lstStyle/>
          <a:p>
            <a:pPr algn="ctr" indent="0" marL="0">
              <a:buNone/>
            </a:pPr>
            <a:r>
              <a:rPr lang="en-US" sz="1800" b="1" dirty="0">
                <a:solidFill>
                  <a:srgbClr val="FFFFFF"/>
                </a:solidFill>
              </a:rPr>
              <a:t>6</a:t>
            </a:r>
            <a:endParaRPr lang="en-US" sz="1800" dirty="0"/>
          </a:p>
        </p:txBody>
      </p:sp>
      <p:sp>
        <p:nvSpPr>
          <p:cNvPr id="25" name="RQ6 heading"/>
          <p:cNvSpPr txBox="1"/>
          <p:nvPr/>
        </p:nvSpPr>
        <p:spPr>
          <a:xfrm>
            <a:off x="8961120" y="3931920"/>
            <a:ext cx="246888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Bangla OCR</a:t>
            </a:r>
            <a:endParaRPr lang="en-US" sz="2000" dirty="0"/>
          </a:p>
        </p:txBody>
      </p:sp>
      <p:sp>
        <p:nvSpPr>
          <p:cNvPr id="26" name="RQ6 text"/>
          <p:cNvSpPr txBox="1"/>
          <p:nvPr/>
        </p:nvSpPr>
        <p:spPr>
          <a:xfrm>
            <a:off x="8275320" y="4617720"/>
            <a:ext cx="3108960" cy="868680"/>
          </a:xfrm>
          <a:prstGeom prst="rect">
            <a:avLst/>
          </a:prstGeom>
          <a:noFill/>
          <a:ln/>
        </p:spPr>
        <p:txBody>
          <a:bodyPr wrap="square" lIns="0" tIns="0" rIns="0" bIns="0" rtlCol="0" anchor="t"/>
          <a:lstStyle/>
          <a:p>
            <a:pPr indent="0" marL="0">
              <a:buNone/>
            </a:pPr>
            <a:r>
              <a:rPr lang="en-US" sz="2000" dirty="0">
                <a:solidFill>
                  <a:schemeClr val="tx1"/>
                </a:solidFill>
              </a:rPr>
              <a:t>What matters most for reading Bangla?</a:t>
            </a:r>
            <a:endParaRPr lang="en-US" sz="2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What existing devices miss</a:t>
            </a:r>
            <a:endParaRPr lang="en-US" sz="3000" dirty="0"/>
          </a:p>
        </p:txBody>
      </p:sp>
      <p:pic>
        <p:nvPicPr>
          <p:cNvPr id="3" name="OrCam MyEye [2]" descr="E:/Final SP/Thesis Report and paper/thesis report/My report/DIagram fig tab/dev_orcam.jpg">    </p:cNvPr>
          <p:cNvPicPr>
            <a:picLocks noChangeAspect="1"/>
          </p:cNvPicPr>
          <p:nvPr/>
        </p:nvPicPr>
        <p:blipFill>
          <a:blip r:embed="rId1"/>
          <a:srcRect l="0" r="0" t="0" b="0"/>
          <a:stretch/>
        </p:blipFill>
        <p:spPr>
          <a:xfrm>
            <a:off x="548640" y="4434840"/>
            <a:ext cx="2331720" cy="1234440"/>
          </a:xfrm>
          <a:prstGeom prst="rect">
            <a:avLst/>
          </a:prstGeom>
        </p:spPr>
      </p:pic>
      <p:sp>
        <p:nvSpPr>
          <p:cNvPr id="4" name="Caption 1"/>
          <p:cNvSpPr txBox="1"/>
          <p:nvPr/>
        </p:nvSpPr>
        <p:spPr>
          <a:xfrm>
            <a:off x="548640" y="5705856"/>
            <a:ext cx="2331720" cy="274320"/>
          </a:xfrm>
          <a:prstGeom prst="rect">
            <a:avLst/>
          </a:prstGeom>
          <a:noFill/>
          <a:ln/>
        </p:spPr>
        <p:txBody>
          <a:bodyPr wrap="square" lIns="0" tIns="0" rIns="0" bIns="0" rtlCol="0" anchor="ctr"/>
          <a:lstStyle/>
          <a:p>
            <a:pPr algn="ctr" indent="0" marL="0">
              <a:buNone/>
            </a:pPr>
            <a:r>
              <a:rPr lang="en-US" sz="1200" dirty="0">
                <a:solidFill>
                  <a:schemeClr val="accent5"/>
                </a:solidFill>
              </a:rPr>
              <a:t>OrCam MyEye [2]</a:t>
            </a:r>
            <a:endParaRPr lang="en-US" sz="1200" dirty="0"/>
          </a:p>
        </p:txBody>
      </p:sp>
      <p:pic>
        <p:nvPicPr>
          <p:cNvPr id="5" name="Google Glass analysis [3]" descr="E:/Final SP/Thesis Report and paper/thesis report/My report/DIagram fig tab/dev_googleglass.jpg">    </p:cNvPr>
          <p:cNvPicPr>
            <a:picLocks noChangeAspect="1"/>
          </p:cNvPicPr>
          <p:nvPr/>
        </p:nvPicPr>
        <p:blipFill>
          <a:blip r:embed="rId2"/>
          <a:srcRect l="0" r="0" t="0" b="0"/>
          <a:stretch/>
        </p:blipFill>
        <p:spPr>
          <a:xfrm>
            <a:off x="3063240" y="4434840"/>
            <a:ext cx="2331720" cy="1234440"/>
          </a:xfrm>
          <a:prstGeom prst="rect">
            <a:avLst/>
          </a:prstGeom>
        </p:spPr>
      </p:pic>
      <p:sp>
        <p:nvSpPr>
          <p:cNvPr id="6" name="Caption 2"/>
          <p:cNvSpPr txBox="1"/>
          <p:nvPr/>
        </p:nvSpPr>
        <p:spPr>
          <a:xfrm>
            <a:off x="3063240" y="5705856"/>
            <a:ext cx="2331720" cy="274320"/>
          </a:xfrm>
          <a:prstGeom prst="rect">
            <a:avLst/>
          </a:prstGeom>
          <a:noFill/>
          <a:ln/>
        </p:spPr>
        <p:txBody>
          <a:bodyPr wrap="square" lIns="0" tIns="0" rIns="0" bIns="0" rtlCol="0" anchor="ctr"/>
          <a:lstStyle/>
          <a:p>
            <a:pPr algn="ctr" indent="0" marL="0">
              <a:buNone/>
            </a:pPr>
            <a:r>
              <a:rPr lang="en-US" sz="1200" dirty="0">
                <a:solidFill>
                  <a:schemeClr val="accent5"/>
                </a:solidFill>
              </a:rPr>
              <a:t>Google Glass analysis [3]</a:t>
            </a:r>
            <a:endParaRPr lang="en-US" sz="1200" dirty="0"/>
          </a:p>
        </p:txBody>
      </p:sp>
      <p:pic>
        <p:nvPicPr>
          <p:cNvPr id="7" name="AIris [4]" descr="E:/Final SP/Thesis Report and paper/thesis report/My report/DIagram fig tab/dev_airis.jpg">    </p:cNvPr>
          <p:cNvPicPr>
            <a:picLocks noChangeAspect="1"/>
          </p:cNvPicPr>
          <p:nvPr/>
        </p:nvPicPr>
        <p:blipFill>
          <a:blip r:embed="rId3"/>
          <a:srcRect l="0" r="0" t="0" b="0"/>
          <a:stretch/>
        </p:blipFill>
        <p:spPr>
          <a:xfrm>
            <a:off x="5577840" y="4434840"/>
            <a:ext cx="2331720" cy="1234440"/>
          </a:xfrm>
          <a:prstGeom prst="rect">
            <a:avLst/>
          </a:prstGeom>
        </p:spPr>
      </p:pic>
      <p:sp>
        <p:nvSpPr>
          <p:cNvPr id="8" name="Caption 3"/>
          <p:cNvSpPr txBox="1"/>
          <p:nvPr/>
        </p:nvSpPr>
        <p:spPr>
          <a:xfrm>
            <a:off x="5577840" y="5705856"/>
            <a:ext cx="2331720" cy="274320"/>
          </a:xfrm>
          <a:prstGeom prst="rect">
            <a:avLst/>
          </a:prstGeom>
          <a:noFill/>
          <a:ln/>
        </p:spPr>
        <p:txBody>
          <a:bodyPr wrap="square" lIns="0" tIns="0" rIns="0" bIns="0" rtlCol="0" anchor="ctr"/>
          <a:lstStyle/>
          <a:p>
            <a:pPr algn="ctr" indent="0" marL="0">
              <a:buNone/>
            </a:pPr>
            <a:r>
              <a:rPr lang="en-US" sz="1200" dirty="0">
                <a:solidFill>
                  <a:schemeClr val="accent5"/>
                </a:solidFill>
              </a:rPr>
              <a:t>AIris [4]</a:t>
            </a:r>
            <a:endParaRPr lang="en-US" sz="1200" dirty="0"/>
          </a:p>
        </p:txBody>
      </p:sp>
      <p:graphicFrame>
        <p:nvGraphicFramePr>
          <p:cNvPr id="8" name="Comparison table"/>
          <p:cNvGraphicFramePr>
            <a:graphicFrameLocks noGrp="1"/>
          </p:cNvGraphicFramePr>
          <p:nvPr>
            <p:extLst>
              <p:ext uri="{D42A27DB-BD31-4B8C-83A1-F6EECF244321}">
                <p14:modId xmlns:p14="http://schemas.microsoft.com/office/powerpoint/2010/main" val="1579011935"/>
              </p:ext>
            </p:extLst>
          </p:nvPr>
        </p:nvGraphicFramePr>
        <p:xfrm>
          <a:off x="548640" y="1325880"/>
          <a:ext cx="7360920" cy="914400"/>
        </p:xfrm>
        <a:graphic>
          <a:graphicData uri="http://schemas.openxmlformats.org/drawingml/2006/table">
            <a:tbl>
              <a:tblPr/>
              <a:tblGrid>
                <a:gridCol w="2971800"/>
                <a:gridCol w="1097280"/>
                <a:gridCol w="1097280"/>
                <a:gridCol w="1097280"/>
                <a:gridCol w="1097280"/>
              </a:tblGrid>
              <a:tr h="475488">
                <a:tc>
                  <a:txBody>
                    <a:bodyPr/>
                    <a:lstStyle/>
                    <a:p>
                      <a:pPr algn="ctr" indent="0" marL="0">
                        <a:buNone/>
                      </a:pPr>
                      <a:r>
                        <a:rPr lang="en-US" sz="1600" b="1" dirty="0">
                          <a:solidFill>
                            <a:srgbClr val="FFFFFF"/>
                          </a:solidFill>
                        </a:rPr>
                        <a:t>System</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0B4D3B"/>
                    </a:solidFill>
                  </a:tcPr>
                </a:tc>
                <a:tc>
                  <a:txBody>
                    <a:bodyPr/>
                    <a:lstStyle/>
                    <a:p>
                      <a:pPr algn="ctr" indent="0" marL="0">
                        <a:buNone/>
                      </a:pPr>
                      <a:r>
                        <a:rPr lang="en-US" sz="1600" b="1" dirty="0">
                          <a:solidFill>
                            <a:srgbClr val="FFFFFF"/>
                          </a:solidFill>
                        </a:rPr>
                        <a:t>Reads Bangla</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0B4D3B"/>
                    </a:solidFill>
                  </a:tcPr>
                </a:tc>
                <a:tc>
                  <a:txBody>
                    <a:bodyPr/>
                    <a:lstStyle/>
                    <a:p>
                      <a:pPr algn="ctr" indent="0" marL="0">
                        <a:buNone/>
                      </a:pPr>
                      <a:r>
                        <a:rPr lang="en-US" sz="1600" b="1" dirty="0">
                          <a:solidFill>
                            <a:srgbClr val="FFFFFF"/>
                          </a:solidFill>
                        </a:rPr>
                        <a:t>Knows Taka</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0B4D3B"/>
                    </a:solidFill>
                  </a:tcPr>
                </a:tc>
                <a:tc>
                  <a:txBody>
                    <a:bodyPr/>
                    <a:lstStyle/>
                    <a:p>
                      <a:pPr algn="ctr" indent="0" marL="0">
                        <a:buNone/>
                      </a:pPr>
                      <a:r>
                        <a:rPr lang="en-US" sz="1600" b="1" dirty="0">
                          <a:solidFill>
                            <a:srgbClr val="FFFFFF"/>
                          </a:solidFill>
                        </a:rPr>
                        <a:t>Works offline</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0B4D3B"/>
                    </a:solidFill>
                  </a:tcPr>
                </a:tc>
                <a:tc>
                  <a:txBody>
                    <a:bodyPr/>
                    <a:lstStyle/>
                    <a:p>
                      <a:pPr algn="ctr" indent="0" marL="0">
                        <a:buNone/>
                      </a:pPr>
                      <a:r>
                        <a:rPr lang="en-US" sz="1600" b="1" dirty="0">
                          <a:solidFill>
                            <a:srgbClr val="FFFFFF"/>
                          </a:solidFill>
                        </a:rPr>
                        <a:t>Wearable</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0B4D3B"/>
                    </a:solidFill>
                  </a:tcPr>
                </a:tc>
              </a:tr>
              <a:tr h="475488">
                <a:tc>
                  <a:txBody>
                    <a:bodyPr/>
                    <a:lstStyle/>
                    <a:p>
                      <a:pPr indent="0" marL="0">
                        <a:buNone/>
                      </a:pPr>
                      <a:r>
                        <a:rPr lang="en-US" sz="1600" dirty="0">
                          <a:solidFill>
                            <a:srgbClr val="1C2321"/>
                          </a:solidFill>
                        </a:rPr>
                        <a:t>OrCam MyEye [2]</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b="1" dirty="0">
                          <a:solidFill>
                            <a:srgbClr val="006A4E"/>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b="1" dirty="0">
                          <a:solidFill>
                            <a:srgbClr val="006A4E"/>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r>
              <a:tr h="475488">
                <a:tc>
                  <a:txBody>
                    <a:bodyPr/>
                    <a:lstStyle/>
                    <a:p>
                      <a:pPr indent="0" marL="0">
                        <a:buNone/>
                      </a:pPr>
                      <a:r>
                        <a:rPr lang="en-US" sz="1600" dirty="0">
                          <a:solidFill>
                            <a:srgbClr val="1C2321"/>
                          </a:solidFill>
                        </a:rPr>
                        <a:t>Google Glass scene analysis [3]</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b="1" dirty="0">
                          <a:solidFill>
                            <a:srgbClr val="006A4E"/>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r>
              <a:tr h="475488">
                <a:tc>
                  <a:txBody>
                    <a:bodyPr/>
                    <a:lstStyle/>
                    <a:p>
                      <a:pPr indent="0" marL="0">
                        <a:buNone/>
                      </a:pPr>
                      <a:r>
                        <a:rPr lang="en-US" sz="1600" dirty="0">
                          <a:solidFill>
                            <a:srgbClr val="1C2321"/>
                          </a:solidFill>
                        </a:rPr>
                        <a:t>AIris (2024) [4]</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b="1" dirty="0">
                          <a:solidFill>
                            <a:srgbClr val="006A4E"/>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r>
              <a:tr h="475488">
                <a:tc>
                  <a:txBody>
                    <a:bodyPr/>
                    <a:lstStyle/>
                    <a:p>
                      <a:pPr indent="0" marL="0">
                        <a:buNone/>
                      </a:pPr>
                      <a:r>
                        <a:rPr lang="en-US" sz="1600" dirty="0">
                          <a:solidFill>
                            <a:srgbClr val="1C2321"/>
                          </a:solidFill>
                        </a:rPr>
                        <a:t>Raspberry Pi reading aids *</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D7263D"/>
                          </a:solidFill>
                        </a:rPr>
                        <a:t>No</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5E6B66"/>
                          </a:solidFill>
                        </a:rPr>
                        <a:t>Partly</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c>
                  <a:txBody>
                    <a:bodyPr/>
                    <a:lstStyle/>
                    <a:p>
                      <a:pPr algn="ctr" indent="0" marL="0">
                        <a:buNone/>
                      </a:pPr>
                      <a:r>
                        <a:rPr lang="en-US" sz="1600" dirty="0">
                          <a:solidFill>
                            <a:srgbClr val="5E6B66"/>
                          </a:solidFill>
                        </a:rPr>
                        <a:t>Partly</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tcPr>
                </a:tc>
              </a:tr>
              <a:tr h="475488">
                <a:tc>
                  <a:txBody>
                    <a:bodyPr/>
                    <a:lstStyle/>
                    <a:p>
                      <a:pPr indent="0" marL="0">
                        <a:buNone/>
                      </a:pPr>
                      <a:r>
                        <a:rPr lang="en-US" sz="1600" b="1" dirty="0">
                          <a:solidFill>
                            <a:srgbClr val="1C2321"/>
                          </a:solidFill>
                        </a:rPr>
                        <a:t>SARA (ours)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EEF5F1"/>
                    </a:solidFill>
                  </a:tcPr>
                </a:tc>
                <a:tc>
                  <a:txBody>
                    <a:bodyPr/>
                    <a:lstStyle/>
                    <a:p>
                      <a:pPr algn="ctr" indent="0" marL="0">
                        <a:buNone/>
                      </a:pPr>
                      <a:r>
                        <a:rPr lang="en-US" sz="1600" b="1" dirty="0">
                          <a:solidFill>
                            <a:srgbClr val="006A4E"/>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EEF5F1"/>
                    </a:solidFill>
                  </a:tcPr>
                </a:tc>
                <a:tc>
                  <a:txBody>
                    <a:bodyPr/>
                    <a:lstStyle/>
                    <a:p>
                      <a:pPr algn="ctr" indent="0" marL="0">
                        <a:buNone/>
                      </a:pPr>
                      <a:r>
                        <a:rPr lang="en-US" sz="1600" b="1" dirty="0">
                          <a:solidFill>
                            <a:srgbClr val="006A4E"/>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EEF5F1"/>
                    </a:solidFill>
                  </a:tcPr>
                </a:tc>
                <a:tc>
                  <a:txBody>
                    <a:bodyPr/>
                    <a:lstStyle/>
                    <a:p>
                      <a:pPr algn="ctr" indent="0" marL="0">
                        <a:buNone/>
                      </a:pPr>
                      <a:r>
                        <a:rPr lang="en-US" sz="1600" b="1" dirty="0">
                          <a:solidFill>
                            <a:srgbClr val="006A4E"/>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EEF5F1"/>
                    </a:solidFill>
                  </a:tcPr>
                </a:tc>
                <a:tc>
                  <a:txBody>
                    <a:bodyPr/>
                    <a:lstStyle/>
                    <a:p>
                      <a:pPr algn="ctr" indent="0" marL="0">
                        <a:buNone/>
                      </a:pPr>
                      <a:r>
                        <a:rPr lang="en-US" sz="1600" b="1" dirty="0">
                          <a:solidFill>
                            <a:srgbClr val="006A4E"/>
                          </a:solidFill>
                        </a:rPr>
                        <a:t>Yes</a:t>
                      </a:r>
                      <a:endParaRPr lang="en-US" sz="1600" dirty="0"/>
                    </a:p>
                  </a:txBody>
                  <a:tcPr marL="91440" marR="91440" marT="45720" marB="45720" anchor="ctr">
                    <a:lnL w="6350" cap="flat" cmpd="sng" algn="ctr">
                      <a:solidFill>
                        <a:srgbClr val="D5E2DC"/>
                      </a:solidFill>
                      <a:prstDash val="solid"/>
                      <a:round/>
                      <a:headEnd type="none" w="med" len="med"/>
                      <a:tailEnd type="none" w="med" len="med"/>
                    </a:lnL>
                    <a:lnR w="6350" cap="flat" cmpd="sng" algn="ctr">
                      <a:solidFill>
                        <a:srgbClr val="D5E2DC"/>
                      </a:solidFill>
                      <a:prstDash val="solid"/>
                      <a:round/>
                      <a:headEnd type="none" w="med" len="med"/>
                      <a:tailEnd type="none" w="med" len="med"/>
                    </a:lnR>
                    <a:lnT w="6350" cap="flat" cmpd="sng" algn="ctr">
                      <a:solidFill>
                        <a:srgbClr val="D5E2DC"/>
                      </a:solidFill>
                      <a:prstDash val="solid"/>
                      <a:round/>
                      <a:headEnd type="none" w="med" len="med"/>
                      <a:tailEnd type="none" w="med" len="med"/>
                    </a:lnT>
                    <a:lnB w="6350" cap="flat" cmpd="sng" algn="ctr">
                      <a:solidFill>
                        <a:srgbClr val="D5E2DC"/>
                      </a:solidFill>
                      <a:prstDash val="solid"/>
                      <a:round/>
                      <a:headEnd type="none" w="med" len="med"/>
                      <a:tailEnd type="none" w="med" len="med"/>
                    </a:lnB>
                    <a:solidFill>
                      <a:srgbClr val="EEF5F1"/>
                    </a:solidFill>
                  </a:tcPr>
                </a:tc>
              </a:tr>
            </a:tbl>
          </a:graphicData>
        </a:graphic>
      </p:graphicFrame>
      <p:sp>
        <p:nvSpPr>
          <p:cNvPr id="10" name="Gap card"/>
          <p:cNvSpPr/>
          <p:nvPr/>
        </p:nvSpPr>
        <p:spPr>
          <a:xfrm>
            <a:off x="8183880" y="1325880"/>
            <a:ext cx="3429000" cy="4526280"/>
          </a:xfrm>
          <a:prstGeom prst="roundRect">
            <a:avLst>
              <a:gd name="adj" fmla="val 3200"/>
            </a:avLst>
          </a:prstGeom>
          <a:solidFill>
            <a:schemeClr val="tx2"/>
          </a:solidFill>
          <a:ln w="12700">
            <a:solidFill>
              <a:schemeClr val="tx2"/>
            </a:solidFill>
            <a:prstDash val="solid"/>
          </a:ln>
        </p:spPr>
      </p:sp>
      <p:sp>
        <p:nvSpPr>
          <p:cNvPr id="11" name="Gap heading"/>
          <p:cNvSpPr txBox="1"/>
          <p:nvPr/>
        </p:nvSpPr>
        <p:spPr>
          <a:xfrm>
            <a:off x="8412480" y="1554480"/>
            <a:ext cx="3017520" cy="4572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The research gap</a:t>
            </a:r>
            <a:endParaRPr lang="en-US" sz="2400" dirty="0"/>
          </a:p>
        </p:txBody>
      </p:sp>
      <p:sp>
        <p:nvSpPr>
          <p:cNvPr id="12" name="Gap main"/>
          <p:cNvSpPr txBox="1"/>
          <p:nvPr/>
        </p:nvSpPr>
        <p:spPr>
          <a:xfrm>
            <a:off x="8412480" y="2148840"/>
            <a:ext cx="3017520" cy="1371600"/>
          </a:xfrm>
          <a:prstGeom prst="rect">
            <a:avLst/>
          </a:prstGeom>
          <a:noFill/>
          <a:ln/>
        </p:spPr>
        <p:txBody>
          <a:bodyPr wrap="square" lIns="0" tIns="0" rIns="0" bIns="0" rtlCol="0" anchor="t"/>
          <a:lstStyle/>
          <a:p>
            <a:pPr indent="0" marL="0">
              <a:buNone/>
            </a:pPr>
            <a:r>
              <a:rPr lang="en-US" sz="2000" b="1" dirty="0">
                <a:solidFill>
                  <a:srgbClr val="FFFFFF"/>
                </a:solidFill>
              </a:rPr>
              <a:t>None of the systems we reviewed combines Bangla, Taka and offline use.</a:t>
            </a:r>
            <a:endParaRPr lang="en-US" sz="2000" dirty="0"/>
          </a:p>
        </p:txBody>
      </p:sp>
      <p:sp>
        <p:nvSpPr>
          <p:cNvPr id="13" name="Gap list"/>
          <p:cNvSpPr txBox="1"/>
          <p:nvPr/>
        </p:nvSpPr>
        <p:spPr>
          <a:xfrm>
            <a:off x="8412480" y="3657600"/>
            <a:ext cx="301752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E4EFEA"/>
                </a:solidFill>
              </a:rPr>
              <a:t>Counterfeit tests reuse the same prints</a:t>
            </a:r>
            <a:endParaRPr lang="en-US" sz="1600" dirty="0"/>
          </a:p>
          <a:p>
            <a:pPr marL="342900" indent="-342900">
              <a:spcAft>
                <a:spcPts val="800"/>
              </a:spcAft>
              <a:buSzPct val="100000"/>
              <a:buChar char="•"/>
            </a:pPr>
            <a:r>
              <a:rPr lang="en-US" sz="1600" dirty="0">
                <a:solidFill>
                  <a:srgbClr val="E4EFEA"/>
                </a:solidFill>
              </a:rPr>
              <a:t>Few report speed on the real device</a:t>
            </a:r>
            <a:endParaRPr lang="en-US" sz="1600" dirty="0"/>
          </a:p>
        </p:txBody>
      </p:sp>
      <p:sp>
        <p:nvSpPr>
          <p:cNvPr id="14" name="Table note"/>
          <p:cNvSpPr txBox="1"/>
          <p:nvPr/>
        </p:nvSpPr>
        <p:spPr>
          <a:xfrm>
            <a:off x="548640" y="4206240"/>
            <a:ext cx="7360920" cy="228600"/>
          </a:xfrm>
          <a:prstGeom prst="rect">
            <a:avLst/>
          </a:prstGeom>
          <a:noFill/>
          <a:ln/>
        </p:spPr>
        <p:txBody>
          <a:bodyPr wrap="square" lIns="0" tIns="0" rIns="0" bIns="0" rtlCol="0" anchor="ctr"/>
          <a:lstStyle/>
          <a:p>
            <a:pPr indent="0" marL="0">
              <a:buNone/>
            </a:pPr>
            <a:r>
              <a:rPr lang="en-US" sz="1100" i="1" dirty="0">
                <a:solidFill>
                  <a:schemeClr val="accent5"/>
                </a:solidFill>
              </a:rPr>
              <a:t>Rows with a reference: from the cited source. * Our assessment of typical hobby builds, not a cited result.</a:t>
            </a:r>
            <a:endParaRPr lang="en-US" sz="1100" dirty="0"/>
          </a:p>
        </p:txBody>
      </p:sp>
      <p:sp>
        <p:nvSpPr>
          <p:cNvPr id="15"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Photos: OrCam MyEye by Ylip, CC BY-SA 4.0; Google Glass by Ted Eytan, CC BY-SA 2.0 (Wikimedia Commons); AIris from [4]. Comparison from [2, 3, 4].</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How the glass works</a:t>
            </a:r>
            <a:endParaRPr lang="en-US" sz="3000" dirty="0"/>
          </a:p>
        </p:txBody>
      </p:sp>
      <p:sp>
        <p:nvSpPr>
          <p:cNvPr id="3" name="Camera, buttons, voice card"/>
          <p:cNvSpPr/>
          <p:nvPr/>
        </p:nvSpPr>
        <p:spPr>
          <a:xfrm>
            <a:off x="548640" y="1325880"/>
            <a:ext cx="2514600" cy="3840480"/>
          </a:xfrm>
          <a:prstGeom prst="roundRect">
            <a:avLst>
              <a:gd name="adj" fmla="val 4364"/>
            </a:avLst>
          </a:prstGeom>
          <a:solidFill>
            <a:schemeClr val="bg2"/>
          </a:solidFill>
          <a:ln w="12700">
            <a:solidFill>
              <a:schemeClr val="bg2"/>
            </a:solidFill>
            <a:prstDash val="solid"/>
          </a:ln>
        </p:spPr>
      </p:sp>
      <p:sp>
        <p:nvSpPr>
          <p:cNvPr id="4" name="Camera, buttons, voice circle"/>
          <p:cNvSpPr/>
          <p:nvPr/>
        </p:nvSpPr>
        <p:spPr>
          <a:xfrm>
            <a:off x="1261872" y="1554480"/>
            <a:ext cx="1097280" cy="1097280"/>
          </a:xfrm>
          <a:prstGeom prst="ellipse">
            <a:avLst/>
          </a:prstGeom>
          <a:solidFill>
            <a:srgbClr val="006A4E"/>
          </a:solidFill>
          <a:ln w="12700">
            <a:solidFill>
              <a:srgbClr val="006A4E"/>
            </a:solidFill>
            <a:prstDash val="solid"/>
          </a:ln>
        </p:spPr>
      </p:sp>
      <p:pic>
        <p:nvPicPr>
          <p:cNvPr id="5" name="Camera, buttons, voice icon" descr="preencoded.png">    </p:cNvPr>
          <p:cNvPicPr>
            <a:picLocks noChangeAspect="1"/>
          </p:cNvPicPr>
          <p:nvPr/>
        </p:nvPicPr>
        <p:blipFill>
          <a:blip r:embed="rId1"/>
          <a:stretch>
            <a:fillRect/>
          </a:stretch>
        </p:blipFill>
        <p:spPr>
          <a:xfrm>
            <a:off x="1525219" y="1817827"/>
            <a:ext cx="570586" cy="570586"/>
          </a:xfrm>
          <a:prstGeom prst="rect">
            <a:avLst/>
          </a:prstGeom>
        </p:spPr>
      </p:pic>
      <p:sp>
        <p:nvSpPr>
          <p:cNvPr id="6" name="Camera, buttons, voice heading"/>
          <p:cNvSpPr txBox="1"/>
          <p:nvPr/>
        </p:nvSpPr>
        <p:spPr>
          <a:xfrm>
            <a:off x="640080" y="2788920"/>
            <a:ext cx="2331720" cy="731520"/>
          </a:xfrm>
          <a:prstGeom prst="rect">
            <a:avLst/>
          </a:prstGeom>
          <a:noFill/>
          <a:ln/>
        </p:spPr>
        <p:txBody>
          <a:bodyPr wrap="square" lIns="0" tIns="0" rIns="0" bIns="0" rtlCol="0" anchor="t"/>
          <a:lstStyle/>
          <a:p>
            <a:pPr algn="ctr" indent="0" marL="0">
              <a:buNone/>
            </a:pPr>
            <a:r>
              <a:rPr lang="en-US" sz="2000" b="1" dirty="0">
                <a:solidFill>
                  <a:schemeClr val="tx2"/>
                </a:solidFill>
                <a:latin typeface="Cambria" pitchFamily="34" charset="0"/>
                <a:ea typeface="Cambria" pitchFamily="34" charset="-122"/>
                <a:cs typeface="Cambria" pitchFamily="34" charset="-120"/>
              </a:rPr>
              <a:t>Camera, buttons, voice</a:t>
            </a:r>
            <a:endParaRPr lang="en-US" sz="2000" dirty="0"/>
          </a:p>
        </p:txBody>
      </p:sp>
      <p:sp>
        <p:nvSpPr>
          <p:cNvPr id="7" name="Camera, buttons, voice details"/>
          <p:cNvSpPr txBox="1"/>
          <p:nvPr/>
        </p:nvSpPr>
        <p:spPr>
          <a:xfrm>
            <a:off x="685800" y="3566160"/>
            <a:ext cx="2240280" cy="2148840"/>
          </a:xfrm>
          <a:prstGeom prst="rect">
            <a:avLst/>
          </a:prstGeom>
          <a:noFill/>
          <a:ln/>
        </p:spPr>
        <p:txBody>
          <a:bodyPr wrap="square" lIns="0" tIns="0" rIns="0" bIns="0" rtlCol="0" anchor="t"/>
          <a:lstStyle/>
          <a:p>
            <a:pPr algn="ctr" indent="0" marL="0">
              <a:spcAft>
                <a:spcPts val="600"/>
              </a:spcAft>
              <a:buNone/>
            </a:pPr>
            <a:r>
              <a:rPr lang="en-US" sz="1500" dirty="0">
                <a:solidFill>
                  <a:schemeClr val="tx1"/>
                </a:solidFill>
              </a:rPr>
              <a:t>Camera 640×480</a:t>
            </a:r>
            <a:endParaRPr lang="en-US" sz="1500" dirty="0"/>
          </a:p>
          <a:p>
            <a:pPr algn="ctr" indent="0" marL="0">
              <a:spcAft>
                <a:spcPts val="600"/>
              </a:spcAft>
              <a:buNone/>
            </a:pPr>
            <a:r>
              <a:rPr lang="en-US" sz="1500" dirty="0">
                <a:solidFill>
                  <a:schemeClr val="tx1"/>
                </a:solidFill>
              </a:rPr>
              <a:t>5 buttons on the frame</a:t>
            </a:r>
            <a:endParaRPr lang="en-US" sz="1500" dirty="0"/>
          </a:p>
          <a:p>
            <a:pPr algn="ctr" indent="0" marL="0">
              <a:spcAft>
                <a:spcPts val="600"/>
              </a:spcAft>
              <a:buNone/>
            </a:pPr>
            <a:r>
              <a:rPr lang="en-US" sz="1500" dirty="0">
                <a:solidFill>
                  <a:schemeClr val="tx1"/>
                </a:solidFill>
              </a:rPr>
              <a:t>Voice: "glass, …"</a:t>
            </a:r>
            <a:endParaRPr lang="en-US" sz="1500" dirty="0"/>
          </a:p>
        </p:txBody>
      </p:sp>
      <p:sp>
        <p:nvSpPr>
          <p:cNvPr id="8" name="Arrow 1"/>
          <p:cNvSpPr/>
          <p:nvPr/>
        </p:nvSpPr>
        <p:spPr>
          <a:xfrm>
            <a:off x="3136392" y="1874520"/>
            <a:ext cx="256032" cy="502920"/>
          </a:xfrm>
          <a:prstGeom prst="chevron">
            <a:avLst/>
          </a:prstGeom>
          <a:solidFill>
            <a:srgbClr val="B9DCCD"/>
          </a:solidFill>
          <a:ln w="12700">
            <a:solidFill>
              <a:srgbClr val="B9DCCD"/>
            </a:solidFill>
            <a:prstDash val="solid"/>
          </a:ln>
        </p:spPr>
      </p:sp>
      <p:sp>
        <p:nvSpPr>
          <p:cNvPr id="9" name="Raspberry Pi 5 card"/>
          <p:cNvSpPr/>
          <p:nvPr/>
        </p:nvSpPr>
        <p:spPr>
          <a:xfrm>
            <a:off x="3429000" y="1325880"/>
            <a:ext cx="2514600" cy="3840480"/>
          </a:xfrm>
          <a:prstGeom prst="roundRect">
            <a:avLst>
              <a:gd name="adj" fmla="val 4364"/>
            </a:avLst>
          </a:prstGeom>
          <a:solidFill>
            <a:schemeClr val="bg2"/>
          </a:solidFill>
          <a:ln w="12700">
            <a:solidFill>
              <a:schemeClr val="bg2"/>
            </a:solidFill>
            <a:prstDash val="solid"/>
          </a:ln>
        </p:spPr>
      </p:sp>
      <p:sp>
        <p:nvSpPr>
          <p:cNvPr id="10" name="Raspberry Pi 5 circle"/>
          <p:cNvSpPr/>
          <p:nvPr/>
        </p:nvSpPr>
        <p:spPr>
          <a:xfrm>
            <a:off x="4142232" y="1554480"/>
            <a:ext cx="1097280" cy="1097280"/>
          </a:xfrm>
          <a:prstGeom prst="ellipse">
            <a:avLst/>
          </a:prstGeom>
          <a:solidFill>
            <a:srgbClr val="0B4D3B"/>
          </a:solidFill>
          <a:ln w="12700">
            <a:solidFill>
              <a:srgbClr val="0B4D3B"/>
            </a:solidFill>
            <a:prstDash val="solid"/>
          </a:ln>
        </p:spPr>
      </p:sp>
      <p:pic>
        <p:nvPicPr>
          <p:cNvPr id="11" name="Raspberry Pi 5 icon" descr="preencoded.png">    </p:cNvPr>
          <p:cNvPicPr>
            <a:picLocks noChangeAspect="1"/>
          </p:cNvPicPr>
          <p:nvPr/>
        </p:nvPicPr>
        <p:blipFill>
          <a:blip r:embed="rId2"/>
          <a:stretch>
            <a:fillRect/>
          </a:stretch>
        </p:blipFill>
        <p:spPr>
          <a:xfrm>
            <a:off x="4405579" y="1817827"/>
            <a:ext cx="570586" cy="570586"/>
          </a:xfrm>
          <a:prstGeom prst="rect">
            <a:avLst/>
          </a:prstGeom>
        </p:spPr>
      </p:pic>
      <p:sp>
        <p:nvSpPr>
          <p:cNvPr id="12" name="Raspberry Pi 5 heading"/>
          <p:cNvSpPr txBox="1"/>
          <p:nvPr/>
        </p:nvSpPr>
        <p:spPr>
          <a:xfrm>
            <a:off x="3520440" y="2788920"/>
            <a:ext cx="2331720" cy="731520"/>
          </a:xfrm>
          <a:prstGeom prst="rect">
            <a:avLst/>
          </a:prstGeom>
          <a:noFill/>
          <a:ln/>
        </p:spPr>
        <p:txBody>
          <a:bodyPr wrap="square" lIns="0" tIns="0" rIns="0" bIns="0" rtlCol="0" anchor="t"/>
          <a:lstStyle/>
          <a:p>
            <a:pPr algn="ctr" indent="0" marL="0">
              <a:buNone/>
            </a:pPr>
            <a:r>
              <a:rPr lang="en-US" sz="2000" b="1" dirty="0">
                <a:solidFill>
                  <a:schemeClr val="tx2"/>
                </a:solidFill>
                <a:latin typeface="Cambria" pitchFamily="34" charset="0"/>
                <a:ea typeface="Cambria" pitchFamily="34" charset="-122"/>
                <a:cs typeface="Cambria" pitchFamily="34" charset="-120"/>
              </a:rPr>
              <a:t>Raspberry Pi 5</a:t>
            </a:r>
            <a:endParaRPr lang="en-US" sz="2000" dirty="0"/>
          </a:p>
        </p:txBody>
      </p:sp>
      <p:sp>
        <p:nvSpPr>
          <p:cNvPr id="13" name="Raspberry Pi 5 details"/>
          <p:cNvSpPr txBox="1"/>
          <p:nvPr/>
        </p:nvSpPr>
        <p:spPr>
          <a:xfrm>
            <a:off x="3566160" y="3566160"/>
            <a:ext cx="2240280" cy="2148840"/>
          </a:xfrm>
          <a:prstGeom prst="rect">
            <a:avLst/>
          </a:prstGeom>
          <a:noFill/>
          <a:ln/>
        </p:spPr>
        <p:txBody>
          <a:bodyPr wrap="square" lIns="0" tIns="0" rIns="0" bIns="0" rtlCol="0" anchor="t"/>
          <a:lstStyle/>
          <a:p>
            <a:pPr algn="ctr" indent="0" marL="0">
              <a:spcAft>
                <a:spcPts val="600"/>
              </a:spcAft>
              <a:buNone/>
            </a:pPr>
            <a:r>
              <a:rPr lang="en-US" sz="1500" dirty="0">
                <a:solidFill>
                  <a:schemeClr val="tx1"/>
                </a:solidFill>
              </a:rPr>
              <a:t>Mode manager</a:t>
            </a:r>
            <a:endParaRPr lang="en-US" sz="1500" dirty="0"/>
          </a:p>
          <a:p>
            <a:pPr algn="ctr" indent="0" marL="0">
              <a:spcAft>
                <a:spcPts val="600"/>
              </a:spcAft>
              <a:buNone/>
            </a:pPr>
            <a:r>
              <a:rPr lang="en-US" sz="1500" dirty="0">
                <a:solidFill>
                  <a:schemeClr val="tx1"/>
                </a:solidFill>
              </a:rPr>
              <a:t>All models on the CPU</a:t>
            </a:r>
            <a:endParaRPr lang="en-US" sz="1500" dirty="0"/>
          </a:p>
          <a:p>
            <a:pPr algn="ctr" indent="0" marL="0">
              <a:spcAft>
                <a:spcPts val="600"/>
              </a:spcAft>
              <a:buNone/>
            </a:pPr>
            <a:r>
              <a:rPr lang="en-US" sz="1500" dirty="0">
                <a:solidFill>
                  <a:schemeClr val="tx1"/>
                </a:solidFill>
              </a:rPr>
              <a:t>Offline, except the online mode</a:t>
            </a:r>
            <a:endParaRPr lang="en-US" sz="1500" dirty="0"/>
          </a:p>
        </p:txBody>
      </p:sp>
      <p:sp>
        <p:nvSpPr>
          <p:cNvPr id="14" name="Arrow 2"/>
          <p:cNvSpPr/>
          <p:nvPr/>
        </p:nvSpPr>
        <p:spPr>
          <a:xfrm>
            <a:off x="6016752" y="1874520"/>
            <a:ext cx="256032" cy="502920"/>
          </a:xfrm>
          <a:prstGeom prst="chevron">
            <a:avLst/>
          </a:prstGeom>
          <a:solidFill>
            <a:srgbClr val="B9DCCD"/>
          </a:solidFill>
          <a:ln w="12700">
            <a:solidFill>
              <a:srgbClr val="B9DCCD"/>
            </a:solidFill>
            <a:prstDash val="solid"/>
          </a:ln>
        </p:spPr>
      </p:sp>
      <p:sp>
        <p:nvSpPr>
          <p:cNvPr id="15" name="AI modules card"/>
          <p:cNvSpPr/>
          <p:nvPr/>
        </p:nvSpPr>
        <p:spPr>
          <a:xfrm>
            <a:off x="6309360" y="1325880"/>
            <a:ext cx="2514600" cy="3840480"/>
          </a:xfrm>
          <a:prstGeom prst="roundRect">
            <a:avLst>
              <a:gd name="adj" fmla="val 4364"/>
            </a:avLst>
          </a:prstGeom>
          <a:solidFill>
            <a:schemeClr val="bg2"/>
          </a:solidFill>
          <a:ln w="12700">
            <a:solidFill>
              <a:schemeClr val="bg2"/>
            </a:solidFill>
            <a:prstDash val="solid"/>
          </a:ln>
        </p:spPr>
      </p:sp>
      <p:sp>
        <p:nvSpPr>
          <p:cNvPr id="16" name="AI modules circle"/>
          <p:cNvSpPr/>
          <p:nvPr/>
        </p:nvSpPr>
        <p:spPr>
          <a:xfrm>
            <a:off x="7022592" y="1554480"/>
            <a:ext cx="1097280" cy="1097280"/>
          </a:xfrm>
          <a:prstGeom prst="ellipse">
            <a:avLst/>
          </a:prstGeom>
          <a:solidFill>
            <a:srgbClr val="3A8F72"/>
          </a:solidFill>
          <a:ln w="12700">
            <a:solidFill>
              <a:srgbClr val="3A8F72"/>
            </a:solidFill>
            <a:prstDash val="solid"/>
          </a:ln>
        </p:spPr>
      </p:sp>
      <p:pic>
        <p:nvPicPr>
          <p:cNvPr id="17" name="AI modules icon" descr="preencoded.png">    </p:cNvPr>
          <p:cNvPicPr>
            <a:picLocks noChangeAspect="1"/>
          </p:cNvPicPr>
          <p:nvPr/>
        </p:nvPicPr>
        <p:blipFill>
          <a:blip r:embed="rId3"/>
          <a:stretch>
            <a:fillRect/>
          </a:stretch>
        </p:blipFill>
        <p:spPr>
          <a:xfrm>
            <a:off x="7285939" y="1817827"/>
            <a:ext cx="570586" cy="570586"/>
          </a:xfrm>
          <a:prstGeom prst="rect">
            <a:avLst/>
          </a:prstGeom>
        </p:spPr>
      </p:pic>
      <p:sp>
        <p:nvSpPr>
          <p:cNvPr id="18" name="AI modules heading"/>
          <p:cNvSpPr txBox="1"/>
          <p:nvPr/>
        </p:nvSpPr>
        <p:spPr>
          <a:xfrm>
            <a:off x="6400800" y="2788920"/>
            <a:ext cx="2331720" cy="731520"/>
          </a:xfrm>
          <a:prstGeom prst="rect">
            <a:avLst/>
          </a:prstGeom>
          <a:noFill/>
          <a:ln/>
        </p:spPr>
        <p:txBody>
          <a:bodyPr wrap="square" lIns="0" tIns="0" rIns="0" bIns="0" rtlCol="0" anchor="t"/>
          <a:lstStyle/>
          <a:p>
            <a:pPr algn="ctr" indent="0" marL="0">
              <a:buNone/>
            </a:pPr>
            <a:r>
              <a:rPr lang="en-US" sz="2000" b="1" dirty="0">
                <a:solidFill>
                  <a:schemeClr val="tx2"/>
                </a:solidFill>
                <a:latin typeface="Cambria" pitchFamily="34" charset="0"/>
                <a:ea typeface="Cambria" pitchFamily="34" charset="-122"/>
                <a:cs typeface="Cambria" pitchFamily="34" charset="-120"/>
              </a:rPr>
              <a:t>AI modules</a:t>
            </a:r>
            <a:endParaRPr lang="en-US" sz="2000" dirty="0"/>
          </a:p>
        </p:txBody>
      </p:sp>
      <p:sp>
        <p:nvSpPr>
          <p:cNvPr id="19" name="AI modules details"/>
          <p:cNvSpPr txBox="1"/>
          <p:nvPr/>
        </p:nvSpPr>
        <p:spPr>
          <a:xfrm>
            <a:off x="6446520" y="3566160"/>
            <a:ext cx="2240280" cy="2148840"/>
          </a:xfrm>
          <a:prstGeom prst="rect">
            <a:avLst/>
          </a:prstGeom>
          <a:noFill/>
          <a:ln/>
        </p:spPr>
        <p:txBody>
          <a:bodyPr wrap="square" lIns="0" tIns="0" rIns="0" bIns="0" rtlCol="0" anchor="t"/>
          <a:lstStyle/>
          <a:p>
            <a:pPr algn="ctr" indent="0" marL="0">
              <a:spcAft>
                <a:spcPts val="600"/>
              </a:spcAft>
              <a:buNone/>
            </a:pPr>
            <a:r>
              <a:rPr lang="en-US" sz="1300" dirty="0">
                <a:solidFill>
                  <a:schemeClr val="tx1"/>
                </a:solidFill>
              </a:rPr>
              <a:t>Text: CRAFT + EasyOCR [5, 6]</a:t>
            </a:r>
            <a:endParaRPr lang="en-US" sz="1300" dirty="0"/>
          </a:p>
          <a:p>
            <a:pPr algn="ctr" indent="0" marL="0">
              <a:spcAft>
                <a:spcPts val="600"/>
              </a:spcAft>
              <a:buNone/>
            </a:pPr>
            <a:r>
              <a:rPr lang="en-US" sz="1300" dirty="0">
                <a:solidFill>
                  <a:schemeClr val="tx1"/>
                </a:solidFill>
              </a:rPr>
              <a:t>Objects: YOLOv8s, COCO [7, 8]</a:t>
            </a:r>
            <a:endParaRPr lang="en-US" sz="1300" dirty="0"/>
          </a:p>
          <a:p>
            <a:pPr algn="ctr" indent="0" marL="0">
              <a:spcAft>
                <a:spcPts val="600"/>
              </a:spcAft>
              <a:buNone/>
            </a:pPr>
            <a:r>
              <a:rPr lang="en-US" sz="1300" dirty="0">
                <a:solidFill>
                  <a:schemeClr val="tx1"/>
                </a:solidFill>
              </a:rPr>
              <a:t>Taka: YOLOv8s + safe checks</a:t>
            </a:r>
            <a:endParaRPr lang="en-US" sz="1300" dirty="0"/>
          </a:p>
          <a:p>
            <a:pPr algn="ctr" indent="0" marL="0">
              <a:spcAft>
                <a:spcPts val="600"/>
              </a:spcAft>
              <a:buNone/>
            </a:pPr>
            <a:r>
              <a:rPr lang="en-US" sz="1300" dirty="0">
                <a:solidFill>
                  <a:schemeClr val="tx1"/>
                </a:solidFill>
              </a:rPr>
              <a:t>Emotion: YuNet + EfficientNet [9]</a:t>
            </a:r>
            <a:endParaRPr lang="en-US" sz="1300" dirty="0"/>
          </a:p>
          <a:p>
            <a:pPr algn="ctr" indent="0" marL="0">
              <a:spcAft>
                <a:spcPts val="600"/>
              </a:spcAft>
              <a:buNone/>
            </a:pPr>
            <a:r>
              <a:rPr lang="en-US" sz="1300" dirty="0">
                <a:solidFill>
                  <a:schemeClr val="tx1"/>
                </a:solidFill>
              </a:rPr>
              <a:t>Online: cloud model (optional)</a:t>
            </a:r>
            <a:endParaRPr lang="en-US" sz="1300" dirty="0"/>
          </a:p>
        </p:txBody>
      </p:sp>
      <p:sp>
        <p:nvSpPr>
          <p:cNvPr id="20" name="Arrow 3"/>
          <p:cNvSpPr/>
          <p:nvPr/>
        </p:nvSpPr>
        <p:spPr>
          <a:xfrm>
            <a:off x="8897112" y="1874520"/>
            <a:ext cx="256032" cy="502920"/>
          </a:xfrm>
          <a:prstGeom prst="chevron">
            <a:avLst/>
          </a:prstGeom>
          <a:solidFill>
            <a:srgbClr val="B9DCCD"/>
          </a:solidFill>
          <a:ln w="12700">
            <a:solidFill>
              <a:srgbClr val="B9DCCD"/>
            </a:solidFill>
            <a:prstDash val="solid"/>
          </a:ln>
        </p:spPr>
      </p:sp>
      <p:sp>
        <p:nvSpPr>
          <p:cNvPr id="21" name="Audio + vibration card"/>
          <p:cNvSpPr/>
          <p:nvPr/>
        </p:nvSpPr>
        <p:spPr>
          <a:xfrm>
            <a:off x="9189720" y="1325880"/>
            <a:ext cx="2514600" cy="3840480"/>
          </a:xfrm>
          <a:prstGeom prst="roundRect">
            <a:avLst>
              <a:gd name="adj" fmla="val 4364"/>
            </a:avLst>
          </a:prstGeom>
          <a:solidFill>
            <a:schemeClr val="bg2"/>
          </a:solidFill>
          <a:ln w="12700">
            <a:solidFill>
              <a:schemeClr val="bg2"/>
            </a:solidFill>
            <a:prstDash val="solid"/>
          </a:ln>
        </p:spPr>
      </p:sp>
      <p:sp>
        <p:nvSpPr>
          <p:cNvPr id="22" name="Audio + vibration circle"/>
          <p:cNvSpPr/>
          <p:nvPr/>
        </p:nvSpPr>
        <p:spPr>
          <a:xfrm>
            <a:off x="9902952" y="1554480"/>
            <a:ext cx="1097280" cy="1097280"/>
          </a:xfrm>
          <a:prstGeom prst="ellipse">
            <a:avLst/>
          </a:prstGeom>
          <a:solidFill>
            <a:srgbClr val="006A4E"/>
          </a:solidFill>
          <a:ln w="12700">
            <a:solidFill>
              <a:srgbClr val="006A4E"/>
            </a:solidFill>
            <a:prstDash val="solid"/>
          </a:ln>
        </p:spPr>
      </p:sp>
      <p:pic>
        <p:nvPicPr>
          <p:cNvPr id="23" name="Audio + vibration icon" descr="preencoded.png">    </p:cNvPr>
          <p:cNvPicPr>
            <a:picLocks noChangeAspect="1"/>
          </p:cNvPicPr>
          <p:nvPr/>
        </p:nvPicPr>
        <p:blipFill>
          <a:blip r:embed="rId4"/>
          <a:stretch>
            <a:fillRect/>
          </a:stretch>
        </p:blipFill>
        <p:spPr>
          <a:xfrm>
            <a:off x="10166299" y="1817827"/>
            <a:ext cx="570586" cy="570586"/>
          </a:xfrm>
          <a:prstGeom prst="rect">
            <a:avLst/>
          </a:prstGeom>
        </p:spPr>
      </p:pic>
      <p:sp>
        <p:nvSpPr>
          <p:cNvPr id="24" name="Audio + vibration heading"/>
          <p:cNvSpPr txBox="1"/>
          <p:nvPr/>
        </p:nvSpPr>
        <p:spPr>
          <a:xfrm>
            <a:off x="9281160" y="2788920"/>
            <a:ext cx="2331720" cy="731520"/>
          </a:xfrm>
          <a:prstGeom prst="rect">
            <a:avLst/>
          </a:prstGeom>
          <a:noFill/>
          <a:ln/>
        </p:spPr>
        <p:txBody>
          <a:bodyPr wrap="square" lIns="0" tIns="0" rIns="0" bIns="0" rtlCol="0" anchor="t"/>
          <a:lstStyle/>
          <a:p>
            <a:pPr algn="ctr" indent="0" marL="0">
              <a:buNone/>
            </a:pPr>
            <a:r>
              <a:rPr lang="en-US" sz="2000" b="1" dirty="0">
                <a:solidFill>
                  <a:schemeClr val="tx2"/>
                </a:solidFill>
                <a:latin typeface="Cambria" pitchFamily="34" charset="0"/>
                <a:ea typeface="Cambria" pitchFamily="34" charset="-122"/>
                <a:cs typeface="Cambria" pitchFamily="34" charset="-120"/>
              </a:rPr>
              <a:t>Audio + vibration</a:t>
            </a:r>
            <a:endParaRPr lang="en-US" sz="2000" dirty="0"/>
          </a:p>
        </p:txBody>
      </p:sp>
      <p:sp>
        <p:nvSpPr>
          <p:cNvPr id="25" name="Audio + vibration details"/>
          <p:cNvSpPr txBox="1"/>
          <p:nvPr/>
        </p:nvSpPr>
        <p:spPr>
          <a:xfrm>
            <a:off x="9326880" y="3566160"/>
            <a:ext cx="2240280" cy="2148840"/>
          </a:xfrm>
          <a:prstGeom prst="rect">
            <a:avLst/>
          </a:prstGeom>
          <a:noFill/>
          <a:ln/>
        </p:spPr>
        <p:txBody>
          <a:bodyPr wrap="square" lIns="0" tIns="0" rIns="0" bIns="0" rtlCol="0" anchor="t"/>
          <a:lstStyle/>
          <a:p>
            <a:pPr algn="ctr" indent="0" marL="0">
              <a:spcAft>
                <a:spcPts val="600"/>
              </a:spcAft>
              <a:buNone/>
            </a:pPr>
            <a:r>
              <a:rPr lang="en-US" sz="1500" dirty="0">
                <a:solidFill>
                  <a:schemeClr val="tx1"/>
                </a:solidFill>
              </a:rPr>
              <a:t>Bangla or English speech [10, 11]</a:t>
            </a:r>
            <a:endParaRPr lang="en-US" sz="1500" dirty="0"/>
          </a:p>
          <a:p>
            <a:pPr algn="ctr" indent="0" marL="0">
              <a:spcAft>
                <a:spcPts val="600"/>
              </a:spcAft>
              <a:buNone/>
            </a:pPr>
            <a:r>
              <a:rPr lang="en-US" sz="1500" dirty="0">
                <a:solidFill>
                  <a:schemeClr val="tx1"/>
                </a:solidFill>
              </a:rPr>
              <a:t>Vibration for a note</a:t>
            </a:r>
            <a:endParaRPr lang="en-US" sz="1500" dirty="0"/>
          </a:p>
        </p:txBody>
      </p:sp>
      <p:sp>
        <p:nvSpPr>
          <p:cNvPr id="26" name="Pipeline takeaway"/>
          <p:cNvSpPr txBox="1"/>
          <p:nvPr/>
        </p:nvSpPr>
        <p:spPr>
          <a:xfrm>
            <a:off x="548640" y="5349240"/>
            <a:ext cx="11064240" cy="411480"/>
          </a:xfrm>
          <a:prstGeom prst="rect">
            <a:avLst/>
          </a:prstGeom>
          <a:noFill/>
          <a:ln/>
        </p:spPr>
        <p:txBody>
          <a:bodyPr wrap="square" lIns="0" tIns="0" rIns="0" bIns="0" rtlCol="0" anchor="ctr"/>
          <a:lstStyle/>
          <a:p>
            <a:pPr algn="ctr" indent="0" marL="0">
              <a:buNone/>
            </a:pPr>
            <a:r>
              <a:rPr lang="en-US" sz="1800" b="1" dirty="0">
                <a:solidFill>
                  <a:schemeClr val="accent1"/>
                </a:solidFill>
              </a:rPr>
              <a:t>Everything runs on the glass itself; only the optional online mode uses the internet.</a:t>
            </a:r>
            <a:endParaRPr lang="en-US" sz="1800" dirty="0"/>
          </a:p>
        </p:txBody>
      </p:sp>
      <p:sp>
        <p:nvSpPr>
          <p:cNvPr id="27"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Sources: [5] Baek et al. 2019; [6] EasyOCR; [7] Ultralytics YOLOv8; [8] COCO; [9] RAF-DB; [10] Piper; [11] eSpeak NG.</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From a desk prototype to a wearable glass</a:t>
            </a:r>
            <a:endParaRPr lang="en-US" sz="3000" dirty="0"/>
          </a:p>
        </p:txBody>
      </p:sp>
      <p:pic>
        <p:nvPicPr>
          <p:cNvPr id="3" name="Prototype version 1" descr="E:\Final SP\Thesis Report and paper\tools\deck\assets/test_10.jpg">    </p:cNvPr>
          <p:cNvPicPr>
            <a:picLocks noChangeAspect="1"/>
          </p:cNvPicPr>
          <p:nvPr/>
        </p:nvPicPr>
        <p:blipFill>
          <a:blip r:embed="rId1"/>
          <a:srcRect l="0" r="0" t="0" b="0"/>
          <a:stretch/>
        </p:blipFill>
        <p:spPr>
          <a:xfrm>
            <a:off x="548640" y="1325880"/>
            <a:ext cx="2596896" cy="4224528"/>
          </a:xfrm>
          <a:prstGeom prst="rect">
            <a:avLst/>
          </a:prstGeom>
        </p:spPr>
      </p:pic>
      <p:sp>
        <p:nvSpPr>
          <p:cNvPr id="4" name="V1 caption"/>
          <p:cNvSpPr txBox="1"/>
          <p:nvPr/>
        </p:nvSpPr>
        <p:spPr>
          <a:xfrm>
            <a:off x="548640" y="5596128"/>
            <a:ext cx="2596896" cy="548640"/>
          </a:xfrm>
          <a:prstGeom prst="rect">
            <a:avLst/>
          </a:prstGeom>
          <a:noFill/>
          <a:ln/>
        </p:spPr>
        <p:txBody>
          <a:bodyPr wrap="square" lIns="0" tIns="0" rIns="0" bIns="0" rtlCol="0" anchor="t"/>
          <a:lstStyle/>
          <a:p>
            <a:pPr indent="0" marL="0">
              <a:buNone/>
            </a:pPr>
            <a:r>
              <a:rPr lang="en-US" sz="1600" b="1" dirty="0">
                <a:solidFill>
                  <a:srgbClr val="0B4D3B"/>
                </a:solidFill>
              </a:rPr>
              <a:t>Version 1</a:t>
            </a:r>
            <a:endParaRPr lang="en-US" sz="1600" dirty="0"/>
          </a:p>
          <a:p>
            <a:pPr indent="0" marL="0">
              <a:buNone/>
            </a:pPr>
            <a:r>
              <a:rPr lang="en-US" sz="1300" dirty="0">
                <a:solidFill>
                  <a:srgbClr val="5E6B66"/>
                </a:solidFill>
              </a:rPr>
              <a:t>Board on one temple</a:t>
            </a:r>
            <a:endParaRPr lang="en-US" sz="1600" dirty="0"/>
          </a:p>
        </p:txBody>
      </p:sp>
      <p:pic>
        <p:nvPicPr>
          <p:cNvPr id="5" name="Front: Camera + UV lamp" descr="E:\Final SP\Thesis Report and paper\tools\deck\assets/1_20.jpg">    </p:cNvPr>
          <p:cNvPicPr>
            <a:picLocks noChangeAspect="1"/>
          </p:cNvPicPr>
          <p:nvPr/>
        </p:nvPicPr>
        <p:blipFill>
          <a:blip r:embed="rId2"/>
          <a:srcRect l="0" r="0" t="0" b="0"/>
          <a:stretch/>
        </p:blipFill>
        <p:spPr>
          <a:xfrm>
            <a:off x="3374136" y="1325880"/>
            <a:ext cx="2596896" cy="4224528"/>
          </a:xfrm>
          <a:prstGeom prst="rect">
            <a:avLst/>
          </a:prstGeom>
        </p:spPr>
      </p:pic>
      <p:sp>
        <p:nvSpPr>
          <p:cNvPr id="6" name="V2 caption 1"/>
          <p:cNvSpPr txBox="1"/>
          <p:nvPr/>
        </p:nvSpPr>
        <p:spPr>
          <a:xfrm>
            <a:off x="3374136" y="5596128"/>
            <a:ext cx="2596896" cy="548640"/>
          </a:xfrm>
          <a:prstGeom prst="rect">
            <a:avLst/>
          </a:prstGeom>
          <a:noFill/>
          <a:ln/>
        </p:spPr>
        <p:txBody>
          <a:bodyPr wrap="square" lIns="0" tIns="0" rIns="0" bIns="0" rtlCol="0" anchor="t"/>
          <a:lstStyle/>
          <a:p>
            <a:pPr indent="0" marL="0">
              <a:buNone/>
            </a:pPr>
            <a:r>
              <a:rPr lang="en-US" sz="1600" b="1" dirty="0">
                <a:solidFill>
                  <a:srgbClr val="0B4D3B"/>
                </a:solidFill>
              </a:rPr>
              <a:t>Front</a:t>
            </a:r>
            <a:endParaRPr lang="en-US" sz="1600" dirty="0"/>
          </a:p>
          <a:p>
            <a:pPr indent="0" marL="0">
              <a:buNone/>
            </a:pPr>
            <a:r>
              <a:rPr lang="en-US" sz="1300" dirty="0">
                <a:solidFill>
                  <a:srgbClr val="5E6B66"/>
                </a:solidFill>
              </a:rPr>
              <a:t>Camera + UV lamp</a:t>
            </a:r>
            <a:endParaRPr lang="en-US" sz="1600" dirty="0"/>
          </a:p>
        </p:txBody>
      </p:sp>
      <p:pic>
        <p:nvPicPr>
          <p:cNvPr id="7" name="Side: 5 buttons, bone-conduction earphone" descr="E:\Final SP\Thesis Report and paper\tools\deck\assets/v2_side_portrait.jpg">    </p:cNvPr>
          <p:cNvPicPr>
            <a:picLocks noChangeAspect="1"/>
          </p:cNvPicPr>
          <p:nvPr/>
        </p:nvPicPr>
        <p:blipFill>
          <a:blip r:embed="rId3"/>
          <a:srcRect l="0" r="0" t="0" b="0"/>
          <a:stretch/>
        </p:blipFill>
        <p:spPr>
          <a:xfrm>
            <a:off x="6199632" y="1325880"/>
            <a:ext cx="2596896" cy="4224528"/>
          </a:xfrm>
          <a:prstGeom prst="rect">
            <a:avLst/>
          </a:prstGeom>
        </p:spPr>
      </p:pic>
      <p:sp>
        <p:nvSpPr>
          <p:cNvPr id="8" name="V2 caption 2"/>
          <p:cNvSpPr txBox="1"/>
          <p:nvPr/>
        </p:nvSpPr>
        <p:spPr>
          <a:xfrm>
            <a:off x="6199632" y="5596128"/>
            <a:ext cx="2596896" cy="548640"/>
          </a:xfrm>
          <a:prstGeom prst="rect">
            <a:avLst/>
          </a:prstGeom>
          <a:noFill/>
          <a:ln/>
        </p:spPr>
        <p:txBody>
          <a:bodyPr wrap="square" lIns="0" tIns="0" rIns="0" bIns="0" rtlCol="0" anchor="t"/>
          <a:lstStyle/>
          <a:p>
            <a:pPr indent="0" marL="0">
              <a:buNone/>
            </a:pPr>
            <a:r>
              <a:rPr lang="en-US" sz="1600" b="1" dirty="0">
                <a:solidFill>
                  <a:srgbClr val="0B4D3B"/>
                </a:solidFill>
              </a:rPr>
              <a:t>Side</a:t>
            </a:r>
            <a:endParaRPr lang="en-US" sz="1600" dirty="0"/>
          </a:p>
          <a:p>
            <a:pPr indent="0" marL="0">
              <a:buNone/>
            </a:pPr>
            <a:r>
              <a:rPr lang="en-US" sz="1300" dirty="0">
                <a:solidFill>
                  <a:srgbClr val="5E6B66"/>
                </a:solidFill>
              </a:rPr>
              <a:t>5 buttons, bone-conduction earphone</a:t>
            </a:r>
            <a:endParaRPr lang="en-US" sz="1600" dirty="0"/>
          </a:p>
        </p:txBody>
      </p:sp>
      <p:pic>
        <p:nvPicPr>
          <p:cNvPr id="9" name="Rear: Pi 5 in a ventilated case" descr="E:\Final SP\Thesis Report and paper\tools\deck\assets/1_23.jpg">    </p:cNvPr>
          <p:cNvPicPr>
            <a:picLocks noChangeAspect="1"/>
          </p:cNvPicPr>
          <p:nvPr/>
        </p:nvPicPr>
        <p:blipFill>
          <a:blip r:embed="rId4"/>
          <a:srcRect l="0" r="0" t="0" b="0"/>
          <a:stretch/>
        </p:blipFill>
        <p:spPr>
          <a:xfrm>
            <a:off x="9025128" y="1325880"/>
            <a:ext cx="2596896" cy="4224528"/>
          </a:xfrm>
          <a:prstGeom prst="rect">
            <a:avLst/>
          </a:prstGeom>
        </p:spPr>
      </p:pic>
      <p:sp>
        <p:nvSpPr>
          <p:cNvPr id="10" name="V2 caption 3"/>
          <p:cNvSpPr txBox="1"/>
          <p:nvPr/>
        </p:nvSpPr>
        <p:spPr>
          <a:xfrm>
            <a:off x="9025128" y="5596128"/>
            <a:ext cx="2596896" cy="548640"/>
          </a:xfrm>
          <a:prstGeom prst="rect">
            <a:avLst/>
          </a:prstGeom>
          <a:noFill/>
          <a:ln/>
        </p:spPr>
        <p:txBody>
          <a:bodyPr wrap="square" lIns="0" tIns="0" rIns="0" bIns="0" rtlCol="0" anchor="t"/>
          <a:lstStyle/>
          <a:p>
            <a:pPr indent="0" marL="0">
              <a:buNone/>
            </a:pPr>
            <a:r>
              <a:rPr lang="en-US" sz="1600" b="1" dirty="0">
                <a:solidFill>
                  <a:srgbClr val="0B4D3B"/>
                </a:solidFill>
              </a:rPr>
              <a:t>Rear</a:t>
            </a:r>
            <a:endParaRPr lang="en-US" sz="1600" dirty="0"/>
          </a:p>
          <a:p>
            <a:pPr indent="0" marL="0">
              <a:buNone/>
            </a:pPr>
            <a:r>
              <a:rPr lang="en-US" sz="1300" dirty="0">
                <a:solidFill>
                  <a:srgbClr val="5E6B66"/>
                </a:solidFill>
              </a:rPr>
              <a:t>Pi 5 in a ventilated case</a:t>
            </a:r>
            <a:endParaRPr lang="en-US" sz="1600" dirty="0"/>
          </a:p>
        </p:txBody>
      </p:sp>
      <p:sp>
        <p:nvSpPr>
          <p:cNvPr id="11" name="V2 tag"/>
          <p:cNvSpPr txBox="1"/>
          <p:nvPr/>
        </p:nvSpPr>
        <p:spPr>
          <a:xfrm>
            <a:off x="3511296" y="1463040"/>
            <a:ext cx="1097280" cy="365760"/>
          </a:xfrm>
          <a:prstGeom prst="roundRect">
            <a:avLst>
              <a:gd name="adj" fmla="val 20000"/>
            </a:avLst>
          </a:prstGeom>
          <a:solidFill>
            <a:srgbClr val="006A4E"/>
          </a:solidFill>
          <a:ln>
            <a:solidFill>
              <a:srgbClr val="006A4E"/>
            </a:solidFill>
          </a:ln>
        </p:spPr>
        <p:txBody>
          <a:bodyPr wrap="square" lIns="0" tIns="0" rIns="0" bIns="0" rtlCol="0" anchor="ctr"/>
          <a:lstStyle/>
          <a:p>
            <a:pPr algn="ctr" indent="0" marL="0">
              <a:buNone/>
            </a:pPr>
            <a:r>
              <a:rPr lang="en-US" sz="1300" b="1" dirty="0">
                <a:solidFill>
                  <a:srgbClr val="FFFFFF"/>
                </a:solidFill>
              </a:rPr>
              <a:t>Version 2</a:t>
            </a:r>
            <a:endParaRPr lang="en-US" sz="13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Taka detection: 22,333 training images, no hand labels</a:t>
            </a:r>
            <a:endParaRPr lang="en-US" sz="3000" dirty="0"/>
          </a:p>
        </p:txBody>
      </p:sp>
      <p:pic>
        <p:nvPicPr>
          <p:cNvPr id="3" name="Compositing pipeline" descr="E:/Final SP/Thesis Report and paper/thesis report/My report/DIagram fig tab/fig_compositing.jpg">    </p:cNvPr>
          <p:cNvPicPr>
            <a:picLocks noChangeAspect="1"/>
          </p:cNvPicPr>
          <p:nvPr/>
        </p:nvPicPr>
        <p:blipFill>
          <a:blip r:embed="rId1"/>
          <a:stretch>
            <a:fillRect/>
          </a:stretch>
        </p:blipFill>
        <p:spPr>
          <a:xfrm>
            <a:off x="548640" y="1371600"/>
            <a:ext cx="7498080" cy="2183816"/>
          </a:xfrm>
          <a:prstGeom prst="rect">
            <a:avLst/>
          </a:prstGeom>
        </p:spPr>
      </p:pic>
      <p:sp>
        <p:nvSpPr>
          <p:cNvPr id="4" name="Compositing text"/>
          <p:cNvSpPr txBox="1"/>
          <p:nvPr/>
        </p:nvSpPr>
        <p:spPr>
          <a:xfrm>
            <a:off x="548640" y="3840480"/>
            <a:ext cx="7498080" cy="822960"/>
          </a:xfrm>
          <a:prstGeom prst="rect">
            <a:avLst/>
          </a:prstGeom>
          <a:noFill/>
          <a:ln/>
        </p:spPr>
        <p:txBody>
          <a:bodyPr wrap="square" lIns="0" tIns="0" rIns="0" bIns="0" rtlCol="0" anchor="t"/>
          <a:lstStyle/>
          <a:p>
            <a:pPr indent="0" marL="0">
              <a:buNone/>
            </a:pPr>
            <a:r>
              <a:rPr lang="en-US" sz="2000" dirty="0">
                <a:solidFill>
                  <a:schemeClr val="tx1"/>
                </a:solidFill>
              </a:rPr>
              <a:t>Note photos [12] are pasted onto real scenes [8], and the program writes every label itself.</a:t>
            </a:r>
            <a:endParaRPr lang="en-US" sz="2000" dirty="0"/>
          </a:p>
        </p:txBody>
      </p:sp>
      <p:sp>
        <p:nvSpPr>
          <p:cNvPr id="5" name="Synthetic card"/>
          <p:cNvSpPr/>
          <p:nvPr/>
        </p:nvSpPr>
        <p:spPr>
          <a:xfrm>
            <a:off x="8412480" y="1371600"/>
            <a:ext cx="3200400" cy="2103120"/>
          </a:xfrm>
          <a:prstGeom prst="roundRect">
            <a:avLst>
              <a:gd name="adj" fmla="val 5217"/>
            </a:avLst>
          </a:prstGeom>
          <a:solidFill>
            <a:schemeClr val="bg2"/>
          </a:solidFill>
          <a:ln w="12700">
            <a:solidFill>
              <a:schemeClr val="bg2"/>
            </a:solidFill>
            <a:prstDash val="solid"/>
          </a:ln>
        </p:spPr>
      </p:sp>
      <p:sp>
        <p:nvSpPr>
          <p:cNvPr id="6" name="Synthetic tag"/>
          <p:cNvSpPr txBox="1"/>
          <p:nvPr/>
        </p:nvSpPr>
        <p:spPr>
          <a:xfrm>
            <a:off x="8641080" y="1554480"/>
            <a:ext cx="2377440" cy="329184"/>
          </a:xfrm>
          <a:prstGeom prst="roundRect">
            <a:avLst>
              <a:gd name="adj" fmla="val 16667"/>
            </a:avLst>
          </a:prstGeom>
          <a:solidFill>
            <a:srgbClr val="B9DCCD"/>
          </a:solidFill>
          <a:ln>
            <a:solidFill>
              <a:srgbClr val="B9DCCD"/>
            </a:solidFill>
          </a:ln>
        </p:spPr>
        <p:txBody>
          <a:bodyPr wrap="square" lIns="0" tIns="0" rIns="0" bIns="0" rtlCol="0" anchor="ctr"/>
          <a:lstStyle/>
          <a:p>
            <a:pPr algn="ctr" indent="0" marL="0">
              <a:buNone/>
            </a:pPr>
            <a:r>
              <a:rPr lang="en-US" sz="1200" b="1" dirty="0">
                <a:solidFill>
                  <a:srgbClr val="0B4D3B"/>
                </a:solidFill>
              </a:rPr>
              <a:t>SYNTHETIC COMPOSITES</a:t>
            </a:r>
            <a:endParaRPr lang="en-US" sz="1200" dirty="0"/>
          </a:p>
        </p:txBody>
      </p:sp>
      <p:sp>
        <p:nvSpPr>
          <p:cNvPr id="7" name="mAP value"/>
          <p:cNvSpPr txBox="1"/>
          <p:nvPr/>
        </p:nvSpPr>
        <p:spPr>
          <a:xfrm>
            <a:off x="8641080" y="2011680"/>
            <a:ext cx="274320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0.995</a:t>
            </a:r>
            <a:endParaRPr lang="en-US" sz="3600" dirty="0"/>
          </a:p>
        </p:txBody>
      </p:sp>
      <p:sp>
        <p:nvSpPr>
          <p:cNvPr id="8" name="mAP label"/>
          <p:cNvSpPr txBox="1"/>
          <p:nvPr/>
        </p:nvSpPr>
        <p:spPr>
          <a:xfrm>
            <a:off x="8641080" y="2697480"/>
            <a:ext cx="2743200" cy="685800"/>
          </a:xfrm>
          <a:prstGeom prst="rect">
            <a:avLst/>
          </a:prstGeom>
          <a:noFill/>
          <a:ln/>
        </p:spPr>
        <p:txBody>
          <a:bodyPr wrap="square" lIns="0" tIns="0" rIns="0" bIns="0" rtlCol="0" anchor="t"/>
          <a:lstStyle/>
          <a:p>
            <a:pPr indent="0" marL="0">
              <a:buNone/>
            </a:pPr>
            <a:r>
              <a:rPr lang="en-US" sz="1500" dirty="0">
                <a:solidFill>
                  <a:schemeClr val="tx1"/>
                </a:solidFill>
              </a:rPr>
              <a:t>mAP@0.5 on 2,282 held-out composites</a:t>
            </a:r>
            <a:endParaRPr lang="en-US" sz="1500" dirty="0"/>
          </a:p>
        </p:txBody>
      </p:sp>
      <p:sp>
        <p:nvSpPr>
          <p:cNvPr id="9" name="Real card"/>
          <p:cNvSpPr/>
          <p:nvPr/>
        </p:nvSpPr>
        <p:spPr>
          <a:xfrm>
            <a:off x="8412480" y="3657600"/>
            <a:ext cx="3200400" cy="2194560"/>
          </a:xfrm>
          <a:prstGeom prst="roundRect">
            <a:avLst>
              <a:gd name="adj" fmla="val 5000"/>
            </a:avLst>
          </a:prstGeom>
          <a:solidFill>
            <a:schemeClr val="tx2"/>
          </a:solidFill>
          <a:ln w="12700">
            <a:solidFill>
              <a:schemeClr val="tx2"/>
            </a:solidFill>
            <a:prstDash val="solid"/>
          </a:ln>
        </p:spPr>
      </p:sp>
      <p:sp>
        <p:nvSpPr>
          <p:cNvPr id="10" name="Real tag"/>
          <p:cNvSpPr txBox="1"/>
          <p:nvPr/>
        </p:nvSpPr>
        <p:spPr>
          <a:xfrm>
            <a:off x="8641080" y="3840480"/>
            <a:ext cx="1554480" cy="329184"/>
          </a:xfrm>
          <a:prstGeom prst="roundRect">
            <a:avLst>
              <a:gd name="adj" fmla="val 16667"/>
            </a:avLst>
          </a:prstGeom>
          <a:solidFill>
            <a:srgbClr val="E6A817"/>
          </a:solidFill>
          <a:ln>
            <a:solidFill>
              <a:srgbClr val="E6A817"/>
            </a:solidFill>
          </a:ln>
        </p:spPr>
        <p:txBody>
          <a:bodyPr wrap="square" lIns="0" tIns="0" rIns="0" bIns="0" rtlCol="0" anchor="ctr"/>
          <a:lstStyle/>
          <a:p>
            <a:pPr algn="ctr" indent="0" marL="0">
              <a:buNone/>
            </a:pPr>
            <a:r>
              <a:rPr lang="en-US" sz="1200" b="1" dirty="0">
                <a:solidFill>
                  <a:srgbClr val="1C2321"/>
                </a:solidFill>
              </a:rPr>
              <a:t>REAL PHOTOS</a:t>
            </a:r>
            <a:endParaRPr lang="en-US" sz="1200" dirty="0"/>
          </a:p>
        </p:txBody>
      </p:sp>
      <p:sp>
        <p:nvSpPr>
          <p:cNvPr id="11" name="Real value"/>
          <p:cNvSpPr txBox="1"/>
          <p:nvPr/>
        </p:nvSpPr>
        <p:spPr>
          <a:xfrm>
            <a:off x="8641080" y="4297680"/>
            <a:ext cx="2743200" cy="6858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94.1%</a:t>
            </a:r>
            <a:endParaRPr lang="en-US" sz="4000" dirty="0"/>
          </a:p>
        </p:txBody>
      </p:sp>
      <p:sp>
        <p:nvSpPr>
          <p:cNvPr id="12" name="Real label"/>
          <p:cNvSpPr txBox="1"/>
          <p:nvPr/>
        </p:nvSpPr>
        <p:spPr>
          <a:xfrm>
            <a:off x="8641080" y="4983480"/>
            <a:ext cx="2743200" cy="731520"/>
          </a:xfrm>
          <a:prstGeom prst="rect">
            <a:avLst/>
          </a:prstGeom>
          <a:noFill/>
          <a:ln/>
        </p:spPr>
        <p:txBody>
          <a:bodyPr wrap="square" lIns="0" tIns="0" rIns="0" bIns="0" rtlCol="0" anchor="t"/>
          <a:lstStyle/>
          <a:p>
            <a:pPr indent="0" marL="0">
              <a:buNone/>
            </a:pPr>
            <a:r>
              <a:rPr lang="en-US" sz="1400" dirty="0">
                <a:solidFill>
                  <a:srgbClr val="E4EFEA"/>
                </a:solidFill>
              </a:rPr>
              <a:t>right note value on 1,536 photos taken by other people (laptop)</a:t>
            </a:r>
            <a:endParaRPr lang="en-US" sz="1400" dirty="0"/>
          </a:p>
        </p:txBody>
      </p:sp>
      <p:sp>
        <p:nvSpPr>
          <p:cNvPr id="13"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Sources: [12] BanglaTaka (Mendeley); [8] Lin et al., COCO, ECCV 2014; detector [7] Ultralytics YOLOv8. 94.1% with the hand-held detector (next slide).</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Notes held in a hand: from 1 in 8 to 1 in 2</a:t>
            </a:r>
            <a:endParaRPr lang="en-US" sz="3000" dirty="0"/>
          </a:p>
        </p:txBody>
      </p:sp>
      <p:sp>
        <p:nvSpPr>
          <p:cNvPr id="3" name="Training tag"/>
          <p:cNvSpPr txBox="1"/>
          <p:nvPr/>
        </p:nvSpPr>
        <p:spPr>
          <a:xfrm>
            <a:off x="548640" y="1325880"/>
            <a:ext cx="3566160" cy="329184"/>
          </a:xfrm>
          <a:prstGeom prst="roundRect">
            <a:avLst>
              <a:gd name="adj" fmla="val 16667"/>
            </a:avLst>
          </a:prstGeom>
          <a:solidFill>
            <a:srgbClr val="B9DCCD"/>
          </a:solidFill>
          <a:ln>
            <a:solidFill>
              <a:srgbClr val="B9DCCD"/>
            </a:solidFill>
          </a:ln>
        </p:spPr>
        <p:txBody>
          <a:bodyPr wrap="square" lIns="0" tIns="0" rIns="0" bIns="0" rtlCol="0" anchor="ctr"/>
          <a:lstStyle/>
          <a:p>
            <a:pPr algn="ctr" indent="0" marL="0">
              <a:buNone/>
            </a:pPr>
            <a:r>
              <a:rPr lang="en-US" sz="1200" b="1" dirty="0">
                <a:solidFill>
                  <a:srgbClr val="0B4D3B"/>
                </a:solidFill>
              </a:rPr>
              <a:t>TRAINING: 6,000 SYNTHETIC CLOSE-UPS</a:t>
            </a:r>
            <a:endParaRPr lang="en-US" sz="1200" dirty="0"/>
          </a:p>
        </p:txBody>
      </p:sp>
      <p:pic>
        <p:nvPicPr>
          <p:cNvPr id="4" name="Synthetic close-ups" descr="E:/Final SP/Thesis Report and paper/thesis report/My report/fig58_handheld_closeups.png">    </p:cNvPr>
          <p:cNvPicPr>
            <a:picLocks noChangeAspect="1"/>
          </p:cNvPicPr>
          <p:nvPr/>
        </p:nvPicPr>
        <p:blipFill>
          <a:blip r:embed="rId1"/>
          <a:stretch>
            <a:fillRect/>
          </a:stretch>
        </p:blipFill>
        <p:spPr>
          <a:xfrm>
            <a:off x="548640" y="1737360"/>
            <a:ext cx="5029200" cy="2011680"/>
          </a:xfrm>
          <a:prstGeom prst="rect">
            <a:avLst/>
          </a:prstGeom>
        </p:spPr>
      </p:pic>
      <p:sp>
        <p:nvSpPr>
          <p:cNvPr id="5" name="Test tag"/>
          <p:cNvSpPr txBox="1"/>
          <p:nvPr/>
        </p:nvSpPr>
        <p:spPr>
          <a:xfrm>
            <a:off x="548640" y="3931920"/>
            <a:ext cx="3017520" cy="329184"/>
          </a:xfrm>
          <a:prstGeom prst="roundRect">
            <a:avLst>
              <a:gd name="adj" fmla="val 16667"/>
            </a:avLst>
          </a:prstGeom>
          <a:solidFill>
            <a:srgbClr val="E6A817"/>
          </a:solidFill>
          <a:ln>
            <a:solidFill>
              <a:srgbClr val="E6A817"/>
            </a:solidFill>
          </a:ln>
        </p:spPr>
        <p:txBody>
          <a:bodyPr wrap="square" lIns="0" tIns="0" rIns="0" bIns="0" rtlCol="0" anchor="ctr"/>
          <a:lstStyle/>
          <a:p>
            <a:pPr algn="ctr" indent="0" marL="0">
              <a:buNone/>
            </a:pPr>
            <a:r>
              <a:rPr lang="en-US" sz="1200" b="1" dirty="0">
                <a:solidFill>
                  <a:srgbClr val="1C2321"/>
                </a:solidFill>
              </a:rPr>
              <a:t>TEST: REAL HAND-HELD PHOTOS</a:t>
            </a:r>
            <a:endParaRPr lang="en-US" sz="1200" dirty="0"/>
          </a:p>
        </p:txBody>
      </p:sp>
      <p:sp>
        <p:nvSpPr>
          <p:cNvPr id="6" name="Hand-held takeaway"/>
          <p:cNvSpPr txBox="1"/>
          <p:nvPr/>
        </p:nvSpPr>
        <p:spPr>
          <a:xfrm>
            <a:off x="548640" y="4343400"/>
            <a:ext cx="6400800" cy="7772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11.8% → 47.5%</a:t>
            </a:r>
            <a:endParaRPr lang="en-US" sz="4400" dirty="0"/>
          </a:p>
        </p:txBody>
      </p:sp>
      <p:graphicFrame>
        <p:nvGraphicFramePr>
          <p:cNvPr id="7" name="Hand-held chart" descr=""/>
          <p:cNvGraphicFramePr/>
          <p:nvPr/>
        </p:nvGraphicFramePr>
        <p:xfrm>
          <a:off x="7223760" y="1325880"/>
          <a:ext cx="4389120" cy="4023360"/>
        </p:xfrm>
        <a:graphic xmlns:a="http://schemas.openxmlformats.org/drawingml/2006/main">
          <a:graphicData uri="http://schemas.openxmlformats.org/drawingml/2006/chart">
            <c:chart xmlns:c="http://schemas.openxmlformats.org/drawingml/2006/chart" r:id="rId2"/>
          </a:graphicData>
        </a:graphic>
      </p:graphicFrame>
      <p:sp>
        <p:nvSpPr>
          <p:cNvPr id="8" name="Costs"/>
          <p:cNvSpPr txBox="1"/>
          <p:nvPr/>
        </p:nvSpPr>
        <p:spPr>
          <a:xfrm>
            <a:off x="548640" y="5166360"/>
            <a:ext cx="6400800" cy="731520"/>
          </a:xfrm>
          <a:prstGeom prst="rect">
            <a:avLst/>
          </a:prstGeom>
          <a:noFill/>
          <a:ln/>
        </p:spPr>
        <p:txBody>
          <a:bodyPr wrap="square" lIns="0" tIns="0" rIns="0" bIns="0" rtlCol="0" anchor="t"/>
          <a:lstStyle/>
          <a:p>
            <a:pPr indent="0" marL="0">
              <a:buNone/>
            </a:pPr>
            <a:r>
              <a:rPr lang="en-US" sz="1400" i="1" dirty="0">
                <a:solidFill>
                  <a:schemeClr val="accent2"/>
                </a:solidFill>
              </a:rPr>
              <a:t>Right note value on the laptop. Trade-off: with 3 notes in view, the total is right 97.0% (was 99.2%).</a:t>
            </a:r>
            <a:endParaRPr lang="en-US" sz="1400" dirty="0"/>
          </a:p>
        </p:txBody>
      </p:sp>
      <p:sp>
        <p:nvSpPr>
          <p:cNvPr id="9"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Sources: test photos [13] Rafi et al., NSTU-BDTAKA, Data in Brief 2024; detector [7] YOLOv8. Our results: paper_evidence/HANDHELD_FINETUNE.md.</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Live tests with real notes</a:t>
            </a:r>
            <a:endParaRPr lang="en-US" sz="3000" dirty="0"/>
          </a:p>
        </p:txBody>
      </p:sp>
      <p:sp>
        <p:nvSpPr>
          <p:cNvPr id="3" name="Demo banner"/>
          <p:cNvSpPr txBox="1"/>
          <p:nvPr/>
        </p:nvSpPr>
        <p:spPr>
          <a:xfrm>
            <a:off x="548640" y="1280160"/>
            <a:ext cx="11064240" cy="457200"/>
          </a:xfrm>
          <a:prstGeom prst="roundRect">
            <a:avLst>
              <a:gd name="adj" fmla="val 16000"/>
            </a:avLst>
          </a:prstGeom>
          <a:solidFill>
            <a:srgbClr val="FFF4D6"/>
          </a:solidFill>
          <a:ln>
            <a:solidFill>
              <a:srgbClr val="E6A817"/>
            </a:solidFill>
          </a:ln>
        </p:spPr>
        <p:txBody>
          <a:bodyPr wrap="square" lIns="0" tIns="0" rIns="0" bIns="0" rtlCol="0" anchor="ctr"/>
          <a:lstStyle/>
          <a:p>
            <a:pPr algn="ctr" indent="0" marL="0">
              <a:buNone/>
            </a:pPr>
            <a:r>
              <a:rPr lang="en-US" sz="1600" b="1" dirty="0">
                <a:solidFill>
                  <a:srgbClr val="1C2321"/>
                </a:solidFill>
              </a:rPr>
              <a:t>Informal demonstrations, not a measured accuracy study</a:t>
            </a:r>
            <a:endParaRPr lang="en-US" sz="1600" dirty="0"/>
          </a:p>
        </p:txBody>
      </p:sp>
      <p:pic>
        <p:nvPicPr>
          <p:cNvPr id="4" name="Live test 1" descr="E:\Final SP\Thesis Report and paper\tools\deck\assets/test_2.jpg">    </p:cNvPr>
          <p:cNvPicPr>
            <a:picLocks noChangeAspect="1"/>
          </p:cNvPicPr>
          <p:nvPr/>
        </p:nvPicPr>
        <p:blipFill>
          <a:blip r:embed="rId1"/>
          <a:srcRect l="0" r="0" t="0" b="0"/>
          <a:stretch/>
        </p:blipFill>
        <p:spPr>
          <a:xfrm>
            <a:off x="548640" y="1874520"/>
            <a:ext cx="3602736" cy="1938528"/>
          </a:xfrm>
          <a:prstGeom prst="rect">
            <a:avLst/>
          </a:prstGeom>
        </p:spPr>
      </p:pic>
      <p:pic>
        <p:nvPicPr>
          <p:cNvPr id="5" name="Live test 2" descr="E:\Final SP\Thesis Report and paper\tools\deck\assets/test_4.jpg">    </p:cNvPr>
          <p:cNvPicPr>
            <a:picLocks noChangeAspect="1"/>
          </p:cNvPicPr>
          <p:nvPr/>
        </p:nvPicPr>
        <p:blipFill>
          <a:blip r:embed="rId2"/>
          <a:srcRect l="0" r="0" t="0" b="0"/>
          <a:stretch/>
        </p:blipFill>
        <p:spPr>
          <a:xfrm>
            <a:off x="4279392" y="1874520"/>
            <a:ext cx="3602736" cy="1938528"/>
          </a:xfrm>
          <a:prstGeom prst="rect">
            <a:avLst/>
          </a:prstGeom>
        </p:spPr>
      </p:pic>
      <p:pic>
        <p:nvPicPr>
          <p:cNvPr id="6" name="Live test 3" descr="E:\Final SP\Thesis Report and paper\tools\deck\assets/test_7.jpg">    </p:cNvPr>
          <p:cNvPicPr>
            <a:picLocks noChangeAspect="1"/>
          </p:cNvPicPr>
          <p:nvPr/>
        </p:nvPicPr>
        <p:blipFill>
          <a:blip r:embed="rId3"/>
          <a:srcRect l="0" r="0" t="0" b="0"/>
          <a:stretch/>
        </p:blipFill>
        <p:spPr>
          <a:xfrm>
            <a:off x="8010144" y="1874520"/>
            <a:ext cx="3602736" cy="1938528"/>
          </a:xfrm>
          <a:prstGeom prst="rect">
            <a:avLst/>
          </a:prstGeom>
        </p:spPr>
      </p:pic>
      <p:pic>
        <p:nvPicPr>
          <p:cNvPr id="7" name="Live test 4" descr="E:\Final SP\Thesis Report and paper\tools\deck\assets/test_14.jpg">    </p:cNvPr>
          <p:cNvPicPr>
            <a:picLocks noChangeAspect="1"/>
          </p:cNvPicPr>
          <p:nvPr/>
        </p:nvPicPr>
        <p:blipFill>
          <a:blip r:embed="rId4"/>
          <a:srcRect l="0" r="0" t="0" b="0"/>
          <a:stretch/>
        </p:blipFill>
        <p:spPr>
          <a:xfrm>
            <a:off x="548640" y="3931920"/>
            <a:ext cx="3602736" cy="1938528"/>
          </a:xfrm>
          <a:prstGeom prst="rect">
            <a:avLst/>
          </a:prstGeom>
        </p:spPr>
      </p:pic>
      <p:pic>
        <p:nvPicPr>
          <p:cNvPr id="8" name="Live test 5" descr="E:\Final SP\Thesis Report and paper\tools\deck\assets/test_16.jpg">    </p:cNvPr>
          <p:cNvPicPr>
            <a:picLocks noChangeAspect="1"/>
          </p:cNvPicPr>
          <p:nvPr/>
        </p:nvPicPr>
        <p:blipFill>
          <a:blip r:embed="rId5"/>
          <a:srcRect l="0" r="0" t="0" b="0"/>
          <a:stretch/>
        </p:blipFill>
        <p:spPr>
          <a:xfrm>
            <a:off x="4279392" y="3931920"/>
            <a:ext cx="3602736" cy="1938528"/>
          </a:xfrm>
          <a:prstGeom prst="rect">
            <a:avLst/>
          </a:prstGeom>
        </p:spPr>
      </p:pic>
      <p:pic>
        <p:nvPicPr>
          <p:cNvPr id="9" name="Live test 6" descr="E:\Final SP\Thesis Report and paper\tools\deck\assets/test_8.jpg">    </p:cNvPr>
          <p:cNvPicPr>
            <a:picLocks noChangeAspect="1"/>
          </p:cNvPicPr>
          <p:nvPr/>
        </p:nvPicPr>
        <p:blipFill>
          <a:blip r:embed="rId6"/>
          <a:srcRect l="0" r="0" t="0" b="0"/>
          <a:stretch/>
        </p:blipFill>
        <p:spPr>
          <a:xfrm>
            <a:off x="8010144" y="3931920"/>
            <a:ext cx="3602736" cy="1938528"/>
          </a:xfrm>
          <a:prstGeom prst="rect">
            <a:avLst/>
          </a:prstGeom>
        </p:spPr>
      </p:pic>
      <p:sp>
        <p:nvSpPr>
          <p:cNvPr id="10" name="Live test note"/>
          <p:cNvSpPr txBox="1"/>
          <p:nvPr/>
        </p:nvSpPr>
        <p:spPr>
          <a:xfrm>
            <a:off x="548640" y="5989320"/>
            <a:ext cx="11064240" cy="365760"/>
          </a:xfrm>
          <a:prstGeom prst="rect">
            <a:avLst/>
          </a:prstGeom>
          <a:noFill/>
          <a:ln/>
        </p:spPr>
        <p:txBody>
          <a:bodyPr wrap="square" lIns="0" tIns="0" rIns="0" bIns="0" rtlCol="0" anchor="t"/>
          <a:lstStyle/>
          <a:p>
            <a:pPr indent="0" marL="0">
              <a:buNone/>
            </a:pPr>
            <a:r>
              <a:rPr lang="en-US" sz="1400" dirty="0">
                <a:solidFill>
                  <a:schemeClr val="tx1"/>
                </a:solidFill>
              </a:rPr>
              <a:t>Six note values (10 to 1,000 Taka) named at 0.63–0.89 confidence, including worn and folded notes. Laptop webcam and the first glass prototype.</a:t>
            </a:r>
            <a:endParaRPr lang="en-US" sz="14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Counterfeit check: one view is enough with prefix training</a:t>
            </a:r>
            <a:endParaRPr lang="en-US" sz="3000" dirty="0"/>
          </a:p>
        </p:txBody>
      </p:sp>
      <p:graphicFrame>
        <p:nvGraphicFramePr>
          <p:cNvPr id="3" name="Prefix chart" descr=""/>
          <p:cNvGraphicFramePr/>
          <p:nvPr/>
        </p:nvGraphicFramePr>
        <p:xfrm>
          <a:off x="548640" y="132588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4" name="Takeaway card"/>
          <p:cNvSpPr/>
          <p:nvPr/>
        </p:nvSpPr>
        <p:spPr>
          <a:xfrm>
            <a:off x="7863840" y="1325880"/>
            <a:ext cx="3749040" cy="4526280"/>
          </a:xfrm>
          <a:prstGeom prst="roundRect">
            <a:avLst>
              <a:gd name="adj" fmla="val 2927"/>
            </a:avLst>
          </a:prstGeom>
          <a:solidFill>
            <a:schemeClr val="tx2"/>
          </a:solidFill>
          <a:ln w="12700">
            <a:solidFill>
              <a:schemeClr val="tx2"/>
            </a:solidFill>
            <a:prstDash val="solid"/>
          </a:ln>
        </p:spPr>
      </p:sp>
      <p:sp>
        <p:nvSpPr>
          <p:cNvPr id="5" name="One view label"/>
          <p:cNvSpPr txBox="1"/>
          <p:nvPr/>
        </p:nvSpPr>
        <p:spPr>
          <a:xfrm>
            <a:off x="8138160" y="1600200"/>
            <a:ext cx="3200400" cy="411480"/>
          </a:xfrm>
          <a:prstGeom prst="rect">
            <a:avLst/>
          </a:prstGeom>
          <a:noFill/>
          <a:ln/>
        </p:spPr>
        <p:txBody>
          <a:bodyPr wrap="square" lIns="0" tIns="0" rIns="0" bIns="0" rtlCol="0" anchor="ctr"/>
          <a:lstStyle/>
          <a:p>
            <a:pPr indent="0" marL="0">
              <a:buNone/>
            </a:pPr>
            <a:r>
              <a:rPr lang="en-US" sz="1800" dirty="0">
                <a:solidFill>
                  <a:srgbClr val="CFE2DA"/>
                </a:solidFill>
              </a:rPr>
              <a:t>With a single view</a:t>
            </a:r>
            <a:endParaRPr lang="en-US" sz="1800" dirty="0"/>
          </a:p>
        </p:txBody>
      </p:sp>
      <p:sp>
        <p:nvSpPr>
          <p:cNvPr id="6" name="Before value"/>
          <p:cNvSpPr txBox="1"/>
          <p:nvPr/>
        </p:nvSpPr>
        <p:spPr>
          <a:xfrm>
            <a:off x="8138160" y="2057400"/>
            <a:ext cx="3200400" cy="640080"/>
          </a:xfrm>
          <a:prstGeom prst="rect">
            <a:avLst/>
          </a:prstGeom>
          <a:noFill/>
          <a:ln/>
        </p:spPr>
        <p:txBody>
          <a:bodyPr wrap="square" lIns="0" tIns="0" rIns="0" bIns="0" rtlCol="0" anchor="ctr"/>
          <a:lstStyle/>
          <a:p>
            <a:pPr indent="0" marL="0">
              <a:buNone/>
            </a:pPr>
            <a:r>
              <a:rPr lang="en-US" sz="3600" b="1" dirty="0">
                <a:solidFill>
                  <a:srgbClr val="B9C4BF"/>
                </a:solidFill>
                <a:latin typeface="Cambria" pitchFamily="34" charset="0"/>
                <a:ea typeface="Cambria" pitchFamily="34" charset="-122"/>
                <a:cs typeface="Cambria" pitchFamily="34" charset="-120"/>
              </a:rPr>
              <a:t>71.2%</a:t>
            </a:r>
            <a:endParaRPr lang="en-US" sz="3600" dirty="0"/>
          </a:p>
        </p:txBody>
      </p:sp>
      <p:sp>
        <p:nvSpPr>
          <p:cNvPr id="7" name="Rises to"/>
          <p:cNvSpPr txBox="1"/>
          <p:nvPr/>
        </p:nvSpPr>
        <p:spPr>
          <a:xfrm>
            <a:off x="8138160" y="2697480"/>
            <a:ext cx="3200400" cy="411480"/>
          </a:xfrm>
          <a:prstGeom prst="rect">
            <a:avLst/>
          </a:prstGeom>
          <a:noFill/>
          <a:ln/>
        </p:spPr>
        <p:txBody>
          <a:bodyPr wrap="square" lIns="0" tIns="0" rIns="0" bIns="0" rtlCol="0" anchor="ctr"/>
          <a:lstStyle/>
          <a:p>
            <a:pPr indent="0" marL="0">
              <a:buNone/>
            </a:pPr>
            <a:r>
              <a:rPr lang="en-US" sz="1800" i="1" dirty="0">
                <a:solidFill>
                  <a:srgbClr val="CFE2DA"/>
                </a:solidFill>
              </a:rPr>
              <a:t>rises to</a:t>
            </a:r>
            <a:endParaRPr lang="en-US" sz="1800" dirty="0"/>
          </a:p>
        </p:txBody>
      </p:sp>
      <p:sp>
        <p:nvSpPr>
          <p:cNvPr id="8" name="After value"/>
          <p:cNvSpPr txBox="1"/>
          <p:nvPr/>
        </p:nvSpPr>
        <p:spPr>
          <a:xfrm>
            <a:off x="8138160" y="3108960"/>
            <a:ext cx="3200400" cy="8686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98.2%</a:t>
            </a:r>
            <a:endParaRPr lang="en-US" sz="5400" dirty="0"/>
          </a:p>
        </p:txBody>
      </p:sp>
      <p:sp>
        <p:nvSpPr>
          <p:cNvPr id="9" name="Split note"/>
          <p:cNvSpPr txBox="1"/>
          <p:nvPr/>
        </p:nvSpPr>
        <p:spPr>
          <a:xfrm>
            <a:off x="8138160" y="5074920"/>
            <a:ext cx="3200400" cy="640080"/>
          </a:xfrm>
          <a:prstGeom prst="rect">
            <a:avLst/>
          </a:prstGeom>
          <a:noFill/>
          <a:ln/>
        </p:spPr>
        <p:txBody>
          <a:bodyPr wrap="square" lIns="0" tIns="0" rIns="0" bIns="0" rtlCol="0" anchor="t"/>
          <a:lstStyle/>
          <a:p>
            <a:pPr indent="0" marL="0">
              <a:buNone/>
            </a:pPr>
            <a:r>
              <a:rPr lang="en-US" sz="1200" i="1" dirty="0">
                <a:solidFill>
                  <a:srgbClr val="CFE2DA"/>
                </a:solidFill>
              </a:rPr>
              <a:t>Held-out JaalTaka test notes, never used for training or for any choice</a:t>
            </a:r>
            <a:endParaRPr lang="en-US" sz="1200" dirty="0"/>
          </a:p>
        </p:txBody>
      </p:sp>
      <p:sp>
        <p:nvSpPr>
          <p:cNvPr id="10" name="Prefix takeaway"/>
          <p:cNvSpPr txBox="1"/>
          <p:nvPr/>
        </p:nvSpPr>
        <p:spPr>
          <a:xfrm>
            <a:off x="8138160" y="4114800"/>
            <a:ext cx="3200400" cy="914400"/>
          </a:xfrm>
          <a:prstGeom prst="rect">
            <a:avLst/>
          </a:prstGeom>
          <a:noFill/>
          <a:ln/>
        </p:spPr>
        <p:txBody>
          <a:bodyPr wrap="square" lIns="0" tIns="0" rIns="0" bIns="0" rtlCol="0" anchor="t"/>
          <a:lstStyle/>
          <a:p>
            <a:pPr indent="0" marL="0">
              <a:buNone/>
            </a:pPr>
            <a:r>
              <a:rPr lang="en-US" sz="1800" dirty="0">
                <a:solidFill>
                  <a:srgbClr val="E4EFEA"/>
                </a:solidFill>
              </a:rPr>
              <a:t>Training on random first views: one view is enough.</a:t>
            </a:r>
            <a:endParaRPr lang="en-US" sz="1800" dirty="0"/>
          </a:p>
        </p:txBody>
      </p:sp>
      <p:sp>
        <p:nvSpPr>
          <p:cNvPr id="11"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Data: [14, 15] Piyas et al., JaalTaka dataset and article, 2025-2026 (1,390 notes, six views each; counterfeits seized by the Rapid Action Battalion).</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Unseen counterfeit prints: a stricter test</a:t>
            </a:r>
            <a:endParaRPr lang="en-US" sz="3000" dirty="0"/>
          </a:p>
        </p:txBody>
      </p:sp>
      <p:graphicFrame>
        <p:nvGraphicFramePr>
          <p:cNvPr id="3" name="Unseen prints chart" descr=""/>
          <p:cNvGraphicFramePr/>
          <p:nvPr/>
        </p:nvGraphicFramePr>
        <p:xfrm>
          <a:off x="548640" y="132588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4" name="Main result"/>
          <p:cNvSpPr/>
          <p:nvPr/>
        </p:nvSpPr>
        <p:spPr>
          <a:xfrm>
            <a:off x="7863840" y="1325880"/>
            <a:ext cx="3749040" cy="2331720"/>
          </a:xfrm>
          <a:prstGeom prst="roundRect">
            <a:avLst>
              <a:gd name="adj" fmla="val 4706"/>
            </a:avLst>
          </a:prstGeom>
          <a:solidFill>
            <a:schemeClr val="tx2"/>
          </a:solidFill>
          <a:ln w="12700">
            <a:solidFill>
              <a:schemeClr val="tx2"/>
            </a:solidFill>
            <a:prstDash val="solid"/>
          </a:ln>
        </p:spPr>
      </p:sp>
      <p:sp>
        <p:nvSpPr>
          <p:cNvPr id="5" name="Unseen value"/>
          <p:cNvSpPr txBox="1"/>
          <p:nvPr/>
        </p:nvSpPr>
        <p:spPr>
          <a:xfrm>
            <a:off x="8138160" y="1508760"/>
            <a:ext cx="32004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95.0%</a:t>
            </a:r>
            <a:endParaRPr lang="en-US" sz="5400" dirty="0"/>
          </a:p>
        </p:txBody>
      </p:sp>
      <p:sp>
        <p:nvSpPr>
          <p:cNvPr id="6" name="Unseen label"/>
          <p:cNvSpPr txBox="1"/>
          <p:nvPr/>
        </p:nvSpPr>
        <p:spPr>
          <a:xfrm>
            <a:off x="8138160" y="2468880"/>
            <a:ext cx="3200400" cy="1005840"/>
          </a:xfrm>
          <a:prstGeom prst="rect">
            <a:avLst/>
          </a:prstGeom>
          <a:noFill/>
          <a:ln/>
        </p:spPr>
        <p:txBody>
          <a:bodyPr wrap="square" lIns="0" tIns="0" rIns="0" bIns="0" rtlCol="0" anchor="t"/>
          <a:lstStyle/>
          <a:p>
            <a:pPr indent="0" marL="0">
              <a:buNone/>
            </a:pPr>
            <a:r>
              <a:rPr lang="en-US" sz="1600" dirty="0">
                <a:solidFill>
                  <a:srgbClr val="E4EFEA"/>
                </a:solidFill>
              </a:rPr>
              <a:t>on counterfeit prints never seen in training, with the watermark check</a:t>
            </a:r>
            <a:endParaRPr lang="en-US" sz="1600" dirty="0"/>
          </a:p>
        </p:txBody>
      </p:sp>
      <p:sp>
        <p:nvSpPr>
          <p:cNvPr id="7" name="Unseen text"/>
          <p:cNvSpPr txBox="1"/>
          <p:nvPr/>
        </p:nvSpPr>
        <p:spPr>
          <a:xfrm>
            <a:off x="7863840" y="3886200"/>
            <a:ext cx="3749040" cy="1920240"/>
          </a:xfrm>
          <a:prstGeom prst="rect">
            <a:avLst/>
          </a:prstGeom>
          <a:noFill/>
          <a:ln/>
        </p:spPr>
        <p:txBody>
          <a:bodyPr wrap="square" lIns="0" tIns="0" rIns="0" bIns="0" rtlCol="0" anchor="t"/>
          <a:lstStyle/>
          <a:p>
            <a:pPr indent="0" marL="0">
              <a:buNone/>
            </a:pPr>
            <a:r>
              <a:rPr lang="en-US" sz="1500" b="1" dirty="0">
                <a:solidFill>
                  <a:schemeClr val="tx1"/>
                </a:solidFill>
              </a:rPr>
              <a:t>Why a stricter split: </a:t>
            </a:r>
            <a:pPr indent="0" marL="0">
              <a:buNone/>
            </a:pPr>
            <a:r>
              <a:rPr lang="en-US" sz="1500" dirty="0">
                <a:solidFill>
                  <a:schemeClr val="tx1"/>
                </a:solidFill>
              </a:rPr>
              <a:t>279 of 322 readable 500 Taka counterfeits share one serial number, so the usual split tests copies of known prints.</a:t>
            </a:r>
            <a:endParaRPr lang="en-US" sz="1500" dirty="0"/>
          </a:p>
        </p:txBody>
      </p:sp>
      <p:sp>
        <p:nvSpPr>
          <p:cNvPr id="8"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Data: [14] JaalTaka; serial-number audit and print-disjoint split are ours. Earlier Taka counterfeit work: [16] SVM on security features; [17] CNNs; [19] UV flecks + RPN.</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14</a:t>
            </a:fld>
            <a:endParaRPr lang="en-US"/>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DMWR: a tiny, physics-based watermark checker</a:t>
            </a:r>
            <a:endParaRPr lang="en-US" sz="3000" dirty="0"/>
          </a:p>
        </p:txBody>
      </p:sp>
      <p:pic>
        <p:nvPicPr>
          <p:cNvPr id="3" name="DMWR steps" descr="E:/Final SP/Thesis Report and paper/thesis report/My report/DIagram fig tab/fig_dmwr_steps.png">    </p:cNvPr>
          <p:cNvPicPr>
            <a:picLocks noChangeAspect="1"/>
          </p:cNvPicPr>
          <p:nvPr/>
        </p:nvPicPr>
        <p:blipFill>
          <a:blip r:embed="rId1"/>
          <a:stretch>
            <a:fillRect/>
          </a:stretch>
        </p:blipFill>
        <p:spPr>
          <a:xfrm>
            <a:off x="548640" y="1325880"/>
            <a:ext cx="6949440" cy="3706368"/>
          </a:xfrm>
          <a:prstGeom prst="rect">
            <a:avLst/>
          </a:prstGeom>
        </p:spPr>
      </p:pic>
      <p:sp>
        <p:nvSpPr>
          <p:cNvPr id="4" name="DMWR steps text"/>
          <p:cNvSpPr txBox="1"/>
          <p:nvPr/>
        </p:nvSpPr>
        <p:spPr>
          <a:xfrm>
            <a:off x="548640" y="5120640"/>
            <a:ext cx="6949440" cy="868680"/>
          </a:xfrm>
          <a:prstGeom prst="rect">
            <a:avLst/>
          </a:prstGeom>
          <a:noFill/>
          <a:ln/>
        </p:spPr>
        <p:txBody>
          <a:bodyPr wrap="square" lIns="0" tIns="0" rIns="0" bIns="0" rtlCol="0" anchor="t"/>
          <a:lstStyle/>
          <a:p>
            <a:pPr indent="0" marL="0">
              <a:buNone/>
            </a:pPr>
            <a:r>
              <a:rPr lang="en-US" sz="1400" dirty="0">
                <a:solidFill>
                  <a:schemeClr val="tx1"/>
                </a:solidFill>
              </a:rPr>
              <a:t>1. Remove the lamp:  Q = I / (G∗I)</a:t>
            </a:r>
            <a:endParaRPr lang="en-US" sz="1400" dirty="0"/>
          </a:p>
          <a:p>
            <a:pPr indent="0" marL="0">
              <a:buNone/>
            </a:pPr>
            <a:r>
              <a:rPr lang="en-US" sz="1400" dirty="0">
                <a:solidFill>
                  <a:schemeClr val="tx1"/>
                </a:solidFill>
              </a:rPr>
              <a:t>2. Genuine portrait:  T = median of Q over genuine notes</a:t>
            </a:r>
            <a:endParaRPr lang="en-US" sz="1400" dirty="0"/>
          </a:p>
          <a:p>
            <a:pPr indent="0" marL="0">
              <a:buNone/>
            </a:pPr>
            <a:r>
              <a:rPr lang="en-US" sz="1400" dirty="0">
                <a:solidFill>
                  <a:schemeClr val="tx1"/>
                </a:solidFill>
              </a:rPr>
              <a:t>3. Residual R = Q − T → two small CNN streams → "watermark clear?"</a:t>
            </a:r>
            <a:endParaRPr lang="en-US" sz="1400" dirty="0"/>
          </a:p>
        </p:txBody>
      </p:sp>
      <p:sp>
        <p:nvSpPr>
          <p:cNvPr id="5" name="DMWR stats"/>
          <p:cNvSpPr/>
          <p:nvPr/>
        </p:nvSpPr>
        <p:spPr>
          <a:xfrm>
            <a:off x="7863840" y="1325880"/>
            <a:ext cx="3749040" cy="4572000"/>
          </a:xfrm>
          <a:prstGeom prst="roundRect">
            <a:avLst>
              <a:gd name="adj" fmla="val 2927"/>
            </a:avLst>
          </a:prstGeom>
          <a:solidFill>
            <a:schemeClr val="bg2"/>
          </a:solidFill>
          <a:ln w="12700">
            <a:solidFill>
              <a:schemeClr val="bg2"/>
            </a:solidFill>
            <a:prstDash val="solid"/>
          </a:ln>
        </p:spPr>
      </p:sp>
      <p:sp>
        <p:nvSpPr>
          <p:cNvPr id="6" name="DMWR value"/>
          <p:cNvSpPr txBox="1"/>
          <p:nvPr/>
        </p:nvSpPr>
        <p:spPr>
          <a:xfrm>
            <a:off x="8138160" y="1554480"/>
            <a:ext cx="3291840" cy="91440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91.5%</a:t>
            </a:r>
            <a:endParaRPr lang="en-US" sz="5400" dirty="0"/>
          </a:p>
        </p:txBody>
      </p:sp>
      <p:sp>
        <p:nvSpPr>
          <p:cNvPr id="7" name="DMWR value label"/>
          <p:cNvSpPr txBox="1"/>
          <p:nvPr/>
        </p:nvSpPr>
        <p:spPr>
          <a:xfrm>
            <a:off x="8138160" y="2468880"/>
            <a:ext cx="3291840" cy="640080"/>
          </a:xfrm>
          <a:prstGeom prst="rect">
            <a:avLst/>
          </a:prstGeom>
          <a:noFill/>
          <a:ln/>
        </p:spPr>
        <p:txBody>
          <a:bodyPr wrap="square" lIns="0" tIns="0" rIns="0" bIns="0" rtlCol="0" anchor="t"/>
          <a:lstStyle/>
          <a:p>
            <a:pPr indent="0" marL="0">
              <a:buNone/>
            </a:pPr>
            <a:r>
              <a:rPr lang="en-US" sz="1600" dirty="0">
                <a:solidFill>
                  <a:schemeClr val="tx1"/>
                </a:solidFill>
              </a:rPr>
              <a:t>on unseen counterfeit prints (3 seeds, ±0.3)</a:t>
            </a:r>
            <a:endParaRPr lang="en-US" sz="1600" dirty="0"/>
          </a:p>
        </p:txBody>
      </p:sp>
      <p:sp>
        <p:nvSpPr>
          <p:cNvPr id="8" name="DMWR size value"/>
          <p:cNvSpPr txBox="1"/>
          <p:nvPr/>
        </p:nvSpPr>
        <p:spPr>
          <a:xfrm>
            <a:off x="8138160" y="3337560"/>
            <a:ext cx="32918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46× smaller</a:t>
            </a:r>
            <a:endParaRPr lang="en-US" sz="3600" dirty="0"/>
          </a:p>
        </p:txBody>
      </p:sp>
      <p:sp>
        <p:nvSpPr>
          <p:cNvPr id="9" name="DMWR size label"/>
          <p:cNvSpPr txBox="1"/>
          <p:nvPr/>
        </p:nvSpPr>
        <p:spPr>
          <a:xfrm>
            <a:off x="8138160" y="4023360"/>
            <a:ext cx="3291840" cy="685800"/>
          </a:xfrm>
          <a:prstGeom prst="rect">
            <a:avLst/>
          </a:prstGeom>
          <a:noFill/>
          <a:ln/>
        </p:spPr>
        <p:txBody>
          <a:bodyPr wrap="square" lIns="0" tIns="0" rIns="0" bIns="0" rtlCol="0" anchor="t"/>
          <a:lstStyle/>
          <a:p>
            <a:pPr indent="0" marL="0">
              <a:buNone/>
            </a:pPr>
            <a:r>
              <a:rPr lang="en-US" sz="1500" dirty="0">
                <a:solidFill>
                  <a:schemeClr val="tx1"/>
                </a:solidFill>
              </a:rPr>
              <a:t>than MobileNetV2 [18] (47,818 parameters, 0.21 MB), and as accurate: 92.9%, p ≥ 0.375</a:t>
            </a:r>
            <a:endParaRPr lang="en-US" sz="1500" dirty="0"/>
          </a:p>
        </p:txBody>
      </p:sp>
      <p:sp>
        <p:nvSpPr>
          <p:cNvPr id="10"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Baseline [18] Sandler et al., MobileNetV2, CVPR 2018; data [14] JaalTaka. DMWR (denomination-matched watermark residual) is our method.</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15</a:t>
            </a:fld>
            <a:endParaRPr lang="en-US"/>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Safe before decisive: the glass never says "counterfeit"</a:t>
            </a:r>
            <a:endParaRPr lang="en-US" sz="3000" dirty="0"/>
          </a:p>
        </p:txBody>
      </p:sp>
      <p:sp>
        <p:nvSpPr>
          <p:cNvPr id="3" name="Note circle"/>
          <p:cNvSpPr/>
          <p:nvPr/>
        </p:nvSpPr>
        <p:spPr>
          <a:xfrm>
            <a:off x="731520" y="2240280"/>
            <a:ext cx="1097280" cy="1097280"/>
          </a:xfrm>
          <a:prstGeom prst="ellipse">
            <a:avLst/>
          </a:prstGeom>
          <a:solidFill>
            <a:srgbClr val="0B4D3B"/>
          </a:solidFill>
          <a:ln w="12700">
            <a:solidFill>
              <a:srgbClr val="0B4D3B"/>
            </a:solidFill>
            <a:prstDash val="solid"/>
          </a:ln>
        </p:spPr>
      </p:sp>
      <p:pic>
        <p:nvPicPr>
          <p:cNvPr id="4" name="Note icon" descr="preencoded.png">    </p:cNvPr>
          <p:cNvPicPr>
            <a:picLocks noChangeAspect="1"/>
          </p:cNvPicPr>
          <p:nvPr/>
        </p:nvPicPr>
        <p:blipFill>
          <a:blip r:embed="rId1"/>
          <a:stretch>
            <a:fillRect/>
          </a:stretch>
        </p:blipFill>
        <p:spPr>
          <a:xfrm>
            <a:off x="994867" y="2503627"/>
            <a:ext cx="570586" cy="570586"/>
          </a:xfrm>
          <a:prstGeom prst="rect">
            <a:avLst/>
          </a:prstGeom>
        </p:spPr>
      </p:pic>
      <p:sp>
        <p:nvSpPr>
          <p:cNvPr id="5" name="Note label"/>
          <p:cNvSpPr txBox="1"/>
          <p:nvPr/>
        </p:nvSpPr>
        <p:spPr>
          <a:xfrm>
            <a:off x="411480" y="3429000"/>
            <a:ext cx="1737360" cy="365760"/>
          </a:xfrm>
          <a:prstGeom prst="rect">
            <a:avLst/>
          </a:prstGeom>
          <a:noFill/>
          <a:ln/>
        </p:spPr>
        <p:txBody>
          <a:bodyPr wrap="square" lIns="0" tIns="0" rIns="0" bIns="0" rtlCol="0" anchor="ctr"/>
          <a:lstStyle/>
          <a:p>
            <a:pPr algn="ctr" indent="0" marL="0">
              <a:buNone/>
            </a:pPr>
            <a:r>
              <a:rPr lang="en-US" sz="1400" dirty="0">
                <a:solidFill>
                  <a:schemeClr val="tx1"/>
                </a:solidFill>
              </a:rPr>
              <a:t>Note captured</a:t>
            </a:r>
            <a:endParaRPr lang="en-US" sz="1400" dirty="0"/>
          </a:p>
        </p:txBody>
      </p:sp>
      <p:sp>
        <p:nvSpPr>
          <p:cNvPr id="6" name="Decision"/>
          <p:cNvSpPr txBox="1"/>
          <p:nvPr/>
        </p:nvSpPr>
        <p:spPr>
          <a:xfrm>
            <a:off x="2651760" y="1783080"/>
            <a:ext cx="2560320" cy="2011680"/>
          </a:xfrm>
          <a:prstGeom prst="diamond">
            <a:avLst/>
          </a:prstGeom>
          <a:solidFill>
            <a:srgbClr val="EEF5F1"/>
          </a:solidFill>
          <a:ln w="19050">
            <a:solidFill>
              <a:srgbClr val="006A4E"/>
            </a:solidFill>
          </a:ln>
        </p:spPr>
        <p:txBody>
          <a:bodyPr wrap="square" lIns="2540" tIns="2540" rIns="2540" bIns="2540" rtlCol="0" anchor="ctr"/>
          <a:lstStyle/>
          <a:p>
            <a:pPr algn="ctr" indent="0" marL="0">
              <a:buNone/>
            </a:pPr>
            <a:r>
              <a:rPr lang="en-US" sz="1500" b="1" dirty="0">
                <a:solidFill>
                  <a:srgbClr val="0B4D3B"/>
                </a:solidFill>
              </a:rPr>
              <a:t>Score above the safe threshold?</a:t>
            </a:r>
            <a:endParaRPr lang="en-US" sz="1500" dirty="0"/>
          </a:p>
        </p:txBody>
      </p:sp>
      <p:sp>
        <p:nvSpPr>
          <p:cNvPr id="7" name="Arrow in"/>
          <p:cNvSpPr/>
          <p:nvPr/>
        </p:nvSpPr>
        <p:spPr>
          <a:xfrm>
            <a:off x="1828800" y="2788920"/>
            <a:ext cx="822960" cy="0"/>
          </a:xfrm>
          <a:prstGeom prst="line">
            <a:avLst/>
          </a:prstGeom>
          <a:noFill/>
          <a:ln w="15875">
            <a:solidFill>
              <a:srgbClr val="9DB8AD"/>
            </a:solidFill>
            <a:prstDash val="solid"/>
            <a:tailEnd type="triangle"/>
          </a:ln>
        </p:spPr>
      </p:sp>
      <p:sp>
        <p:nvSpPr>
          <p:cNvPr id="8" name="Genuine box"/>
          <p:cNvSpPr txBox="1"/>
          <p:nvPr/>
        </p:nvSpPr>
        <p:spPr>
          <a:xfrm>
            <a:off x="6035040" y="1463040"/>
            <a:ext cx="2743200" cy="822960"/>
          </a:xfrm>
          <a:prstGeom prst="roundRect">
            <a:avLst>
              <a:gd name="adj" fmla="val 11111"/>
            </a:avLst>
          </a:prstGeom>
          <a:solidFill>
            <a:srgbClr val="006A4E"/>
          </a:solidFill>
          <a:ln>
            <a:solidFill>
              <a:srgbClr val="006A4E"/>
            </a:solidFill>
          </a:ln>
        </p:spPr>
        <p:txBody>
          <a:bodyPr wrap="square" rtlCol="0" anchor="ctr"/>
          <a:lstStyle/>
          <a:p>
            <a:pPr algn="ctr" indent="0" marL="0">
              <a:buNone/>
            </a:pPr>
            <a:r>
              <a:rPr lang="en-US" sz="1800" b="1" dirty="0">
                <a:solidFill>
                  <a:srgbClr val="FFFFFF"/>
                </a:solidFill>
              </a:rPr>
              <a:t>"Likely genuine"</a:t>
            </a:r>
            <a:endParaRPr lang="en-US" sz="1800" dirty="0"/>
          </a:p>
        </p:txBody>
      </p:sp>
      <p:sp>
        <p:nvSpPr>
          <p:cNvPr id="9" name="Check box"/>
          <p:cNvSpPr txBox="1"/>
          <p:nvPr/>
        </p:nvSpPr>
        <p:spPr>
          <a:xfrm>
            <a:off x="6035040" y="3291840"/>
            <a:ext cx="2743200" cy="914400"/>
          </a:xfrm>
          <a:prstGeom prst="roundRect">
            <a:avLst>
              <a:gd name="adj" fmla="val 10000"/>
            </a:avLst>
          </a:prstGeom>
          <a:solidFill>
            <a:srgbClr val="E6A817"/>
          </a:solidFill>
          <a:ln>
            <a:solidFill>
              <a:srgbClr val="E6A817"/>
            </a:solidFill>
          </a:ln>
        </p:spPr>
        <p:txBody>
          <a:bodyPr wrap="square" rtlCol="0" anchor="ctr"/>
          <a:lstStyle/>
          <a:p>
            <a:pPr algn="ctr" indent="0" marL="0">
              <a:buNone/>
            </a:pPr>
            <a:r>
              <a:rPr lang="en-US" sz="1600" b="1" dirty="0">
                <a:solidFill>
                  <a:srgbClr val="1C2321"/>
                </a:solidFill>
              </a:rPr>
              <a:t>"Check by hand" + guided watermark check</a:t>
            </a:r>
            <a:endParaRPr lang="en-US" sz="1600" dirty="0"/>
          </a:p>
        </p:txBody>
      </p:sp>
      <p:sp>
        <p:nvSpPr>
          <p:cNvPr id="10" name="Arrow yes"/>
          <p:cNvSpPr/>
          <p:nvPr/>
        </p:nvSpPr>
        <p:spPr>
          <a:xfrm flipV="1">
            <a:off x="5212080" y="1874520"/>
            <a:ext cx="822960" cy="914400"/>
          </a:xfrm>
          <a:prstGeom prst="line">
            <a:avLst/>
          </a:prstGeom>
          <a:noFill/>
          <a:ln w="15875">
            <a:solidFill>
              <a:srgbClr val="9DB8AD"/>
            </a:solidFill>
            <a:prstDash val="solid"/>
            <a:tailEnd type="triangle"/>
          </a:ln>
        </p:spPr>
      </p:sp>
      <p:sp>
        <p:nvSpPr>
          <p:cNvPr id="11" name="Arrow no"/>
          <p:cNvSpPr/>
          <p:nvPr/>
        </p:nvSpPr>
        <p:spPr>
          <a:xfrm>
            <a:off x="5212080" y="2788920"/>
            <a:ext cx="822960" cy="960120"/>
          </a:xfrm>
          <a:prstGeom prst="line">
            <a:avLst/>
          </a:prstGeom>
          <a:noFill/>
          <a:ln w="15875">
            <a:solidFill>
              <a:srgbClr val="9DB8AD"/>
            </a:solidFill>
            <a:prstDash val="solid"/>
            <a:tailEnd type="triangle"/>
          </a:ln>
        </p:spPr>
      </p:sp>
      <p:sp>
        <p:nvSpPr>
          <p:cNvPr id="12" name="Yes label"/>
          <p:cNvSpPr txBox="1"/>
          <p:nvPr/>
        </p:nvSpPr>
        <p:spPr>
          <a:xfrm>
            <a:off x="5349240" y="1874520"/>
            <a:ext cx="548640" cy="274320"/>
          </a:xfrm>
          <a:prstGeom prst="rect">
            <a:avLst/>
          </a:prstGeom>
          <a:noFill/>
          <a:ln/>
        </p:spPr>
        <p:txBody>
          <a:bodyPr wrap="square" lIns="0" tIns="0" rIns="0" bIns="0" rtlCol="0" anchor="ctr"/>
          <a:lstStyle/>
          <a:p>
            <a:pPr indent="0" marL="0">
              <a:buNone/>
            </a:pPr>
            <a:r>
              <a:rPr lang="en-US" sz="1200" dirty="0">
                <a:solidFill>
                  <a:schemeClr val="accent5"/>
                </a:solidFill>
              </a:rPr>
              <a:t>yes</a:t>
            </a:r>
            <a:endParaRPr lang="en-US" sz="1200" dirty="0"/>
          </a:p>
        </p:txBody>
      </p:sp>
      <p:sp>
        <p:nvSpPr>
          <p:cNvPr id="13" name="No label"/>
          <p:cNvSpPr txBox="1"/>
          <p:nvPr/>
        </p:nvSpPr>
        <p:spPr>
          <a:xfrm>
            <a:off x="5349240" y="3429000"/>
            <a:ext cx="548640" cy="274320"/>
          </a:xfrm>
          <a:prstGeom prst="rect">
            <a:avLst/>
          </a:prstGeom>
          <a:noFill/>
          <a:ln/>
        </p:spPr>
        <p:txBody>
          <a:bodyPr wrap="square" lIns="0" tIns="0" rIns="0" bIns="0" rtlCol="0" anchor="ctr"/>
          <a:lstStyle/>
          <a:p>
            <a:pPr indent="0" marL="0">
              <a:buNone/>
            </a:pPr>
            <a:r>
              <a:rPr lang="en-US" sz="1200" dirty="0">
                <a:solidFill>
                  <a:schemeClr val="accent5"/>
                </a:solidFill>
              </a:rPr>
              <a:t>no</a:t>
            </a:r>
            <a:endParaRPr lang="en-US" sz="1200" dirty="0"/>
          </a:p>
        </p:txBody>
      </p:sp>
      <p:sp>
        <p:nvSpPr>
          <p:cNvPr id="14" name="Safety stat"/>
          <p:cNvSpPr/>
          <p:nvPr/>
        </p:nvSpPr>
        <p:spPr>
          <a:xfrm>
            <a:off x="9144000" y="1325880"/>
            <a:ext cx="2468880" cy="1783080"/>
          </a:xfrm>
          <a:prstGeom prst="roundRect">
            <a:avLst>
              <a:gd name="adj" fmla="val 6154"/>
            </a:avLst>
          </a:prstGeom>
          <a:solidFill>
            <a:schemeClr val="bg2"/>
          </a:solidFill>
          <a:ln w="12700">
            <a:solidFill>
              <a:schemeClr val="bg2"/>
            </a:solidFill>
            <a:prstDash val="solid"/>
          </a:ln>
        </p:spPr>
      </p:sp>
      <p:sp>
        <p:nvSpPr>
          <p:cNvPr id="15" name="Safety value"/>
          <p:cNvSpPr txBox="1"/>
          <p:nvPr/>
        </p:nvSpPr>
        <p:spPr>
          <a:xfrm>
            <a:off x="9372600" y="1554480"/>
            <a:ext cx="210312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 / 88</a:t>
            </a:r>
            <a:endParaRPr lang="en-US" sz="3600" dirty="0"/>
          </a:p>
        </p:txBody>
      </p:sp>
      <p:sp>
        <p:nvSpPr>
          <p:cNvPr id="16" name="Safety label"/>
          <p:cNvSpPr txBox="1"/>
          <p:nvPr/>
        </p:nvSpPr>
        <p:spPr>
          <a:xfrm>
            <a:off x="9372600" y="2240280"/>
            <a:ext cx="2103120" cy="685800"/>
          </a:xfrm>
          <a:prstGeom prst="rect">
            <a:avLst/>
          </a:prstGeom>
          <a:noFill/>
          <a:ln/>
        </p:spPr>
        <p:txBody>
          <a:bodyPr wrap="square" lIns="0" tIns="0" rIns="0" bIns="0" rtlCol="0" anchor="t"/>
          <a:lstStyle/>
          <a:p>
            <a:pPr indent="0" marL="0">
              <a:buNone/>
            </a:pPr>
            <a:r>
              <a:rPr lang="en-US" sz="1500" dirty="0">
                <a:solidFill>
                  <a:schemeClr val="tx1"/>
                </a:solidFill>
              </a:rPr>
              <a:t>test counterfeits passed as "likely genuine"</a:t>
            </a:r>
            <a:endParaRPr lang="en-US" sz="1500" dirty="0"/>
          </a:p>
        </p:txBody>
      </p:sp>
      <p:sp>
        <p:nvSpPr>
          <p:cNvPr id="17" name="Safety text"/>
          <p:cNvSpPr txBox="1"/>
          <p:nvPr/>
        </p:nvSpPr>
        <p:spPr>
          <a:xfrm>
            <a:off x="548640" y="4343400"/>
            <a:ext cx="11064240" cy="914400"/>
          </a:xfrm>
          <a:prstGeom prst="rect">
            <a:avLst/>
          </a:prstGeom>
          <a:noFill/>
          <a:ln/>
        </p:spPr>
        <p:txBody>
          <a:bodyPr wrap="square" lIns="0" tIns="0" rIns="0" bIns="0" rtlCol="0" anchor="t"/>
          <a:lstStyle/>
          <a:p>
            <a:pPr indent="0" marL="0">
              <a:spcAft>
                <a:spcPts val="600"/>
              </a:spcAft>
              <a:buNone/>
            </a:pPr>
            <a:r>
              <a:rPr lang="en-US" sz="1800" b="1" dirty="0">
                <a:solidFill>
                  <a:srgbClr val="006A4E"/>
                </a:solidFill>
              </a:rPr>
              <a:t>"Likely genuine": </a:t>
            </a:r>
            <a:pPr indent="0" marL="0">
              <a:spcAft>
                <a:spcPts val="600"/>
              </a:spcAft>
              <a:buNone/>
            </a:pPr>
            <a:r>
              <a:rPr lang="en-US" sz="1800" dirty="0">
                <a:solidFill>
                  <a:schemeClr val="tx1"/>
                </a:solidFill>
              </a:rPr>
              <a:t>the score is higher than every counterfeit seen in validation (57.5% of genuine notes).</a:t>
            </a:r>
            <a:endParaRPr lang="en-US" sz="1800" dirty="0"/>
          </a:p>
          <a:p>
            <a:pPr indent="0" marL="0">
              <a:spcAft>
                <a:spcPts val="600"/>
              </a:spcAft>
              <a:buNone/>
            </a:pPr>
            <a:r>
              <a:rPr lang="en-US" sz="1800" b="1" dirty="0">
                <a:solidFill>
                  <a:srgbClr val="B07D00"/>
                </a:solidFill>
              </a:rPr>
              <a:t>"Check by hand": </a:t>
            </a:r>
            <a:pPr indent="0" marL="0">
              <a:spcAft>
                <a:spcPts val="600"/>
              </a:spcAft>
              <a:buNone/>
            </a:pPr>
            <a:r>
              <a:rPr lang="en-US" sz="1800" dirty="0">
                <a:solidFill>
                  <a:schemeClr val="tx1"/>
                </a:solidFill>
              </a:rPr>
              <a:t>the glass is not sure. It never means "counterfeit".</a:t>
            </a:r>
            <a:endParaRPr lang="en-US" sz="1800" dirty="0"/>
          </a:p>
        </p:txBody>
      </p:sp>
      <p:sp>
        <p:nvSpPr>
          <p:cNvPr id="18" name="Screening banner"/>
          <p:cNvSpPr txBox="1"/>
          <p:nvPr/>
        </p:nvSpPr>
        <p:spPr>
          <a:xfrm>
            <a:off x="548640" y="5394960"/>
            <a:ext cx="11064240" cy="457200"/>
          </a:xfrm>
          <a:prstGeom prst="roundRect">
            <a:avLst>
              <a:gd name="adj" fmla="val 16000"/>
            </a:avLst>
          </a:prstGeom>
          <a:solidFill>
            <a:srgbClr val="FFF4D6"/>
          </a:solidFill>
          <a:ln>
            <a:solidFill>
              <a:srgbClr val="E6A817"/>
            </a:solidFill>
          </a:ln>
        </p:spPr>
        <p:txBody>
          <a:bodyPr wrap="square" lIns="0" tIns="0" rIns="0" bIns="0" rtlCol="0" anchor="ctr"/>
          <a:lstStyle/>
          <a:p>
            <a:pPr algn="ctr" indent="0" marL="0">
              <a:buNone/>
            </a:pPr>
            <a:r>
              <a:rPr lang="en-US" sz="1600" b="1" dirty="0">
                <a:solidFill>
                  <a:srgbClr val="1C2321"/>
                </a:solidFill>
              </a:rPr>
              <a:t>A screening aid, not a guaranteed counterfeit detector</a:t>
            </a:r>
            <a:endParaRPr lang="en-US" sz="1600" dirty="0"/>
          </a:p>
        </p:txBody>
      </p:sp>
      <p:sp>
        <p:nvSpPr>
          <p:cNvPr id="19"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Test notes: [14] JaalTaka.</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16</a:t>
            </a:fld>
            <a:endParaRPr lang="en-US"/>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UV fibre check: the glass carries its own UV lamp</a:t>
            </a:r>
            <a:endParaRPr lang="en-US" sz="3000" dirty="0"/>
          </a:p>
        </p:txBody>
      </p:sp>
      <p:pic>
        <p:nvPicPr>
          <p:cNvPr id="3" name="UV fibres" descr="E:/Final SP/Thesis Report and paper/thesis report/My report/DIagram fig tab/fig_uv_fibres.jpg">    </p:cNvPr>
          <p:cNvPicPr>
            <a:picLocks noChangeAspect="1"/>
          </p:cNvPicPr>
          <p:nvPr/>
        </p:nvPicPr>
        <p:blipFill>
          <a:blip r:embed="rId1"/>
          <a:stretch>
            <a:fillRect/>
          </a:stretch>
        </p:blipFill>
        <p:spPr>
          <a:xfrm>
            <a:off x="548640" y="1325880"/>
            <a:ext cx="11064240" cy="3168174"/>
          </a:xfrm>
          <a:prstGeom prst="rect">
            <a:avLst/>
          </a:prstGeom>
        </p:spPr>
      </p:pic>
      <p:sp>
        <p:nvSpPr>
          <p:cNvPr id="4" name="UV genuine value"/>
          <p:cNvSpPr txBox="1"/>
          <p:nvPr/>
        </p:nvSpPr>
        <p:spPr>
          <a:xfrm>
            <a:off x="548640" y="4663440"/>
            <a:ext cx="32918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85.6%</a:t>
            </a:r>
            <a:endParaRPr lang="en-US" sz="3600" dirty="0"/>
          </a:p>
        </p:txBody>
      </p:sp>
      <p:sp>
        <p:nvSpPr>
          <p:cNvPr id="5" name="UV genuine label"/>
          <p:cNvSpPr txBox="1"/>
          <p:nvPr/>
        </p:nvSpPr>
        <p:spPr>
          <a:xfrm>
            <a:off x="548640" y="5349240"/>
            <a:ext cx="3291840" cy="685800"/>
          </a:xfrm>
          <a:prstGeom prst="rect">
            <a:avLst/>
          </a:prstGeom>
          <a:noFill/>
          <a:ln/>
        </p:spPr>
        <p:txBody>
          <a:bodyPr wrap="square" lIns="0" tIns="0" rIns="0" bIns="0" rtlCol="0" anchor="t"/>
          <a:lstStyle/>
          <a:p>
            <a:pPr indent="0" marL="0">
              <a:buNone/>
            </a:pPr>
            <a:r>
              <a:rPr lang="en-US" sz="1500" dirty="0">
                <a:solidFill>
                  <a:schemeClr val="tx1"/>
                </a:solidFill>
              </a:rPr>
              <a:t>of 111 real UV photos of genuine notes accepted</a:t>
            </a:r>
            <a:endParaRPr lang="en-US" sz="1500" dirty="0"/>
          </a:p>
        </p:txBody>
      </p:sp>
      <p:sp>
        <p:nvSpPr>
          <p:cNvPr id="6" name="UV sheets value"/>
          <p:cNvSpPr txBox="1"/>
          <p:nvPr/>
        </p:nvSpPr>
        <p:spPr>
          <a:xfrm>
            <a:off x="4206240" y="4663440"/>
            <a:ext cx="3291840" cy="685800"/>
          </a:xfrm>
          <a:prstGeom prst="rect">
            <a:avLst/>
          </a:prstGeom>
          <a:noFill/>
          <a:ln/>
        </p:spPr>
        <p:txBody>
          <a:bodyPr wrap="square" lIns="0" tIns="0" rIns="0" bIns="0" rtlCol="0" anchor="ctr"/>
          <a:lstStyle/>
          <a:p>
            <a:pPr indent="0" marL="0">
              <a:buNone/>
            </a:pPr>
            <a:r>
              <a:rPr lang="en-US" sz="3600" b="1" dirty="0">
                <a:solidFill>
                  <a:schemeClr val="accent5"/>
                </a:solidFill>
                <a:latin typeface="Cambria" pitchFamily="34" charset="0"/>
                <a:ea typeface="Cambria" pitchFamily="34" charset="-122"/>
                <a:cs typeface="Cambria" pitchFamily="34" charset="-120"/>
              </a:rPr>
              <a:t>88.6%</a:t>
            </a:r>
            <a:endParaRPr lang="en-US" sz="3600" dirty="0"/>
          </a:p>
        </p:txBody>
      </p:sp>
      <p:sp>
        <p:nvSpPr>
          <p:cNvPr id="7" name="UV sheets label"/>
          <p:cNvSpPr txBox="1"/>
          <p:nvPr/>
        </p:nvSpPr>
        <p:spPr>
          <a:xfrm>
            <a:off x="4206240" y="5349240"/>
            <a:ext cx="3291840" cy="685800"/>
          </a:xfrm>
          <a:prstGeom prst="rect">
            <a:avLst/>
          </a:prstGeom>
          <a:noFill/>
          <a:ln/>
        </p:spPr>
        <p:txBody>
          <a:bodyPr wrap="square" lIns="0" tIns="0" rIns="0" bIns="0" rtlCol="0" anchor="t"/>
          <a:lstStyle/>
          <a:p>
            <a:pPr indent="0" marL="0">
              <a:buNone/>
            </a:pPr>
            <a:r>
              <a:rPr lang="en-US" sz="1500" dirty="0">
                <a:solidFill>
                  <a:schemeClr val="tx1"/>
                </a:solidFill>
              </a:rPr>
              <a:t>of SIMULATED fibre-free sheets rejected (not real counterfeits)</a:t>
            </a:r>
            <a:endParaRPr lang="en-US" sz="1500" dirty="0"/>
          </a:p>
        </p:txBody>
      </p:sp>
      <p:sp>
        <p:nvSpPr>
          <p:cNvPr id="8"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The glass's lamp emits 360-395 nm, covering the 365 nm used for banknote checks; banknote paper stays dark while its fibres glow [20]. Prior Taka UV work: [19] (96.3%). Fibre check and photos are ours.</a:t>
            </a:r>
            <a:endParaRPr lang="en-US" sz="1000" dirty="0"/>
          </a:p>
        </p:txBody>
      </p:sp>
      <p:sp>
        <p:nvSpPr>
          <p:cNvPr id="9" name="UV caveat"/>
          <p:cNvSpPr txBox="1"/>
          <p:nvPr/>
        </p:nvSpPr>
        <p:spPr>
          <a:xfrm>
            <a:off x="7863840" y="4572000"/>
            <a:ext cx="3749040" cy="1280160"/>
          </a:xfrm>
          <a:prstGeom prst="roundRect">
            <a:avLst>
              <a:gd name="adj" fmla="val 7143"/>
            </a:avLst>
          </a:prstGeom>
          <a:solidFill>
            <a:srgbClr val="FBE9EB"/>
          </a:solidFill>
          <a:ln w="15875">
            <a:solidFill>
              <a:srgbClr val="D7263D"/>
            </a:solidFill>
          </a:ln>
        </p:spPr>
        <p:txBody>
          <a:bodyPr wrap="square" lIns="152400" tIns="152400" rIns="152400" bIns="152400" rtlCol="0" anchor="ctr"/>
          <a:lstStyle/>
          <a:p>
            <a:pPr indent="0" marL="0">
              <a:buNone/>
            </a:pPr>
            <a:r>
              <a:rPr lang="en-US" sz="1800" b="1" dirty="0">
                <a:solidFill>
                  <a:srgbClr val="D7263D"/>
                </a:solidFill>
              </a:rPr>
              <a:t>Prototype, off by default</a:t>
            </a:r>
            <a:endParaRPr lang="en-US" sz="1800" dirty="0"/>
          </a:p>
          <a:p>
            <a:pPr indent="0" marL="0">
              <a:buNone/>
            </a:pPr>
            <a:r>
              <a:rPr lang="en-US" sz="1400" dirty="0">
                <a:solidFill>
                  <a:srgbClr val="D7263D"/>
                </a:solidFill>
              </a:rPr>
              <a:t>The rejection result is simulated; it must be validated on real counterfeit notes</a:t>
            </a:r>
            <a:endParaRPr lang="en-US" sz="18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17</a:t>
            </a:fld>
            <a:endParaRPr lang="en-US"/>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Bangla reading: rendered text and real street photos</a:t>
            </a:r>
            <a:endParaRPr lang="en-US" sz="3000" dirty="0"/>
          </a:p>
        </p:txBody>
      </p:sp>
      <p:sp>
        <p:nvSpPr>
          <p:cNvPr id="3" name="Rendered heading"/>
          <p:cNvSpPr txBox="1"/>
          <p:nvPr/>
        </p:nvSpPr>
        <p:spPr>
          <a:xfrm>
            <a:off x="548640" y="1325880"/>
            <a:ext cx="3108960" cy="41148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Rendered text (clean)</a:t>
            </a:r>
            <a:endParaRPr lang="en-US" sz="1900" dirty="0"/>
          </a:p>
        </p:txBody>
      </p:sp>
      <p:graphicFrame>
        <p:nvGraphicFramePr>
          <p:cNvPr id="4" name="Rendered chart" descr=""/>
          <p:cNvGraphicFramePr/>
          <p:nvPr/>
        </p:nvGraphicFramePr>
        <p:xfrm>
          <a:off x="548640" y="1783080"/>
          <a:ext cx="3108960" cy="4114800"/>
        </p:xfrm>
        <a:graphic xmlns:a="http://schemas.openxmlformats.org/drawingml/2006/main">
          <a:graphicData uri="http://schemas.openxmlformats.org/drawingml/2006/chart">
            <c:chart xmlns:c="http://schemas.openxmlformats.org/drawingml/2006/chart" r:id="rId1"/>
          </a:graphicData>
        </a:graphic>
      </p:graphicFrame>
      <p:sp>
        <p:nvSpPr>
          <p:cNvPr id="5" name="Real heading"/>
          <p:cNvSpPr txBox="1"/>
          <p:nvPr/>
        </p:nvSpPr>
        <p:spPr>
          <a:xfrm>
            <a:off x="3931920" y="1325880"/>
            <a:ext cx="3931920" cy="411480"/>
          </a:xfrm>
          <a:prstGeom prst="rect">
            <a:avLst/>
          </a:prstGeom>
          <a:noFill/>
          <a:ln/>
        </p:spPr>
        <p:txBody>
          <a:bodyPr wrap="square" lIns="0" tIns="0" rIns="0" bIns="0" rtlCol="0" anchor="ctr"/>
          <a:lstStyle/>
          <a:p>
            <a:pPr indent="0" marL="0">
              <a:buNone/>
            </a:pPr>
            <a:r>
              <a:rPr lang="en-US" sz="1900" b="1" dirty="0">
                <a:solidFill>
                  <a:schemeClr val="accent2"/>
                </a:solidFill>
                <a:latin typeface="Cambria" pitchFamily="34" charset="0"/>
                <a:ea typeface="Cambria" pitchFamily="34" charset="-122"/>
                <a:cs typeface="Cambria" pitchFamily="34" charset="-120"/>
              </a:rPr>
              <a:t>Real word photos (hard)</a:t>
            </a:r>
            <a:endParaRPr lang="en-US" sz="1900" dirty="0"/>
          </a:p>
        </p:txBody>
      </p:sp>
      <p:graphicFrame>
        <p:nvGraphicFramePr>
          <p:cNvPr id="6" name="Real chart" descr=""/>
          <p:cNvGraphicFramePr/>
          <p:nvPr/>
        </p:nvGraphicFramePr>
        <p:xfrm>
          <a:off x="3931920" y="1783080"/>
          <a:ext cx="3931920" cy="4114800"/>
        </p:xfrm>
        <a:graphic xmlns:a="http://schemas.openxmlformats.org/drawingml/2006/main">
          <a:graphicData uri="http://schemas.openxmlformats.org/drawingml/2006/chart">
            <c:chart xmlns:c="http://schemas.openxmlformats.org/drawingml/2006/chart" r:id="rId2"/>
          </a:graphicData>
        </a:graphic>
      </p:graphicFrame>
      <p:sp>
        <p:nvSpPr>
          <p:cNvPr id="7" name="Chart note"/>
          <p:cNvSpPr txBox="1"/>
          <p:nvPr/>
        </p:nvSpPr>
        <p:spPr>
          <a:xfrm>
            <a:off x="548640" y="5779008"/>
            <a:ext cx="7315200" cy="274320"/>
          </a:xfrm>
          <a:prstGeom prst="rect">
            <a:avLst/>
          </a:prstGeom>
          <a:noFill/>
          <a:ln/>
        </p:spPr>
        <p:txBody>
          <a:bodyPr wrap="square" lIns="0" tIns="0" rIns="0" bIns="0" rtlCol="0" anchor="ctr"/>
          <a:lstStyle/>
          <a:p>
            <a:pPr indent="0" marL="0">
              <a:buNone/>
            </a:pPr>
            <a:r>
              <a:rPr lang="en-US" sz="1200" b="1" i="1" dirty="0">
                <a:solidFill>
                  <a:schemeClr val="accent5"/>
                </a:solidFill>
              </a:rPr>
              <a:t>Character error rate, lower is better. Measured on evaluation datasets, not yet through the glass.</a:t>
            </a:r>
            <a:endParaRPr lang="en-US" sz="1200" dirty="0"/>
          </a:p>
        </p:txBody>
      </p:sp>
      <p:sp>
        <p:nvSpPr>
          <p:cNvPr id="8" name="Helped heading"/>
          <p:cNvSpPr txBox="1"/>
          <p:nvPr/>
        </p:nvSpPr>
        <p:spPr>
          <a:xfrm>
            <a:off x="8183880" y="1325880"/>
            <a:ext cx="342900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What helped</a:t>
            </a:r>
            <a:endParaRPr lang="en-US" sz="2000" dirty="0"/>
          </a:p>
        </p:txBody>
      </p:sp>
      <p:sp>
        <p:nvSpPr>
          <p:cNvPr id="9" name="Helped list"/>
          <p:cNvSpPr txBox="1"/>
          <p:nvPr/>
        </p:nvSpPr>
        <p:spPr>
          <a:xfrm>
            <a:off x="8183880" y="1783080"/>
            <a:ext cx="3429000" cy="20116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tx1"/>
                </a:solidFill>
              </a:rPr>
              <a:t>Reading the main text block only</a:t>
            </a:r>
            <a:endParaRPr lang="en-US" sz="1700" dirty="0"/>
          </a:p>
          <a:p>
            <a:pPr marL="342900" indent="-342900">
              <a:spcAft>
                <a:spcPts val="800"/>
              </a:spcAft>
              <a:buSzPct val="100000"/>
              <a:buChar char="•"/>
            </a:pPr>
            <a:r>
              <a:rPr lang="en-US" sz="1700" dirty="0">
                <a:solidFill>
                  <a:schemeClr val="tx1"/>
                </a:solidFill>
              </a:rPr>
              <a:t>Tuned detector and clean-up</a:t>
            </a:r>
            <a:endParaRPr lang="en-US" sz="1700" dirty="0"/>
          </a:p>
          <a:p>
            <a:pPr marL="342900" indent="-342900">
              <a:spcAft>
                <a:spcPts val="800"/>
              </a:spcAft>
              <a:buSzPct val="100000"/>
              <a:buChar char="•"/>
            </a:pPr>
            <a:r>
              <a:rPr lang="en-US" sz="1700" dirty="0">
                <a:solidFill>
                  <a:schemeClr val="tx1"/>
                </a:solidFill>
              </a:rPr>
              <a:t>Recogniser fine-tuned on real words</a:t>
            </a:r>
            <a:endParaRPr lang="en-US" sz="1700" dirty="0"/>
          </a:p>
        </p:txBody>
      </p:sp>
      <p:sp>
        <p:nvSpPr>
          <p:cNvPr id="10" name="Not heading"/>
          <p:cNvSpPr txBox="1"/>
          <p:nvPr/>
        </p:nvSpPr>
        <p:spPr>
          <a:xfrm>
            <a:off x="8183880" y="3931920"/>
            <a:ext cx="3429000" cy="41148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What did not</a:t>
            </a:r>
            <a:endParaRPr lang="en-US" sz="2000" dirty="0"/>
          </a:p>
        </p:txBody>
      </p:sp>
      <p:sp>
        <p:nvSpPr>
          <p:cNvPr id="11" name="Not list"/>
          <p:cNvSpPr txBox="1"/>
          <p:nvPr/>
        </p:nvSpPr>
        <p:spPr>
          <a:xfrm>
            <a:off x="8183880" y="4389120"/>
            <a:ext cx="3429000" cy="1188720"/>
          </a:xfrm>
          <a:prstGeom prst="rect">
            <a:avLst/>
          </a:prstGeom>
          <a:noFill/>
          <a:ln/>
        </p:spPr>
        <p:txBody>
          <a:bodyPr wrap="square" lIns="0" tIns="0" rIns="0" bIns="0" rtlCol="0" anchor="t"/>
          <a:lstStyle/>
          <a:p>
            <a:pPr indent="0" marL="0">
              <a:buNone/>
            </a:pPr>
            <a:r>
              <a:rPr lang="en-US" sz="1700" dirty="0">
                <a:solidFill>
                  <a:schemeClr val="tx1"/>
                </a:solidFill>
              </a:rPr>
              <a:t>Binarisation, Tesseract, TrOCR, PaddleOCR, dictionaries</a:t>
            </a:r>
            <a:endParaRPr lang="en-US" sz="1700" dirty="0"/>
          </a:p>
        </p:txBody>
      </p:sp>
      <p:sp>
        <p:nvSpPr>
          <p:cNvPr id="12"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Engine [6] EasyOCR with [5] CRAFT; real words from [21] ICDAR 2019 MLT (1,000 test words). Every choice made on validation data.</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18</a:t>
            </a:fld>
            <a:endParaRPr lang="en-US"/>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Voice: a natural Bangla voice and spoken commands</a:t>
            </a:r>
            <a:endParaRPr lang="en-US" sz="3000" dirty="0"/>
          </a:p>
        </p:txBody>
      </p:sp>
      <p:sp>
        <p:nvSpPr>
          <p:cNvPr id="3" name="Speech card"/>
          <p:cNvSpPr/>
          <p:nvPr/>
        </p:nvSpPr>
        <p:spPr>
          <a:xfrm>
            <a:off x="548640" y="1325880"/>
            <a:ext cx="3657600" cy="4023360"/>
          </a:xfrm>
          <a:prstGeom prst="roundRect">
            <a:avLst>
              <a:gd name="adj" fmla="val 3000"/>
            </a:avLst>
          </a:prstGeom>
          <a:solidFill>
            <a:schemeClr val="bg2"/>
          </a:solidFill>
          <a:ln w="12700">
            <a:solidFill>
              <a:schemeClr val="bg2"/>
            </a:solidFill>
            <a:prstDash val="solid"/>
          </a:ln>
        </p:spPr>
      </p:sp>
      <p:sp>
        <p:nvSpPr>
          <p:cNvPr id="4" name="Voice circle"/>
          <p:cNvSpPr/>
          <p:nvPr/>
        </p:nvSpPr>
        <p:spPr>
          <a:xfrm>
            <a:off x="822960" y="1554480"/>
            <a:ext cx="777240" cy="777240"/>
          </a:xfrm>
          <a:prstGeom prst="ellipse">
            <a:avLst/>
          </a:prstGeom>
          <a:solidFill>
            <a:srgbClr val="006A4E"/>
          </a:solidFill>
          <a:ln w="12700">
            <a:solidFill>
              <a:srgbClr val="006A4E"/>
            </a:solidFill>
            <a:prstDash val="solid"/>
          </a:ln>
        </p:spPr>
      </p:sp>
      <p:pic>
        <p:nvPicPr>
          <p:cNvPr id="5" name="Voice icon" descr="preencoded.png">    </p:cNvPr>
          <p:cNvPicPr>
            <a:picLocks noChangeAspect="1"/>
          </p:cNvPicPr>
          <p:nvPr/>
        </p:nvPicPr>
        <p:blipFill>
          <a:blip r:embed="rId1"/>
          <a:stretch>
            <a:fillRect/>
          </a:stretch>
        </p:blipFill>
        <p:spPr>
          <a:xfrm>
            <a:off x="1009498" y="1741018"/>
            <a:ext cx="404165" cy="404165"/>
          </a:xfrm>
          <a:prstGeom prst="rect">
            <a:avLst/>
          </a:prstGeom>
        </p:spPr>
      </p:pic>
      <p:sp>
        <p:nvSpPr>
          <p:cNvPr id="6" name="Speaking heading"/>
          <p:cNvSpPr txBox="1"/>
          <p:nvPr/>
        </p:nvSpPr>
        <p:spPr>
          <a:xfrm>
            <a:off x="1783080" y="1691640"/>
            <a:ext cx="2286000" cy="45720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Speaking</a:t>
            </a:r>
            <a:endParaRPr lang="en-US" sz="2000" dirty="0"/>
          </a:p>
        </p:txBody>
      </p:sp>
      <p:sp>
        <p:nvSpPr>
          <p:cNvPr id="7" name="Speaking list"/>
          <p:cNvSpPr txBox="1"/>
          <p:nvPr/>
        </p:nvSpPr>
        <p:spPr>
          <a:xfrm>
            <a:off x="822960" y="2560320"/>
            <a:ext cx="3200400" cy="26517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Natural Piper voice, Bangla and English [10, 11]</a:t>
            </a:r>
            <a:endParaRPr lang="en-US" sz="1700" dirty="0"/>
          </a:p>
          <a:p>
            <a:pPr marL="342900" indent="-342900">
              <a:spcAft>
                <a:spcPts val="1000"/>
              </a:spcAft>
              <a:buSzPct val="100000"/>
              <a:buChar char="•"/>
            </a:pPr>
            <a:r>
              <a:rPr lang="en-US" sz="1700" dirty="0">
                <a:solidFill>
                  <a:schemeClr val="tx1"/>
                </a:solidFill>
              </a:rPr>
              <a:t>No broken sound when the Pi is busy</a:t>
            </a:r>
            <a:endParaRPr lang="en-US" sz="1700" dirty="0"/>
          </a:p>
          <a:p>
            <a:pPr marL="342900" indent="-342900">
              <a:spcAft>
                <a:spcPts val="1000"/>
              </a:spcAft>
              <a:buSzPct val="100000"/>
              <a:buChar char="•"/>
            </a:pPr>
            <a:r>
              <a:rPr lang="en-US" sz="1700" dirty="0">
                <a:solidFill>
                  <a:schemeClr val="tx1"/>
                </a:solidFill>
              </a:rPr>
              <a:t>"পড়ছি" (reading) while text is captured</a:t>
            </a:r>
            <a:endParaRPr lang="en-US" sz="1700" dirty="0"/>
          </a:p>
        </p:txBody>
      </p:sp>
      <p:sp>
        <p:nvSpPr>
          <p:cNvPr id="8" name="Voice banner"/>
          <p:cNvSpPr txBox="1"/>
          <p:nvPr/>
        </p:nvSpPr>
        <p:spPr>
          <a:xfrm>
            <a:off x="548640" y="5486400"/>
            <a:ext cx="11064240" cy="475488"/>
          </a:xfrm>
          <a:prstGeom prst="roundRect">
            <a:avLst>
              <a:gd name="adj" fmla="val 15385"/>
            </a:avLst>
          </a:prstGeom>
          <a:solidFill>
            <a:srgbClr val="FFF4D6"/>
          </a:solidFill>
          <a:ln>
            <a:solidFill>
              <a:srgbClr val="E6A817"/>
            </a:solidFill>
          </a:ln>
        </p:spPr>
        <p:txBody>
          <a:bodyPr wrap="square" lIns="0" tIns="0" rIns="0" bIns="0" rtlCol="0" anchor="ctr"/>
          <a:lstStyle/>
          <a:p>
            <a:pPr algn="ctr" indent="0" marL="0">
              <a:buNone/>
            </a:pPr>
            <a:r>
              <a:rPr lang="en-US" sz="1600" b="1" dirty="0">
                <a:solidFill>
                  <a:srgbClr val="1C2321"/>
                </a:solidFill>
              </a:rPr>
              <a:t>Command results: synthetic voices on a laptop, not human trials on the glasses</a:t>
            </a:r>
            <a:endParaRPr lang="en-US" sz="1600" dirty="0"/>
          </a:p>
        </p:txBody>
      </p:sp>
      <p:graphicFrame>
        <p:nvGraphicFramePr>
          <p:cNvPr id="9" name="Voice chart" descr=""/>
          <p:cNvGraphicFramePr/>
          <p:nvPr/>
        </p:nvGraphicFramePr>
        <p:xfrm>
          <a:off x="4480560" y="1325880"/>
          <a:ext cx="4572000" cy="4023360"/>
        </p:xfrm>
        <a:graphic xmlns:a="http://schemas.openxmlformats.org/drawingml/2006/main">
          <a:graphicData uri="http://schemas.openxmlformats.org/drawingml/2006/chart">
            <c:chart xmlns:c="http://schemas.openxmlformats.org/drawingml/2006/chart" r:id="rId2"/>
          </a:graphicData>
        </a:graphic>
      </p:graphicFrame>
      <p:sp>
        <p:nvSpPr>
          <p:cNvPr id="10" name="False commands value"/>
          <p:cNvSpPr txBox="1"/>
          <p:nvPr/>
        </p:nvSpPr>
        <p:spPr>
          <a:xfrm>
            <a:off x="9326880" y="1463040"/>
            <a:ext cx="228600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212 → 13</a:t>
            </a:r>
            <a:endParaRPr lang="en-US" sz="3600" dirty="0"/>
          </a:p>
        </p:txBody>
      </p:sp>
      <p:sp>
        <p:nvSpPr>
          <p:cNvPr id="11" name="False commands label"/>
          <p:cNvSpPr txBox="1"/>
          <p:nvPr/>
        </p:nvSpPr>
        <p:spPr>
          <a:xfrm>
            <a:off x="9326880" y="2148840"/>
            <a:ext cx="2286000" cy="685800"/>
          </a:xfrm>
          <a:prstGeom prst="rect">
            <a:avLst/>
          </a:prstGeom>
          <a:noFill/>
          <a:ln/>
        </p:spPr>
        <p:txBody>
          <a:bodyPr wrap="square" lIns="0" tIns="0" rIns="0" bIns="0" rtlCol="0" anchor="t"/>
          <a:lstStyle/>
          <a:p>
            <a:pPr indent="0" marL="0">
              <a:buNone/>
            </a:pPr>
            <a:r>
              <a:rPr lang="en-US" sz="1500" dirty="0">
                <a:solidFill>
                  <a:schemeClr val="tx1"/>
                </a:solidFill>
              </a:rPr>
              <a:t>false commands in 5,040 ordinary sentences, thanks to the wake word</a:t>
            </a:r>
            <a:endParaRPr lang="en-US" sz="1500" dirty="0"/>
          </a:p>
        </p:txBody>
      </p:sp>
      <p:sp>
        <p:nvSpPr>
          <p:cNvPr id="12" name="Response value"/>
          <p:cNvSpPr txBox="1"/>
          <p:nvPr/>
        </p:nvSpPr>
        <p:spPr>
          <a:xfrm>
            <a:off x="9326880" y="3246120"/>
            <a:ext cx="228600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0.86 s</a:t>
            </a:r>
            <a:endParaRPr lang="en-US" sz="3600" dirty="0"/>
          </a:p>
        </p:txBody>
      </p:sp>
      <p:sp>
        <p:nvSpPr>
          <p:cNvPr id="13" name="Response label"/>
          <p:cNvSpPr txBox="1"/>
          <p:nvPr/>
        </p:nvSpPr>
        <p:spPr>
          <a:xfrm>
            <a:off x="9326880" y="3931920"/>
            <a:ext cx="2286000" cy="685800"/>
          </a:xfrm>
          <a:prstGeom prst="rect">
            <a:avLst/>
          </a:prstGeom>
          <a:noFill/>
          <a:ln/>
        </p:spPr>
        <p:txBody>
          <a:bodyPr wrap="square" lIns="0" tIns="0" rIns="0" bIns="0" rtlCol="0" anchor="t"/>
          <a:lstStyle/>
          <a:p>
            <a:pPr indent="0" marL="0">
              <a:buNone/>
            </a:pPr>
            <a:r>
              <a:rPr lang="en-US" sz="1500" dirty="0">
                <a:solidFill>
                  <a:schemeClr val="tx1"/>
                </a:solidFill>
              </a:rPr>
              <a:t>from the end of speech to the action (median)</a:t>
            </a:r>
            <a:endParaRPr lang="en-US" sz="1500" dirty="0"/>
          </a:p>
        </p:txBody>
      </p:sp>
      <p:sp>
        <p:nvSpPr>
          <p:cNvPr id="14" name="Sources"/>
          <p:cNvSpPr txBox="1"/>
          <p:nvPr/>
        </p:nvSpPr>
        <p:spPr>
          <a:xfrm>
            <a:off x="548640" y="6053328"/>
            <a:ext cx="11064240" cy="292608"/>
          </a:xfrm>
          <a:prstGeom prst="rect">
            <a:avLst/>
          </a:prstGeom>
          <a:noFill/>
          <a:ln/>
        </p:spPr>
        <p:txBody>
          <a:bodyPr wrap="square" lIns="0" tIns="0" rIns="0" bIns="0" rtlCol="0" anchor="ctr"/>
          <a:lstStyle/>
          <a:p>
            <a:pPr indent="0" marL="0">
              <a:buNone/>
            </a:pPr>
            <a:r>
              <a:rPr lang="en-US" sz="1000" i="1" dirty="0">
                <a:solidFill>
                  <a:schemeClr val="accent5"/>
                </a:solidFill>
              </a:rPr>
              <a:t>Recogniser [22] Vosk; noise from [23] Piczak, ESC-50; voices [10, 11]. Results: paper_evidence/VOICE_COMMANDS_FAST.md.</a:t>
            </a:r>
            <a:endParaRPr lang="en-US" sz="10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19</a:t>
            </a:fld>
            <a:endParaRPr lang="en-US"/>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Running on the Raspberry Pi 5</a:t>
            </a:r>
            <a:endParaRPr lang="en-US" sz="3000" dirty="0"/>
          </a:p>
        </p:txBody>
      </p:sp>
      <p:sp>
        <p:nvSpPr>
          <p:cNvPr id="3" name="Pi stat 1"/>
          <p:cNvSpPr/>
          <p:nvPr/>
        </p:nvSpPr>
        <p:spPr>
          <a:xfrm>
            <a:off x="548640" y="1325880"/>
            <a:ext cx="2331720" cy="2011680"/>
          </a:xfrm>
          <a:prstGeom prst="roundRect">
            <a:avLst>
              <a:gd name="adj" fmla="val 5455"/>
            </a:avLst>
          </a:prstGeom>
          <a:solidFill>
            <a:schemeClr val="bg2"/>
          </a:solidFill>
          <a:ln w="12700">
            <a:solidFill>
              <a:schemeClr val="bg2"/>
            </a:solidFill>
            <a:prstDash val="solid"/>
          </a:ln>
        </p:spPr>
      </p:sp>
      <p:sp>
        <p:nvSpPr>
          <p:cNvPr id="4" name="Pi 1 value"/>
          <p:cNvSpPr txBox="1"/>
          <p:nvPr/>
        </p:nvSpPr>
        <p:spPr>
          <a:xfrm>
            <a:off x="777240" y="1600200"/>
            <a:ext cx="1920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399 ms</a:t>
            </a:r>
            <a:endParaRPr lang="en-US" sz="3600" dirty="0"/>
          </a:p>
        </p:txBody>
      </p:sp>
      <p:sp>
        <p:nvSpPr>
          <p:cNvPr id="5" name="Pi 1 label"/>
          <p:cNvSpPr txBox="1"/>
          <p:nvPr/>
        </p:nvSpPr>
        <p:spPr>
          <a:xfrm>
            <a:off x="777240" y="2286000"/>
            <a:ext cx="1920240" cy="685800"/>
          </a:xfrm>
          <a:prstGeom prst="rect">
            <a:avLst/>
          </a:prstGeom>
          <a:noFill/>
          <a:ln/>
        </p:spPr>
        <p:txBody>
          <a:bodyPr wrap="square" lIns="0" tIns="0" rIns="0" bIns="0" rtlCol="0" anchor="t"/>
          <a:lstStyle/>
          <a:p>
            <a:pPr indent="0" marL="0">
              <a:buNone/>
            </a:pPr>
            <a:r>
              <a:rPr lang="en-US" sz="1500" dirty="0">
                <a:solidFill>
                  <a:schemeClr val="tx1"/>
                </a:solidFill>
              </a:rPr>
              <a:t>currency check, end to end</a:t>
            </a:r>
            <a:endParaRPr lang="en-US" sz="1500" dirty="0"/>
          </a:p>
        </p:txBody>
      </p:sp>
      <p:sp>
        <p:nvSpPr>
          <p:cNvPr id="6" name="Pi stat 2"/>
          <p:cNvSpPr/>
          <p:nvPr/>
        </p:nvSpPr>
        <p:spPr>
          <a:xfrm>
            <a:off x="3063240" y="1325880"/>
            <a:ext cx="2331720" cy="2011680"/>
          </a:xfrm>
          <a:prstGeom prst="roundRect">
            <a:avLst>
              <a:gd name="adj" fmla="val 5455"/>
            </a:avLst>
          </a:prstGeom>
          <a:solidFill>
            <a:schemeClr val="bg2"/>
          </a:solidFill>
          <a:ln w="12700">
            <a:solidFill>
              <a:schemeClr val="bg2"/>
            </a:solidFill>
            <a:prstDash val="solid"/>
          </a:ln>
        </p:spPr>
      </p:sp>
      <p:sp>
        <p:nvSpPr>
          <p:cNvPr id="7" name="Pi 2 value"/>
          <p:cNvSpPr txBox="1"/>
          <p:nvPr/>
        </p:nvSpPr>
        <p:spPr>
          <a:xfrm>
            <a:off x="3291840" y="1600200"/>
            <a:ext cx="1920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64 ms</a:t>
            </a:r>
            <a:endParaRPr lang="en-US" sz="3600" dirty="0"/>
          </a:p>
        </p:txBody>
      </p:sp>
      <p:sp>
        <p:nvSpPr>
          <p:cNvPr id="8" name="Pi 2 label"/>
          <p:cNvSpPr txBox="1"/>
          <p:nvPr/>
        </p:nvSpPr>
        <p:spPr>
          <a:xfrm>
            <a:off x="3291840" y="2286000"/>
            <a:ext cx="1920240" cy="685800"/>
          </a:xfrm>
          <a:prstGeom prst="rect">
            <a:avLst/>
          </a:prstGeom>
          <a:noFill/>
          <a:ln/>
        </p:spPr>
        <p:txBody>
          <a:bodyPr wrap="square" lIns="0" tIns="0" rIns="0" bIns="0" rtlCol="0" anchor="t"/>
          <a:lstStyle/>
          <a:p>
            <a:pPr indent="0" marL="0">
              <a:buNone/>
            </a:pPr>
            <a:r>
              <a:rPr lang="en-US" sz="1500" dirty="0">
                <a:solidFill>
                  <a:schemeClr val="tx1"/>
                </a:solidFill>
              </a:rPr>
              <a:t>watermark check</a:t>
            </a:r>
            <a:endParaRPr lang="en-US" sz="1500" dirty="0"/>
          </a:p>
        </p:txBody>
      </p:sp>
      <p:sp>
        <p:nvSpPr>
          <p:cNvPr id="9" name="Pi stat 3"/>
          <p:cNvSpPr/>
          <p:nvPr/>
        </p:nvSpPr>
        <p:spPr>
          <a:xfrm>
            <a:off x="5577840" y="1325880"/>
            <a:ext cx="2331720" cy="2011680"/>
          </a:xfrm>
          <a:prstGeom prst="roundRect">
            <a:avLst>
              <a:gd name="adj" fmla="val 5455"/>
            </a:avLst>
          </a:prstGeom>
          <a:solidFill>
            <a:schemeClr val="bg2"/>
          </a:solidFill>
          <a:ln w="12700">
            <a:solidFill>
              <a:schemeClr val="bg2"/>
            </a:solidFill>
            <a:prstDash val="solid"/>
          </a:ln>
        </p:spPr>
      </p:sp>
      <p:sp>
        <p:nvSpPr>
          <p:cNvPr id="10" name="Pi 3 value"/>
          <p:cNvSpPr txBox="1"/>
          <p:nvPr/>
        </p:nvSpPr>
        <p:spPr>
          <a:xfrm>
            <a:off x="5806440" y="1600200"/>
            <a:ext cx="1920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562 ms</a:t>
            </a:r>
            <a:endParaRPr lang="en-US" sz="3600" dirty="0"/>
          </a:p>
        </p:txBody>
      </p:sp>
      <p:sp>
        <p:nvSpPr>
          <p:cNvPr id="11" name="Pi 3 label"/>
          <p:cNvSpPr txBox="1"/>
          <p:nvPr/>
        </p:nvSpPr>
        <p:spPr>
          <a:xfrm>
            <a:off x="5806440" y="2286000"/>
            <a:ext cx="1920240" cy="685800"/>
          </a:xfrm>
          <a:prstGeom prst="rect">
            <a:avLst/>
          </a:prstGeom>
          <a:noFill/>
          <a:ln/>
        </p:spPr>
        <p:txBody>
          <a:bodyPr wrap="square" lIns="0" tIns="0" rIns="0" bIns="0" rtlCol="0" anchor="t"/>
          <a:lstStyle/>
          <a:p>
            <a:pPr indent="0" marL="0">
              <a:buNone/>
            </a:pPr>
            <a:r>
              <a:rPr lang="en-US" sz="1500" dirty="0">
                <a:solidFill>
                  <a:schemeClr val="tx1"/>
                </a:solidFill>
              </a:rPr>
              <a:t>object scan (YOLOv8s)</a:t>
            </a:r>
            <a:endParaRPr lang="en-US" sz="1500" dirty="0"/>
          </a:p>
        </p:txBody>
      </p:sp>
      <p:sp>
        <p:nvSpPr>
          <p:cNvPr id="12" name="Pi stat 4"/>
          <p:cNvSpPr/>
          <p:nvPr/>
        </p:nvSpPr>
        <p:spPr>
          <a:xfrm>
            <a:off x="548640" y="3566160"/>
            <a:ext cx="2331720" cy="2011680"/>
          </a:xfrm>
          <a:prstGeom prst="roundRect">
            <a:avLst>
              <a:gd name="adj" fmla="val 5455"/>
            </a:avLst>
          </a:prstGeom>
          <a:solidFill>
            <a:schemeClr val="bg2"/>
          </a:solidFill>
          <a:ln w="12700">
            <a:solidFill>
              <a:schemeClr val="bg2"/>
            </a:solidFill>
            <a:prstDash val="solid"/>
          </a:ln>
        </p:spPr>
      </p:sp>
      <p:sp>
        <p:nvSpPr>
          <p:cNvPr id="13" name="Pi 4 value"/>
          <p:cNvSpPr txBox="1"/>
          <p:nvPr/>
        </p:nvSpPr>
        <p:spPr>
          <a:xfrm>
            <a:off x="777240" y="3840480"/>
            <a:ext cx="1920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680 ms</a:t>
            </a:r>
            <a:endParaRPr lang="en-US" sz="3600" dirty="0"/>
          </a:p>
        </p:txBody>
      </p:sp>
      <p:sp>
        <p:nvSpPr>
          <p:cNvPr id="14" name="Pi 4 label"/>
          <p:cNvSpPr txBox="1"/>
          <p:nvPr/>
        </p:nvSpPr>
        <p:spPr>
          <a:xfrm>
            <a:off x="777240" y="4526280"/>
            <a:ext cx="1920240" cy="685800"/>
          </a:xfrm>
          <a:prstGeom prst="rect">
            <a:avLst/>
          </a:prstGeom>
          <a:noFill/>
          <a:ln/>
        </p:spPr>
        <p:txBody>
          <a:bodyPr wrap="square" lIns="0" tIns="0" rIns="0" bIns="0" rtlCol="0" anchor="t"/>
          <a:lstStyle/>
          <a:p>
            <a:pPr indent="0" marL="0">
              <a:buNone/>
            </a:pPr>
            <a:r>
              <a:rPr lang="en-US" sz="1500" dirty="0">
                <a:solidFill>
                  <a:schemeClr val="tx1"/>
                </a:solidFill>
              </a:rPr>
              <a:t>emotion, face in view</a:t>
            </a:r>
            <a:endParaRPr lang="en-US" sz="1500" dirty="0"/>
          </a:p>
        </p:txBody>
      </p:sp>
      <p:sp>
        <p:nvSpPr>
          <p:cNvPr id="15" name="Pi stat 5"/>
          <p:cNvSpPr/>
          <p:nvPr/>
        </p:nvSpPr>
        <p:spPr>
          <a:xfrm>
            <a:off x="3063240" y="3566160"/>
            <a:ext cx="2331720" cy="2011680"/>
          </a:xfrm>
          <a:prstGeom prst="roundRect">
            <a:avLst>
              <a:gd name="adj" fmla="val 5455"/>
            </a:avLst>
          </a:prstGeom>
          <a:solidFill>
            <a:schemeClr val="bg2"/>
          </a:solidFill>
          <a:ln w="12700">
            <a:solidFill>
              <a:schemeClr val="bg2"/>
            </a:solidFill>
            <a:prstDash val="solid"/>
          </a:ln>
        </p:spPr>
      </p:sp>
      <p:sp>
        <p:nvSpPr>
          <p:cNvPr id="16" name="Pi 5 value"/>
          <p:cNvSpPr txBox="1"/>
          <p:nvPr/>
        </p:nvSpPr>
        <p:spPr>
          <a:xfrm>
            <a:off x="3291840" y="3840480"/>
            <a:ext cx="1920240" cy="685800"/>
          </a:xfrm>
          <a:prstGeom prst="rect">
            <a:avLst/>
          </a:prstGeom>
          <a:noFill/>
          <a:ln/>
        </p:spPr>
        <p:txBody>
          <a:bodyPr wrap="square" lIns="0" tIns="0" rIns="0" bIns="0" rtlCol="0" anchor="ctr"/>
          <a:lstStyle/>
          <a:p>
            <a:pPr indent="0" marL="0">
              <a:buNone/>
            </a:pPr>
            <a:r>
              <a:rPr lang="en-US" sz="3600" b="1" dirty="0">
                <a:solidFill>
                  <a:schemeClr val="accent2"/>
                </a:solidFill>
                <a:latin typeface="Cambria" pitchFamily="34" charset="0"/>
                <a:ea typeface="Cambria" pitchFamily="34" charset="-122"/>
                <a:cs typeface="Cambria" pitchFamily="34" charset="-120"/>
              </a:rPr>
              <a:t>18.3 s</a:t>
            </a:r>
            <a:endParaRPr lang="en-US" sz="3600" dirty="0"/>
          </a:p>
        </p:txBody>
      </p:sp>
      <p:sp>
        <p:nvSpPr>
          <p:cNvPr id="17" name="Pi 5 label"/>
          <p:cNvSpPr txBox="1"/>
          <p:nvPr/>
        </p:nvSpPr>
        <p:spPr>
          <a:xfrm>
            <a:off x="3291840" y="4526280"/>
            <a:ext cx="1920240" cy="685800"/>
          </a:xfrm>
          <a:prstGeom prst="rect">
            <a:avLst/>
          </a:prstGeom>
          <a:noFill/>
          <a:ln/>
        </p:spPr>
        <p:txBody>
          <a:bodyPr wrap="square" lIns="0" tIns="0" rIns="0" bIns="0" rtlCol="0" anchor="t"/>
          <a:lstStyle/>
          <a:p>
            <a:pPr indent="0" marL="0">
              <a:buNone/>
            </a:pPr>
            <a:r>
              <a:rPr lang="en-US" sz="1500" dirty="0">
                <a:solidFill>
                  <a:schemeClr val="tx1"/>
                </a:solidFill>
              </a:rPr>
              <a:t>3-line sign, text found once</a:t>
            </a:r>
            <a:endParaRPr lang="en-US" sz="1500" dirty="0"/>
          </a:p>
        </p:txBody>
      </p:sp>
      <p:sp>
        <p:nvSpPr>
          <p:cNvPr id="18" name="Pi stat 6"/>
          <p:cNvSpPr/>
          <p:nvPr/>
        </p:nvSpPr>
        <p:spPr>
          <a:xfrm>
            <a:off x="5577840" y="3566160"/>
            <a:ext cx="2331720" cy="2011680"/>
          </a:xfrm>
          <a:prstGeom prst="roundRect">
            <a:avLst>
              <a:gd name="adj" fmla="val 5455"/>
            </a:avLst>
          </a:prstGeom>
          <a:solidFill>
            <a:schemeClr val="bg2"/>
          </a:solidFill>
          <a:ln w="12700">
            <a:solidFill>
              <a:schemeClr val="bg2"/>
            </a:solidFill>
            <a:prstDash val="solid"/>
          </a:ln>
        </p:spPr>
      </p:sp>
      <p:sp>
        <p:nvSpPr>
          <p:cNvPr id="19" name="Pi 6 value"/>
          <p:cNvSpPr txBox="1"/>
          <p:nvPr/>
        </p:nvSpPr>
        <p:spPr>
          <a:xfrm>
            <a:off x="5806440" y="3840480"/>
            <a:ext cx="192024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1.48 GB</a:t>
            </a:r>
            <a:endParaRPr lang="en-US" sz="3600" dirty="0"/>
          </a:p>
        </p:txBody>
      </p:sp>
      <p:sp>
        <p:nvSpPr>
          <p:cNvPr id="20" name="Pi 6 label"/>
          <p:cNvSpPr txBox="1"/>
          <p:nvPr/>
        </p:nvSpPr>
        <p:spPr>
          <a:xfrm>
            <a:off x="5806440" y="4526280"/>
            <a:ext cx="1920240" cy="685800"/>
          </a:xfrm>
          <a:prstGeom prst="rect">
            <a:avLst/>
          </a:prstGeom>
          <a:noFill/>
          <a:ln/>
        </p:spPr>
        <p:txBody>
          <a:bodyPr wrap="square" lIns="0" tIns="0" rIns="0" bIns="0" rtlCol="0" anchor="t"/>
          <a:lstStyle/>
          <a:p>
            <a:pPr indent="0" marL="0">
              <a:buNone/>
            </a:pPr>
            <a:r>
              <a:rPr lang="en-US" sz="1500" dirty="0">
                <a:solidFill>
                  <a:schemeClr val="tx1"/>
                </a:solidFill>
              </a:rPr>
              <a:t>peak memory, 30-minute run</a:t>
            </a:r>
            <a:endParaRPr lang="en-US" sz="1500" dirty="0"/>
          </a:p>
        </p:txBody>
      </p:sp>
      <p:sp>
        <p:nvSpPr>
          <p:cNvPr id="21" name="Heat card"/>
          <p:cNvSpPr/>
          <p:nvPr/>
        </p:nvSpPr>
        <p:spPr>
          <a:xfrm>
            <a:off x="8183880" y="1325880"/>
            <a:ext cx="3429000" cy="4251960"/>
          </a:xfrm>
          <a:prstGeom prst="roundRect">
            <a:avLst>
              <a:gd name="adj" fmla="val 3200"/>
            </a:avLst>
          </a:prstGeom>
          <a:solidFill>
            <a:schemeClr val="tx2"/>
          </a:solidFill>
          <a:ln w="12700">
            <a:solidFill>
              <a:schemeClr val="tx2"/>
            </a:solidFill>
            <a:prstDash val="solid"/>
          </a:ln>
        </p:spPr>
      </p:sp>
      <p:sp>
        <p:nvSpPr>
          <p:cNvPr id="22" name="Heat circle"/>
          <p:cNvSpPr/>
          <p:nvPr/>
        </p:nvSpPr>
        <p:spPr>
          <a:xfrm>
            <a:off x="8458200" y="1554480"/>
            <a:ext cx="731520" cy="731520"/>
          </a:xfrm>
          <a:prstGeom prst="ellipse">
            <a:avLst/>
          </a:prstGeom>
          <a:solidFill>
            <a:srgbClr val="D7263D"/>
          </a:solidFill>
          <a:ln w="12700">
            <a:solidFill>
              <a:srgbClr val="D7263D"/>
            </a:solidFill>
            <a:prstDash val="solid"/>
          </a:ln>
        </p:spPr>
      </p:sp>
      <p:pic>
        <p:nvPicPr>
          <p:cNvPr id="23" name="Heat icon" descr="preencoded.png">    </p:cNvPr>
          <p:cNvPicPr>
            <a:picLocks noChangeAspect="1"/>
          </p:cNvPicPr>
          <p:nvPr/>
        </p:nvPicPr>
        <p:blipFill>
          <a:blip r:embed="rId1"/>
          <a:stretch>
            <a:fillRect/>
          </a:stretch>
        </p:blipFill>
        <p:spPr>
          <a:xfrm>
            <a:off x="8633765" y="1730045"/>
            <a:ext cx="380390" cy="380390"/>
          </a:xfrm>
          <a:prstGeom prst="rect">
            <a:avLst/>
          </a:prstGeom>
        </p:spPr>
      </p:pic>
      <p:sp>
        <p:nvSpPr>
          <p:cNvPr id="24" name="Heat heading"/>
          <p:cNvSpPr txBox="1"/>
          <p:nvPr/>
        </p:nvSpPr>
        <p:spPr>
          <a:xfrm>
            <a:off x="9326880" y="1691640"/>
            <a:ext cx="2194560" cy="45720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Key finding: heat</a:t>
            </a:r>
            <a:endParaRPr lang="en-US" sz="1900" dirty="0"/>
          </a:p>
        </p:txBody>
      </p:sp>
      <p:sp>
        <p:nvSpPr>
          <p:cNvPr id="25" name="Heat peak"/>
          <p:cNvSpPr txBox="1"/>
          <p:nvPr/>
        </p:nvSpPr>
        <p:spPr>
          <a:xfrm>
            <a:off x="8458200" y="2423160"/>
            <a:ext cx="3017520" cy="7315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88.7 °C</a:t>
            </a:r>
            <a:endParaRPr lang="en-US" sz="4400" dirty="0"/>
          </a:p>
        </p:txBody>
      </p:sp>
      <p:sp>
        <p:nvSpPr>
          <p:cNvPr id="26" name="Heat label"/>
          <p:cNvSpPr txBox="1"/>
          <p:nvPr/>
        </p:nvSpPr>
        <p:spPr>
          <a:xfrm>
            <a:off x="8458200" y="3154680"/>
            <a:ext cx="2971800" cy="822960"/>
          </a:xfrm>
          <a:prstGeom prst="rect">
            <a:avLst/>
          </a:prstGeom>
          <a:noFill/>
          <a:ln/>
        </p:spPr>
        <p:txBody>
          <a:bodyPr wrap="square" lIns="0" tIns="0" rIns="0" bIns="0" rtlCol="0" anchor="t"/>
          <a:lstStyle/>
          <a:p>
            <a:pPr indent="0" marL="0">
              <a:buNone/>
            </a:pPr>
            <a:r>
              <a:rPr lang="en-US" sz="1500" dirty="0">
                <a:solidFill>
                  <a:srgbClr val="E4EFEA"/>
                </a:solidFill>
              </a:rPr>
              <a:t>peak temperature; the Pi throttled in 76% of samples (idle 71 °C)</a:t>
            </a:r>
            <a:endParaRPr lang="en-US" sz="1500" dirty="0"/>
          </a:p>
        </p:txBody>
      </p:sp>
      <p:sp>
        <p:nvSpPr>
          <p:cNvPr id="27" name="Heat response"/>
          <p:cNvSpPr txBox="1"/>
          <p:nvPr/>
        </p:nvSpPr>
        <p:spPr>
          <a:xfrm>
            <a:off x="8458200" y="4160520"/>
            <a:ext cx="2971800" cy="1188720"/>
          </a:xfrm>
          <a:prstGeom prst="rect">
            <a:avLst/>
          </a:prstGeom>
          <a:noFill/>
          <a:ln/>
        </p:spPr>
        <p:txBody>
          <a:bodyPr wrap="square" lIns="0" tIns="0" rIns="0" bIns="0" rtlCol="0" anchor="t"/>
          <a:lstStyle/>
          <a:p>
            <a:pPr indent="0" marL="0">
              <a:buNone/>
            </a:pPr>
            <a:r>
              <a:rPr lang="en-US" sz="1400" i="1" dirty="0">
                <a:solidFill>
                  <a:srgbClr val="CFE2DA"/>
                </a:solidFill>
              </a:rPr>
              <a:t>Response: a thermal governor slows background scans when hot; better cooling is future work.</a:t>
            </a:r>
            <a:endParaRPr lang="en-US" sz="1400" dirty="0"/>
          </a:p>
        </p:txBody>
      </p:sp>
      <p:sp>
        <p:nvSpPr>
          <p:cNvPr id="28" name="Pi caveat"/>
          <p:cNvSpPr txBox="1"/>
          <p:nvPr/>
        </p:nvSpPr>
        <p:spPr>
          <a:xfrm>
            <a:off x="548640" y="5715000"/>
            <a:ext cx="11064240" cy="365760"/>
          </a:xfrm>
          <a:prstGeom prst="rect">
            <a:avLst/>
          </a:prstGeom>
          <a:noFill/>
          <a:ln/>
        </p:spPr>
        <p:txBody>
          <a:bodyPr wrap="square" lIns="0" tIns="0" rIns="0" bIns="0" rtlCol="0" anchor="ctr"/>
          <a:lstStyle/>
          <a:p>
            <a:pPr indent="0" marL="0">
              <a:buNone/>
            </a:pPr>
            <a:r>
              <a:rPr lang="en-US" sz="1200" i="1" dirty="0">
                <a:solidFill>
                  <a:schemeClr val="accent5"/>
                </a:solidFill>
              </a:rPr>
              <a:t>Measured on a Raspberry Pi 5 (8 GB) on 13 October 2026, board at its temperature limit; memory from the 1 October run. Changes after 13 October are not yet timed on the Pi.</a:t>
            </a:r>
            <a:endParaRPr lang="en-US" sz="12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20</a:t>
            </a:fld>
            <a:endParaRPr lang="en-US"/>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Testing the worn glass: where the project stands</a:t>
            </a:r>
            <a:endParaRPr lang="en-US" sz="3000" dirty="0"/>
          </a:p>
        </p:txBody>
      </p:sp>
      <p:pic>
        <p:nvPicPr>
          <p:cNvPr id="3" name="Prototype version 2 in use" descr="E:\Final SP\Thesis Report and paper\tools\deck\assets/v2_use_collage.jpg">    </p:cNvPr>
          <p:cNvPicPr>
            <a:picLocks noChangeAspect="1"/>
          </p:cNvPicPr>
          <p:nvPr/>
        </p:nvPicPr>
        <p:blipFill>
          <a:blip r:embed="rId1"/>
          <a:stretch>
            <a:fillRect/>
          </a:stretch>
        </p:blipFill>
        <p:spPr>
          <a:xfrm>
            <a:off x="548640" y="1325880"/>
            <a:ext cx="6675120" cy="4461150"/>
          </a:xfrm>
          <a:prstGeom prst="rect">
            <a:avLst/>
          </a:prstGeom>
        </p:spPr>
      </p:pic>
      <p:sp>
        <p:nvSpPr>
          <p:cNvPr id="4" name="Worn caption"/>
          <p:cNvSpPr txBox="1"/>
          <p:nvPr/>
        </p:nvSpPr>
        <p:spPr>
          <a:xfrm>
            <a:off x="548640" y="5852160"/>
            <a:ext cx="6858000" cy="365760"/>
          </a:xfrm>
          <a:prstGeom prst="rect">
            <a:avLst/>
          </a:prstGeom>
          <a:noFill/>
          <a:ln/>
        </p:spPr>
        <p:txBody>
          <a:bodyPr wrap="square" lIns="0" tIns="0" rIns="0" bIns="0" rtlCol="0" anchor="t"/>
          <a:lstStyle/>
          <a:p>
            <a:pPr indent="0" marL="0">
              <a:buNone/>
            </a:pPr>
            <a:r>
              <a:rPr lang="en-US" sz="1400" i="1" dirty="0">
                <a:solidFill>
                  <a:schemeClr val="accent5"/>
                </a:solidFill>
              </a:rPr>
              <a:t>Prototype version 2 in a staged shop exchange by team members; illustration only, no error rate counted.</a:t>
            </a:r>
            <a:endParaRPr lang="en-US" sz="1400" dirty="0"/>
          </a:p>
        </p:txBody>
      </p:sp>
      <p:sp>
        <p:nvSpPr>
          <p:cNvPr id="5" name="Engineering checks card"/>
          <p:cNvSpPr/>
          <p:nvPr/>
        </p:nvSpPr>
        <p:spPr>
          <a:xfrm>
            <a:off x="7726680" y="1325880"/>
            <a:ext cx="3886200" cy="1069848"/>
          </a:xfrm>
          <a:prstGeom prst="roundRect">
            <a:avLst>
              <a:gd name="adj" fmla="val 8547"/>
            </a:avLst>
          </a:prstGeom>
          <a:solidFill>
            <a:srgbClr val="EEF5F1"/>
          </a:solidFill>
          <a:ln w="15875">
            <a:solidFill>
              <a:srgbClr val="006A4E"/>
            </a:solidFill>
            <a:prstDash val="solid"/>
          </a:ln>
        </p:spPr>
      </p:sp>
      <p:sp>
        <p:nvSpPr>
          <p:cNvPr id="6" name="Engineering checks status"/>
          <p:cNvSpPr txBox="1"/>
          <p:nvPr/>
        </p:nvSpPr>
        <p:spPr>
          <a:xfrm>
            <a:off x="7909560" y="1435608"/>
            <a:ext cx="1325880" cy="329184"/>
          </a:xfrm>
          <a:prstGeom prst="roundRect">
            <a:avLst>
              <a:gd name="adj" fmla="val 16667"/>
            </a:avLst>
          </a:prstGeom>
          <a:solidFill>
            <a:srgbClr val="006A4E"/>
          </a:solidFill>
          <a:ln>
            <a:solidFill>
              <a:srgbClr val="006A4E"/>
            </a:solidFill>
          </a:ln>
        </p:spPr>
        <p:txBody>
          <a:bodyPr wrap="square" lIns="0" tIns="0" rIns="0" bIns="0" rtlCol="0" anchor="ctr"/>
          <a:lstStyle/>
          <a:p>
            <a:pPr algn="ctr" indent="0" marL="0">
              <a:buNone/>
            </a:pPr>
            <a:r>
              <a:rPr lang="en-US" sz="1200" b="1" dirty="0">
                <a:solidFill>
                  <a:srgbClr val="FFFFFF"/>
                </a:solidFill>
              </a:rPr>
              <a:t>DONE</a:t>
            </a:r>
            <a:endParaRPr lang="en-US" sz="1200" dirty="0"/>
          </a:p>
        </p:txBody>
      </p:sp>
      <p:sp>
        <p:nvSpPr>
          <p:cNvPr id="7" name="Engineering checks heading"/>
          <p:cNvSpPr txBox="1"/>
          <p:nvPr/>
        </p:nvSpPr>
        <p:spPr>
          <a:xfrm>
            <a:off x="9326880" y="1408176"/>
            <a:ext cx="2240280" cy="384048"/>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Engineering checks</a:t>
            </a:r>
            <a:endParaRPr lang="en-US" sz="1700" dirty="0"/>
          </a:p>
        </p:txBody>
      </p:sp>
      <p:sp>
        <p:nvSpPr>
          <p:cNvPr id="8" name="Engineering checks text"/>
          <p:cNvSpPr txBox="1"/>
          <p:nvPr/>
        </p:nvSpPr>
        <p:spPr>
          <a:xfrm>
            <a:off x="7909560" y="1856232"/>
            <a:ext cx="3566160" cy="502920"/>
          </a:xfrm>
          <a:prstGeom prst="rect">
            <a:avLst/>
          </a:prstGeom>
          <a:noFill/>
          <a:ln/>
        </p:spPr>
        <p:txBody>
          <a:bodyPr wrap="square" lIns="0" tIns="0" rIns="0" bIns="0" rtlCol="0" anchor="t"/>
          <a:lstStyle/>
          <a:p>
            <a:pPr indent="0" marL="0">
              <a:buNone/>
            </a:pPr>
            <a:r>
              <a:rPr lang="en-US" sz="1400" dirty="0">
                <a:solidFill>
                  <a:schemeClr val="tx1"/>
                </a:solidFill>
              </a:rPr>
              <a:t>Each part tested on held-out data, on a laptop and the Pi 5</a:t>
            </a:r>
            <a:endParaRPr lang="en-US" sz="1400" dirty="0"/>
          </a:p>
        </p:txBody>
      </p:sp>
      <p:sp>
        <p:nvSpPr>
          <p:cNvPr id="9" name="First field test card"/>
          <p:cNvSpPr/>
          <p:nvPr/>
        </p:nvSpPr>
        <p:spPr>
          <a:xfrm>
            <a:off x="7726680" y="2487168"/>
            <a:ext cx="3886200" cy="1069848"/>
          </a:xfrm>
          <a:prstGeom prst="roundRect">
            <a:avLst>
              <a:gd name="adj" fmla="val 8547"/>
            </a:avLst>
          </a:prstGeom>
          <a:solidFill>
            <a:srgbClr val="FBE9EB"/>
          </a:solidFill>
          <a:ln w="15875">
            <a:solidFill>
              <a:srgbClr val="D7263D"/>
            </a:solidFill>
            <a:prstDash val="solid"/>
          </a:ln>
        </p:spPr>
      </p:sp>
      <p:sp>
        <p:nvSpPr>
          <p:cNvPr id="10" name="First field test status"/>
          <p:cNvSpPr txBox="1"/>
          <p:nvPr/>
        </p:nvSpPr>
        <p:spPr>
          <a:xfrm>
            <a:off x="7909560" y="2596896"/>
            <a:ext cx="1325880" cy="329184"/>
          </a:xfrm>
          <a:prstGeom prst="roundRect">
            <a:avLst>
              <a:gd name="adj" fmla="val 16667"/>
            </a:avLst>
          </a:prstGeom>
          <a:solidFill>
            <a:srgbClr val="D7263D"/>
          </a:solidFill>
          <a:ln>
            <a:solidFill>
              <a:srgbClr val="D7263D"/>
            </a:solidFill>
          </a:ln>
        </p:spPr>
        <p:txBody>
          <a:bodyPr wrap="square" lIns="0" tIns="0" rIns="0" bIns="0" rtlCol="0" anchor="ctr"/>
          <a:lstStyle/>
          <a:p>
            <a:pPr algn="ctr" indent="0" marL="0">
              <a:buNone/>
            </a:pPr>
            <a:r>
              <a:rPr lang="en-US" sz="1200" b="1" dirty="0">
                <a:solidFill>
                  <a:srgbClr val="FFFFFF"/>
                </a:solidFill>
              </a:rPr>
              <a:t>PRELIMINARY</a:t>
            </a:r>
            <a:endParaRPr lang="en-US" sz="1200" dirty="0"/>
          </a:p>
        </p:txBody>
      </p:sp>
      <p:sp>
        <p:nvSpPr>
          <p:cNvPr id="11" name="First field test heading"/>
          <p:cNvSpPr txBox="1"/>
          <p:nvPr/>
        </p:nvSpPr>
        <p:spPr>
          <a:xfrm>
            <a:off x="9326880" y="2569464"/>
            <a:ext cx="2240280" cy="384048"/>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First field test</a:t>
            </a:r>
            <a:endParaRPr lang="en-US" sz="1700" dirty="0"/>
          </a:p>
        </p:txBody>
      </p:sp>
      <p:sp>
        <p:nvSpPr>
          <p:cNvPr id="12" name="First field test text"/>
          <p:cNvSpPr txBox="1"/>
          <p:nvPr/>
        </p:nvSpPr>
        <p:spPr>
          <a:xfrm>
            <a:off x="7909560" y="3017520"/>
            <a:ext cx="3566160" cy="502920"/>
          </a:xfrm>
          <a:prstGeom prst="rect">
            <a:avLst/>
          </a:prstGeom>
          <a:noFill/>
          <a:ln/>
        </p:spPr>
        <p:txBody>
          <a:bodyPr wrap="square" lIns="0" tIns="0" rIns="0" bIns="0" rtlCol="0" anchor="t"/>
          <a:lstStyle/>
          <a:p>
            <a:pPr indent="0" marL="0">
              <a:buNone/>
            </a:pPr>
            <a:r>
              <a:rPr lang="en-US" sz="1400" dirty="0">
                <a:solidFill>
                  <a:schemeClr val="tx1"/>
                </a:solidFill>
              </a:rPr>
              <a:t>Glass camera: currency unreliable, Bangla text not read</a:t>
            </a:r>
            <a:endParaRPr lang="en-US" sz="1400" dirty="0"/>
          </a:p>
        </p:txBody>
      </p:sp>
      <p:sp>
        <p:nvSpPr>
          <p:cNvPr id="13" name="Participant trials card"/>
          <p:cNvSpPr/>
          <p:nvPr/>
        </p:nvSpPr>
        <p:spPr>
          <a:xfrm>
            <a:off x="7726680" y="3648456"/>
            <a:ext cx="3886200" cy="1069848"/>
          </a:xfrm>
          <a:prstGeom prst="roundRect">
            <a:avLst>
              <a:gd name="adj" fmla="val 8547"/>
            </a:avLst>
          </a:prstGeom>
          <a:solidFill>
            <a:srgbClr val="FFF8E6"/>
          </a:solidFill>
          <a:ln w="15875">
            <a:solidFill>
              <a:srgbClr val="E6A817"/>
            </a:solidFill>
            <a:prstDash val="solid"/>
          </a:ln>
        </p:spPr>
      </p:sp>
      <p:sp>
        <p:nvSpPr>
          <p:cNvPr id="14" name="Participant trials status"/>
          <p:cNvSpPr txBox="1"/>
          <p:nvPr/>
        </p:nvSpPr>
        <p:spPr>
          <a:xfrm>
            <a:off x="7909560" y="3758184"/>
            <a:ext cx="1325880" cy="329184"/>
          </a:xfrm>
          <a:prstGeom prst="roundRect">
            <a:avLst>
              <a:gd name="adj" fmla="val 16667"/>
            </a:avLst>
          </a:prstGeom>
          <a:solidFill>
            <a:srgbClr val="E6A817"/>
          </a:solidFill>
          <a:ln>
            <a:solidFill>
              <a:srgbClr val="E6A817"/>
            </a:solidFill>
          </a:ln>
        </p:spPr>
        <p:txBody>
          <a:bodyPr wrap="square" lIns="0" tIns="0" rIns="0" bIns="0" rtlCol="0" anchor="ctr"/>
          <a:lstStyle/>
          <a:p>
            <a:pPr algn="ctr" indent="0" marL="0">
              <a:buNone/>
            </a:pPr>
            <a:r>
              <a:rPr lang="en-US" sz="1200" b="1" dirty="0">
                <a:solidFill>
                  <a:srgbClr val="1C2321"/>
                </a:solidFill>
              </a:rPr>
              <a:t>IN PROGRESS</a:t>
            </a:r>
            <a:endParaRPr lang="en-US" sz="1200" dirty="0"/>
          </a:p>
        </p:txBody>
      </p:sp>
      <p:sp>
        <p:nvSpPr>
          <p:cNvPr id="15" name="Participant trials heading"/>
          <p:cNvSpPr txBox="1"/>
          <p:nvPr/>
        </p:nvSpPr>
        <p:spPr>
          <a:xfrm>
            <a:off x="9326880" y="3730752"/>
            <a:ext cx="2240280" cy="384048"/>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Participant trials</a:t>
            </a:r>
            <a:endParaRPr lang="en-US" sz="1700" dirty="0"/>
          </a:p>
        </p:txBody>
      </p:sp>
      <p:sp>
        <p:nvSpPr>
          <p:cNvPr id="16" name="Participant trials text"/>
          <p:cNvSpPr txBox="1"/>
          <p:nvPr/>
        </p:nvSpPr>
        <p:spPr>
          <a:xfrm>
            <a:off x="7909560" y="4178808"/>
            <a:ext cx="3566160" cy="502920"/>
          </a:xfrm>
          <a:prstGeom prst="rect">
            <a:avLst/>
          </a:prstGeom>
          <a:noFill/>
          <a:ln/>
        </p:spPr>
        <p:txBody>
          <a:bodyPr wrap="square" lIns="0" tIns="0" rIns="0" bIns="0" rtlCol="0" anchor="t"/>
          <a:lstStyle/>
          <a:p>
            <a:pPr indent="0" marL="0">
              <a:buNone/>
            </a:pPr>
            <a:r>
              <a:rPr lang="en-US" sz="1400" dirty="0">
                <a:solidFill>
                  <a:schemeClr val="tx1"/>
                </a:solidFill>
              </a:rPr>
              <a:t>Sessions with a visually impaired participant have started</a:t>
            </a:r>
            <a:endParaRPr lang="en-US" sz="1400" dirty="0"/>
          </a:p>
        </p:txBody>
      </p:sp>
      <p:sp>
        <p:nvSpPr>
          <p:cNvPr id="17" name="Completed user study card"/>
          <p:cNvSpPr/>
          <p:nvPr/>
        </p:nvSpPr>
        <p:spPr>
          <a:xfrm>
            <a:off x="7726680" y="4809744"/>
            <a:ext cx="3886200" cy="1069848"/>
          </a:xfrm>
          <a:prstGeom prst="roundRect">
            <a:avLst>
              <a:gd name="adj" fmla="val 8547"/>
            </a:avLst>
          </a:prstGeom>
          <a:solidFill>
            <a:srgbClr val="F3F5F4"/>
          </a:solidFill>
          <a:ln w="15875">
            <a:solidFill>
              <a:srgbClr val="5E6B66"/>
            </a:solidFill>
            <a:prstDash val="solid"/>
          </a:ln>
        </p:spPr>
      </p:sp>
      <p:sp>
        <p:nvSpPr>
          <p:cNvPr id="18" name="Completed user study status"/>
          <p:cNvSpPr txBox="1"/>
          <p:nvPr/>
        </p:nvSpPr>
        <p:spPr>
          <a:xfrm>
            <a:off x="7909560" y="4919472"/>
            <a:ext cx="1325880" cy="329184"/>
          </a:xfrm>
          <a:prstGeom prst="roundRect">
            <a:avLst>
              <a:gd name="adj" fmla="val 16667"/>
            </a:avLst>
          </a:prstGeom>
          <a:solidFill>
            <a:srgbClr val="5E6B66"/>
          </a:solidFill>
          <a:ln>
            <a:solidFill>
              <a:srgbClr val="5E6B66"/>
            </a:solidFill>
          </a:ln>
        </p:spPr>
        <p:txBody>
          <a:bodyPr wrap="square" lIns="0" tIns="0" rIns="0" bIns="0" rtlCol="0" anchor="ctr"/>
          <a:lstStyle/>
          <a:p>
            <a:pPr algn="ctr" indent="0" marL="0">
              <a:buNone/>
            </a:pPr>
            <a:r>
              <a:rPr lang="en-US" sz="1200" b="1" dirty="0">
                <a:solidFill>
                  <a:srgbClr val="FFFFFF"/>
                </a:solidFill>
              </a:rPr>
              <a:t>NONE YET</a:t>
            </a:r>
            <a:endParaRPr lang="en-US" sz="1200" dirty="0"/>
          </a:p>
        </p:txBody>
      </p:sp>
      <p:sp>
        <p:nvSpPr>
          <p:cNvPr id="19" name="Completed user study heading"/>
          <p:cNvSpPr txBox="1"/>
          <p:nvPr/>
        </p:nvSpPr>
        <p:spPr>
          <a:xfrm>
            <a:off x="9326880" y="4892040"/>
            <a:ext cx="2240280" cy="384048"/>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Completed user study</a:t>
            </a:r>
            <a:endParaRPr lang="en-US" sz="1700" dirty="0"/>
          </a:p>
        </p:txBody>
      </p:sp>
      <p:sp>
        <p:nvSpPr>
          <p:cNvPr id="20" name="Completed user study text"/>
          <p:cNvSpPr txBox="1"/>
          <p:nvPr/>
        </p:nvSpPr>
        <p:spPr>
          <a:xfrm>
            <a:off x="7909560" y="5340096"/>
            <a:ext cx="3566160" cy="502920"/>
          </a:xfrm>
          <a:prstGeom prst="rect">
            <a:avLst/>
          </a:prstGeom>
          <a:noFill/>
          <a:ln/>
        </p:spPr>
        <p:txBody>
          <a:bodyPr wrap="square" lIns="0" tIns="0" rIns="0" bIns="0" rtlCol="0" anchor="t"/>
          <a:lstStyle/>
          <a:p>
            <a:pPr indent="0" marL="0">
              <a:buNone/>
            </a:pPr>
            <a:r>
              <a:rPr lang="en-US" sz="1400" dirty="0">
                <a:solidFill>
                  <a:schemeClr val="tx1"/>
                </a:solidFill>
              </a:rPr>
              <a:t>No results about users are claimed</a:t>
            </a:r>
            <a:endParaRPr lang="en-US" sz="14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21</a:t>
            </a:fld>
            <a:endParaRPr lang="en-US"/>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Future work: the roadmap</a:t>
            </a:r>
            <a:endParaRPr lang="en-US" sz="3000" dirty="0"/>
          </a:p>
        </p:txBody>
      </p:sp>
      <p:sp>
        <p:nvSpPr>
          <p:cNvPr id="3" name="Roadmap line"/>
          <p:cNvSpPr/>
          <p:nvPr/>
        </p:nvSpPr>
        <p:spPr>
          <a:xfrm>
            <a:off x="1097280" y="2377440"/>
            <a:ext cx="9966960" cy="73152"/>
          </a:xfrm>
          <a:prstGeom prst="rect">
            <a:avLst/>
          </a:prstGeom>
          <a:solidFill>
            <a:srgbClr val="B9DCCD"/>
          </a:solidFill>
          <a:ln w="12700">
            <a:solidFill>
              <a:srgbClr val="B9DCCD"/>
            </a:solidFill>
            <a:prstDash val="solid"/>
          </a:ln>
        </p:spPr>
      </p:sp>
      <p:sp>
        <p:nvSpPr>
          <p:cNvPr id="4" name="Camera circle"/>
          <p:cNvSpPr/>
          <p:nvPr/>
        </p:nvSpPr>
        <p:spPr>
          <a:xfrm>
            <a:off x="1271016" y="1691640"/>
            <a:ext cx="1463040" cy="1463040"/>
          </a:xfrm>
          <a:prstGeom prst="ellipse">
            <a:avLst/>
          </a:prstGeom>
          <a:solidFill>
            <a:srgbClr val="006A4E"/>
          </a:solidFill>
          <a:ln w="12700">
            <a:solidFill>
              <a:srgbClr val="006A4E"/>
            </a:solidFill>
            <a:prstDash val="solid"/>
          </a:ln>
        </p:spPr>
      </p:sp>
      <p:pic>
        <p:nvPicPr>
          <p:cNvPr id="5" name="Camera icon" descr="preencoded.png">    </p:cNvPr>
          <p:cNvPicPr>
            <a:picLocks noChangeAspect="1"/>
          </p:cNvPicPr>
          <p:nvPr/>
        </p:nvPicPr>
        <p:blipFill>
          <a:blip r:embed="rId1"/>
          <a:stretch>
            <a:fillRect/>
          </a:stretch>
        </p:blipFill>
        <p:spPr>
          <a:xfrm>
            <a:off x="1622146" y="2042770"/>
            <a:ext cx="760781" cy="760781"/>
          </a:xfrm>
          <a:prstGeom prst="rect">
            <a:avLst/>
          </a:prstGeom>
        </p:spPr>
      </p:pic>
      <p:sp>
        <p:nvSpPr>
          <p:cNvPr id="6" name="Camera number"/>
          <p:cNvSpPr txBox="1"/>
          <p:nvPr/>
        </p:nvSpPr>
        <p:spPr>
          <a:xfrm>
            <a:off x="2423160" y="1600200"/>
            <a:ext cx="457200" cy="457200"/>
          </a:xfrm>
          <a:prstGeom prst="ellipse">
            <a:avLst/>
          </a:prstGeom>
          <a:solidFill>
            <a:srgbClr val="0B4D3B"/>
          </a:solidFill>
          <a:ln w="25400">
            <a:solidFill>
              <a:srgbClr val="FFFFFF"/>
            </a:solid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Camera heading"/>
          <p:cNvSpPr txBox="1"/>
          <p:nvPr/>
        </p:nvSpPr>
        <p:spPr>
          <a:xfrm>
            <a:off x="548640" y="3383280"/>
            <a:ext cx="2907792" cy="502920"/>
          </a:xfrm>
          <a:prstGeom prst="rect">
            <a:avLst/>
          </a:prstGeom>
          <a:noFill/>
          <a:ln/>
        </p:spPr>
        <p:txBody>
          <a:bodyPr wrap="square" lIns="0" tIns="0" rIns="0" bIns="0" rtlCol="0" anchor="ctr"/>
          <a:lstStyle/>
          <a:p>
            <a:pPr algn="ctr" indent="0" marL="0">
              <a:buNone/>
            </a:pPr>
            <a:r>
              <a:rPr lang="en-US" sz="2400" b="1" dirty="0">
                <a:solidFill>
                  <a:schemeClr val="tx2"/>
                </a:solidFill>
                <a:latin typeface="Cambria" pitchFamily="34" charset="0"/>
                <a:ea typeface="Cambria" pitchFamily="34" charset="-122"/>
                <a:cs typeface="Cambria" pitchFamily="34" charset="-120"/>
              </a:rPr>
              <a:t>Camera</a:t>
            </a:r>
            <a:endParaRPr lang="en-US" sz="2400" dirty="0"/>
          </a:p>
        </p:txBody>
      </p:sp>
      <p:sp>
        <p:nvSpPr>
          <p:cNvPr id="8" name="Camera text"/>
          <p:cNvSpPr txBox="1"/>
          <p:nvPr/>
        </p:nvSpPr>
        <p:spPr>
          <a:xfrm>
            <a:off x="685800" y="3977640"/>
            <a:ext cx="2633472" cy="1097280"/>
          </a:xfrm>
          <a:prstGeom prst="rect">
            <a:avLst/>
          </a:prstGeom>
          <a:noFill/>
          <a:ln/>
        </p:spPr>
        <p:txBody>
          <a:bodyPr wrap="square" lIns="0" tIns="0" rIns="0" bIns="0" rtlCol="0" anchor="t"/>
          <a:lstStyle/>
          <a:p>
            <a:pPr algn="ctr" indent="0" marL="0">
              <a:buNone/>
            </a:pPr>
            <a:r>
              <a:rPr lang="en-US" sz="1700" dirty="0">
                <a:solidFill>
                  <a:schemeClr val="tx1"/>
                </a:solidFill>
              </a:rPr>
              <a:t>Higher resolution or autofocus</a:t>
            </a:r>
            <a:endParaRPr lang="en-US" sz="1700" dirty="0"/>
          </a:p>
        </p:txBody>
      </p:sp>
      <p:sp>
        <p:nvSpPr>
          <p:cNvPr id="9" name="User study circle"/>
          <p:cNvSpPr/>
          <p:nvPr/>
        </p:nvSpPr>
        <p:spPr>
          <a:xfrm>
            <a:off x="4087368" y="1691640"/>
            <a:ext cx="1463040" cy="1463040"/>
          </a:xfrm>
          <a:prstGeom prst="ellipse">
            <a:avLst/>
          </a:prstGeom>
          <a:solidFill>
            <a:srgbClr val="3A8F72"/>
          </a:solidFill>
          <a:ln w="12700">
            <a:solidFill>
              <a:srgbClr val="3A8F72"/>
            </a:solidFill>
            <a:prstDash val="solid"/>
          </a:ln>
        </p:spPr>
      </p:sp>
      <p:pic>
        <p:nvPicPr>
          <p:cNvPr id="10" name="User study icon" descr="preencoded.png">    </p:cNvPr>
          <p:cNvPicPr>
            <a:picLocks noChangeAspect="1"/>
          </p:cNvPicPr>
          <p:nvPr/>
        </p:nvPicPr>
        <p:blipFill>
          <a:blip r:embed="rId2"/>
          <a:stretch>
            <a:fillRect/>
          </a:stretch>
        </p:blipFill>
        <p:spPr>
          <a:xfrm>
            <a:off x="4438498" y="2042770"/>
            <a:ext cx="760781" cy="760781"/>
          </a:xfrm>
          <a:prstGeom prst="rect">
            <a:avLst/>
          </a:prstGeom>
        </p:spPr>
      </p:pic>
      <p:sp>
        <p:nvSpPr>
          <p:cNvPr id="11" name="User study number"/>
          <p:cNvSpPr txBox="1"/>
          <p:nvPr/>
        </p:nvSpPr>
        <p:spPr>
          <a:xfrm>
            <a:off x="5239512" y="1600200"/>
            <a:ext cx="457200" cy="457200"/>
          </a:xfrm>
          <a:prstGeom prst="ellipse">
            <a:avLst/>
          </a:prstGeom>
          <a:solidFill>
            <a:srgbClr val="0B4D3B"/>
          </a:solidFill>
          <a:ln w="25400">
            <a:solidFill>
              <a:srgbClr val="FFFFFF"/>
            </a:solid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2" name="User study heading"/>
          <p:cNvSpPr txBox="1"/>
          <p:nvPr/>
        </p:nvSpPr>
        <p:spPr>
          <a:xfrm>
            <a:off x="3364992" y="3383280"/>
            <a:ext cx="2907792" cy="502920"/>
          </a:xfrm>
          <a:prstGeom prst="rect">
            <a:avLst/>
          </a:prstGeom>
          <a:noFill/>
          <a:ln/>
        </p:spPr>
        <p:txBody>
          <a:bodyPr wrap="square" lIns="0" tIns="0" rIns="0" bIns="0" rtlCol="0" anchor="ctr"/>
          <a:lstStyle/>
          <a:p>
            <a:pPr algn="ctr" indent="0" marL="0">
              <a:buNone/>
            </a:pPr>
            <a:r>
              <a:rPr lang="en-US" sz="2400" b="1" dirty="0">
                <a:solidFill>
                  <a:schemeClr val="tx2"/>
                </a:solidFill>
                <a:latin typeface="Cambria" pitchFamily="34" charset="0"/>
                <a:ea typeface="Cambria" pitchFamily="34" charset="-122"/>
                <a:cs typeface="Cambria" pitchFamily="34" charset="-120"/>
              </a:rPr>
              <a:t>User study</a:t>
            </a:r>
            <a:endParaRPr lang="en-US" sz="2400" dirty="0"/>
          </a:p>
        </p:txBody>
      </p:sp>
      <p:sp>
        <p:nvSpPr>
          <p:cNvPr id="13" name="User study text"/>
          <p:cNvSpPr txBox="1"/>
          <p:nvPr/>
        </p:nvSpPr>
        <p:spPr>
          <a:xfrm>
            <a:off x="3502152" y="3977640"/>
            <a:ext cx="2633472" cy="1097280"/>
          </a:xfrm>
          <a:prstGeom prst="rect">
            <a:avLst/>
          </a:prstGeom>
          <a:noFill/>
          <a:ln/>
        </p:spPr>
        <p:txBody>
          <a:bodyPr wrap="square" lIns="0" tIns="0" rIns="0" bIns="0" rtlCol="0" anchor="t"/>
          <a:lstStyle/>
          <a:p>
            <a:pPr algn="ctr" indent="0" marL="0">
              <a:buNone/>
            </a:pPr>
            <a:r>
              <a:rPr lang="en-US" sz="1700" dirty="0">
                <a:solidFill>
                  <a:schemeClr val="tx1"/>
                </a:solidFill>
              </a:rPr>
              <a:t>8–12 participants, including their own voice commands</a:t>
            </a:r>
            <a:endParaRPr lang="en-US" sz="1700" dirty="0"/>
          </a:p>
        </p:txBody>
      </p:sp>
      <p:sp>
        <p:nvSpPr>
          <p:cNvPr id="14" name="More banknotes circle"/>
          <p:cNvSpPr/>
          <p:nvPr/>
        </p:nvSpPr>
        <p:spPr>
          <a:xfrm>
            <a:off x="6903720" y="1691640"/>
            <a:ext cx="1463040" cy="1463040"/>
          </a:xfrm>
          <a:prstGeom prst="ellipse">
            <a:avLst/>
          </a:prstGeom>
          <a:solidFill>
            <a:srgbClr val="006A4E"/>
          </a:solidFill>
          <a:ln w="12700">
            <a:solidFill>
              <a:srgbClr val="006A4E"/>
            </a:solidFill>
            <a:prstDash val="solid"/>
          </a:ln>
        </p:spPr>
      </p:sp>
      <p:pic>
        <p:nvPicPr>
          <p:cNvPr id="15" name="More banknotes icon" descr="preencoded.png">    </p:cNvPr>
          <p:cNvPicPr>
            <a:picLocks noChangeAspect="1"/>
          </p:cNvPicPr>
          <p:nvPr/>
        </p:nvPicPr>
        <p:blipFill>
          <a:blip r:embed="rId3"/>
          <a:stretch>
            <a:fillRect/>
          </a:stretch>
        </p:blipFill>
        <p:spPr>
          <a:xfrm>
            <a:off x="7254850" y="2042770"/>
            <a:ext cx="760781" cy="760781"/>
          </a:xfrm>
          <a:prstGeom prst="rect">
            <a:avLst/>
          </a:prstGeom>
        </p:spPr>
      </p:pic>
      <p:sp>
        <p:nvSpPr>
          <p:cNvPr id="16" name="More banknotes number"/>
          <p:cNvSpPr txBox="1"/>
          <p:nvPr/>
        </p:nvSpPr>
        <p:spPr>
          <a:xfrm>
            <a:off x="8055864" y="1600200"/>
            <a:ext cx="457200" cy="457200"/>
          </a:xfrm>
          <a:prstGeom prst="ellipse">
            <a:avLst/>
          </a:prstGeom>
          <a:solidFill>
            <a:srgbClr val="0B4D3B"/>
          </a:solidFill>
          <a:ln w="25400">
            <a:solidFill>
              <a:srgbClr val="FFFFFF"/>
            </a:solid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More banknotes heading"/>
          <p:cNvSpPr txBox="1"/>
          <p:nvPr/>
        </p:nvSpPr>
        <p:spPr>
          <a:xfrm>
            <a:off x="6181344" y="3383280"/>
            <a:ext cx="2907792" cy="502920"/>
          </a:xfrm>
          <a:prstGeom prst="rect">
            <a:avLst/>
          </a:prstGeom>
          <a:noFill/>
          <a:ln/>
        </p:spPr>
        <p:txBody>
          <a:bodyPr wrap="square" lIns="0" tIns="0" rIns="0" bIns="0" rtlCol="0" anchor="ctr"/>
          <a:lstStyle/>
          <a:p>
            <a:pPr algn="ctr" indent="0" marL="0">
              <a:buNone/>
            </a:pPr>
            <a:r>
              <a:rPr lang="en-US" sz="2400" b="1" dirty="0">
                <a:solidFill>
                  <a:schemeClr val="tx2"/>
                </a:solidFill>
                <a:latin typeface="Cambria" pitchFamily="34" charset="0"/>
                <a:ea typeface="Cambria" pitchFamily="34" charset="-122"/>
                <a:cs typeface="Cambria" pitchFamily="34" charset="-120"/>
              </a:rPr>
              <a:t>More banknotes</a:t>
            </a:r>
            <a:endParaRPr lang="en-US" sz="2400" dirty="0"/>
          </a:p>
        </p:txBody>
      </p:sp>
      <p:sp>
        <p:nvSpPr>
          <p:cNvPr id="18" name="More banknotes text"/>
          <p:cNvSpPr txBox="1"/>
          <p:nvPr/>
        </p:nvSpPr>
        <p:spPr>
          <a:xfrm>
            <a:off x="6318504" y="3977640"/>
            <a:ext cx="2633472" cy="1097280"/>
          </a:xfrm>
          <a:prstGeom prst="rect">
            <a:avLst/>
          </a:prstGeom>
          <a:noFill/>
          <a:ln/>
        </p:spPr>
        <p:txBody>
          <a:bodyPr wrap="square" lIns="0" tIns="0" rIns="0" bIns="0" rtlCol="0" anchor="t"/>
          <a:lstStyle/>
          <a:p>
            <a:pPr algn="ctr" indent="0" marL="0">
              <a:buNone/>
            </a:pPr>
            <a:r>
              <a:rPr lang="en-US" sz="1700" dirty="0">
                <a:solidFill>
                  <a:schemeClr val="tx1"/>
                </a:solidFill>
              </a:rPr>
              <a:t>Unseen counterfeit prints; UV check on real fakes</a:t>
            </a:r>
            <a:endParaRPr lang="en-US" sz="1700" dirty="0"/>
          </a:p>
        </p:txBody>
      </p:sp>
      <p:sp>
        <p:nvSpPr>
          <p:cNvPr id="19" name="Speed and cooling circle"/>
          <p:cNvSpPr/>
          <p:nvPr/>
        </p:nvSpPr>
        <p:spPr>
          <a:xfrm>
            <a:off x="9720072" y="1691640"/>
            <a:ext cx="1463040" cy="1463040"/>
          </a:xfrm>
          <a:prstGeom prst="ellipse">
            <a:avLst/>
          </a:prstGeom>
          <a:solidFill>
            <a:srgbClr val="3A8F72"/>
          </a:solidFill>
          <a:ln w="12700">
            <a:solidFill>
              <a:srgbClr val="3A8F72"/>
            </a:solidFill>
            <a:prstDash val="solid"/>
          </a:ln>
        </p:spPr>
      </p:sp>
      <p:pic>
        <p:nvPicPr>
          <p:cNvPr id="20" name="Speed and cooling icon" descr="preencoded.png">    </p:cNvPr>
          <p:cNvPicPr>
            <a:picLocks noChangeAspect="1"/>
          </p:cNvPicPr>
          <p:nvPr/>
        </p:nvPicPr>
        <p:blipFill>
          <a:blip r:embed="rId4"/>
          <a:stretch>
            <a:fillRect/>
          </a:stretch>
        </p:blipFill>
        <p:spPr>
          <a:xfrm>
            <a:off x="10071202" y="2042770"/>
            <a:ext cx="760781" cy="760781"/>
          </a:xfrm>
          <a:prstGeom prst="rect">
            <a:avLst/>
          </a:prstGeom>
        </p:spPr>
      </p:pic>
      <p:sp>
        <p:nvSpPr>
          <p:cNvPr id="21" name="Speed and cooling number"/>
          <p:cNvSpPr txBox="1"/>
          <p:nvPr/>
        </p:nvSpPr>
        <p:spPr>
          <a:xfrm>
            <a:off x="10872216" y="1600200"/>
            <a:ext cx="457200" cy="457200"/>
          </a:xfrm>
          <a:prstGeom prst="ellipse">
            <a:avLst/>
          </a:prstGeom>
          <a:solidFill>
            <a:srgbClr val="0B4D3B"/>
          </a:solidFill>
          <a:ln w="25400">
            <a:solidFill>
              <a:srgbClr val="FFFFFF"/>
            </a:solid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2" name="Speed and cooling heading"/>
          <p:cNvSpPr txBox="1"/>
          <p:nvPr/>
        </p:nvSpPr>
        <p:spPr>
          <a:xfrm>
            <a:off x="8997696" y="3383280"/>
            <a:ext cx="2907792" cy="502920"/>
          </a:xfrm>
          <a:prstGeom prst="rect">
            <a:avLst/>
          </a:prstGeom>
          <a:noFill/>
          <a:ln/>
        </p:spPr>
        <p:txBody>
          <a:bodyPr wrap="square" lIns="0" tIns="0" rIns="0" bIns="0" rtlCol="0" anchor="ctr"/>
          <a:lstStyle/>
          <a:p>
            <a:pPr algn="ctr" indent="0" marL="0">
              <a:buNone/>
            </a:pPr>
            <a:r>
              <a:rPr lang="en-US" sz="2400" b="1" dirty="0">
                <a:solidFill>
                  <a:schemeClr val="tx2"/>
                </a:solidFill>
                <a:latin typeface="Cambria" pitchFamily="34" charset="0"/>
                <a:ea typeface="Cambria" pitchFamily="34" charset="-122"/>
                <a:cs typeface="Cambria" pitchFamily="34" charset="-120"/>
              </a:rPr>
              <a:t>Speed and cooling</a:t>
            </a:r>
            <a:endParaRPr lang="en-US" sz="2400" dirty="0"/>
          </a:p>
        </p:txBody>
      </p:sp>
      <p:sp>
        <p:nvSpPr>
          <p:cNvPr id="23" name="Speed and cooling text"/>
          <p:cNvSpPr txBox="1"/>
          <p:nvPr/>
        </p:nvSpPr>
        <p:spPr>
          <a:xfrm>
            <a:off x="9134856" y="3977640"/>
            <a:ext cx="2633472" cy="1097280"/>
          </a:xfrm>
          <a:prstGeom prst="rect">
            <a:avLst/>
          </a:prstGeom>
          <a:noFill/>
          <a:ln/>
        </p:spPr>
        <p:txBody>
          <a:bodyPr wrap="square" lIns="0" tIns="0" rIns="0" bIns="0" rtlCol="0" anchor="t"/>
          <a:lstStyle/>
          <a:p>
            <a:pPr algn="ctr" indent="0" marL="0">
              <a:buNone/>
            </a:pPr>
            <a:r>
              <a:rPr lang="en-US" sz="1700" dirty="0">
                <a:solidFill>
                  <a:schemeClr val="tx1"/>
                </a:solidFill>
              </a:rPr>
              <a:t>Time the new code on the Pi; better cooling; battery</a:t>
            </a:r>
            <a:endParaRPr lang="en-US" sz="1700" dirty="0"/>
          </a:p>
        </p:txBody>
      </p:sp>
      <p:sp>
        <p:nvSpPr>
          <p:cNvPr id="24" name="Status line"/>
          <p:cNvSpPr txBox="1"/>
          <p:nvPr/>
        </p:nvSpPr>
        <p:spPr>
          <a:xfrm>
            <a:off x="548640" y="5120640"/>
            <a:ext cx="11064240" cy="594360"/>
          </a:xfrm>
          <a:prstGeom prst="roundRect">
            <a:avLst>
              <a:gd name="adj" fmla="val 15385"/>
            </a:avLst>
          </a:prstGeom>
          <a:solidFill>
            <a:srgbClr val="EEF5F1"/>
          </a:solidFill>
          <a:ln>
            <a:solidFill>
              <a:srgbClr val="EEF5F1"/>
            </a:solidFill>
          </a:ln>
        </p:spPr>
        <p:txBody>
          <a:bodyPr wrap="square" lIns="0" tIns="0" rIns="0" bIns="0" rtlCol="0" anchor="ctr"/>
          <a:lstStyle/>
          <a:p>
            <a:pPr algn="ctr" indent="0" marL="0">
              <a:buNone/>
            </a:pPr>
            <a:r>
              <a:rPr lang="en-US" sz="1700" b="1" dirty="0">
                <a:solidFill>
                  <a:srgbClr val="006A4E"/>
                </a:solidFill>
              </a:rPr>
              <a:t>Done: </a:t>
            </a:r>
            <a:pPr algn="ctr" indent="0" marL="0">
              <a:buNone/>
            </a:pPr>
            <a:r>
              <a:rPr lang="en-US" sz="1700" dirty="0">
                <a:solidFill>
                  <a:srgbClr val="1C2321"/>
                </a:solidFill>
              </a:rPr>
              <a:t>engineering tests     </a:t>
            </a:r>
            <a:pPr algn="ctr" indent="0" marL="0">
              <a:buNone/>
            </a:pPr>
            <a:r>
              <a:rPr lang="en-US" sz="1700" b="1" dirty="0">
                <a:solidFill>
                  <a:srgbClr val="B07D00"/>
                </a:solidFill>
              </a:rPr>
              <a:t>In progress: </a:t>
            </a:r>
            <a:pPr algn="ctr" indent="0" marL="0">
              <a:buNone/>
            </a:pPr>
            <a:r>
              <a:rPr lang="en-US" sz="1700" dirty="0">
                <a:solidFill>
                  <a:srgbClr val="1C2321"/>
                </a:solidFill>
              </a:rPr>
              <a:t>participant trials     </a:t>
            </a:r>
            <a:pPr algn="ctr" indent="0" marL="0">
              <a:buNone/>
            </a:pPr>
            <a:r>
              <a:rPr lang="en-US" sz="1700" b="1" dirty="0">
                <a:solidFill>
                  <a:srgbClr val="0B4D3B"/>
                </a:solidFill>
              </a:rPr>
              <a:t>Future: </a:t>
            </a:r>
            <a:pPr algn="ctr" indent="0" marL="0">
              <a:buNone/>
            </a:pPr>
            <a:r>
              <a:rPr lang="en-US" sz="1700" dirty="0">
                <a:solidFill>
                  <a:srgbClr val="1C2321"/>
                </a:solidFill>
              </a:rPr>
              <a:t>the four steps above</a:t>
            </a:r>
            <a:endParaRPr lang="en-US" sz="17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22</a:t>
            </a:fld>
            <a:endParaRPr lang="en-US"/>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Conclusion</a:t>
            </a:r>
            <a:endParaRPr lang="en-US" sz="3000" dirty="0"/>
          </a:p>
        </p:txBody>
      </p:sp>
      <p:pic>
        <p:nvPicPr>
          <p:cNvPr id="3" name="Second prototype" descr="E:\Final SP\Thesis Report and paper\tools\deck\assets/v2_collage.jpg">    </p:cNvPr>
          <p:cNvPicPr>
            <a:picLocks noChangeAspect="1"/>
          </p:cNvPicPr>
          <p:nvPr/>
        </p:nvPicPr>
        <p:blipFill>
          <a:blip r:embed="rId1"/>
          <a:srcRect l="0" r="0" t="0" b="0"/>
          <a:stretch/>
        </p:blipFill>
        <p:spPr>
          <a:xfrm>
            <a:off x="548640" y="1280160"/>
            <a:ext cx="3749040" cy="4754880"/>
          </a:xfrm>
          <a:prstGeom prst="rect">
            <a:avLst/>
          </a:prstGeom>
        </p:spPr>
      </p:pic>
      <p:sp>
        <p:nvSpPr>
          <p:cNvPr id="4" name="Built card"/>
          <p:cNvSpPr/>
          <p:nvPr/>
        </p:nvSpPr>
        <p:spPr>
          <a:xfrm>
            <a:off x="4663440" y="1280160"/>
            <a:ext cx="6949440" cy="1463040"/>
          </a:xfrm>
          <a:prstGeom prst="roundRect">
            <a:avLst>
              <a:gd name="adj" fmla="val 7500"/>
            </a:avLst>
          </a:prstGeom>
          <a:solidFill>
            <a:schemeClr val="bg2"/>
          </a:solidFill>
          <a:ln w="12700">
            <a:solidFill>
              <a:schemeClr val="bg2"/>
            </a:solidFill>
            <a:prstDash val="solid"/>
          </a:ln>
        </p:spPr>
      </p:sp>
      <p:sp>
        <p:nvSpPr>
          <p:cNvPr id="5" name="Built circle"/>
          <p:cNvSpPr/>
          <p:nvPr/>
        </p:nvSpPr>
        <p:spPr>
          <a:xfrm>
            <a:off x="4892040" y="1645920"/>
            <a:ext cx="731520" cy="731520"/>
          </a:xfrm>
          <a:prstGeom prst="ellipse">
            <a:avLst/>
          </a:prstGeom>
          <a:solidFill>
            <a:srgbClr val="006A4E"/>
          </a:solidFill>
          <a:ln w="12700">
            <a:solidFill>
              <a:srgbClr val="006A4E"/>
            </a:solidFill>
            <a:prstDash val="solid"/>
          </a:ln>
        </p:spPr>
      </p:sp>
      <p:pic>
        <p:nvPicPr>
          <p:cNvPr id="6" name="Built icon" descr="preencoded.png">    </p:cNvPr>
          <p:cNvPicPr>
            <a:picLocks noChangeAspect="1"/>
          </p:cNvPicPr>
          <p:nvPr/>
        </p:nvPicPr>
        <p:blipFill>
          <a:blip r:embed="rId2"/>
          <a:stretch>
            <a:fillRect/>
          </a:stretch>
        </p:blipFill>
        <p:spPr>
          <a:xfrm>
            <a:off x="5067605" y="1821485"/>
            <a:ext cx="380390" cy="380390"/>
          </a:xfrm>
          <a:prstGeom prst="rect">
            <a:avLst/>
          </a:prstGeom>
        </p:spPr>
      </p:pic>
      <p:sp>
        <p:nvSpPr>
          <p:cNvPr id="7" name="Built heading"/>
          <p:cNvSpPr txBox="1"/>
          <p:nvPr/>
        </p:nvSpPr>
        <p:spPr>
          <a:xfrm>
            <a:off x="5852160" y="1463040"/>
            <a:ext cx="557784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Built</a:t>
            </a:r>
            <a:endParaRPr lang="en-US" sz="2200" dirty="0"/>
          </a:p>
        </p:txBody>
      </p:sp>
      <p:sp>
        <p:nvSpPr>
          <p:cNvPr id="8" name="Built text"/>
          <p:cNvSpPr txBox="1"/>
          <p:nvPr/>
        </p:nvSpPr>
        <p:spPr>
          <a:xfrm>
            <a:off x="5852160" y="1965960"/>
            <a:ext cx="5577840" cy="685800"/>
          </a:xfrm>
          <a:prstGeom prst="rect">
            <a:avLst/>
          </a:prstGeom>
          <a:noFill/>
          <a:ln/>
        </p:spPr>
        <p:txBody>
          <a:bodyPr wrap="square" lIns="0" tIns="0" rIns="0" bIns="0" rtlCol="0" anchor="t"/>
          <a:lstStyle/>
          <a:p>
            <a:pPr indent="0" marL="0">
              <a:buNone/>
            </a:pPr>
            <a:r>
              <a:rPr lang="en-US" sz="1700" dirty="0">
                <a:solidFill>
                  <a:schemeClr val="tx1"/>
                </a:solidFill>
              </a:rPr>
              <a:t>An offline Raspberry Pi 5 glass that reads Bangla and English, names objects and Taka notes, and speaks Bangla</a:t>
            </a:r>
            <a:endParaRPr lang="en-US" sz="1700" dirty="0"/>
          </a:p>
        </p:txBody>
      </p:sp>
      <p:sp>
        <p:nvSpPr>
          <p:cNvPr id="9" name="Investigated card"/>
          <p:cNvSpPr/>
          <p:nvPr/>
        </p:nvSpPr>
        <p:spPr>
          <a:xfrm>
            <a:off x="4663440" y="2907792"/>
            <a:ext cx="6949440" cy="1463040"/>
          </a:xfrm>
          <a:prstGeom prst="roundRect">
            <a:avLst>
              <a:gd name="adj" fmla="val 7500"/>
            </a:avLst>
          </a:prstGeom>
          <a:solidFill>
            <a:schemeClr val="bg2"/>
          </a:solidFill>
          <a:ln w="12700">
            <a:solidFill>
              <a:schemeClr val="bg2"/>
            </a:solidFill>
            <a:prstDash val="solid"/>
          </a:ln>
        </p:spPr>
      </p:sp>
      <p:sp>
        <p:nvSpPr>
          <p:cNvPr id="10" name="Investigated circle"/>
          <p:cNvSpPr/>
          <p:nvPr/>
        </p:nvSpPr>
        <p:spPr>
          <a:xfrm>
            <a:off x="4892040" y="3273552"/>
            <a:ext cx="731520" cy="731520"/>
          </a:xfrm>
          <a:prstGeom prst="ellipse">
            <a:avLst/>
          </a:prstGeom>
          <a:solidFill>
            <a:srgbClr val="006A4E"/>
          </a:solidFill>
          <a:ln w="12700">
            <a:solidFill>
              <a:srgbClr val="006A4E"/>
            </a:solidFill>
            <a:prstDash val="solid"/>
          </a:ln>
        </p:spPr>
      </p:sp>
      <p:pic>
        <p:nvPicPr>
          <p:cNvPr id="11" name="Investigated icon" descr="preencoded.png">    </p:cNvPr>
          <p:cNvPicPr>
            <a:picLocks noChangeAspect="1"/>
          </p:cNvPicPr>
          <p:nvPr/>
        </p:nvPicPr>
        <p:blipFill>
          <a:blip r:embed="rId3"/>
          <a:stretch>
            <a:fillRect/>
          </a:stretch>
        </p:blipFill>
        <p:spPr>
          <a:xfrm>
            <a:off x="5067605" y="3449117"/>
            <a:ext cx="380390" cy="380390"/>
          </a:xfrm>
          <a:prstGeom prst="rect">
            <a:avLst/>
          </a:prstGeom>
        </p:spPr>
      </p:pic>
      <p:sp>
        <p:nvSpPr>
          <p:cNvPr id="12" name="Investigated heading"/>
          <p:cNvSpPr txBox="1"/>
          <p:nvPr/>
        </p:nvSpPr>
        <p:spPr>
          <a:xfrm>
            <a:off x="5852160" y="3090672"/>
            <a:ext cx="557784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Investigated</a:t>
            </a:r>
            <a:endParaRPr lang="en-US" sz="2200" dirty="0"/>
          </a:p>
        </p:txBody>
      </p:sp>
      <p:sp>
        <p:nvSpPr>
          <p:cNvPr id="13" name="Investigated text"/>
          <p:cNvSpPr txBox="1"/>
          <p:nvPr/>
        </p:nvSpPr>
        <p:spPr>
          <a:xfrm>
            <a:off x="5852160" y="3593592"/>
            <a:ext cx="5577840" cy="685800"/>
          </a:xfrm>
          <a:prstGeom prst="rect">
            <a:avLst/>
          </a:prstGeom>
          <a:noFill/>
          <a:ln/>
        </p:spPr>
        <p:txBody>
          <a:bodyPr wrap="square" lIns="0" tIns="0" rIns="0" bIns="0" rtlCol="0" anchor="t"/>
          <a:lstStyle/>
          <a:p>
            <a:pPr indent="0" marL="0">
              <a:buNone/>
            </a:pPr>
            <a:r>
              <a:rPr lang="en-US" sz="1700" dirty="0">
                <a:solidFill>
                  <a:schemeClr val="tx1"/>
                </a:solidFill>
              </a:rPr>
              <a:t>Synthetic training data, prefix training, unseen prints, a safe verdict, DMWR, hand-held notes, OCR, voice</a:t>
            </a:r>
            <a:endParaRPr lang="en-US" sz="1700" dirty="0"/>
          </a:p>
        </p:txBody>
      </p:sp>
      <p:sp>
        <p:nvSpPr>
          <p:cNvPr id="14" name="Still to validate card"/>
          <p:cNvSpPr/>
          <p:nvPr/>
        </p:nvSpPr>
        <p:spPr>
          <a:xfrm>
            <a:off x="4663440" y="4535424"/>
            <a:ext cx="6949440" cy="1463040"/>
          </a:xfrm>
          <a:prstGeom prst="roundRect">
            <a:avLst>
              <a:gd name="adj" fmla="val 7500"/>
            </a:avLst>
          </a:prstGeom>
          <a:solidFill>
            <a:schemeClr val="bg2"/>
          </a:solidFill>
          <a:ln w="12700">
            <a:solidFill>
              <a:schemeClr val="bg2"/>
            </a:solidFill>
            <a:prstDash val="solid"/>
          </a:ln>
        </p:spPr>
      </p:sp>
      <p:sp>
        <p:nvSpPr>
          <p:cNvPr id="15" name="Still to validate circle"/>
          <p:cNvSpPr/>
          <p:nvPr/>
        </p:nvSpPr>
        <p:spPr>
          <a:xfrm>
            <a:off x="4892040" y="4901184"/>
            <a:ext cx="731520" cy="731520"/>
          </a:xfrm>
          <a:prstGeom prst="ellipse">
            <a:avLst/>
          </a:prstGeom>
          <a:solidFill>
            <a:srgbClr val="3A8F72"/>
          </a:solidFill>
          <a:ln w="12700">
            <a:solidFill>
              <a:srgbClr val="3A8F72"/>
            </a:solidFill>
            <a:prstDash val="solid"/>
          </a:ln>
        </p:spPr>
      </p:sp>
      <p:pic>
        <p:nvPicPr>
          <p:cNvPr id="16" name="Still to validate icon" descr="preencoded.png">    </p:cNvPr>
          <p:cNvPicPr>
            <a:picLocks noChangeAspect="1"/>
          </p:cNvPicPr>
          <p:nvPr/>
        </p:nvPicPr>
        <p:blipFill>
          <a:blip r:embed="rId4"/>
          <a:stretch>
            <a:fillRect/>
          </a:stretch>
        </p:blipFill>
        <p:spPr>
          <a:xfrm>
            <a:off x="5067605" y="5076749"/>
            <a:ext cx="380390" cy="380390"/>
          </a:xfrm>
          <a:prstGeom prst="rect">
            <a:avLst/>
          </a:prstGeom>
        </p:spPr>
      </p:pic>
      <p:sp>
        <p:nvSpPr>
          <p:cNvPr id="17" name="Still to validate heading"/>
          <p:cNvSpPr txBox="1"/>
          <p:nvPr/>
        </p:nvSpPr>
        <p:spPr>
          <a:xfrm>
            <a:off x="5852160" y="4718304"/>
            <a:ext cx="557784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Still to validate</a:t>
            </a:r>
            <a:endParaRPr lang="en-US" sz="2200" dirty="0"/>
          </a:p>
        </p:txBody>
      </p:sp>
      <p:sp>
        <p:nvSpPr>
          <p:cNvPr id="18" name="Still to validate text"/>
          <p:cNvSpPr txBox="1"/>
          <p:nvPr/>
        </p:nvSpPr>
        <p:spPr>
          <a:xfrm>
            <a:off x="5852160" y="5221224"/>
            <a:ext cx="5577840" cy="685800"/>
          </a:xfrm>
          <a:prstGeom prst="rect">
            <a:avLst/>
          </a:prstGeom>
          <a:noFill/>
          <a:ln/>
        </p:spPr>
        <p:txBody>
          <a:bodyPr wrap="square" lIns="0" tIns="0" rIns="0" bIns="0" rtlCol="0" anchor="t"/>
          <a:lstStyle/>
          <a:p>
            <a:pPr indent="0" marL="0">
              <a:buNone/>
            </a:pPr>
            <a:r>
              <a:rPr lang="en-US" sz="1700" dirty="0">
                <a:solidFill>
                  <a:schemeClr val="tx1"/>
                </a:solidFill>
              </a:rPr>
              <a:t>Real counterfeits (also under UV), people's voices, the glass camera, a completed user study</a:t>
            </a:r>
            <a:endParaRPr lang="en-US" sz="17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23</a:t>
            </a:fld>
            <a:endParaRPr lang="en-US"/>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Prototype worn" descr="E:\Final SP\Thesis Report and paper\tools\deck\assets/1_20.jpg">    </p:cNvPr>
          <p:cNvPicPr>
            <a:picLocks noChangeAspect="1"/>
          </p:cNvPicPr>
          <p:nvPr/>
        </p:nvPicPr>
        <p:blipFill>
          <a:blip r:embed="rId1"/>
          <a:srcRect l="0" r="0" t="0" b="0"/>
          <a:stretch/>
        </p:blipFill>
        <p:spPr>
          <a:xfrm>
            <a:off x="7982712" y="0"/>
            <a:ext cx="4206240" cy="6858000"/>
          </a:xfrm>
          <a:prstGeom prst="rect">
            <a:avLst/>
          </a:prstGeom>
        </p:spPr>
      </p:pic>
      <p:sp>
        <p:nvSpPr>
          <p:cNvPr id="3" name="Thanks"/>
          <p:cNvSpPr txBox="1"/>
          <p:nvPr/>
        </p:nvSpPr>
        <p:spPr>
          <a:xfrm>
            <a:off x="685800" y="2194560"/>
            <a:ext cx="68580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4" name="Questions"/>
          <p:cNvSpPr txBox="1"/>
          <p:nvPr/>
        </p:nvSpPr>
        <p:spPr>
          <a:xfrm>
            <a:off x="685800" y="3337560"/>
            <a:ext cx="6858000" cy="548640"/>
          </a:xfrm>
          <a:prstGeom prst="rect">
            <a:avLst/>
          </a:prstGeom>
          <a:noFill/>
          <a:ln/>
        </p:spPr>
        <p:txBody>
          <a:bodyPr wrap="square" lIns="0" tIns="0" rIns="0" bIns="0" rtlCol="0" anchor="ctr"/>
          <a:lstStyle/>
          <a:p>
            <a:pPr indent="0" marL="0">
              <a:buNone/>
            </a:pPr>
            <a:r>
              <a:rPr lang="en-US" sz="2400" dirty="0">
                <a:solidFill>
                  <a:srgbClr val="CFE2DA"/>
                </a:solidFill>
              </a:rPr>
              <a:t>Questions?</a:t>
            </a:r>
            <a:endParaRPr lang="en-US" sz="2400" dirty="0"/>
          </a:p>
        </p:txBody>
      </p:sp>
      <p:sp>
        <p:nvSpPr>
          <p:cNvPr id="5" name="Closing name"/>
          <p:cNvSpPr txBox="1"/>
          <p:nvPr/>
        </p:nvSpPr>
        <p:spPr>
          <a:xfrm>
            <a:off x="685800" y="5852160"/>
            <a:ext cx="6858000" cy="365760"/>
          </a:xfrm>
          <a:prstGeom prst="rect">
            <a:avLst/>
          </a:prstGeom>
          <a:noFill/>
          <a:ln/>
        </p:spPr>
        <p:txBody>
          <a:bodyPr wrap="square" lIns="0" tIns="0" rIns="0" bIns="0" rtlCol="0" anchor="ctr"/>
          <a:lstStyle/>
          <a:p>
            <a:pPr indent="0" marL="0">
              <a:buNone/>
            </a:pPr>
            <a:r>
              <a:rPr lang="en-US" sz="1400" dirty="0">
                <a:solidFill>
                  <a:srgbClr val="9FC2B4"/>
                </a:solidFill>
              </a:rPr>
              <a:t>SARA  ·  Smart Assistive Reading Aid</a:t>
            </a:r>
            <a:endParaRPr lang="en-US" sz="14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References</a:t>
            </a:r>
            <a:endParaRPr lang="en-US" sz="3000" dirty="0"/>
          </a:p>
        </p:txBody>
      </p:sp>
      <p:sp>
        <p:nvSpPr>
          <p:cNvPr id="3" name="References 1"/>
          <p:cNvSpPr txBox="1"/>
          <p:nvPr/>
        </p:nvSpPr>
        <p:spPr>
          <a:xfrm>
            <a:off x="548640" y="1280160"/>
            <a:ext cx="5440680" cy="493776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[1]  World Health Organization. Blindness and vision impairment: fact sheet, 2023.</a:t>
            </a:r>
            <a:endParaRPr lang="en-US" sz="1300" dirty="0"/>
          </a:p>
          <a:p>
            <a:pPr indent="0" marL="0">
              <a:spcAft>
                <a:spcPts val="500"/>
              </a:spcAft>
              <a:buNone/>
            </a:pPr>
            <a:r>
              <a:rPr lang="en-US" sz="1300" dirty="0">
                <a:solidFill>
                  <a:schemeClr val="tx1"/>
                </a:solidFill>
              </a:rPr>
              <a:t>[2]  OrCam Technologies. OrCam MyEye.</a:t>
            </a:r>
            <a:endParaRPr lang="en-US" sz="1300" dirty="0"/>
          </a:p>
          <a:p>
            <a:pPr indent="0" marL="0">
              <a:spcAft>
                <a:spcPts val="500"/>
              </a:spcAft>
              <a:buNone/>
            </a:pPr>
            <a:r>
              <a:rPr lang="en-US" sz="1300" dirty="0">
                <a:solidFill>
                  <a:schemeClr val="tx1"/>
                </a:solidFill>
              </a:rPr>
              <a:t>[3]  Ali A., H. et al. A Google Glass based real-time scene analysis for the visually impaired. IEEE Access 9, 2021.</a:t>
            </a:r>
            <a:endParaRPr lang="en-US" sz="1300" dirty="0"/>
          </a:p>
          <a:p>
            <a:pPr indent="0" marL="0">
              <a:spcAft>
                <a:spcPts val="500"/>
              </a:spcAft>
              <a:buNone/>
            </a:pPr>
            <a:r>
              <a:rPr lang="en-US" sz="1300" dirty="0">
                <a:solidFill>
                  <a:schemeClr val="tx1"/>
                </a:solidFill>
              </a:rPr>
              <a:t>[4]  Brilli, D. D. et al. AIris: an AI-powered wearable assistive device for the visually impaired. arXiv:2405.07606, 2024.</a:t>
            </a:r>
            <a:endParaRPr lang="en-US" sz="1300" dirty="0"/>
          </a:p>
          <a:p>
            <a:pPr indent="0" marL="0">
              <a:spcAft>
                <a:spcPts val="500"/>
              </a:spcAft>
              <a:buNone/>
            </a:pPr>
            <a:r>
              <a:rPr lang="en-US" sz="1300" dirty="0">
                <a:solidFill>
                  <a:schemeClr val="tx1"/>
                </a:solidFill>
              </a:rPr>
              <a:t>[5]  Baek, Y. et al. Character region awareness for text detection (CRAFT). CVPR, 2019.</a:t>
            </a:r>
            <a:endParaRPr lang="en-US" sz="1300" dirty="0"/>
          </a:p>
          <a:p>
            <a:pPr indent="0" marL="0">
              <a:spcAft>
                <a:spcPts val="500"/>
              </a:spcAft>
              <a:buNone/>
            </a:pPr>
            <a:r>
              <a:rPr lang="en-US" sz="1300" dirty="0">
                <a:solidFill>
                  <a:schemeClr val="tx1"/>
                </a:solidFill>
              </a:rPr>
              <a:t>[6]  JaidedAI. EasyOCR: ready-to-use OCR with 80+ languages.</a:t>
            </a:r>
            <a:endParaRPr lang="en-US" sz="1300" dirty="0"/>
          </a:p>
          <a:p>
            <a:pPr indent="0" marL="0">
              <a:spcAft>
                <a:spcPts val="500"/>
              </a:spcAft>
              <a:buNone/>
            </a:pPr>
            <a:r>
              <a:rPr lang="en-US" sz="1300" dirty="0">
                <a:solidFill>
                  <a:schemeClr val="tx1"/>
                </a:solidFill>
              </a:rPr>
              <a:t>[7]  Jocher, G., Chaurasia, A., Qiu, J. Ultralytics YOLOv8.</a:t>
            </a:r>
            <a:endParaRPr lang="en-US" sz="1300" dirty="0"/>
          </a:p>
          <a:p>
            <a:pPr indent="0" marL="0">
              <a:spcAft>
                <a:spcPts val="500"/>
              </a:spcAft>
              <a:buNone/>
            </a:pPr>
            <a:r>
              <a:rPr lang="en-US" sz="1300" dirty="0">
                <a:solidFill>
                  <a:schemeClr val="tx1"/>
                </a:solidFill>
              </a:rPr>
              <a:t>[8]  Lin, T.-Y. et al. Microsoft COCO: common objects in context. ECCV, 2014.</a:t>
            </a:r>
            <a:endParaRPr lang="en-US" sz="1300" dirty="0"/>
          </a:p>
          <a:p>
            <a:pPr indent="0" marL="0">
              <a:spcAft>
                <a:spcPts val="500"/>
              </a:spcAft>
              <a:buNone/>
            </a:pPr>
            <a:r>
              <a:rPr lang="en-US" sz="1300" dirty="0">
                <a:solidFill>
                  <a:schemeClr val="tx1"/>
                </a:solidFill>
              </a:rPr>
              <a:t>[9]  Li, S., Deng, W., Du, J. Reliable crowdsourcing and deep locality-preserving learning for expression recognition in the wild (RAF-DB). CVPR, 2017.</a:t>
            </a:r>
            <a:endParaRPr lang="en-US" sz="1300" dirty="0"/>
          </a:p>
          <a:p>
            <a:pPr indent="0" marL="0">
              <a:spcAft>
                <a:spcPts val="500"/>
              </a:spcAft>
              <a:buNone/>
            </a:pPr>
            <a:r>
              <a:rPr lang="en-US" sz="1300" dirty="0">
                <a:solidFill>
                  <a:schemeClr val="tx1"/>
                </a:solidFill>
              </a:rPr>
              <a:t>[10]  Rhasspy. Piper: a fast, local neural text-to-speech system.</a:t>
            </a:r>
            <a:endParaRPr lang="en-US" sz="1300" dirty="0"/>
          </a:p>
          <a:p>
            <a:pPr indent="0" marL="0">
              <a:spcAft>
                <a:spcPts val="500"/>
              </a:spcAft>
              <a:buNone/>
            </a:pPr>
            <a:r>
              <a:rPr lang="en-US" sz="1300" dirty="0">
                <a:solidFill>
                  <a:schemeClr val="tx1"/>
                </a:solidFill>
              </a:rPr>
              <a:t>[11]  eSpeak NG text-to-speech.</a:t>
            </a:r>
            <a:endParaRPr lang="en-US" sz="1300" dirty="0"/>
          </a:p>
          <a:p>
            <a:pPr indent="0" marL="0">
              <a:spcAft>
                <a:spcPts val="500"/>
              </a:spcAft>
              <a:buNone/>
            </a:pPr>
            <a:r>
              <a:rPr lang="en-US" sz="1300" dirty="0">
                <a:solidFill>
                  <a:schemeClr val="tx1"/>
                </a:solidFill>
              </a:rPr>
              <a:t>[12]  A diverse image dataset for Bangladeshi currency recognition (BanglaTaka). Mendeley Data.</a:t>
            </a:r>
            <a:endParaRPr lang="en-US" sz="1300" dirty="0"/>
          </a:p>
        </p:txBody>
      </p:sp>
      <p:sp>
        <p:nvSpPr>
          <p:cNvPr id="4" name="References 2"/>
          <p:cNvSpPr txBox="1"/>
          <p:nvPr/>
        </p:nvSpPr>
        <p:spPr>
          <a:xfrm>
            <a:off x="6172200" y="1280160"/>
            <a:ext cx="5440680" cy="493776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[13]  Rafi, M. J. A., Rony, M., Majadi, N. NSTU-BDTAKA: an open dataset for Bangladeshi paper currency detection and recognition. Data in Brief 55, 2024.</a:t>
            </a:r>
            <a:endParaRPr lang="en-US" sz="1300" dirty="0"/>
          </a:p>
          <a:p>
            <a:pPr indent="0" marL="0">
              <a:spcAft>
                <a:spcPts val="500"/>
              </a:spcAft>
              <a:buNone/>
            </a:pPr>
            <a:r>
              <a:rPr lang="en-US" sz="1300" dirty="0">
                <a:solidFill>
                  <a:schemeClr val="tx1"/>
                </a:solidFill>
              </a:rPr>
              <a:t>[14]  Piyas, B. R. C. et al. JaalTaka: a benchmark dataset for detecting counterfeit Bangladeshi banknotes. Mendeley Data V2, 2025.</a:t>
            </a:r>
            <a:endParaRPr lang="en-US" sz="1300" dirty="0"/>
          </a:p>
          <a:p>
            <a:pPr indent="0" marL="0">
              <a:spcAft>
                <a:spcPts val="500"/>
              </a:spcAft>
              <a:buNone/>
            </a:pPr>
            <a:r>
              <a:rPr lang="en-US" sz="1300" dirty="0">
                <a:solidFill>
                  <a:schemeClr val="tx1"/>
                </a:solidFill>
              </a:rPr>
              <a:t>[15]  Piyas, B. R. C. et al. JaalTaka: a benchmark dataset for detecting counterfeit Bangladeshi banknotes. Data in Brief 64, 112377, 2026.</a:t>
            </a:r>
            <a:endParaRPr lang="en-US" sz="1300" dirty="0"/>
          </a:p>
          <a:p>
            <a:pPr indent="0" marL="0">
              <a:spcAft>
                <a:spcPts val="500"/>
              </a:spcAft>
              <a:buNone/>
            </a:pPr>
            <a:r>
              <a:rPr lang="en-US" sz="1300" dirty="0">
                <a:solidFill>
                  <a:schemeClr val="tx1"/>
                </a:solidFill>
              </a:rPr>
              <a:t>[16]  Uddin, M. S., Das, P. P., Roney, M. S. A. Image-based approach for the detection of counterfeit banknotes of Bangladesh. ICIEV, 2016.</a:t>
            </a:r>
            <a:endParaRPr lang="en-US" sz="1300" dirty="0"/>
          </a:p>
          <a:p>
            <a:pPr indent="0" marL="0">
              <a:spcAft>
                <a:spcPts val="500"/>
              </a:spcAft>
              <a:buNone/>
            </a:pPr>
            <a:r>
              <a:rPr lang="en-US" sz="1300" dirty="0">
                <a:solidFill>
                  <a:schemeClr val="tx1"/>
                </a:solidFill>
              </a:rPr>
              <a:t>[17]  Pathak, A. et al. Enhanced counterfeit detection of Bangladesh currency through convolutional neural networks. IJIRCST 12(2), 2024.</a:t>
            </a:r>
            <a:endParaRPr lang="en-US" sz="1300" dirty="0"/>
          </a:p>
          <a:p>
            <a:pPr indent="0" marL="0">
              <a:spcAft>
                <a:spcPts val="500"/>
              </a:spcAft>
              <a:buNone/>
            </a:pPr>
            <a:r>
              <a:rPr lang="en-US" sz="1300" dirty="0">
                <a:solidFill>
                  <a:schemeClr val="tx1"/>
                </a:solidFill>
              </a:rPr>
              <a:t>[18]  Sandler, M. et al. MobileNetV2: inverted residuals and linear bottlenecks. CVPR, 2018.</a:t>
            </a:r>
            <a:endParaRPr lang="en-US" sz="1300" dirty="0"/>
          </a:p>
          <a:p>
            <a:pPr indent="0" marL="0">
              <a:spcAft>
                <a:spcPts val="500"/>
              </a:spcAft>
              <a:buNone/>
            </a:pPr>
            <a:r>
              <a:rPr lang="en-US" sz="1300" dirty="0">
                <a:solidFill>
                  <a:schemeClr val="tx1"/>
                </a:solidFill>
              </a:rPr>
              <a:t>[19]  Chowdhury, A. A. et al. Evaluation of deep learning models on UV ink: a fake money detection scheme with RPN. ICCA (ACM), 2022.</a:t>
            </a:r>
            <a:endParaRPr lang="en-US" sz="1300" dirty="0"/>
          </a:p>
          <a:p>
            <a:pPr indent="0" marL="0">
              <a:spcAft>
                <a:spcPts val="500"/>
              </a:spcAft>
              <a:buNone/>
            </a:pPr>
            <a:r>
              <a:rPr lang="en-US" sz="1300" dirty="0">
                <a:solidFill>
                  <a:schemeClr val="tx1"/>
                </a:solidFill>
              </a:rPr>
              <a:t>[20]  Mutanen, J., Jaaskelainen, T., Parkkinen, J. P. S. Luminescent security properties of banknotes. IS&amp;T PICS Conference, 2003, pp. 421-424.</a:t>
            </a:r>
            <a:endParaRPr lang="en-US" sz="1300" dirty="0"/>
          </a:p>
          <a:p>
            <a:pPr indent="0" marL="0">
              <a:spcAft>
                <a:spcPts val="500"/>
              </a:spcAft>
              <a:buNone/>
            </a:pPr>
            <a:r>
              <a:rPr lang="en-US" sz="1300" dirty="0">
                <a:solidFill>
                  <a:schemeClr val="tx1"/>
                </a:solidFill>
              </a:rPr>
              <a:t>[21]  Nayef, N. et al. ICDAR2019 robust reading challenge on multi-lingual scene text (RRC-MLT-2019). ICDAR, 2019.</a:t>
            </a:r>
            <a:endParaRPr lang="en-US" sz="1300" dirty="0"/>
          </a:p>
          <a:p>
            <a:pPr indent="0" marL="0">
              <a:spcAft>
                <a:spcPts val="500"/>
              </a:spcAft>
              <a:buNone/>
            </a:pPr>
            <a:r>
              <a:rPr lang="en-US" sz="1300" dirty="0">
                <a:solidFill>
                  <a:schemeClr val="tx1"/>
                </a:solidFill>
              </a:rPr>
              <a:t>[22]  Alpha Cephei. Vosk offline speech recognition toolkit.</a:t>
            </a:r>
            <a:endParaRPr lang="en-US" sz="1300" dirty="0"/>
          </a:p>
          <a:p>
            <a:pPr indent="0" marL="0">
              <a:spcAft>
                <a:spcPts val="500"/>
              </a:spcAft>
              <a:buNone/>
            </a:pPr>
            <a:r>
              <a:rPr lang="en-US" sz="1300" dirty="0">
                <a:solidFill>
                  <a:schemeClr val="tx1"/>
                </a:solidFill>
              </a:rPr>
              <a:t>[23]  Piczak, K. J. ESC: dataset for environmental sound classification. ACM Multimedia, 2015.</a:t>
            </a:r>
            <a:endParaRPr lang="en-US" sz="13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25</a:t>
            </a:fld>
            <a:endParaRPr lang="en-US"/>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777240"/>
          </a:xfrm>
          <a:prstGeom prst="rect">
            <a:avLst/>
          </a:prstGeom>
          <a:noFill/>
          <a:ln/>
        </p:spPr>
        <p:txBody>
          <a:bodyPr wrap="square" lIns="0" tIns="0" rIns="0" bIns="0" rtlCol="0" anchor="ctr"/>
          <a:lstStyle/>
          <a:p>
            <a:pPr algn="l" indent="0" marL="0">
              <a:buNone/>
            </a:pPr>
            <a:r>
              <a:rPr lang="en-US" sz="3000" b="1" dirty="0">
                <a:solidFill>
                  <a:schemeClr val="tx2"/>
                </a:solidFill>
                <a:latin typeface="Cambria" pitchFamily="34" charset="0"/>
                <a:ea typeface="Cambria" pitchFamily="34" charset="-122"/>
                <a:cs typeface="Cambria" pitchFamily="34" charset="-120"/>
              </a:rPr>
              <a:t>Links</a:t>
            </a:r>
            <a:endParaRPr lang="en-US" sz="3000" dirty="0"/>
          </a:p>
        </p:txBody>
      </p:sp>
      <p:sp>
        <p:nvSpPr>
          <p:cNvPr id="3" name="Our code and results card"/>
          <p:cNvSpPr/>
          <p:nvPr/>
        </p:nvSpPr>
        <p:spPr>
          <a:xfrm>
            <a:off x="548640" y="1325880"/>
            <a:ext cx="3520440" cy="4663440"/>
          </a:xfrm>
          <a:prstGeom prst="roundRect">
            <a:avLst>
              <a:gd name="adj" fmla="val 3117"/>
            </a:avLst>
          </a:prstGeom>
          <a:solidFill>
            <a:schemeClr val="bg2"/>
          </a:solidFill>
          <a:ln w="12700">
            <a:solidFill>
              <a:schemeClr val="bg2"/>
            </a:solidFill>
            <a:prstDash val="solid"/>
          </a:ln>
        </p:spPr>
      </p:sp>
      <p:pic>
        <p:nvPicPr>
          <p:cNvPr id="4" name="Our code and results icon" descr="preencoded.png">    </p:cNvPr>
          <p:cNvPicPr>
            <a:picLocks noChangeAspect="1"/>
          </p:cNvPicPr>
          <p:nvPr/>
        </p:nvPicPr>
        <p:blipFill>
          <a:blip r:embed="rId1"/>
          <a:stretch>
            <a:fillRect/>
          </a:stretch>
        </p:blipFill>
        <p:spPr>
          <a:xfrm>
            <a:off x="777240" y="1508760"/>
            <a:ext cx="457200" cy="457200"/>
          </a:xfrm>
          <a:prstGeom prst="rect">
            <a:avLst/>
          </a:prstGeom>
        </p:spPr>
      </p:pic>
      <p:sp>
        <p:nvSpPr>
          <p:cNvPr id="5" name="Our code and results heading"/>
          <p:cNvSpPr txBox="1"/>
          <p:nvPr/>
        </p:nvSpPr>
        <p:spPr>
          <a:xfrm>
            <a:off x="1371600" y="1536192"/>
            <a:ext cx="2560320" cy="41148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Our code and results</a:t>
            </a:r>
            <a:endParaRPr lang="en-US" sz="1800" dirty="0"/>
          </a:p>
        </p:txBody>
      </p:sp>
      <p:sp>
        <p:nvSpPr>
          <p:cNvPr id="6" name="Our code and results links"/>
          <p:cNvSpPr txBox="1"/>
          <p:nvPr/>
        </p:nvSpPr>
        <p:spPr>
          <a:xfrm>
            <a:off x="777240" y="2148840"/>
            <a:ext cx="3108960" cy="3703320"/>
          </a:xfrm>
          <a:prstGeom prst="rect">
            <a:avLst/>
          </a:prstGeom>
          <a:noFill/>
          <a:ln/>
        </p:spPr>
        <p:txBody>
          <a:bodyPr wrap="square" lIns="0" tIns="0" rIns="0" bIns="0" rtlCol="0" anchor="t"/>
          <a:lstStyle/>
          <a:p>
            <a:pPr indent="0" marL="0">
              <a:buNone/>
            </a:pPr>
            <a:r>
              <a:rPr lang="en-US" sz="1500" b="1" u="sng" dirty="0">
                <a:solidFill>
                  <a:srgbClr val="006A4E"/>
                </a:solidFill>
                <a:hlinkClick r:id="rId2" invalidUrl="" action="" tgtFrame="" tooltip="https://github.com/aflam330/SARA" history="1" highlightClick="0" endSnd="0">
                  <a:extLst>
                    <a:ext uri="{A12FA001-AC4F-418D-AE19-62706E023703}">
                      <ahyp:hlinkClr xmlns:ahyp="http://schemas.microsoft.com/office/drawing/2018/hyperlinkcolor" val="tx"/>
                    </a:ext>
                  </a:extLst>
                </a:hlinkClick>
              </a:rPr>
              <a:t>SARA: glass software for the Raspberry Pi 5</a:t>
            </a:r>
            <a:endParaRPr lang="en-US" sz="1500" dirty="0"/>
          </a:p>
          <a:p>
            <a:pPr indent="0" marL="0">
              <a:spcAft>
                <a:spcPts val="900"/>
              </a:spcAft>
              <a:buNone/>
            </a:pPr>
            <a:r>
              <a:rPr lang="en-US" sz="1100" dirty="0">
                <a:solidFill>
                  <a:srgbClr val="5E6B66"/>
                </a:solidFill>
              </a:rPr>
              <a:t>github.com/aflam330/SARA</a:t>
            </a:r>
            <a:endParaRPr lang="en-US" sz="1500" dirty="0"/>
          </a:p>
          <a:p>
            <a:pPr indent="0" marL="0">
              <a:buNone/>
            </a:pPr>
            <a:r>
              <a:rPr lang="en-US" sz="1500" b="1" u="sng" dirty="0">
                <a:solidFill>
                  <a:srgbClr val="006A4E"/>
                </a:solidFill>
                <a:hlinkClick r:id="rId3" invalidUrl="" action="" tgtFrame="" tooltip="https://github.com/aflam330/Senior_project_wearable_glass_for_blind_people_using_ocr_and_ylo" history="1" highlightClick="0" endSnd="0">
                  <a:extLst>
                    <a:ext uri="{A12FA001-AC4F-418D-AE19-62706E023703}">
                      <ahyp:hlinkClr xmlns:ahyp="http://schemas.microsoft.com/office/drawing/2018/hyperlinkcolor" val="tx"/>
                    </a:ext>
                  </a:extLst>
                </a:hlinkClick>
              </a:rPr>
              <a:t>Research repository: experiments, results, thesis</a:t>
            </a:r>
            <a:endParaRPr lang="en-US" sz="1500" dirty="0"/>
          </a:p>
          <a:p>
            <a:pPr indent="0" marL="0">
              <a:spcAft>
                <a:spcPts val="900"/>
              </a:spcAft>
              <a:buNone/>
            </a:pPr>
            <a:r>
              <a:rPr lang="en-US" sz="1100" dirty="0">
                <a:solidFill>
                  <a:srgbClr val="5E6B66"/>
                </a:solidFill>
              </a:rPr>
              <a:t>github.com/aflam330/Senior_project_wearable_glass_for_blind_people_using_ocr_and_ylo</a:t>
            </a:r>
            <a:endParaRPr lang="en-US" sz="1500" dirty="0"/>
          </a:p>
        </p:txBody>
      </p:sp>
      <p:sp>
        <p:nvSpPr>
          <p:cNvPr id="7" name="Datasets card"/>
          <p:cNvSpPr/>
          <p:nvPr/>
        </p:nvSpPr>
        <p:spPr>
          <a:xfrm>
            <a:off x="4297680" y="1325880"/>
            <a:ext cx="3520440" cy="4663440"/>
          </a:xfrm>
          <a:prstGeom prst="roundRect">
            <a:avLst>
              <a:gd name="adj" fmla="val 3117"/>
            </a:avLst>
          </a:prstGeom>
          <a:solidFill>
            <a:schemeClr val="bg2"/>
          </a:solidFill>
          <a:ln w="12700">
            <a:solidFill>
              <a:schemeClr val="bg2"/>
            </a:solidFill>
            <a:prstDash val="solid"/>
          </a:ln>
        </p:spPr>
      </p:sp>
      <p:pic>
        <p:nvPicPr>
          <p:cNvPr id="8" name="Datasets icon" descr="preencoded.png">    </p:cNvPr>
          <p:cNvPicPr>
            <a:picLocks noChangeAspect="1"/>
          </p:cNvPicPr>
          <p:nvPr/>
        </p:nvPicPr>
        <p:blipFill>
          <a:blip r:embed="rId4"/>
          <a:stretch>
            <a:fillRect/>
          </a:stretch>
        </p:blipFill>
        <p:spPr>
          <a:xfrm>
            <a:off x="4526280" y="1508760"/>
            <a:ext cx="457200" cy="457200"/>
          </a:xfrm>
          <a:prstGeom prst="rect">
            <a:avLst/>
          </a:prstGeom>
        </p:spPr>
      </p:pic>
      <p:sp>
        <p:nvSpPr>
          <p:cNvPr id="9" name="Datasets heading"/>
          <p:cNvSpPr txBox="1"/>
          <p:nvPr/>
        </p:nvSpPr>
        <p:spPr>
          <a:xfrm>
            <a:off x="5120640" y="1536192"/>
            <a:ext cx="2560320" cy="41148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Datasets</a:t>
            </a:r>
            <a:endParaRPr lang="en-US" sz="1800" dirty="0"/>
          </a:p>
        </p:txBody>
      </p:sp>
      <p:sp>
        <p:nvSpPr>
          <p:cNvPr id="10" name="Datasets links"/>
          <p:cNvSpPr txBox="1"/>
          <p:nvPr/>
        </p:nvSpPr>
        <p:spPr>
          <a:xfrm>
            <a:off x="4526280" y="2148840"/>
            <a:ext cx="3108960" cy="3703320"/>
          </a:xfrm>
          <a:prstGeom prst="rect">
            <a:avLst/>
          </a:prstGeom>
          <a:noFill/>
          <a:ln/>
        </p:spPr>
        <p:txBody>
          <a:bodyPr wrap="square" lIns="0" tIns="0" rIns="0" bIns="0" rtlCol="0" anchor="t"/>
          <a:lstStyle/>
          <a:p>
            <a:pPr indent="0" marL="0">
              <a:buNone/>
            </a:pPr>
            <a:r>
              <a:rPr lang="en-US" sz="1500" b="1" u="sng" dirty="0">
                <a:solidFill>
                  <a:srgbClr val="006A4E"/>
                </a:solidFill>
                <a:hlinkClick r:id="rId5" invalidUrl="" action="" tgtFrame="" tooltip="https://data.mendeley.com/datasets/2m7wk5cy4c/2" history="1" highlightClick="0" endSnd="0">
                  <a:extLst>
                    <a:ext uri="{A12FA001-AC4F-418D-AE19-62706E023703}">
                      <ahyp:hlinkClr xmlns:ahyp="http://schemas.microsoft.com/office/drawing/2018/hyperlinkcolor" val="tx"/>
                    </a:ext>
                  </a:extLst>
                </a:hlinkClick>
              </a:rPr>
              <a:t>JaalTaka (counterfeit notes)</a:t>
            </a:r>
            <a:endParaRPr lang="en-US" sz="1500" dirty="0"/>
          </a:p>
          <a:p>
            <a:pPr indent="0" marL="0">
              <a:spcAft>
                <a:spcPts val="900"/>
              </a:spcAft>
              <a:buNone/>
            </a:pPr>
            <a:r>
              <a:rPr lang="en-US" sz="1100" dirty="0">
                <a:solidFill>
                  <a:srgbClr val="5E6B66"/>
                </a:solidFill>
              </a:rPr>
              <a:t>data.mendeley.com/datasets/2m7wk5cy4c/2</a:t>
            </a:r>
            <a:endParaRPr lang="en-US" sz="1500" dirty="0"/>
          </a:p>
          <a:p>
            <a:pPr indent="0" marL="0">
              <a:buNone/>
            </a:pPr>
            <a:r>
              <a:rPr lang="en-US" sz="1500" b="1" u="sng" dirty="0">
                <a:solidFill>
                  <a:srgbClr val="006A4E"/>
                </a:solidFill>
                <a:hlinkClick r:id="rId6" invalidUrl="" action="" tgtFrame="" tooltip="https://data.mendeley.com/datasets/3cv2sypkkh/1" history="1" highlightClick="0" endSnd="0">
                  <a:extLst>
                    <a:ext uri="{A12FA001-AC4F-418D-AE19-62706E023703}">
                      <ahyp:hlinkClr xmlns:ahyp="http://schemas.microsoft.com/office/drawing/2018/hyperlinkcolor" val="tx"/>
                    </a:ext>
                  </a:extLst>
                </a:hlinkClick>
              </a:rPr>
              <a:t>BanglaTaka (note photos)</a:t>
            </a:r>
            <a:endParaRPr lang="en-US" sz="1500" dirty="0"/>
          </a:p>
          <a:p>
            <a:pPr indent="0" marL="0">
              <a:spcAft>
                <a:spcPts val="900"/>
              </a:spcAft>
              <a:buNone/>
            </a:pPr>
            <a:r>
              <a:rPr lang="en-US" sz="1100" dirty="0">
                <a:solidFill>
                  <a:srgbClr val="5E6B66"/>
                </a:solidFill>
              </a:rPr>
              <a:t>data.mendeley.com/datasets/3cv2sypkkh/1</a:t>
            </a:r>
            <a:endParaRPr lang="en-US" sz="1500" dirty="0"/>
          </a:p>
          <a:p>
            <a:pPr indent="0" marL="0">
              <a:buNone/>
            </a:pPr>
            <a:r>
              <a:rPr lang="en-US" sz="1500" b="1" u="sng" dirty="0">
                <a:solidFill>
                  <a:srgbClr val="006A4E"/>
                </a:solidFill>
                <a:hlinkClick r:id="rId7" invalidUrl="" action="" tgtFrame="" tooltip="https://www.sciencedirect.com/science/article/pii/S2352340924006681" history="1" highlightClick="0" endSnd="0">
                  <a:extLst>
                    <a:ext uri="{A12FA001-AC4F-418D-AE19-62706E023703}">
                      <ahyp:hlinkClr xmlns:ahyp="http://schemas.microsoft.com/office/drawing/2018/hyperlinkcolor" val="tx"/>
                    </a:ext>
                  </a:extLst>
                </a:hlinkClick>
              </a:rPr>
              <a:t>NSTU-BDTAKA (hand-held notes)</a:t>
            </a:r>
            <a:endParaRPr lang="en-US" sz="1500" dirty="0"/>
          </a:p>
          <a:p>
            <a:pPr indent="0" marL="0">
              <a:spcAft>
                <a:spcPts val="900"/>
              </a:spcAft>
              <a:buNone/>
            </a:pPr>
            <a:r>
              <a:rPr lang="en-US" sz="1100" dirty="0">
                <a:solidFill>
                  <a:srgbClr val="5E6B66"/>
                </a:solidFill>
              </a:rPr>
              <a:t>www.sciencedirect.com/science/article/pii/S2352340924006681</a:t>
            </a:r>
            <a:endParaRPr lang="en-US" sz="1500" dirty="0"/>
          </a:p>
          <a:p>
            <a:pPr indent="0" marL="0">
              <a:buNone/>
            </a:pPr>
            <a:r>
              <a:rPr lang="en-US" sz="1500" b="1" u="sng" dirty="0">
                <a:solidFill>
                  <a:srgbClr val="006A4E"/>
                </a:solidFill>
                <a:hlinkClick r:id="rId8" invalidUrl="" action="" tgtFrame="" tooltip="https://cocodataset.org" history="1" highlightClick="0" endSnd="0">
                  <a:extLst>
                    <a:ext uri="{A12FA001-AC4F-418D-AE19-62706E023703}">
                      <ahyp:hlinkClr xmlns:ahyp="http://schemas.microsoft.com/office/drawing/2018/hyperlinkcolor" val="tx"/>
                    </a:ext>
                  </a:extLst>
                </a:hlinkClick>
              </a:rPr>
              <a:t>Microsoft COCO</a:t>
            </a:r>
            <a:endParaRPr lang="en-US" sz="1500" dirty="0"/>
          </a:p>
          <a:p>
            <a:pPr indent="0" marL="0">
              <a:spcAft>
                <a:spcPts val="900"/>
              </a:spcAft>
              <a:buNone/>
            </a:pPr>
            <a:r>
              <a:rPr lang="en-US" sz="1100" dirty="0">
                <a:solidFill>
                  <a:srgbClr val="5E6B66"/>
                </a:solidFill>
              </a:rPr>
              <a:t>cocodataset.org</a:t>
            </a:r>
            <a:endParaRPr lang="en-US" sz="1500" dirty="0"/>
          </a:p>
          <a:p>
            <a:pPr indent="0" marL="0">
              <a:buNone/>
            </a:pPr>
            <a:r>
              <a:rPr lang="en-US" sz="1500" b="1" u="sng" dirty="0">
                <a:solidFill>
                  <a:srgbClr val="006A4E"/>
                </a:solidFill>
                <a:hlinkClick r:id="rId9" invalidUrl="" action="" tgtFrame="" tooltip="https://rrc.cvc.uab.es/?ch=15" history="1" highlightClick="0" endSnd="0">
                  <a:extLst>
                    <a:ext uri="{A12FA001-AC4F-418D-AE19-62706E023703}">
                      <ahyp:hlinkClr xmlns:ahyp="http://schemas.microsoft.com/office/drawing/2018/hyperlinkcolor" val="tx"/>
                    </a:ext>
                  </a:extLst>
                </a:hlinkClick>
              </a:rPr>
              <a:t>ICDAR 2019 MLT</a:t>
            </a:r>
            <a:endParaRPr lang="en-US" sz="1500" dirty="0"/>
          </a:p>
          <a:p>
            <a:pPr indent="0" marL="0">
              <a:spcAft>
                <a:spcPts val="900"/>
              </a:spcAft>
              <a:buNone/>
            </a:pPr>
            <a:r>
              <a:rPr lang="en-US" sz="1100" dirty="0">
                <a:solidFill>
                  <a:srgbClr val="5E6B66"/>
                </a:solidFill>
              </a:rPr>
              <a:t>rrc.cvc.uab.es/?ch=15</a:t>
            </a:r>
            <a:endParaRPr lang="en-US" sz="1500" dirty="0"/>
          </a:p>
          <a:p>
            <a:pPr indent="0" marL="0">
              <a:buNone/>
            </a:pPr>
            <a:r>
              <a:rPr lang="en-US" sz="1500" b="1" u="sng" dirty="0">
                <a:solidFill>
                  <a:srgbClr val="006A4E"/>
                </a:solidFill>
                <a:hlinkClick r:id="rId10" invalidUrl="" action="" tgtFrame="" tooltip="https://github.com/karolpiczak/ESC-50" history="1" highlightClick="0" endSnd="0">
                  <a:extLst>
                    <a:ext uri="{A12FA001-AC4F-418D-AE19-62706E023703}">
                      <ahyp:hlinkClr xmlns:ahyp="http://schemas.microsoft.com/office/drawing/2018/hyperlinkcolor" val="tx"/>
                    </a:ext>
                  </a:extLst>
                </a:hlinkClick>
              </a:rPr>
              <a:t>ESC-50 environmental sounds</a:t>
            </a:r>
            <a:endParaRPr lang="en-US" sz="1500" dirty="0"/>
          </a:p>
          <a:p>
            <a:pPr indent="0" marL="0">
              <a:spcAft>
                <a:spcPts val="900"/>
              </a:spcAft>
              <a:buNone/>
            </a:pPr>
            <a:r>
              <a:rPr lang="en-US" sz="1100" dirty="0">
                <a:solidFill>
                  <a:srgbClr val="5E6B66"/>
                </a:solidFill>
              </a:rPr>
              <a:t>github.com/karolpiczak/ESC-50</a:t>
            </a:r>
            <a:endParaRPr lang="en-US" sz="1500" dirty="0"/>
          </a:p>
        </p:txBody>
      </p:sp>
      <p:sp>
        <p:nvSpPr>
          <p:cNvPr id="11" name="Open-source tools card"/>
          <p:cNvSpPr/>
          <p:nvPr/>
        </p:nvSpPr>
        <p:spPr>
          <a:xfrm>
            <a:off x="8046720" y="1325880"/>
            <a:ext cx="3520440" cy="4663440"/>
          </a:xfrm>
          <a:prstGeom prst="roundRect">
            <a:avLst>
              <a:gd name="adj" fmla="val 3117"/>
            </a:avLst>
          </a:prstGeom>
          <a:solidFill>
            <a:schemeClr val="bg2"/>
          </a:solidFill>
          <a:ln w="12700">
            <a:solidFill>
              <a:schemeClr val="bg2"/>
            </a:solidFill>
            <a:prstDash val="solid"/>
          </a:ln>
        </p:spPr>
      </p:sp>
      <p:pic>
        <p:nvPicPr>
          <p:cNvPr id="12" name="Open-source tools icon" descr="preencoded.png">    </p:cNvPr>
          <p:cNvPicPr>
            <a:picLocks noChangeAspect="1"/>
          </p:cNvPicPr>
          <p:nvPr/>
        </p:nvPicPr>
        <p:blipFill>
          <a:blip r:embed="rId11"/>
          <a:stretch>
            <a:fillRect/>
          </a:stretch>
        </p:blipFill>
        <p:spPr>
          <a:xfrm>
            <a:off x="8275320" y="1508760"/>
            <a:ext cx="457200" cy="457200"/>
          </a:xfrm>
          <a:prstGeom prst="rect">
            <a:avLst/>
          </a:prstGeom>
        </p:spPr>
      </p:pic>
      <p:sp>
        <p:nvSpPr>
          <p:cNvPr id="13" name="Open-source tools heading"/>
          <p:cNvSpPr txBox="1"/>
          <p:nvPr/>
        </p:nvSpPr>
        <p:spPr>
          <a:xfrm>
            <a:off x="8869680" y="1536192"/>
            <a:ext cx="2560320" cy="41148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Open-source tools</a:t>
            </a:r>
            <a:endParaRPr lang="en-US" sz="1800" dirty="0"/>
          </a:p>
        </p:txBody>
      </p:sp>
      <p:sp>
        <p:nvSpPr>
          <p:cNvPr id="14" name="Open-source tools links"/>
          <p:cNvSpPr txBox="1"/>
          <p:nvPr/>
        </p:nvSpPr>
        <p:spPr>
          <a:xfrm>
            <a:off x="8275320" y="2148840"/>
            <a:ext cx="3108960" cy="3703320"/>
          </a:xfrm>
          <a:prstGeom prst="rect">
            <a:avLst/>
          </a:prstGeom>
          <a:noFill/>
          <a:ln/>
        </p:spPr>
        <p:txBody>
          <a:bodyPr wrap="square" lIns="0" tIns="0" rIns="0" bIns="0" rtlCol="0" anchor="t"/>
          <a:lstStyle/>
          <a:p>
            <a:pPr indent="0" marL="0">
              <a:buNone/>
            </a:pPr>
            <a:r>
              <a:rPr lang="en-US" sz="1500" b="1" u="sng" dirty="0">
                <a:solidFill>
                  <a:srgbClr val="006A4E"/>
                </a:solidFill>
                <a:hlinkClick r:id="rId12" invalidUrl="" action="" tgtFrame="" tooltip="https://github.com/ultralytics/ultralytics" history="1" highlightClick="0" endSnd="0">
                  <a:extLst>
                    <a:ext uri="{A12FA001-AC4F-418D-AE19-62706E023703}">
                      <ahyp:hlinkClr xmlns:ahyp="http://schemas.microsoft.com/office/drawing/2018/hyperlinkcolor" val="tx"/>
                    </a:ext>
                  </a:extLst>
                </a:hlinkClick>
              </a:rPr>
              <a:t>Ultralytics YOLOv8</a:t>
            </a:r>
            <a:endParaRPr lang="en-US" sz="1500" dirty="0"/>
          </a:p>
          <a:p>
            <a:pPr indent="0" marL="0">
              <a:spcAft>
                <a:spcPts val="900"/>
              </a:spcAft>
              <a:buNone/>
            </a:pPr>
            <a:r>
              <a:rPr lang="en-US" sz="1100" dirty="0">
                <a:solidFill>
                  <a:srgbClr val="5E6B66"/>
                </a:solidFill>
              </a:rPr>
              <a:t>github.com/ultralytics/ultralytics</a:t>
            </a:r>
            <a:endParaRPr lang="en-US" sz="1500" dirty="0"/>
          </a:p>
          <a:p>
            <a:pPr indent="0" marL="0">
              <a:buNone/>
            </a:pPr>
            <a:r>
              <a:rPr lang="en-US" sz="1500" b="1" u="sng" dirty="0">
                <a:solidFill>
                  <a:srgbClr val="006A4E"/>
                </a:solidFill>
                <a:hlinkClick r:id="rId13" invalidUrl="" action="" tgtFrame="" tooltip="https://github.com/JaidedAI/EasyOCR" history="1" highlightClick="0" endSnd="0">
                  <a:extLst>
                    <a:ext uri="{A12FA001-AC4F-418D-AE19-62706E023703}">
                      <ahyp:hlinkClr xmlns:ahyp="http://schemas.microsoft.com/office/drawing/2018/hyperlinkcolor" val="tx"/>
                    </a:ext>
                  </a:extLst>
                </a:hlinkClick>
              </a:rPr>
              <a:t>EasyOCR</a:t>
            </a:r>
            <a:endParaRPr lang="en-US" sz="1500" dirty="0"/>
          </a:p>
          <a:p>
            <a:pPr indent="0" marL="0">
              <a:spcAft>
                <a:spcPts val="900"/>
              </a:spcAft>
              <a:buNone/>
            </a:pPr>
            <a:r>
              <a:rPr lang="en-US" sz="1100" dirty="0">
                <a:solidFill>
                  <a:srgbClr val="5E6B66"/>
                </a:solidFill>
              </a:rPr>
              <a:t>github.com/JaidedAI/EasyOCR</a:t>
            </a:r>
            <a:endParaRPr lang="en-US" sz="1500" dirty="0"/>
          </a:p>
          <a:p>
            <a:pPr indent="0" marL="0">
              <a:buNone/>
            </a:pPr>
            <a:r>
              <a:rPr lang="en-US" sz="1500" b="1" u="sng" dirty="0">
                <a:solidFill>
                  <a:srgbClr val="006A4E"/>
                </a:solidFill>
                <a:hlinkClick r:id="rId14" invalidUrl="" action="" tgtFrame="" tooltip="https://github.com/rhasspy/piper" history="1" highlightClick="0" endSnd="0">
                  <a:extLst>
                    <a:ext uri="{A12FA001-AC4F-418D-AE19-62706E023703}">
                      <ahyp:hlinkClr xmlns:ahyp="http://schemas.microsoft.com/office/drawing/2018/hyperlinkcolor" val="tx"/>
                    </a:ext>
                  </a:extLst>
                </a:hlinkClick>
              </a:rPr>
              <a:t>Piper text-to-speech</a:t>
            </a:r>
            <a:endParaRPr lang="en-US" sz="1500" dirty="0"/>
          </a:p>
          <a:p>
            <a:pPr indent="0" marL="0">
              <a:spcAft>
                <a:spcPts val="900"/>
              </a:spcAft>
              <a:buNone/>
            </a:pPr>
            <a:r>
              <a:rPr lang="en-US" sz="1100" dirty="0">
                <a:solidFill>
                  <a:srgbClr val="5E6B66"/>
                </a:solidFill>
              </a:rPr>
              <a:t>github.com/rhasspy/piper</a:t>
            </a:r>
            <a:endParaRPr lang="en-US" sz="1500" dirty="0"/>
          </a:p>
          <a:p>
            <a:pPr indent="0" marL="0">
              <a:buNone/>
            </a:pPr>
            <a:r>
              <a:rPr lang="en-US" sz="1500" b="1" u="sng" dirty="0">
                <a:solidFill>
                  <a:srgbClr val="006A4E"/>
                </a:solidFill>
                <a:hlinkClick r:id="rId15" invalidUrl="" action="" tgtFrame="" tooltip="https://alphacephei.com/vosk/" history="1" highlightClick="0" endSnd="0">
                  <a:extLst>
                    <a:ext uri="{A12FA001-AC4F-418D-AE19-62706E023703}">
                      <ahyp:hlinkClr xmlns:ahyp="http://schemas.microsoft.com/office/drawing/2018/hyperlinkcolor" val="tx"/>
                    </a:ext>
                  </a:extLst>
                </a:hlinkClick>
              </a:rPr>
              <a:t>Vosk speech recognition</a:t>
            </a:r>
            <a:endParaRPr lang="en-US" sz="1500" dirty="0"/>
          </a:p>
          <a:p>
            <a:pPr indent="0" marL="0">
              <a:spcAft>
                <a:spcPts val="900"/>
              </a:spcAft>
              <a:buNone/>
            </a:pPr>
            <a:r>
              <a:rPr lang="en-US" sz="1100" dirty="0">
                <a:solidFill>
                  <a:srgbClr val="5E6B66"/>
                </a:solidFill>
              </a:rPr>
              <a:t>alphacephei.com/vosk/</a:t>
            </a:r>
            <a:endParaRPr lang="en-US" sz="1500" dirty="0"/>
          </a:p>
          <a:p>
            <a:pPr indent="0" marL="0">
              <a:buNone/>
            </a:pPr>
            <a:r>
              <a:rPr lang="en-US" sz="1500" b="1" u="sng" dirty="0">
                <a:solidFill>
                  <a:srgbClr val="006A4E"/>
                </a:solidFill>
                <a:hlinkClick r:id="rId16" invalidUrl="" action="" tgtFrame="" tooltip="https://github.com/espeak-ng/espeak-ng" history="1" highlightClick="0" endSnd="0">
                  <a:extLst>
                    <a:ext uri="{A12FA001-AC4F-418D-AE19-62706E023703}">
                      <ahyp:hlinkClr xmlns:ahyp="http://schemas.microsoft.com/office/drawing/2018/hyperlinkcolor" val="tx"/>
                    </a:ext>
                  </a:extLst>
                </a:hlinkClick>
              </a:rPr>
              <a:t>eSpeak NG</a:t>
            </a:r>
            <a:endParaRPr lang="en-US" sz="1500" dirty="0"/>
          </a:p>
          <a:p>
            <a:pPr indent="0" marL="0">
              <a:spcAft>
                <a:spcPts val="900"/>
              </a:spcAft>
              <a:buNone/>
            </a:pPr>
            <a:r>
              <a:rPr lang="en-US" sz="1100" dirty="0">
                <a:solidFill>
                  <a:srgbClr val="5E6B66"/>
                </a:solidFill>
              </a:rPr>
              <a:t>github.com/espeak-ng/espeak-ng</a:t>
            </a:r>
            <a:endParaRPr lang="en-US" sz="1500" dirty="0"/>
          </a:p>
          <a:p>
            <a:pPr indent="0" marL="0">
              <a:buNone/>
            </a:pPr>
            <a:r>
              <a:rPr lang="en-US" sz="1500" b="1" u="sng" dirty="0">
                <a:solidFill>
                  <a:srgbClr val="006A4E"/>
                </a:solidFill>
                <a:hlinkClick r:id="rId17" invalidUrl="" action="" tgtFrame="" tooltip="https://www.who.int/news-room/fact-sheets/detail/blindness-and-visual-impairment" history="1" highlightClick="0" endSnd="0">
                  <a:extLst>
                    <a:ext uri="{A12FA001-AC4F-418D-AE19-62706E023703}">
                      <ahyp:hlinkClr xmlns:ahyp="http://schemas.microsoft.com/office/drawing/2018/hyperlinkcolor" val="tx"/>
                    </a:ext>
                  </a:extLst>
                </a:hlinkClick>
              </a:rPr>
              <a:t>WHO vision fact sheet</a:t>
            </a:r>
            <a:endParaRPr lang="en-US" sz="1500" dirty="0"/>
          </a:p>
          <a:p>
            <a:pPr indent="0" marL="0">
              <a:spcAft>
                <a:spcPts val="900"/>
              </a:spcAft>
              <a:buNone/>
            </a:pPr>
            <a:r>
              <a:rPr lang="en-US" sz="1100" dirty="0">
                <a:solidFill>
                  <a:srgbClr val="5E6B66"/>
                </a:solidFill>
              </a:rPr>
              <a:t>www.who.int/news-room/fact-sheets/detail/blindness-and-visual-impairment</a:t>
            </a:r>
            <a:endParaRPr lang="en-US" sz="1500" dirty="0"/>
          </a:p>
        </p:txBody>
      </p:sp>
      <p:sp>
        <p:nvSpPr>
          <p:cNvPr id="25" name="Slide Number Placeholder 0"/>
          <p:cNvSpPr>
            <a:spLocks noGrp="1"/>
          </p:cNvSpPr>
          <p:nvPr>
            <p:ph type="sldNum" sz="quarter" idx="4294967295"/>
          </p:nvPr>
        </p:nvSpPr>
        <p:spPr>
          <a:xfrm>
            <a:off x="11155680" y="6419088"/>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5E6B66"/>
                </a:solidFill>
              </a:defRPr>
            </a:lvl1pPr>
          </a:lstStyle>
          <a:p>
            <a:pPr algn="r"/>
            <a:fld id="{F7021451-1387-4CA6-816F-3879F97B5CBC}" type="slidenum">
              <a:rPr b="0" lang="en-US"/>
              <a:t>26</a:t>
            </a:fld>
            <a:endParaRPr lang="en-US"/>
          </a:p>
        </p:txBody>
      </p:sp>
    </p:spTree>
  </p:cSld>
  <p:clrMapOvr>
    <a:masterClrMapping/>
  </p:clrMapOvr>
  <p:transition spd="med">
    <p:fade/>
  </p:transition>
</p:sld>
</file>

<file path=ppt/theme/theme1.xml><?xml version="1.0" encoding="utf-8"?>
<a:theme xmlns:a="http://schemas.openxmlformats.org/drawingml/2006/main" name="SARA">
  <a:themeElements>
    <a:clrScheme name="SARA">
      <a:dk1>
        <a:srgbClr val="1C2321"/>
      </a:dk1>
      <a:lt1>
        <a:srgbClr val="FFFFFF"/>
      </a:lt1>
      <a:dk2>
        <a:srgbClr val="0B4D3B"/>
      </a:dk2>
      <a:lt2>
        <a:srgbClr val="EEF5F1"/>
      </a:lt2>
      <a:accent1>
        <a:srgbClr val="006A4E"/>
      </a:accent1>
      <a:accent2>
        <a:srgbClr val="D7263D"/>
      </a:accent2>
      <a:accent3>
        <a:srgbClr val="3A8F72"/>
      </a:accent3>
      <a:accent4>
        <a:srgbClr val="E6A817"/>
      </a:accent4>
      <a:accent5>
        <a:srgbClr val="5E6B66"/>
      </a:accent5>
      <a:accent6>
        <a:srgbClr val="B9DCCD"/>
      </a:accent6>
      <a:hlink>
        <a:srgbClr val="006A4E"/>
      </a:hlink>
      <a:folHlink>
        <a:srgbClr val="3A8F72"/>
      </a:folHlink>
    </a:clrScheme>
    <a:fontScheme name="SAR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Independent University, Bangladesh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Wearable Assistive Robot for Authenticating Bangladeshi Banknotes: Fusing Physical Security Features and Deep Learning for Visually Impaired Users</dc:title>
  <dc:subject>PptxGenJS Presentation</dc:subject>
  <dc:creator>MD Abdun Fattah Lam, Mukut Protim Memo, Tanjila Hossain Tapti</dc:creator>
  <cp:lastModifiedBy>MD Abdun Fattah Lam, Mukut Protim Memo, Tanjila Hossain Tapti</cp:lastModifiedBy>
  <cp:revision>1</cp:revision>
  <dcterms:created xsi:type="dcterms:W3CDTF">2026-10-28T18:19:56Z</dcterms:created>
  <dcterms:modified xsi:type="dcterms:W3CDTF">2026-10-28T18:19:56Z</dcterms:modified>
</cp:coreProperties>
</file>